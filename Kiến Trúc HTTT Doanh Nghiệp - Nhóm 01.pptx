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x="18288000" cy="10287000"/>
  <p:notesSz cx="6858000" cy="9144000"/>
  <p:embeddedFontLst>
    <p:embeddedFont>
      <p:font typeface="Montserrat" charset="1" panose="00000500000000000000"/>
      <p:regular r:id="rId51"/>
    </p:embeddedFont>
    <p:embeddedFont>
      <p:font typeface="Montserrat Bold" charset="1" panose="00000800000000000000"/>
      <p:regular r:id="rId52"/>
    </p:embeddedFont>
    <p:embeddedFont>
      <p:font typeface="Open Sans Bold" charset="1" panose="00000000000000000000"/>
      <p:regular r:id="rId57"/>
    </p:embeddedFont>
    <p:embeddedFont>
      <p:font typeface="Open Sans" charset="1" panose="00000000000000000000"/>
      <p:regular r:id="rId5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notesMasters/notesMaster1.xml" Type="http://schemas.openxmlformats.org/officeDocument/2006/relationships/notesMaster"/><Relationship Id="rId49" Target="theme/theme2.xml" Type="http://schemas.openxmlformats.org/officeDocument/2006/relationships/theme"/><Relationship Id="rId5" Target="tableStyles.xml" Type="http://schemas.openxmlformats.org/officeDocument/2006/relationships/tableStyles"/><Relationship Id="rId50" Target="notesSlides/notesSlide1.xml" Type="http://schemas.openxmlformats.org/officeDocument/2006/relationships/notesSlide"/><Relationship Id="rId51" Target="fonts/font51.fntdata" Type="http://schemas.openxmlformats.org/officeDocument/2006/relationships/font"/><Relationship Id="rId52" Target="fonts/font52.fntdata" Type="http://schemas.openxmlformats.org/officeDocument/2006/relationships/font"/><Relationship Id="rId53" Target="notesSlides/notesSlide2.xml" Type="http://schemas.openxmlformats.org/officeDocument/2006/relationships/notesSlide"/><Relationship Id="rId54" Target="notesSlides/notesSlide3.xml" Type="http://schemas.openxmlformats.org/officeDocument/2006/relationships/notesSlide"/><Relationship Id="rId55" Target="notesSlides/notesSlide4.xml" Type="http://schemas.openxmlformats.org/officeDocument/2006/relationships/notesSlide"/><Relationship Id="rId56" Target="notesSlides/notesSlide5.xml" Type="http://schemas.openxmlformats.org/officeDocument/2006/relationships/notesSlide"/><Relationship Id="rId57" Target="fonts/font57.fntdata" Type="http://schemas.openxmlformats.org/officeDocument/2006/relationships/font"/><Relationship Id="rId58" Target="fonts/font58.fntdata" Type="http://schemas.openxmlformats.org/officeDocument/2006/relationships/font"/><Relationship Id="rId59" Target="notesSlides/notesSlide6.xml" Type="http://schemas.openxmlformats.org/officeDocument/2006/relationships/notesSlide"/><Relationship Id="rId6" Target="slides/slide1.xml" Type="http://schemas.openxmlformats.org/officeDocument/2006/relationships/slide"/><Relationship Id="rId60" Target="notesSlides/notesSlide7.xml" Type="http://schemas.openxmlformats.org/officeDocument/2006/relationships/notesSlide"/><Relationship Id="rId61" Target="notesSlides/notesSlide8.xml" Type="http://schemas.openxmlformats.org/officeDocument/2006/relationships/notesSlide"/><Relationship Id="rId62" Target="notesSlides/notesSlide9.xml" Type="http://schemas.openxmlformats.org/officeDocument/2006/relationships/notesSlide"/><Relationship Id="rId63" Target="notesSlides/notesSlide10.xml" Type="http://schemas.openxmlformats.org/officeDocument/2006/relationships/notesSlide"/><Relationship Id="rId64" Target="notesSlides/notesSlide11.xml" Type="http://schemas.openxmlformats.org/officeDocument/2006/relationships/notesSlide"/><Relationship Id="rId65" Target="notesSlides/notesSlide12.xml" Type="http://schemas.openxmlformats.org/officeDocument/2006/relationships/notesSlide"/><Relationship Id="rId66" Target="notesSlides/notesSlide13.xml" Type="http://schemas.openxmlformats.org/officeDocument/2006/relationships/notesSlide"/><Relationship Id="rId67" Target="notesSlides/notesSlide14.xml" Type="http://schemas.openxmlformats.org/officeDocument/2006/relationships/notesSlide"/><Relationship Id="rId68" Target="notesSlides/notesSlide15.xml" Type="http://schemas.openxmlformats.org/officeDocument/2006/relationships/notesSlide"/><Relationship Id="rId69" Target="notesSlides/notesSlide16.xml" Type="http://schemas.openxmlformats.org/officeDocument/2006/relationships/notesSlide"/><Relationship Id="rId7" Target="slides/slide2.xml" Type="http://schemas.openxmlformats.org/officeDocument/2006/relationships/slide"/><Relationship Id="rId70" Target="notesSlides/notesSlide17.xml" Type="http://schemas.openxmlformats.org/officeDocument/2006/relationships/notesSlide"/><Relationship Id="rId71" Target="notesSlides/notesSlide18.xml" Type="http://schemas.openxmlformats.org/officeDocument/2006/relationships/notesSlide"/><Relationship Id="rId72" Target="notesSlides/notesSlide19.xml" Type="http://schemas.openxmlformats.org/officeDocument/2006/relationships/notesSlide"/><Relationship Id="rId73" Target="notesSlides/notesSlide20.xml" Type="http://schemas.openxmlformats.org/officeDocument/2006/relationships/notesSlide"/><Relationship Id="rId74" Target="notesSlides/notesSlide21.xml" Type="http://schemas.openxmlformats.org/officeDocument/2006/relationships/notesSlide"/><Relationship Id="rId75" Target="notesSlides/notesSlide22.xml" Type="http://schemas.openxmlformats.org/officeDocument/2006/relationships/notesSlide"/><Relationship Id="rId76" Target="notesSlides/notesSlide23.xml" Type="http://schemas.openxmlformats.org/officeDocument/2006/relationships/notesSlide"/><Relationship Id="rId77" Target="notesSlides/notesSlide24.xml" Type="http://schemas.openxmlformats.org/officeDocument/2006/relationships/notesSlide"/><Relationship Id="rId78" Target="notesSlides/notesSlide25.xml" Type="http://schemas.openxmlformats.org/officeDocument/2006/relationships/notesSlide"/><Relationship Id="rId79" Target="notesSlides/notesSlide26.xml" Type="http://schemas.openxmlformats.org/officeDocument/2006/relationships/notesSlide"/><Relationship Id="rId8" Target="slides/slide3.xml" Type="http://schemas.openxmlformats.org/officeDocument/2006/relationships/slide"/><Relationship Id="rId80" Target="notesSlides/notesSlide27.xml" Type="http://schemas.openxmlformats.org/officeDocument/2006/relationships/notesSlide"/><Relationship Id="rId81" Target="notesSlides/notesSlide28.xml" Type="http://schemas.openxmlformats.org/officeDocument/2006/relationships/notesSlide"/><Relationship Id="rId82" Target="notesSlides/notesSlide29.xml" Type="http://schemas.openxmlformats.org/officeDocument/2006/relationships/notesSlide"/><Relationship Id="rId83" Target="notesSlides/notesSlide30.xml" Type="http://schemas.openxmlformats.org/officeDocument/2006/relationships/notesSlide"/><Relationship Id="rId84" Target="notesSlides/notesSlide31.xml" Type="http://schemas.openxmlformats.org/officeDocument/2006/relationships/notesSlide"/><Relationship Id="rId85" Target="notesSlides/notesSlide32.xml" Type="http://schemas.openxmlformats.org/officeDocument/2006/relationships/notesSlide"/><Relationship Id="rId86" Target="notesSlides/notesSlide33.xml" Type="http://schemas.openxmlformats.org/officeDocument/2006/relationships/notesSlide"/><Relationship Id="rId87" Target="notesSlides/notesSlide34.xml" Type="http://schemas.openxmlformats.org/officeDocument/2006/relationships/notesSlide"/><Relationship Id="rId88" Target="notesSlides/notesSlide35.xml" Type="http://schemas.openxmlformats.org/officeDocument/2006/relationships/notesSlide"/><Relationship Id="rId89" Target="notesSlides/notesSlide36.xml" Type="http://schemas.openxmlformats.org/officeDocument/2006/relationships/notesSlide"/><Relationship Id="rId9" Target="slides/slide4.xml" Type="http://schemas.openxmlformats.org/officeDocument/2006/relationships/slide"/><Relationship Id="rId90" Target="notesSlides/notesSlide37.xml" Type="http://schemas.openxmlformats.org/officeDocument/2006/relationships/notesSlide"/><Relationship Id="rId91" Target="notesSlides/notesSlide38.xml" Type="http://schemas.openxmlformats.org/officeDocument/2006/relationships/notesSlide"/><Relationship Id="rId92" Target="notesSlides/notesSlide39.xml" Type="http://schemas.openxmlformats.org/officeDocument/2006/relationships/notesSlide"/><Relationship Id="rId93" Target="notesSlides/notesSlide40.xml" Type="http://schemas.openxmlformats.org/officeDocument/2006/relationships/notesSlide"/><Relationship Id="rId94" Target="notesSlides/notesSlide41.xml" Type="http://schemas.openxmlformats.org/officeDocument/2006/relationships/notesSlide"/><Relationship Id="rId95" Target="notesSlides/notesSlide42.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ĐẦU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TRANG CUỐI</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2" Target="../notesSlides/notesSlide3.xml" Type="http://schemas.openxmlformats.org/officeDocument/2006/relationships/notesSlide"/><Relationship Id="rId3" Target="../media/image2.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jpeg" Type="http://schemas.openxmlformats.org/officeDocument/2006/relationships/image"/><Relationship Id="rId4"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jpeg" Type="http://schemas.openxmlformats.org/officeDocument/2006/relationships/image"/><Relationship Id="rId4"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png" Type="http://schemas.openxmlformats.org/officeDocument/2006/relationships/image"/><Relationship Id="rId12" Target="../media/image21.png" Type="http://schemas.openxmlformats.org/officeDocument/2006/relationships/image"/><Relationship Id="rId2" Target="../notesSlides/notesSlide6.xml" Type="http://schemas.openxmlformats.org/officeDocument/2006/relationships/notesSlide"/><Relationship Id="rId3" Target="../media/image2.jpe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 Id="rId8" Target="../media/image17.png" Type="http://schemas.openxmlformats.org/officeDocument/2006/relationships/image"/><Relationship Id="rId9"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jpe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25.png" Type="http://schemas.openxmlformats.org/officeDocument/2006/relationships/image"/><Relationship Id="rId8" Target="../media/image26.png" Type="http://schemas.openxmlformats.org/officeDocument/2006/relationships/image"/><Relationship Id="rId9" Target="../media/image2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jpeg" Type="http://schemas.openxmlformats.org/officeDocument/2006/relationships/image"/><Relationship Id="rId4"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jpeg" Type="http://schemas.openxmlformats.org/officeDocument/2006/relationships/image"/><Relationship Id="rId4" Target="../media/image2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11" Target="../media/image36.png" Type="http://schemas.openxmlformats.org/officeDocument/2006/relationships/image"/><Relationship Id="rId12" Target="../media/image37.png" Type="http://schemas.openxmlformats.org/officeDocument/2006/relationships/image"/><Relationship Id="rId13" Target="../media/image38.png" Type="http://schemas.openxmlformats.org/officeDocument/2006/relationships/image"/><Relationship Id="rId14" Target="../media/image39.png" Type="http://schemas.openxmlformats.org/officeDocument/2006/relationships/image"/><Relationship Id="rId15" Target="../media/image40.png" Type="http://schemas.openxmlformats.org/officeDocument/2006/relationships/image"/><Relationship Id="rId2" Target="../notesSlides/notesSlide10.xml" Type="http://schemas.openxmlformats.org/officeDocument/2006/relationships/notesSlide"/><Relationship Id="rId3" Target="../media/image2.jpe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 Id="rId6" Target="../media/image31.png" Type="http://schemas.openxmlformats.org/officeDocument/2006/relationships/image"/><Relationship Id="rId7" Target="../media/image32.png" Type="http://schemas.openxmlformats.org/officeDocument/2006/relationships/image"/><Relationship Id="rId8" Target="../media/image33.png" Type="http://schemas.openxmlformats.org/officeDocument/2006/relationships/image"/><Relationship Id="rId9" Target="../media/image3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2.jpeg" Type="http://schemas.openxmlformats.org/officeDocument/2006/relationships/image"/><Relationship Id="rId4" Target="../media/image41.png" Type="http://schemas.openxmlformats.org/officeDocument/2006/relationships/image"/><Relationship Id="rId5" Target="../media/image42.png" Type="http://schemas.openxmlformats.org/officeDocument/2006/relationships/image"/><Relationship Id="rId6" Target="../media/image43.png" Type="http://schemas.openxmlformats.org/officeDocument/2006/relationships/image"/><Relationship Id="rId7" Target="../media/image4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2.jpeg" Type="http://schemas.openxmlformats.org/officeDocument/2006/relationships/image"/><Relationship Id="rId4" Target="../media/image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jpeg" Type="http://schemas.openxmlformats.org/officeDocument/2006/relationships/image"/><Relationship Id="rId4" Target="../media/image45.jpeg" Type="http://schemas.openxmlformats.org/officeDocument/2006/relationships/image"/><Relationship Id="rId5" Target="../media/image46.png" Type="http://schemas.openxmlformats.org/officeDocument/2006/relationships/image"/><Relationship Id="rId6" Target="../media/image47.png" Type="http://schemas.openxmlformats.org/officeDocument/2006/relationships/image"/><Relationship Id="rId7" Target="../media/image48.png" Type="http://schemas.openxmlformats.org/officeDocument/2006/relationships/image"/><Relationship Id="rId8" Target="../media/image49.png" Type="http://schemas.openxmlformats.org/officeDocument/2006/relationships/image"/><Relationship Id="rId9" Target="../media/image5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7.png" Type="http://schemas.openxmlformats.org/officeDocument/2006/relationships/image"/><Relationship Id="rId11" Target="../media/image58.png" Type="http://schemas.openxmlformats.org/officeDocument/2006/relationships/image"/><Relationship Id="rId12" Target="../media/image59.png" Type="http://schemas.openxmlformats.org/officeDocument/2006/relationships/image"/><Relationship Id="rId2" Target="../notesSlides/notesSlide14.xml" Type="http://schemas.openxmlformats.org/officeDocument/2006/relationships/notesSlide"/><Relationship Id="rId3" Target="../media/image2.jpeg" Type="http://schemas.openxmlformats.org/officeDocument/2006/relationships/image"/><Relationship Id="rId4" Target="../media/image51.png" Type="http://schemas.openxmlformats.org/officeDocument/2006/relationships/image"/><Relationship Id="rId5" Target="../media/image52.png" Type="http://schemas.openxmlformats.org/officeDocument/2006/relationships/image"/><Relationship Id="rId6" Target="../media/image53.png" Type="http://schemas.openxmlformats.org/officeDocument/2006/relationships/image"/><Relationship Id="rId7" Target="../media/image54.png" Type="http://schemas.openxmlformats.org/officeDocument/2006/relationships/image"/><Relationship Id="rId8" Target="../media/image55.png" Type="http://schemas.openxmlformats.org/officeDocument/2006/relationships/image"/><Relationship Id="rId9" Target="../media/image5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jpeg" Type="http://schemas.openxmlformats.org/officeDocument/2006/relationships/image"/><Relationship Id="rId4"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5.png" Type="http://schemas.openxmlformats.org/officeDocument/2006/relationships/image"/><Relationship Id="rId2" Target="../notesSlides/notesSlide16.xml" Type="http://schemas.openxmlformats.org/officeDocument/2006/relationships/notesSlide"/><Relationship Id="rId3" Target="../media/image2.jpeg" Type="http://schemas.openxmlformats.org/officeDocument/2006/relationships/image"/><Relationship Id="rId4" Target="../media/image60.png" Type="http://schemas.openxmlformats.org/officeDocument/2006/relationships/image"/><Relationship Id="rId5" Target="../media/image61.png" Type="http://schemas.openxmlformats.org/officeDocument/2006/relationships/image"/><Relationship Id="rId6" Target="../media/image45.jpeg" Type="http://schemas.openxmlformats.org/officeDocument/2006/relationships/image"/><Relationship Id="rId7" Target="../media/image62.png" Type="http://schemas.openxmlformats.org/officeDocument/2006/relationships/image"/><Relationship Id="rId8" Target="../media/image63.png" Type="http://schemas.openxmlformats.org/officeDocument/2006/relationships/image"/><Relationship Id="rId9" Target="../media/image6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2.jpeg" Type="http://schemas.openxmlformats.org/officeDocument/2006/relationships/image"/><Relationship Id="rId4" Target="../media/image6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3.png" Type="http://schemas.openxmlformats.org/officeDocument/2006/relationships/image"/><Relationship Id="rId11" Target="../media/image74.png" Type="http://schemas.openxmlformats.org/officeDocument/2006/relationships/image"/><Relationship Id="rId2" Target="../notesSlides/notesSlide18.xml" Type="http://schemas.openxmlformats.org/officeDocument/2006/relationships/notesSlide"/><Relationship Id="rId3" Target="../media/image2.jpeg" Type="http://schemas.openxmlformats.org/officeDocument/2006/relationships/image"/><Relationship Id="rId4" Target="../media/image67.png" Type="http://schemas.openxmlformats.org/officeDocument/2006/relationships/image"/><Relationship Id="rId5" Target="../media/image68.png" Type="http://schemas.openxmlformats.org/officeDocument/2006/relationships/image"/><Relationship Id="rId6" Target="../media/image69.png" Type="http://schemas.openxmlformats.org/officeDocument/2006/relationships/image"/><Relationship Id="rId7" Target="../media/image70.png" Type="http://schemas.openxmlformats.org/officeDocument/2006/relationships/image"/><Relationship Id="rId8" Target="../media/image71.png" Type="http://schemas.openxmlformats.org/officeDocument/2006/relationships/image"/><Relationship Id="rId9" Target="../media/image7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2.jpeg" Type="http://schemas.openxmlformats.org/officeDocument/2006/relationships/image"/><Relationship Id="rId4" Target="../media/image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5.png" Type="http://schemas.openxmlformats.org/officeDocument/2006/relationships/image"/><Relationship Id="rId2" Target="../notesSlides/notesSlide20.xml" Type="http://schemas.openxmlformats.org/officeDocument/2006/relationships/notesSlide"/><Relationship Id="rId3" Target="../media/image2.jpeg" Type="http://schemas.openxmlformats.org/officeDocument/2006/relationships/image"/><Relationship Id="rId4" Target="../media/image60.png" Type="http://schemas.openxmlformats.org/officeDocument/2006/relationships/image"/><Relationship Id="rId5" Target="../media/image61.png" Type="http://schemas.openxmlformats.org/officeDocument/2006/relationships/image"/><Relationship Id="rId6" Target="../media/image45.jpeg" Type="http://schemas.openxmlformats.org/officeDocument/2006/relationships/image"/><Relationship Id="rId7" Target="../media/image75.png" Type="http://schemas.openxmlformats.org/officeDocument/2006/relationships/image"/><Relationship Id="rId8" Target="../media/image76.png" Type="http://schemas.openxmlformats.org/officeDocument/2006/relationships/image"/><Relationship Id="rId9" Target="../media/image6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1.png" Type="http://schemas.openxmlformats.org/officeDocument/2006/relationships/image"/><Relationship Id="rId11" Target="../media/image82.png" Type="http://schemas.openxmlformats.org/officeDocument/2006/relationships/image"/><Relationship Id="rId12" Target="../media/image83.png" Type="http://schemas.openxmlformats.org/officeDocument/2006/relationships/image"/><Relationship Id="rId13" Target="../media/image84.png" Type="http://schemas.openxmlformats.org/officeDocument/2006/relationships/image"/><Relationship Id="rId2" Target="../notesSlides/notesSlide21.xml" Type="http://schemas.openxmlformats.org/officeDocument/2006/relationships/notesSlide"/><Relationship Id="rId3" Target="../media/image2.jpeg" Type="http://schemas.openxmlformats.org/officeDocument/2006/relationships/image"/><Relationship Id="rId4" Target="../media/image77.png" Type="http://schemas.openxmlformats.org/officeDocument/2006/relationships/image"/><Relationship Id="rId5" Target="../media/image78.png" Type="http://schemas.openxmlformats.org/officeDocument/2006/relationships/image"/><Relationship Id="rId6" Target="../media/image79.png" Type="http://schemas.openxmlformats.org/officeDocument/2006/relationships/image"/><Relationship Id="rId7" Target="../media/image33.png" Type="http://schemas.openxmlformats.org/officeDocument/2006/relationships/image"/><Relationship Id="rId8" Target="../media/image34.png" Type="http://schemas.openxmlformats.org/officeDocument/2006/relationships/image"/><Relationship Id="rId9" Target="../media/image80.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2.jpeg" Type="http://schemas.openxmlformats.org/officeDocument/2006/relationships/image"/><Relationship Id="rId4" Target="../media/image8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2.jpeg" Type="http://schemas.openxmlformats.org/officeDocument/2006/relationships/image"/><Relationship Id="rId4" Target="../media/image8.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5.png" Type="http://schemas.openxmlformats.org/officeDocument/2006/relationships/image"/><Relationship Id="rId2" Target="../notesSlides/notesSlide24.xml" Type="http://schemas.openxmlformats.org/officeDocument/2006/relationships/notesSlide"/><Relationship Id="rId3" Target="../media/image2.jpeg" Type="http://schemas.openxmlformats.org/officeDocument/2006/relationships/image"/><Relationship Id="rId4" Target="../media/image60.png" Type="http://schemas.openxmlformats.org/officeDocument/2006/relationships/image"/><Relationship Id="rId5" Target="../media/image61.png" Type="http://schemas.openxmlformats.org/officeDocument/2006/relationships/image"/><Relationship Id="rId6" Target="../media/image45.jpeg" Type="http://schemas.openxmlformats.org/officeDocument/2006/relationships/image"/><Relationship Id="rId7" Target="../media/image62.png" Type="http://schemas.openxmlformats.org/officeDocument/2006/relationships/image"/><Relationship Id="rId8" Target="../media/image86.png" Type="http://schemas.openxmlformats.org/officeDocument/2006/relationships/image"/><Relationship Id="rId9" Target="../media/image64.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2.jpeg" Type="http://schemas.openxmlformats.org/officeDocument/2006/relationships/image"/><Relationship Id="rId4" Target="../media/image87.png" Type="http://schemas.openxmlformats.org/officeDocument/2006/relationships/image"/><Relationship Id="rId5" Target="../media/image88.png" Type="http://schemas.openxmlformats.org/officeDocument/2006/relationships/image"/><Relationship Id="rId6" Target="../media/image89.png" Type="http://schemas.openxmlformats.org/officeDocument/2006/relationships/image"/><Relationship Id="rId7" Target="../media/image90.png" Type="http://schemas.openxmlformats.org/officeDocument/2006/relationships/image"/><Relationship Id="rId8" Target="../media/image9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11" Target="../media/image36.png" Type="http://schemas.openxmlformats.org/officeDocument/2006/relationships/image"/><Relationship Id="rId12" Target="../media/image96.png" Type="http://schemas.openxmlformats.org/officeDocument/2006/relationships/image"/><Relationship Id="rId13" Target="../media/image97.png" Type="http://schemas.openxmlformats.org/officeDocument/2006/relationships/image"/><Relationship Id="rId14" Target="../media/image98.png" Type="http://schemas.openxmlformats.org/officeDocument/2006/relationships/image"/><Relationship Id="rId15" Target="../media/image99.png" Type="http://schemas.openxmlformats.org/officeDocument/2006/relationships/image"/><Relationship Id="rId2" Target="../notesSlides/notesSlide26.xml" Type="http://schemas.openxmlformats.org/officeDocument/2006/relationships/notesSlide"/><Relationship Id="rId3" Target="../media/image2.jpeg" Type="http://schemas.openxmlformats.org/officeDocument/2006/relationships/image"/><Relationship Id="rId4" Target="../media/image92.png" Type="http://schemas.openxmlformats.org/officeDocument/2006/relationships/image"/><Relationship Id="rId5" Target="../media/image93.png" Type="http://schemas.openxmlformats.org/officeDocument/2006/relationships/image"/><Relationship Id="rId6" Target="../media/image94.png" Type="http://schemas.openxmlformats.org/officeDocument/2006/relationships/image"/><Relationship Id="rId7" Target="../media/image95.png" Type="http://schemas.openxmlformats.org/officeDocument/2006/relationships/image"/><Relationship Id="rId8" Target="../media/image33.png" Type="http://schemas.openxmlformats.org/officeDocument/2006/relationships/image"/><Relationship Id="rId9" Target="../media/image34.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2.jpeg" Type="http://schemas.openxmlformats.org/officeDocument/2006/relationships/image"/><Relationship Id="rId4" Target="../media/image100.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2.jpeg" Type="http://schemas.openxmlformats.org/officeDocument/2006/relationships/image"/><Relationship Id="rId4" Target="../media/image9.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5.png" Type="http://schemas.openxmlformats.org/officeDocument/2006/relationships/image"/><Relationship Id="rId2" Target="../notesSlides/notesSlide29.xml" Type="http://schemas.openxmlformats.org/officeDocument/2006/relationships/notesSlide"/><Relationship Id="rId3" Target="../media/image2.jpeg" Type="http://schemas.openxmlformats.org/officeDocument/2006/relationships/image"/><Relationship Id="rId4" Target="../media/image60.png" Type="http://schemas.openxmlformats.org/officeDocument/2006/relationships/image"/><Relationship Id="rId5" Target="../media/image61.png" Type="http://schemas.openxmlformats.org/officeDocument/2006/relationships/image"/><Relationship Id="rId6" Target="../media/image45.jpeg" Type="http://schemas.openxmlformats.org/officeDocument/2006/relationships/image"/><Relationship Id="rId7" Target="../media/image101.png" Type="http://schemas.openxmlformats.org/officeDocument/2006/relationships/image"/><Relationship Id="rId8" Target="../media/image102.png" Type="http://schemas.openxmlformats.org/officeDocument/2006/relationships/image"/><Relationship Id="rId9" Target="../media/image64.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9.png" Type="http://schemas.openxmlformats.org/officeDocument/2006/relationships/image"/><Relationship Id="rId11" Target="../media/image110.png" Type="http://schemas.openxmlformats.org/officeDocument/2006/relationships/image"/><Relationship Id="rId2" Target="../notesSlides/notesSlide30.xml" Type="http://schemas.openxmlformats.org/officeDocument/2006/relationships/notesSlide"/><Relationship Id="rId3" Target="../media/image2.jpeg" Type="http://schemas.openxmlformats.org/officeDocument/2006/relationships/image"/><Relationship Id="rId4" Target="../media/image103.png" Type="http://schemas.openxmlformats.org/officeDocument/2006/relationships/image"/><Relationship Id="rId5" Target="../media/image104.png" Type="http://schemas.openxmlformats.org/officeDocument/2006/relationships/image"/><Relationship Id="rId6" Target="../media/image105.png" Type="http://schemas.openxmlformats.org/officeDocument/2006/relationships/image"/><Relationship Id="rId7" Target="../media/image106.png" Type="http://schemas.openxmlformats.org/officeDocument/2006/relationships/image"/><Relationship Id="rId8" Target="../media/image107.png" Type="http://schemas.openxmlformats.org/officeDocument/2006/relationships/image"/><Relationship Id="rId9" Target="../media/image108.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2.jpeg" Type="http://schemas.openxmlformats.org/officeDocument/2006/relationships/image"/><Relationship Id="rId4" Target="../media/image87.png" Type="http://schemas.openxmlformats.org/officeDocument/2006/relationships/image"/><Relationship Id="rId5" Target="../media/image111.png" Type="http://schemas.openxmlformats.org/officeDocument/2006/relationships/image"/><Relationship Id="rId6" Target="../media/image112.png" Type="http://schemas.openxmlformats.org/officeDocument/2006/relationships/image"/><Relationship Id="rId7" Target="../media/image90.png" Type="http://schemas.openxmlformats.org/officeDocument/2006/relationships/image"/><Relationship Id="rId8" Target="../media/image113.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0.png" Type="http://schemas.openxmlformats.org/officeDocument/2006/relationships/image"/><Relationship Id="rId11" Target="../media/image121.png" Type="http://schemas.openxmlformats.org/officeDocument/2006/relationships/image"/><Relationship Id="rId12" Target="../media/image122.png" Type="http://schemas.openxmlformats.org/officeDocument/2006/relationships/image"/><Relationship Id="rId13" Target="../media/image123.png" Type="http://schemas.openxmlformats.org/officeDocument/2006/relationships/image"/><Relationship Id="rId14" Target="../media/image124.png" Type="http://schemas.openxmlformats.org/officeDocument/2006/relationships/image"/><Relationship Id="rId15" Target="../media/image125.png" Type="http://schemas.openxmlformats.org/officeDocument/2006/relationships/image"/><Relationship Id="rId2" Target="../notesSlides/notesSlide32.xml" Type="http://schemas.openxmlformats.org/officeDocument/2006/relationships/notesSlide"/><Relationship Id="rId3" Target="../media/image2.jpeg" Type="http://schemas.openxmlformats.org/officeDocument/2006/relationships/image"/><Relationship Id="rId4" Target="../media/image114.png" Type="http://schemas.openxmlformats.org/officeDocument/2006/relationships/image"/><Relationship Id="rId5" Target="../media/image115.png" Type="http://schemas.openxmlformats.org/officeDocument/2006/relationships/image"/><Relationship Id="rId6" Target="../media/image116.png" Type="http://schemas.openxmlformats.org/officeDocument/2006/relationships/image"/><Relationship Id="rId7" Target="../media/image117.png" Type="http://schemas.openxmlformats.org/officeDocument/2006/relationships/image"/><Relationship Id="rId8" Target="../media/image118.png" Type="http://schemas.openxmlformats.org/officeDocument/2006/relationships/image"/><Relationship Id="rId9" Target="../media/image119.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2.jpeg" Type="http://schemas.openxmlformats.org/officeDocument/2006/relationships/image"/><Relationship Id="rId4" Target="../media/image126.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2.jpeg" Type="http://schemas.openxmlformats.org/officeDocument/2006/relationships/image"/><Relationship Id="rId4" Target="../media/image10.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 Id="rId3" Target="../media/image2.jpeg" Type="http://schemas.openxmlformats.org/officeDocument/2006/relationships/image"/><Relationship Id="rId4" Target="../media/image127.png" Type="http://schemas.openxmlformats.org/officeDocument/2006/relationships/image"/><Relationship Id="rId5" Target="../media/image128.png" Type="http://schemas.openxmlformats.org/officeDocument/2006/relationships/image"/><Relationship Id="rId6" Target="../media/image129.png" Type="http://schemas.openxmlformats.org/officeDocument/2006/relationships/image"/><Relationship Id="rId7" Target="../media/image130.png" Type="http://schemas.openxmlformats.org/officeDocument/2006/relationships/image"/><Relationship Id="rId8" Target="../media/image131.png" Type="http://schemas.openxmlformats.org/officeDocument/2006/relationships/image"/><Relationship Id="rId9" Target="../media/image132.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9.png" Type="http://schemas.openxmlformats.org/officeDocument/2006/relationships/image"/><Relationship Id="rId11" Target="../media/image140.png" Type="http://schemas.openxmlformats.org/officeDocument/2006/relationships/image"/><Relationship Id="rId12" Target="../media/image141.png" Type="http://schemas.openxmlformats.org/officeDocument/2006/relationships/image"/><Relationship Id="rId2" Target="../notesSlides/notesSlide36.xml" Type="http://schemas.openxmlformats.org/officeDocument/2006/relationships/notesSlide"/><Relationship Id="rId3" Target="../media/image2.jpeg" Type="http://schemas.openxmlformats.org/officeDocument/2006/relationships/image"/><Relationship Id="rId4" Target="../media/image133.png" Type="http://schemas.openxmlformats.org/officeDocument/2006/relationships/image"/><Relationship Id="rId5" Target="../media/image134.png" Type="http://schemas.openxmlformats.org/officeDocument/2006/relationships/image"/><Relationship Id="rId6" Target="../media/image135.png" Type="http://schemas.openxmlformats.org/officeDocument/2006/relationships/image"/><Relationship Id="rId7" Target="../media/image136.png" Type="http://schemas.openxmlformats.org/officeDocument/2006/relationships/image"/><Relationship Id="rId8" Target="../media/image137.png" Type="http://schemas.openxmlformats.org/officeDocument/2006/relationships/image"/><Relationship Id="rId9" Target="../media/image138.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8.png" Type="http://schemas.openxmlformats.org/officeDocument/2006/relationships/image"/><Relationship Id="rId11" Target="../media/image149.png" Type="http://schemas.openxmlformats.org/officeDocument/2006/relationships/image"/><Relationship Id="rId12" Target="../media/image150.png" Type="http://schemas.openxmlformats.org/officeDocument/2006/relationships/image"/><Relationship Id="rId13" Target="../media/image151.png" Type="http://schemas.openxmlformats.org/officeDocument/2006/relationships/image"/><Relationship Id="rId14" Target="../media/image152.png" Type="http://schemas.openxmlformats.org/officeDocument/2006/relationships/image"/><Relationship Id="rId15" Target="../media/image153.png" Type="http://schemas.openxmlformats.org/officeDocument/2006/relationships/image"/><Relationship Id="rId2" Target="../notesSlides/notesSlide37.xml" Type="http://schemas.openxmlformats.org/officeDocument/2006/relationships/notesSlide"/><Relationship Id="rId3" Target="../media/image2.jpeg" Type="http://schemas.openxmlformats.org/officeDocument/2006/relationships/image"/><Relationship Id="rId4" Target="../media/image142.png" Type="http://schemas.openxmlformats.org/officeDocument/2006/relationships/image"/><Relationship Id="rId5" Target="../media/image143.png" Type="http://schemas.openxmlformats.org/officeDocument/2006/relationships/image"/><Relationship Id="rId6" Target="../media/image144.png" Type="http://schemas.openxmlformats.org/officeDocument/2006/relationships/image"/><Relationship Id="rId7" Target="../media/image145.png" Type="http://schemas.openxmlformats.org/officeDocument/2006/relationships/image"/><Relationship Id="rId8" Target="../media/image146.png" Type="http://schemas.openxmlformats.org/officeDocument/2006/relationships/image"/><Relationship Id="rId9" Target="../media/image147.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8.xml" Type="http://schemas.openxmlformats.org/officeDocument/2006/relationships/notesSlide"/><Relationship Id="rId3" Target="../media/image2.jpeg" Type="http://schemas.openxmlformats.org/officeDocument/2006/relationships/image"/><Relationship Id="rId4" Target="../media/image11.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0.png" Type="http://schemas.openxmlformats.org/officeDocument/2006/relationships/image"/><Relationship Id="rId11" Target="../media/image161.png" Type="http://schemas.openxmlformats.org/officeDocument/2006/relationships/image"/><Relationship Id="rId12" Target="../media/image162.png" Type="http://schemas.openxmlformats.org/officeDocument/2006/relationships/image"/><Relationship Id="rId13" Target="../media/image163.png" Type="http://schemas.openxmlformats.org/officeDocument/2006/relationships/image"/><Relationship Id="rId14" Target="../media/image164.png" Type="http://schemas.openxmlformats.org/officeDocument/2006/relationships/image"/><Relationship Id="rId15" Target="../media/image165.png" Type="http://schemas.openxmlformats.org/officeDocument/2006/relationships/image"/><Relationship Id="rId2" Target="../notesSlides/notesSlide39.xml" Type="http://schemas.openxmlformats.org/officeDocument/2006/relationships/notesSlide"/><Relationship Id="rId3" Target="../media/image2.jpeg" Type="http://schemas.openxmlformats.org/officeDocument/2006/relationships/image"/><Relationship Id="rId4" Target="../media/image154.png" Type="http://schemas.openxmlformats.org/officeDocument/2006/relationships/image"/><Relationship Id="rId5" Target="../media/image155.png" Type="http://schemas.openxmlformats.org/officeDocument/2006/relationships/image"/><Relationship Id="rId6" Target="../media/image156.png" Type="http://schemas.openxmlformats.org/officeDocument/2006/relationships/image"/><Relationship Id="rId7" Target="../media/image157.png" Type="http://schemas.openxmlformats.org/officeDocument/2006/relationships/image"/><Relationship Id="rId8" Target="../media/image158.png" Type="http://schemas.openxmlformats.org/officeDocument/2006/relationships/image"/><Relationship Id="rId9" Target="../media/image159.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2.png" Type="http://schemas.openxmlformats.org/officeDocument/2006/relationships/image"/><Relationship Id="rId11" Target="../media/image173.png" Type="http://schemas.openxmlformats.org/officeDocument/2006/relationships/image"/><Relationship Id="rId12" Target="../media/image174.png" Type="http://schemas.openxmlformats.org/officeDocument/2006/relationships/image"/><Relationship Id="rId2" Target="../notesSlides/notesSlide40.xml" Type="http://schemas.openxmlformats.org/officeDocument/2006/relationships/notesSlide"/><Relationship Id="rId3" Target="../media/image2.jpeg" Type="http://schemas.openxmlformats.org/officeDocument/2006/relationships/image"/><Relationship Id="rId4" Target="../media/image166.png" Type="http://schemas.openxmlformats.org/officeDocument/2006/relationships/image"/><Relationship Id="rId5" Target="../media/image167.png" Type="http://schemas.openxmlformats.org/officeDocument/2006/relationships/image"/><Relationship Id="rId6" Target="../media/image168.png" Type="http://schemas.openxmlformats.org/officeDocument/2006/relationships/image"/><Relationship Id="rId7" Target="../media/image169.png" Type="http://schemas.openxmlformats.org/officeDocument/2006/relationships/image"/><Relationship Id="rId8" Target="../media/image170.png" Type="http://schemas.openxmlformats.org/officeDocument/2006/relationships/image"/><Relationship Id="rId9" Target="../media/image171.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1.xml" Type="http://schemas.openxmlformats.org/officeDocument/2006/relationships/notesSlide"/><Relationship Id="rId3" Target="../media/image2.jpeg" Type="http://schemas.openxmlformats.org/officeDocument/2006/relationships/image"/><Relationship Id="rId4" Target="../media/image175.png" Type="http://schemas.openxmlformats.org/officeDocument/2006/relationships/image"/><Relationship Id="rId5" Target="../media/image176.png" Type="http://schemas.openxmlformats.org/officeDocument/2006/relationships/image"/><Relationship Id="rId6" Target="../media/image177.png" Type="http://schemas.openxmlformats.org/officeDocument/2006/relationships/image"/><Relationship Id="rId7" Target="../media/image178.png" Type="http://schemas.openxmlformats.org/officeDocument/2006/relationships/image"/><Relationship Id="rId8" Target="../media/image179.png" Type="http://schemas.openxmlformats.org/officeDocument/2006/relationships/image"/><Relationship Id="rId9" Target="../media/image180.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2.xml" Type="http://schemas.openxmlformats.org/officeDocument/2006/relationships/notesSlide"/><Relationship Id="rId3" Target="mailto:truyenthong@hvnh.edu.vn" TargetMode="External" Type="http://schemas.openxmlformats.org/officeDocument/2006/relationships/hyperlink"/><Relationship Id="rId4" Target="http://www.hvnh.edu.vn/" TargetMode="External" Type="http://schemas.openxmlformats.org/officeDocument/2006/relationships/hyperlink"/><Relationship Id="rId5" Target="../media/image18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554" y="3347409"/>
            <a:ext cx="18308212" cy="4900336"/>
            <a:chOff x="0" y="0"/>
            <a:chExt cx="24410949" cy="6533782"/>
          </a:xfrm>
        </p:grpSpPr>
        <p:sp>
          <p:nvSpPr>
            <p:cNvPr name="Freeform 3" id="3"/>
            <p:cNvSpPr/>
            <p:nvPr/>
          </p:nvSpPr>
          <p:spPr>
            <a:xfrm flipH="false" flipV="false" rot="0">
              <a:off x="15367" y="15367"/>
              <a:ext cx="24380189" cy="6503035"/>
            </a:xfrm>
            <a:custGeom>
              <a:avLst/>
              <a:gdLst/>
              <a:ahLst/>
              <a:cxnLst/>
              <a:rect r="r" b="b" t="t" l="l"/>
              <a:pathLst>
                <a:path h="6503035" w="24380189">
                  <a:moveTo>
                    <a:pt x="0" y="0"/>
                  </a:moveTo>
                  <a:lnTo>
                    <a:pt x="24380189" y="0"/>
                  </a:lnTo>
                  <a:lnTo>
                    <a:pt x="24380189" y="6503035"/>
                  </a:lnTo>
                  <a:lnTo>
                    <a:pt x="0" y="6503035"/>
                  </a:lnTo>
                  <a:close/>
                </a:path>
              </a:pathLst>
            </a:custGeom>
            <a:solidFill>
              <a:srgbClr val="282A75"/>
            </a:solidFill>
          </p:spPr>
        </p:sp>
        <p:sp>
          <p:nvSpPr>
            <p:cNvPr name="Freeform 4" id="4"/>
            <p:cNvSpPr/>
            <p:nvPr/>
          </p:nvSpPr>
          <p:spPr>
            <a:xfrm flipH="false" flipV="false" rot="0">
              <a:off x="0" y="0"/>
              <a:ext cx="24410924" cy="6533769"/>
            </a:xfrm>
            <a:custGeom>
              <a:avLst/>
              <a:gdLst/>
              <a:ahLst/>
              <a:cxnLst/>
              <a:rect r="r" b="b" t="t" l="l"/>
              <a:pathLst>
                <a:path h="6533769" w="24410924">
                  <a:moveTo>
                    <a:pt x="15367" y="0"/>
                  </a:moveTo>
                  <a:lnTo>
                    <a:pt x="24395556" y="0"/>
                  </a:lnTo>
                  <a:cubicBezTo>
                    <a:pt x="24404065" y="0"/>
                    <a:pt x="24410924" y="6858"/>
                    <a:pt x="24410924" y="15367"/>
                  </a:cubicBezTo>
                  <a:lnTo>
                    <a:pt x="24410924" y="6518402"/>
                  </a:lnTo>
                  <a:cubicBezTo>
                    <a:pt x="24410924" y="6526911"/>
                    <a:pt x="24404065" y="6533769"/>
                    <a:pt x="24395556" y="6533769"/>
                  </a:cubicBezTo>
                  <a:lnTo>
                    <a:pt x="15367" y="6533769"/>
                  </a:lnTo>
                  <a:cubicBezTo>
                    <a:pt x="6858" y="6533769"/>
                    <a:pt x="0" y="6526911"/>
                    <a:pt x="0" y="6518402"/>
                  </a:cubicBezTo>
                  <a:lnTo>
                    <a:pt x="0" y="15367"/>
                  </a:lnTo>
                  <a:cubicBezTo>
                    <a:pt x="0" y="6858"/>
                    <a:pt x="6858" y="0"/>
                    <a:pt x="15367" y="0"/>
                  </a:cubicBezTo>
                  <a:moveTo>
                    <a:pt x="15367" y="30861"/>
                  </a:moveTo>
                  <a:lnTo>
                    <a:pt x="15367" y="15367"/>
                  </a:lnTo>
                  <a:lnTo>
                    <a:pt x="30861" y="15367"/>
                  </a:lnTo>
                  <a:lnTo>
                    <a:pt x="30861" y="6518402"/>
                  </a:lnTo>
                  <a:lnTo>
                    <a:pt x="15367" y="6518402"/>
                  </a:lnTo>
                  <a:lnTo>
                    <a:pt x="15367" y="6503035"/>
                  </a:lnTo>
                  <a:lnTo>
                    <a:pt x="24395556" y="6503035"/>
                  </a:lnTo>
                  <a:lnTo>
                    <a:pt x="24395556" y="6518402"/>
                  </a:lnTo>
                  <a:lnTo>
                    <a:pt x="24380189" y="6518402"/>
                  </a:lnTo>
                  <a:lnTo>
                    <a:pt x="24380189" y="15367"/>
                  </a:lnTo>
                  <a:lnTo>
                    <a:pt x="24395556" y="15367"/>
                  </a:lnTo>
                  <a:lnTo>
                    <a:pt x="24395556" y="30861"/>
                  </a:lnTo>
                  <a:lnTo>
                    <a:pt x="15367" y="30861"/>
                  </a:lnTo>
                  <a:close/>
                </a:path>
              </a:pathLst>
            </a:custGeom>
            <a:solidFill>
              <a:srgbClr val="1C334E"/>
            </a:solidFill>
          </p:spPr>
        </p:sp>
      </p:grpSp>
      <p:sp>
        <p:nvSpPr>
          <p:cNvPr name="TextBox 5" id="5"/>
          <p:cNvSpPr txBox="true"/>
          <p:nvPr/>
        </p:nvSpPr>
        <p:spPr>
          <a:xfrm rot="0">
            <a:off x="760927" y="4687997"/>
            <a:ext cx="16360997" cy="1419060"/>
          </a:xfrm>
          <a:prstGeom prst="rect">
            <a:avLst/>
          </a:prstGeom>
        </p:spPr>
        <p:txBody>
          <a:bodyPr anchor="t" rtlCol="false" tIns="0" lIns="0" bIns="0" rIns="0">
            <a:spAutoFit/>
          </a:bodyPr>
          <a:lstStyle/>
          <a:p>
            <a:pPr algn="ctr">
              <a:lnSpc>
                <a:spcPts val="5737"/>
              </a:lnSpc>
            </a:pPr>
            <a:r>
              <a:rPr lang="en-US" sz="4092">
                <a:solidFill>
                  <a:srgbClr val="FAA61A"/>
                </a:solidFill>
                <a:latin typeface="Montserrat"/>
                <a:ea typeface="Montserrat"/>
                <a:cs typeface="Montserrat"/>
                <a:sym typeface="Montserrat"/>
              </a:rPr>
              <a:t>THIẾT</a:t>
            </a:r>
            <a:r>
              <a:rPr lang="en-US" sz="4092">
                <a:solidFill>
                  <a:srgbClr val="FAA61A"/>
                </a:solidFill>
                <a:latin typeface="Montserrat"/>
                <a:ea typeface="Montserrat"/>
                <a:cs typeface="Montserrat"/>
                <a:sym typeface="Montserrat"/>
              </a:rPr>
              <a:t> KẾ KIẾN TRÚC HỆ THỐNG BÁN LẺ ĐA KÊNH (OMNI-CHANNEL RETAIL ARCHITECTURE)</a:t>
            </a:r>
          </a:p>
        </p:txBody>
      </p:sp>
      <p:grpSp>
        <p:nvGrpSpPr>
          <p:cNvPr name="Group 6" id="6"/>
          <p:cNvGrpSpPr/>
          <p:nvPr/>
        </p:nvGrpSpPr>
        <p:grpSpPr>
          <a:xfrm rot="0">
            <a:off x="1131265" y="954434"/>
            <a:ext cx="4493095" cy="1722834"/>
            <a:chOff x="0" y="0"/>
            <a:chExt cx="5990793" cy="2297112"/>
          </a:xfrm>
        </p:grpSpPr>
        <p:sp>
          <p:nvSpPr>
            <p:cNvPr name="Freeform 7" id="7"/>
            <p:cNvSpPr/>
            <p:nvPr/>
          </p:nvSpPr>
          <p:spPr>
            <a:xfrm flipH="false" flipV="false" rot="0">
              <a:off x="0" y="0"/>
              <a:ext cx="5990844" cy="2297176"/>
            </a:xfrm>
            <a:custGeom>
              <a:avLst/>
              <a:gdLst/>
              <a:ahLst/>
              <a:cxnLst/>
              <a:rect r="r" b="b" t="t" l="l"/>
              <a:pathLst>
                <a:path h="2297176" w="5990844">
                  <a:moveTo>
                    <a:pt x="0" y="0"/>
                  </a:moveTo>
                  <a:lnTo>
                    <a:pt x="5990844" y="0"/>
                  </a:lnTo>
                  <a:lnTo>
                    <a:pt x="5990844" y="2297176"/>
                  </a:lnTo>
                  <a:lnTo>
                    <a:pt x="0" y="2297176"/>
                  </a:lnTo>
                  <a:lnTo>
                    <a:pt x="0" y="0"/>
                  </a:lnTo>
                  <a:close/>
                </a:path>
              </a:pathLst>
            </a:custGeom>
            <a:blipFill>
              <a:blip r:embed="rId3"/>
              <a:stretch>
                <a:fillRect l="0" t="0" r="0" b="2"/>
              </a:stretch>
            </a:blipFill>
          </p:spPr>
        </p:sp>
      </p:grpSp>
      <p:sp>
        <p:nvSpPr>
          <p:cNvPr name="TextBox 8" id="8"/>
          <p:cNvSpPr txBox="true"/>
          <p:nvPr/>
        </p:nvSpPr>
        <p:spPr>
          <a:xfrm rot="0">
            <a:off x="5357603" y="6489385"/>
            <a:ext cx="7092991" cy="363132"/>
          </a:xfrm>
          <a:prstGeom prst="rect">
            <a:avLst/>
          </a:prstGeom>
        </p:spPr>
        <p:txBody>
          <a:bodyPr anchor="t" rtlCol="false" tIns="0" lIns="0" bIns="0" rIns="0">
            <a:spAutoFit/>
          </a:bodyPr>
          <a:lstStyle/>
          <a:p>
            <a:pPr algn="ctr">
              <a:lnSpc>
                <a:spcPts val="3060"/>
              </a:lnSpc>
            </a:pPr>
            <a:r>
              <a:rPr lang="en-US" sz="2182" b="true">
                <a:solidFill>
                  <a:srgbClr val="FBFBFC"/>
                </a:solidFill>
                <a:latin typeface="Montserrat Bold"/>
                <a:ea typeface="Montserrat Bold"/>
                <a:cs typeface="Montserrat Bold"/>
                <a:sym typeface="Montserrat Bold"/>
              </a:rPr>
              <a:t>Nhóm học viên: Nhóm 01</a:t>
            </a:r>
          </a:p>
        </p:txBody>
      </p:sp>
      <p:sp>
        <p:nvSpPr>
          <p:cNvPr name="TextBox 9" id="9"/>
          <p:cNvSpPr txBox="true"/>
          <p:nvPr/>
        </p:nvSpPr>
        <p:spPr>
          <a:xfrm rot="0">
            <a:off x="4777701" y="7233517"/>
            <a:ext cx="8327451" cy="744255"/>
          </a:xfrm>
          <a:prstGeom prst="rect">
            <a:avLst/>
          </a:prstGeom>
        </p:spPr>
        <p:txBody>
          <a:bodyPr anchor="t" rtlCol="false" tIns="0" lIns="0" bIns="0" rIns="0">
            <a:spAutoFit/>
          </a:bodyPr>
          <a:lstStyle/>
          <a:p>
            <a:pPr algn="ctr">
              <a:lnSpc>
                <a:spcPts val="3058"/>
              </a:lnSpc>
            </a:pPr>
            <a:r>
              <a:rPr lang="en-US" sz="2182" b="true">
                <a:solidFill>
                  <a:srgbClr val="FBFBFC"/>
                </a:solidFill>
                <a:latin typeface="Montserrat Bold"/>
                <a:ea typeface="Montserrat Bold"/>
                <a:cs typeface="Montserrat Bold"/>
                <a:sym typeface="Montserrat Bold"/>
              </a:rPr>
              <a:t>Giảng viên hướng dẫn: PGS.</a:t>
            </a:r>
            <a:r>
              <a:rPr lang="en-US" b="true" sz="2182">
                <a:solidFill>
                  <a:srgbClr val="FBFBFC"/>
                </a:solidFill>
                <a:latin typeface="Montserrat Bold"/>
                <a:ea typeface="Montserrat Bold"/>
                <a:cs typeface="Montserrat Bold"/>
                <a:sym typeface="Montserrat Bold"/>
              </a:rPr>
              <a:t>TS. Nguyễn Văn Thủy </a:t>
            </a:r>
          </a:p>
          <a:p>
            <a:pPr algn="ctr">
              <a:lnSpc>
                <a:spcPts val="306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521933"/>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graphicFrame>
        <p:nvGraphicFramePr>
          <p:cNvPr name="Table 7" id="7"/>
          <p:cNvGraphicFramePr>
            <a:graphicFrameLocks noGrp="true"/>
          </p:cNvGraphicFramePr>
          <p:nvPr/>
        </p:nvGraphicFramePr>
        <p:xfrm>
          <a:off x="567386" y="2478963"/>
          <a:ext cx="17132292" cy="6720491"/>
        </p:xfrm>
        <a:graphic>
          <a:graphicData uri="http://schemas.openxmlformats.org/drawingml/2006/table">
            <a:tbl>
              <a:tblPr/>
              <a:tblGrid>
                <a:gridCol w="2526115"/>
                <a:gridCol w="8472322"/>
                <a:gridCol w="6133855"/>
              </a:tblGrid>
              <a:tr h="1481752">
                <a:tc>
                  <a:txBody>
                    <a:bodyPr anchor="t" rtlCol="false"/>
                    <a:lstStyle/>
                    <a:p>
                      <a:pPr algn="ctr">
                        <a:lnSpc>
                          <a:spcPts val="3919"/>
                        </a:lnSpc>
                        <a:defRPr/>
                      </a:pPr>
                      <a:r>
                        <a:rPr lang="en-US" sz="2799" b="true">
                          <a:solidFill>
                            <a:srgbClr val="F8A41A"/>
                          </a:solidFill>
                          <a:latin typeface="Montserrat Bold"/>
                          <a:ea typeface="Montserrat Bold"/>
                          <a:cs typeface="Montserrat Bold"/>
                          <a:sym typeface="Montserrat Bold"/>
                        </a:rPr>
                        <a:t>STT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919"/>
                        </a:lnSpc>
                        <a:defRPr/>
                      </a:pPr>
                      <a:r>
                        <a:rPr lang="en-US" sz="2799" b="true">
                          <a:solidFill>
                            <a:srgbClr val="F8A41A"/>
                          </a:solidFill>
                          <a:latin typeface="Montserrat Bold"/>
                          <a:ea typeface="Montserrat Bold"/>
                          <a:cs typeface="Montserrat Bold"/>
                          <a:sym typeface="Montserrat Bold"/>
                        </a:rPr>
                        <a:t>Tên thành viên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919"/>
                        </a:lnSpc>
                        <a:defRPr/>
                      </a:pPr>
                      <a:r>
                        <a:rPr lang="en-US" b="true" sz="2799">
                          <a:solidFill>
                            <a:srgbClr val="F8A41A"/>
                          </a:solidFill>
                          <a:latin typeface="Montserrat Bold"/>
                          <a:ea typeface="Montserrat Bold"/>
                          <a:cs typeface="Montserrat Bold"/>
                          <a:sym typeface="Montserrat Bold"/>
                        </a:rPr>
                        <a:t>Mã học viên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481752">
                <a:tc>
                  <a:txBody>
                    <a:bodyPr anchor="t" rtlCol="false"/>
                    <a:lstStyle/>
                    <a:p>
                      <a:pPr algn="ctr">
                        <a:lnSpc>
                          <a:spcPts val="3919"/>
                        </a:lnSpc>
                        <a:defRPr/>
                      </a:pPr>
                      <a:r>
                        <a:rPr lang="en-US" sz="2799">
                          <a:solidFill>
                            <a:srgbClr val="FBFBFC"/>
                          </a:solidFill>
                          <a:latin typeface="Montserrat"/>
                          <a:ea typeface="Montserrat"/>
                          <a:cs typeface="Montserrat"/>
                          <a:sym typeface="Montserrat"/>
                        </a:rPr>
                        <a:t>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919"/>
                        </a:lnSpc>
                        <a:defRPr/>
                      </a:pPr>
                      <a:r>
                        <a:rPr lang="en-US" sz="2799">
                          <a:solidFill>
                            <a:srgbClr val="FBFBFC"/>
                          </a:solidFill>
                          <a:latin typeface="Montserrat"/>
                          <a:ea typeface="Montserrat"/>
                          <a:cs typeface="Montserrat"/>
                          <a:sym typeface="Montserrat"/>
                        </a:rPr>
                        <a:t>Hoàng Trung Tiến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919"/>
                        </a:lnSpc>
                        <a:defRPr/>
                      </a:pPr>
                      <a:r>
                        <a:rPr lang="en-US" sz="2799">
                          <a:solidFill>
                            <a:srgbClr val="FBFBFC"/>
                          </a:solidFill>
                          <a:latin typeface="Montserrat"/>
                          <a:ea typeface="Montserrat"/>
                          <a:cs typeface="Montserrat"/>
                          <a:sym typeface="Montserrat"/>
                        </a:rPr>
                        <a:t>28K406009</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145451">
                <a:tc>
                  <a:txBody>
                    <a:bodyPr anchor="t" rtlCol="false"/>
                    <a:lstStyle/>
                    <a:p>
                      <a:pPr algn="ctr">
                        <a:lnSpc>
                          <a:spcPts val="3919"/>
                        </a:lnSpc>
                        <a:defRPr/>
                      </a:pPr>
                      <a:r>
                        <a:rPr lang="en-US" sz="2799">
                          <a:solidFill>
                            <a:srgbClr val="FFFFFF"/>
                          </a:solidFill>
                          <a:latin typeface="Montserrat"/>
                          <a:ea typeface="Montserrat"/>
                          <a:cs typeface="Montserrat"/>
                          <a:sym typeface="Montserrat"/>
                        </a:rPr>
                        <a:t>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919"/>
                        </a:lnSpc>
                        <a:defRPr/>
                      </a:pPr>
                      <a:r>
                        <a:rPr lang="en-US" sz="2799">
                          <a:solidFill>
                            <a:srgbClr val="FFFFFF"/>
                          </a:solidFill>
                          <a:latin typeface="Montserrat"/>
                          <a:ea typeface="Montserrat"/>
                          <a:cs typeface="Montserrat"/>
                          <a:sym typeface="Montserrat"/>
                        </a:rPr>
                        <a:t>Nguyễn Thúy An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919"/>
                        </a:lnSpc>
                        <a:defRPr/>
                      </a:pPr>
                      <a:r>
                        <a:rPr lang="en-US" sz="2799">
                          <a:solidFill>
                            <a:srgbClr val="FFFFFF"/>
                          </a:solidFill>
                          <a:latin typeface="Montserrat"/>
                          <a:ea typeface="Montserrat"/>
                          <a:cs typeface="Montserrat"/>
                          <a:sym typeface="Montserrat"/>
                        </a:rPr>
                        <a:t>28K406001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397259">
                <a:tc>
                  <a:txBody>
                    <a:bodyPr anchor="t" rtlCol="false"/>
                    <a:lstStyle/>
                    <a:p>
                      <a:pPr algn="ctr">
                        <a:lnSpc>
                          <a:spcPts val="3919"/>
                        </a:lnSpc>
                        <a:defRPr/>
                      </a:pPr>
                      <a:r>
                        <a:rPr lang="en-US" sz="2799">
                          <a:solidFill>
                            <a:srgbClr val="FFFFFF"/>
                          </a:solidFill>
                          <a:latin typeface="Montserrat"/>
                          <a:ea typeface="Montserrat"/>
                          <a:cs typeface="Montserrat"/>
                          <a:sym typeface="Montserrat"/>
                        </a:rPr>
                        <a:t>3</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919"/>
                        </a:lnSpc>
                        <a:defRPr/>
                      </a:pPr>
                      <a:r>
                        <a:rPr lang="en-US" sz="2799">
                          <a:solidFill>
                            <a:srgbClr val="FFFFFF"/>
                          </a:solidFill>
                          <a:latin typeface="Montserrat"/>
                          <a:ea typeface="Montserrat"/>
                          <a:cs typeface="Montserrat"/>
                          <a:sym typeface="Montserrat"/>
                        </a:rPr>
                        <a:t>Trần Đức Nam Anh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919"/>
                        </a:lnSpc>
                        <a:defRPr/>
                      </a:pPr>
                      <a:r>
                        <a:rPr lang="en-US" sz="2799">
                          <a:solidFill>
                            <a:srgbClr val="FFFFFF"/>
                          </a:solidFill>
                          <a:latin typeface="Montserrat"/>
                          <a:ea typeface="Montserrat"/>
                          <a:cs typeface="Montserrat"/>
                          <a:sym typeface="Montserrat"/>
                        </a:rPr>
                        <a:t>28K406002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14277">
                <a:tc>
                  <a:txBody>
                    <a:bodyPr anchor="t" rtlCol="false"/>
                    <a:lstStyle/>
                    <a:p>
                      <a:pPr algn="ctr">
                        <a:lnSpc>
                          <a:spcPts val="3919"/>
                        </a:lnSpc>
                        <a:defRPr/>
                      </a:pPr>
                      <a:r>
                        <a:rPr lang="en-US" sz="2799">
                          <a:solidFill>
                            <a:srgbClr val="FFFFFF"/>
                          </a:solidFill>
                          <a:latin typeface="Montserrat"/>
                          <a:ea typeface="Montserrat"/>
                          <a:cs typeface="Montserrat"/>
                          <a:sym typeface="Montserrat"/>
                        </a:rPr>
                        <a:t>4</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919"/>
                        </a:lnSpc>
                        <a:defRPr/>
                      </a:pPr>
                      <a:r>
                        <a:rPr lang="en-US" sz="2799">
                          <a:solidFill>
                            <a:srgbClr val="FFFFFF"/>
                          </a:solidFill>
                          <a:latin typeface="Montserrat"/>
                          <a:ea typeface="Montserrat"/>
                          <a:cs typeface="Montserrat"/>
                          <a:sym typeface="Montserrat"/>
                        </a:rPr>
                        <a:t>Nguyễn Mạnh Cường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919"/>
                        </a:lnSpc>
                        <a:defRPr/>
                      </a:pPr>
                      <a:r>
                        <a:rPr lang="en-US" sz="2799">
                          <a:solidFill>
                            <a:srgbClr val="FFFFFF"/>
                          </a:solidFill>
                          <a:latin typeface="Montserrat"/>
                          <a:ea typeface="Montserrat"/>
                          <a:cs typeface="Montserrat"/>
                          <a:sym typeface="Montserrat"/>
                        </a:rPr>
                        <a:t>28K406004</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8" id="8"/>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sz="2182" b="true">
                <a:solidFill>
                  <a:srgbClr val="FAA61A"/>
                </a:solidFill>
                <a:latin typeface="Montserrat Bold"/>
                <a:ea typeface="Montserrat Bold"/>
                <a:cs typeface="Montserrat Bold"/>
                <a:sym typeface="Montserrat Bold"/>
              </a:rPr>
              <a:t>THÀNH VIÊN NHÓM 01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12675"/>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sz="2182" b="true">
                <a:solidFill>
                  <a:srgbClr val="FAA61A"/>
                </a:solidFill>
                <a:latin typeface="Montserrat Bold"/>
                <a:ea typeface="Montserrat Bold"/>
                <a:cs typeface="Montserrat Bold"/>
                <a:sym typeface="Montserrat Bold"/>
              </a:rPr>
              <a:t>NỘI DUNG THUYẾT TRÌNH</a:t>
            </a:r>
          </a:p>
        </p:txBody>
      </p:sp>
      <p:grpSp>
        <p:nvGrpSpPr>
          <p:cNvPr name="Group 8" id="8"/>
          <p:cNvGrpSpPr/>
          <p:nvPr/>
        </p:nvGrpSpPr>
        <p:grpSpPr>
          <a:xfrm rot="0">
            <a:off x="1143000" y="2557462"/>
            <a:ext cx="642938" cy="642938"/>
            <a:chOff x="0" y="0"/>
            <a:chExt cx="857250" cy="857250"/>
          </a:xfrm>
        </p:grpSpPr>
        <p:sp>
          <p:nvSpPr>
            <p:cNvPr name="Freeform 9" id="9"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4"/>
              <a:stretch>
                <a:fillRect l="0" t="0" r="0" b="0"/>
              </a:stretch>
            </a:blipFill>
          </p:spPr>
        </p:sp>
      </p:grpSp>
      <p:grpSp>
        <p:nvGrpSpPr>
          <p:cNvPr name="Group 10" id="10"/>
          <p:cNvGrpSpPr/>
          <p:nvPr/>
        </p:nvGrpSpPr>
        <p:grpSpPr>
          <a:xfrm rot="0">
            <a:off x="1143000" y="3814762"/>
            <a:ext cx="642938" cy="642938"/>
            <a:chOff x="0" y="0"/>
            <a:chExt cx="857250" cy="857250"/>
          </a:xfrm>
        </p:grpSpPr>
        <p:sp>
          <p:nvSpPr>
            <p:cNvPr name="Freeform 11" id="11"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5"/>
              <a:stretch>
                <a:fillRect l="0" t="0" r="0" b="0"/>
              </a:stretch>
            </a:blipFill>
          </p:spPr>
        </p:sp>
      </p:grpSp>
      <p:grpSp>
        <p:nvGrpSpPr>
          <p:cNvPr name="Group 12" id="12"/>
          <p:cNvGrpSpPr/>
          <p:nvPr/>
        </p:nvGrpSpPr>
        <p:grpSpPr>
          <a:xfrm rot="0">
            <a:off x="1143000" y="5272088"/>
            <a:ext cx="642938" cy="642938"/>
            <a:chOff x="0" y="0"/>
            <a:chExt cx="857250" cy="857250"/>
          </a:xfrm>
        </p:grpSpPr>
        <p:sp>
          <p:nvSpPr>
            <p:cNvPr name="Freeform 13" id="13"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6"/>
              <a:stretch>
                <a:fillRect l="0" t="0" r="0" b="0"/>
              </a:stretch>
            </a:blipFill>
          </p:spPr>
        </p:sp>
      </p:grpSp>
      <p:grpSp>
        <p:nvGrpSpPr>
          <p:cNvPr name="Group 14" id="14"/>
          <p:cNvGrpSpPr/>
          <p:nvPr/>
        </p:nvGrpSpPr>
        <p:grpSpPr>
          <a:xfrm rot="0">
            <a:off x="1143000" y="6729412"/>
            <a:ext cx="642938" cy="642938"/>
            <a:chOff x="0" y="0"/>
            <a:chExt cx="857250" cy="857250"/>
          </a:xfrm>
        </p:grpSpPr>
        <p:sp>
          <p:nvSpPr>
            <p:cNvPr name="Freeform 15" id="15"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7"/>
              <a:stretch>
                <a:fillRect l="0" t="0" r="0" b="0"/>
              </a:stretch>
            </a:blipFill>
          </p:spPr>
        </p:sp>
      </p:grpSp>
      <p:grpSp>
        <p:nvGrpSpPr>
          <p:cNvPr name="Group 16" id="16"/>
          <p:cNvGrpSpPr/>
          <p:nvPr/>
        </p:nvGrpSpPr>
        <p:grpSpPr>
          <a:xfrm rot="0">
            <a:off x="1143000" y="7986712"/>
            <a:ext cx="642938" cy="642938"/>
            <a:chOff x="0" y="0"/>
            <a:chExt cx="857250" cy="857250"/>
          </a:xfrm>
        </p:grpSpPr>
        <p:sp>
          <p:nvSpPr>
            <p:cNvPr name="Freeform 17" id="17"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8"/>
              <a:stretch>
                <a:fillRect l="0" t="0" r="0" b="0"/>
              </a:stretch>
            </a:blipFill>
          </p:spPr>
        </p:sp>
      </p:grpSp>
      <p:grpSp>
        <p:nvGrpSpPr>
          <p:cNvPr name="Group 18" id="18"/>
          <p:cNvGrpSpPr/>
          <p:nvPr/>
        </p:nvGrpSpPr>
        <p:grpSpPr>
          <a:xfrm rot="0">
            <a:off x="9572625" y="2557462"/>
            <a:ext cx="642938" cy="642938"/>
            <a:chOff x="0" y="0"/>
            <a:chExt cx="857250" cy="857250"/>
          </a:xfrm>
        </p:grpSpPr>
        <p:sp>
          <p:nvSpPr>
            <p:cNvPr name="Freeform 19" id="19"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9"/>
              <a:stretch>
                <a:fillRect l="0" t="0" r="0" b="0"/>
              </a:stretch>
            </a:blipFill>
          </p:spPr>
        </p:sp>
      </p:grpSp>
      <p:grpSp>
        <p:nvGrpSpPr>
          <p:cNvPr name="Group 20" id="20"/>
          <p:cNvGrpSpPr/>
          <p:nvPr/>
        </p:nvGrpSpPr>
        <p:grpSpPr>
          <a:xfrm rot="0">
            <a:off x="9572625" y="3814762"/>
            <a:ext cx="642938" cy="642938"/>
            <a:chOff x="0" y="0"/>
            <a:chExt cx="857250" cy="857250"/>
          </a:xfrm>
        </p:grpSpPr>
        <p:sp>
          <p:nvSpPr>
            <p:cNvPr name="Freeform 21" id="21"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10"/>
              <a:stretch>
                <a:fillRect l="0" t="0" r="0" b="0"/>
              </a:stretch>
            </a:blipFill>
          </p:spPr>
        </p:sp>
      </p:grpSp>
      <p:grpSp>
        <p:nvGrpSpPr>
          <p:cNvPr name="Group 22" id="22"/>
          <p:cNvGrpSpPr/>
          <p:nvPr/>
        </p:nvGrpSpPr>
        <p:grpSpPr>
          <a:xfrm rot="0">
            <a:off x="9572625" y="5184572"/>
            <a:ext cx="642938" cy="642938"/>
            <a:chOff x="0" y="0"/>
            <a:chExt cx="857250" cy="857250"/>
          </a:xfrm>
        </p:grpSpPr>
        <p:sp>
          <p:nvSpPr>
            <p:cNvPr name="Freeform 23" id="23"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11"/>
              <a:stretch>
                <a:fillRect l="0" t="0" r="0" b="0"/>
              </a:stretch>
            </a:blipFill>
          </p:spPr>
        </p:sp>
      </p:grpSp>
      <p:grpSp>
        <p:nvGrpSpPr>
          <p:cNvPr name="Group 24" id="24"/>
          <p:cNvGrpSpPr/>
          <p:nvPr/>
        </p:nvGrpSpPr>
        <p:grpSpPr>
          <a:xfrm rot="0">
            <a:off x="9572625" y="6627610"/>
            <a:ext cx="642938" cy="642938"/>
            <a:chOff x="0" y="0"/>
            <a:chExt cx="857250" cy="857250"/>
          </a:xfrm>
        </p:grpSpPr>
        <p:sp>
          <p:nvSpPr>
            <p:cNvPr name="Freeform 25" id="25"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12"/>
              <a:stretch>
                <a:fillRect l="0" t="0" r="0" b="0"/>
              </a:stretch>
            </a:blipFill>
          </p:spPr>
        </p:sp>
      </p:grpSp>
      <p:sp>
        <p:nvSpPr>
          <p:cNvPr name="TextBox 26" id="26"/>
          <p:cNvSpPr txBox="true"/>
          <p:nvPr/>
        </p:nvSpPr>
        <p:spPr>
          <a:xfrm rot="0">
            <a:off x="2071687" y="2590800"/>
            <a:ext cx="6795849" cy="744132"/>
          </a:xfrm>
          <a:prstGeom prst="rect">
            <a:avLst/>
          </a:prstGeom>
        </p:spPr>
        <p:txBody>
          <a:bodyPr anchor="t" rtlCol="false" tIns="0" lIns="0" bIns="0" rIns="0">
            <a:spAutoFit/>
          </a:bodyPr>
          <a:lstStyle/>
          <a:p>
            <a:pPr algn="l" marL="0" indent="0" lvl="0">
              <a:lnSpc>
                <a:spcPts val="3060"/>
              </a:lnSpc>
              <a:spcBef>
                <a:spcPct val="0"/>
              </a:spcBef>
            </a:pPr>
            <a:r>
              <a:rPr lang="en-US" b="true" sz="2182" strike="noStrike" u="none">
                <a:solidFill>
                  <a:srgbClr val="FBFBFC"/>
                </a:solidFill>
                <a:latin typeface="Montserrat Bold"/>
                <a:ea typeface="Montserrat Bold"/>
                <a:cs typeface="Montserrat Bold"/>
                <a:sym typeface="Montserrat Bold"/>
              </a:rPr>
              <a:t>Giới thiệu tổng quan và bài toán kiến trúc HTTT Doanh nghiệp</a:t>
            </a:r>
          </a:p>
        </p:txBody>
      </p:sp>
      <p:sp>
        <p:nvSpPr>
          <p:cNvPr name="TextBox 27" id="27"/>
          <p:cNvSpPr txBox="true"/>
          <p:nvPr/>
        </p:nvSpPr>
        <p:spPr>
          <a:xfrm rot="0">
            <a:off x="2071687" y="3848100"/>
            <a:ext cx="6345793" cy="363132"/>
          </a:xfrm>
          <a:prstGeom prst="rect">
            <a:avLst/>
          </a:prstGeom>
        </p:spPr>
        <p:txBody>
          <a:bodyPr anchor="t" rtlCol="false" tIns="0" lIns="0" bIns="0" rIns="0">
            <a:spAutoFit/>
          </a:bodyPr>
          <a:lstStyle/>
          <a:p>
            <a:pPr algn="l" marL="0" indent="0" lvl="0">
              <a:lnSpc>
                <a:spcPts val="3060"/>
              </a:lnSpc>
              <a:spcBef>
                <a:spcPct val="0"/>
              </a:spcBef>
            </a:pPr>
            <a:r>
              <a:rPr lang="en-US" b="true" sz="2182" strike="noStrike" u="none">
                <a:solidFill>
                  <a:srgbClr val="FBFBFC"/>
                </a:solidFill>
                <a:latin typeface="Montserrat Bold"/>
                <a:ea typeface="Montserrat Bold"/>
                <a:cs typeface="Montserrat Bold"/>
                <a:sym typeface="Montserrat Bold"/>
              </a:rPr>
              <a:t>Xây dựng tầm nhìn kiến trúc</a:t>
            </a:r>
          </a:p>
        </p:txBody>
      </p:sp>
      <p:sp>
        <p:nvSpPr>
          <p:cNvPr name="TextBox 28" id="28"/>
          <p:cNvSpPr txBox="true"/>
          <p:nvPr/>
        </p:nvSpPr>
        <p:spPr>
          <a:xfrm rot="0">
            <a:off x="2071687" y="5305425"/>
            <a:ext cx="6975872" cy="363132"/>
          </a:xfrm>
          <a:prstGeom prst="rect">
            <a:avLst/>
          </a:prstGeom>
        </p:spPr>
        <p:txBody>
          <a:bodyPr anchor="t" rtlCol="false" tIns="0" lIns="0" bIns="0" rIns="0">
            <a:spAutoFit/>
          </a:bodyPr>
          <a:lstStyle/>
          <a:p>
            <a:pPr algn="l" marL="0" indent="0" lvl="0">
              <a:lnSpc>
                <a:spcPts val="3060"/>
              </a:lnSpc>
              <a:spcBef>
                <a:spcPct val="0"/>
              </a:spcBef>
            </a:pPr>
            <a:r>
              <a:rPr lang="en-US" b="true" sz="2182" strike="noStrike" u="none">
                <a:solidFill>
                  <a:srgbClr val="FBFBFC"/>
                </a:solidFill>
                <a:latin typeface="Montserrat Bold"/>
                <a:ea typeface="Montserrat Bold"/>
                <a:cs typeface="Montserrat Bold"/>
                <a:sym typeface="Montserrat Bold"/>
              </a:rPr>
              <a:t>Kiến trúc Kinh doanh (Business Architecture)</a:t>
            </a:r>
          </a:p>
        </p:txBody>
      </p:sp>
      <p:sp>
        <p:nvSpPr>
          <p:cNvPr name="TextBox 29" id="29"/>
          <p:cNvSpPr txBox="true"/>
          <p:nvPr/>
        </p:nvSpPr>
        <p:spPr>
          <a:xfrm rot="0">
            <a:off x="2071687" y="6762750"/>
            <a:ext cx="5820728" cy="363132"/>
          </a:xfrm>
          <a:prstGeom prst="rect">
            <a:avLst/>
          </a:prstGeom>
        </p:spPr>
        <p:txBody>
          <a:bodyPr anchor="t" rtlCol="false" tIns="0" lIns="0" bIns="0" rIns="0">
            <a:spAutoFit/>
          </a:bodyPr>
          <a:lstStyle/>
          <a:p>
            <a:pPr algn="l" marL="0" indent="0" lvl="0">
              <a:lnSpc>
                <a:spcPts val="3060"/>
              </a:lnSpc>
              <a:spcBef>
                <a:spcPct val="0"/>
              </a:spcBef>
            </a:pPr>
            <a:r>
              <a:rPr lang="en-US" b="true" sz="2182" strike="noStrike" u="none">
                <a:solidFill>
                  <a:srgbClr val="FBFBFC"/>
                </a:solidFill>
                <a:latin typeface="Montserrat Bold"/>
                <a:ea typeface="Montserrat Bold"/>
                <a:cs typeface="Montserrat Bold"/>
                <a:sym typeface="Montserrat Bold"/>
              </a:rPr>
              <a:t>Kiến trúc Dữ liệu (Data Architecture)</a:t>
            </a:r>
          </a:p>
        </p:txBody>
      </p:sp>
      <p:sp>
        <p:nvSpPr>
          <p:cNvPr name="TextBox 30" id="30"/>
          <p:cNvSpPr txBox="true"/>
          <p:nvPr/>
        </p:nvSpPr>
        <p:spPr>
          <a:xfrm rot="0">
            <a:off x="2071688" y="8020050"/>
            <a:ext cx="6975872" cy="363132"/>
          </a:xfrm>
          <a:prstGeom prst="rect">
            <a:avLst/>
          </a:prstGeom>
        </p:spPr>
        <p:txBody>
          <a:bodyPr anchor="t" rtlCol="false" tIns="0" lIns="0" bIns="0" rIns="0">
            <a:spAutoFit/>
          </a:bodyPr>
          <a:lstStyle/>
          <a:p>
            <a:pPr algn="l" marL="0" indent="0" lvl="0">
              <a:lnSpc>
                <a:spcPts val="3060"/>
              </a:lnSpc>
              <a:spcBef>
                <a:spcPct val="0"/>
              </a:spcBef>
            </a:pPr>
            <a:r>
              <a:rPr lang="en-US" b="true" sz="2182" strike="noStrike" u="none">
                <a:solidFill>
                  <a:srgbClr val="FBFBFC"/>
                </a:solidFill>
                <a:latin typeface="Montserrat Bold"/>
                <a:ea typeface="Montserrat Bold"/>
                <a:cs typeface="Montserrat Bold"/>
                <a:sym typeface="Montserrat Bold"/>
              </a:rPr>
              <a:t>Kiến trúc Ứng dụng (Application Architecture)</a:t>
            </a:r>
          </a:p>
        </p:txBody>
      </p:sp>
      <p:sp>
        <p:nvSpPr>
          <p:cNvPr name="TextBox 31" id="31"/>
          <p:cNvSpPr txBox="true"/>
          <p:nvPr/>
        </p:nvSpPr>
        <p:spPr>
          <a:xfrm rot="0">
            <a:off x="10501312" y="2590800"/>
            <a:ext cx="6975872" cy="363132"/>
          </a:xfrm>
          <a:prstGeom prst="rect">
            <a:avLst/>
          </a:prstGeom>
        </p:spPr>
        <p:txBody>
          <a:bodyPr anchor="t" rtlCol="false" tIns="0" lIns="0" bIns="0" rIns="0">
            <a:spAutoFit/>
          </a:bodyPr>
          <a:lstStyle/>
          <a:p>
            <a:pPr algn="l" marL="0" indent="0" lvl="0">
              <a:lnSpc>
                <a:spcPts val="3060"/>
              </a:lnSpc>
              <a:spcBef>
                <a:spcPct val="0"/>
              </a:spcBef>
            </a:pPr>
            <a:r>
              <a:rPr lang="en-US" b="true" sz="2182" strike="noStrike" u="none">
                <a:solidFill>
                  <a:srgbClr val="FBFBFC"/>
                </a:solidFill>
                <a:latin typeface="Montserrat Bold"/>
                <a:ea typeface="Montserrat Bold"/>
                <a:cs typeface="Montserrat Bold"/>
                <a:sym typeface="Montserrat Bold"/>
              </a:rPr>
              <a:t>Kiến trúc Công nghệ (Technology Architecture)</a:t>
            </a:r>
          </a:p>
        </p:txBody>
      </p:sp>
      <p:sp>
        <p:nvSpPr>
          <p:cNvPr name="TextBox 32" id="32"/>
          <p:cNvSpPr txBox="true"/>
          <p:nvPr/>
        </p:nvSpPr>
        <p:spPr>
          <a:xfrm rot="0">
            <a:off x="10501312" y="3848100"/>
            <a:ext cx="6405801" cy="363132"/>
          </a:xfrm>
          <a:prstGeom prst="rect">
            <a:avLst/>
          </a:prstGeom>
        </p:spPr>
        <p:txBody>
          <a:bodyPr anchor="t" rtlCol="false" tIns="0" lIns="0" bIns="0" rIns="0">
            <a:spAutoFit/>
          </a:bodyPr>
          <a:lstStyle/>
          <a:p>
            <a:pPr algn="l" marL="0" indent="0" lvl="0">
              <a:lnSpc>
                <a:spcPts val="3060"/>
              </a:lnSpc>
              <a:spcBef>
                <a:spcPct val="0"/>
              </a:spcBef>
            </a:pPr>
            <a:r>
              <a:rPr lang="en-US" b="true" sz="2182" strike="noStrike" u="none">
                <a:solidFill>
                  <a:srgbClr val="FBFBFC"/>
                </a:solidFill>
                <a:latin typeface="Montserrat Bold"/>
                <a:ea typeface="Montserrat Bold"/>
                <a:cs typeface="Montserrat Bold"/>
                <a:sym typeface="Montserrat Bold"/>
              </a:rPr>
              <a:t>Kiến trúc Bảo mật (Security Architecture)</a:t>
            </a:r>
          </a:p>
        </p:txBody>
      </p:sp>
      <p:sp>
        <p:nvSpPr>
          <p:cNvPr name="TextBox 33" id="33"/>
          <p:cNvSpPr txBox="true"/>
          <p:nvPr/>
        </p:nvSpPr>
        <p:spPr>
          <a:xfrm rot="0">
            <a:off x="10501312" y="5217910"/>
            <a:ext cx="5865733" cy="363132"/>
          </a:xfrm>
          <a:prstGeom prst="rect">
            <a:avLst/>
          </a:prstGeom>
        </p:spPr>
        <p:txBody>
          <a:bodyPr anchor="t" rtlCol="false" tIns="0" lIns="0" bIns="0" rIns="0">
            <a:spAutoFit/>
          </a:bodyPr>
          <a:lstStyle/>
          <a:p>
            <a:pPr algn="l" marL="0" indent="0" lvl="0">
              <a:lnSpc>
                <a:spcPts val="3060"/>
              </a:lnSpc>
              <a:spcBef>
                <a:spcPct val="0"/>
              </a:spcBef>
            </a:pPr>
            <a:r>
              <a:rPr lang="en-US" b="true" sz="2182" strike="noStrike" u="none">
                <a:solidFill>
                  <a:srgbClr val="FBFBFC"/>
                </a:solidFill>
                <a:latin typeface="Montserrat Bold"/>
                <a:ea typeface="Montserrat Bold"/>
                <a:cs typeface="Montserrat Bold"/>
                <a:sym typeface="Montserrat Bold"/>
              </a:rPr>
              <a:t>Đề xuất lộ trình triển khai</a:t>
            </a:r>
          </a:p>
        </p:txBody>
      </p:sp>
      <p:sp>
        <p:nvSpPr>
          <p:cNvPr name="TextBox 34" id="34"/>
          <p:cNvSpPr txBox="true"/>
          <p:nvPr/>
        </p:nvSpPr>
        <p:spPr>
          <a:xfrm rot="0">
            <a:off x="10501312" y="6660947"/>
            <a:ext cx="5670709" cy="363132"/>
          </a:xfrm>
          <a:prstGeom prst="rect">
            <a:avLst/>
          </a:prstGeom>
        </p:spPr>
        <p:txBody>
          <a:bodyPr anchor="t" rtlCol="false" tIns="0" lIns="0" bIns="0" rIns="0">
            <a:spAutoFit/>
          </a:bodyPr>
          <a:lstStyle/>
          <a:p>
            <a:pPr algn="l" marL="0" indent="0" lvl="0">
              <a:lnSpc>
                <a:spcPts val="3060"/>
              </a:lnSpc>
              <a:spcBef>
                <a:spcPct val="0"/>
              </a:spcBef>
            </a:pPr>
            <a:r>
              <a:rPr lang="en-US" b="true" sz="2182" strike="noStrike" u="none">
                <a:solidFill>
                  <a:srgbClr val="FBFBFC"/>
                </a:solidFill>
                <a:latin typeface="Montserrat Bold"/>
                <a:ea typeface="Montserrat Bold"/>
                <a:cs typeface="Montserrat Bold"/>
                <a:sym typeface="Montserrat Bold"/>
              </a:rPr>
              <a:t>Đánh giá và quản trị rủi ro</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12675"/>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sz="2182" b="true">
                <a:solidFill>
                  <a:srgbClr val="FAA61A"/>
                </a:solidFill>
                <a:latin typeface="Montserrat Bold"/>
                <a:ea typeface="Montserrat Bold"/>
                <a:cs typeface="Montserrat Bold"/>
                <a:sym typeface="Montserrat Bold"/>
              </a:rPr>
              <a:t>NỘI DUNG THUYẾT TRÌNH</a:t>
            </a:r>
          </a:p>
        </p:txBody>
      </p:sp>
      <p:grpSp>
        <p:nvGrpSpPr>
          <p:cNvPr name="Group 8" id="8"/>
          <p:cNvGrpSpPr/>
          <p:nvPr/>
        </p:nvGrpSpPr>
        <p:grpSpPr>
          <a:xfrm rot="0">
            <a:off x="9154106" y="2865135"/>
            <a:ext cx="642938" cy="642938"/>
            <a:chOff x="0" y="0"/>
            <a:chExt cx="857250" cy="857250"/>
          </a:xfrm>
        </p:grpSpPr>
        <p:sp>
          <p:nvSpPr>
            <p:cNvPr name="Freeform 9" id="9"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4"/>
              <a:stretch>
                <a:fillRect l="0" t="0" r="0" b="0"/>
              </a:stretch>
            </a:blipFill>
          </p:spPr>
        </p:sp>
      </p:grpSp>
      <p:sp>
        <p:nvSpPr>
          <p:cNvPr name="TextBox 10" id="10"/>
          <p:cNvSpPr txBox="true"/>
          <p:nvPr/>
        </p:nvSpPr>
        <p:spPr>
          <a:xfrm rot="0">
            <a:off x="4051371" y="4094162"/>
            <a:ext cx="12100679" cy="488059"/>
          </a:xfrm>
          <a:prstGeom prst="rect">
            <a:avLst/>
          </a:prstGeom>
        </p:spPr>
        <p:txBody>
          <a:bodyPr anchor="t" rtlCol="false" tIns="0" lIns="0" bIns="0" rIns="0">
            <a:spAutoFit/>
          </a:bodyPr>
          <a:lstStyle/>
          <a:p>
            <a:pPr algn="l" marL="0" indent="0" lvl="0">
              <a:lnSpc>
                <a:spcPts val="4041"/>
              </a:lnSpc>
              <a:spcBef>
                <a:spcPct val="0"/>
              </a:spcBef>
            </a:pPr>
            <a:r>
              <a:rPr lang="en-US" b="true" sz="2882" strike="noStrike" u="none">
                <a:solidFill>
                  <a:srgbClr val="FBFBFC"/>
                </a:solidFill>
                <a:latin typeface="Montserrat Bold"/>
                <a:ea typeface="Montserrat Bold"/>
                <a:cs typeface="Montserrat Bold"/>
                <a:sym typeface="Montserrat Bold"/>
              </a:rPr>
              <a:t>Giới thiệu tổng quan và bài toán kiến trúc HTTT Doanh nghiệp</a:t>
            </a:r>
          </a:p>
        </p:txBody>
      </p:sp>
      <p:sp>
        <p:nvSpPr>
          <p:cNvPr name="TextBox 11" id="11"/>
          <p:cNvSpPr txBox="true"/>
          <p:nvPr/>
        </p:nvSpPr>
        <p:spPr>
          <a:xfrm rot="0">
            <a:off x="5108592" y="4794125"/>
            <a:ext cx="9264570" cy="488059"/>
          </a:xfrm>
          <a:prstGeom prst="rect">
            <a:avLst/>
          </a:prstGeom>
        </p:spPr>
        <p:txBody>
          <a:bodyPr anchor="t" rtlCol="false" tIns="0" lIns="0" bIns="0" rIns="0">
            <a:spAutoFit/>
          </a:bodyPr>
          <a:lstStyle/>
          <a:p>
            <a:pPr algn="l" marL="0" indent="0" lvl="0">
              <a:lnSpc>
                <a:spcPts val="4041"/>
              </a:lnSpc>
              <a:spcBef>
                <a:spcPct val="0"/>
              </a:spcBef>
            </a:pPr>
            <a:r>
              <a:rPr lang="en-US" b="true" sz="2882" strike="noStrike" u="none">
                <a:solidFill>
                  <a:srgbClr val="FBFBFC"/>
                </a:solidFill>
                <a:latin typeface="Montserrat Bold"/>
                <a:ea typeface="Montserrat Bold"/>
                <a:cs typeface="Montserrat Bold"/>
                <a:sym typeface="Montserrat Bold"/>
              </a:rPr>
              <a:t>Tại Công ty TNHH TM&amp;CP Du lịch Việt Nguyễn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98" y="1028700"/>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10549477"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TỔNG QUAN DOANH NGHIỆP LỮ HÀNH</a:t>
            </a:r>
          </a:p>
        </p:txBody>
      </p:sp>
      <p:sp>
        <p:nvSpPr>
          <p:cNvPr name="TextBox 8" id="8"/>
          <p:cNvSpPr txBox="true"/>
          <p:nvPr/>
        </p:nvSpPr>
        <p:spPr>
          <a:xfrm rot="0">
            <a:off x="1643062" y="2266950"/>
            <a:ext cx="7072312" cy="1241527"/>
          </a:xfrm>
          <a:prstGeom prst="rect">
            <a:avLst/>
          </a:prstGeom>
        </p:spPr>
        <p:txBody>
          <a:bodyPr anchor="t" rtlCol="false" tIns="0" lIns="0" bIns="0" rIns="0">
            <a:spAutoFit/>
          </a:bodyPr>
          <a:lstStyle/>
          <a:p>
            <a:pPr algn="l">
              <a:lnSpc>
                <a:spcPts val="3058"/>
              </a:lnSpc>
            </a:pPr>
            <a:r>
              <a:rPr lang="en-US" b="true" sz="1912">
                <a:solidFill>
                  <a:srgbClr val="FFFFFF"/>
                </a:solidFill>
                <a:latin typeface="Open Sans Bold"/>
                <a:ea typeface="Open Sans Bold"/>
                <a:cs typeface="Open Sans Bold"/>
                <a:sym typeface="Open Sans Bold"/>
              </a:rPr>
              <a:t>Sản phẩm cốt lõi:</a:t>
            </a:r>
            <a:r>
              <a:rPr lang="en-US" sz="1912">
                <a:solidFill>
                  <a:srgbClr val="FFFFFF"/>
                </a:solidFill>
                <a:latin typeface="Open Sans"/>
                <a:ea typeface="Open Sans"/>
                <a:cs typeface="Open Sans"/>
                <a:sym typeface="Open Sans"/>
              </a:rPr>
              <a:t> Cung cấp đa dạng dịch vụ bao gồm Tour du lịch trọn gói (Inbound/Outbound), vé máy bay, phòng khách sạn và thiết kế tour cá nhân hóa.</a:t>
            </a:r>
          </a:p>
        </p:txBody>
      </p:sp>
      <p:sp>
        <p:nvSpPr>
          <p:cNvPr name="TextBox 9" id="9"/>
          <p:cNvSpPr txBox="true"/>
          <p:nvPr/>
        </p:nvSpPr>
        <p:spPr>
          <a:xfrm rot="0">
            <a:off x="1643062" y="3718027"/>
            <a:ext cx="7072312" cy="1122235"/>
          </a:xfrm>
          <a:prstGeom prst="rect">
            <a:avLst/>
          </a:prstGeom>
        </p:spPr>
        <p:txBody>
          <a:bodyPr anchor="t" rtlCol="false" tIns="0" lIns="0" bIns="0" rIns="0">
            <a:spAutoFit/>
          </a:bodyPr>
          <a:lstStyle/>
          <a:p>
            <a:pPr algn="l">
              <a:lnSpc>
                <a:spcPts val="3058"/>
              </a:lnSpc>
            </a:pPr>
            <a:r>
              <a:rPr lang="en-US" b="true" sz="1912">
                <a:solidFill>
                  <a:srgbClr val="FFFFFF"/>
                </a:solidFill>
                <a:latin typeface="Open Sans Bold"/>
                <a:ea typeface="Open Sans Bold"/>
                <a:cs typeface="Open Sans Bold"/>
                <a:sym typeface="Open Sans Bold"/>
              </a:rPr>
              <a:t>Đặc thù ngành bán lẻ dịch vụ:</a:t>
            </a:r>
            <a:r>
              <a:rPr lang="en-US" sz="1912">
                <a:solidFill>
                  <a:srgbClr val="FFFFFF"/>
                </a:solidFill>
                <a:latin typeface="Open Sans"/>
                <a:ea typeface="Open Sans"/>
                <a:cs typeface="Open Sans"/>
                <a:sym typeface="Open Sans"/>
              </a:rPr>
              <a:t> Hàng tồn kho mang tính vô hình và có tính thời vụ cao. Giá trị dịch vụ sẽ mất đi hoàn toàn nếu không được bán trước "giờ G".</a:t>
            </a:r>
          </a:p>
        </p:txBody>
      </p:sp>
      <p:sp>
        <p:nvSpPr>
          <p:cNvPr name="TextBox 10" id="10"/>
          <p:cNvSpPr txBox="true"/>
          <p:nvPr/>
        </p:nvSpPr>
        <p:spPr>
          <a:xfrm rot="0">
            <a:off x="10560383" y="3746602"/>
            <a:ext cx="7072312" cy="1241527"/>
          </a:xfrm>
          <a:prstGeom prst="rect">
            <a:avLst/>
          </a:prstGeom>
        </p:spPr>
        <p:txBody>
          <a:bodyPr anchor="t" rtlCol="false" tIns="0" lIns="0" bIns="0" rIns="0">
            <a:spAutoFit/>
          </a:bodyPr>
          <a:lstStyle/>
          <a:p>
            <a:pPr algn="l">
              <a:lnSpc>
                <a:spcPts val="3058"/>
              </a:lnSpc>
            </a:pPr>
            <a:r>
              <a:rPr lang="en-US" b="true" sz="1912">
                <a:solidFill>
                  <a:srgbClr val="FFFFFF"/>
                </a:solidFill>
                <a:latin typeface="Open Sans Bold"/>
                <a:ea typeface="Open Sans Bold"/>
                <a:cs typeface="Open Sans Bold"/>
                <a:sym typeface="Open Sans Bold"/>
              </a:rPr>
              <a:t>Mạng lưới đa điểm chạm:</a:t>
            </a:r>
            <a:r>
              <a:rPr lang="en-US" sz="1912">
                <a:solidFill>
                  <a:srgbClr val="FFFFFF"/>
                </a:solidFill>
                <a:latin typeface="Open Sans"/>
                <a:ea typeface="Open Sans"/>
                <a:cs typeface="Open Sans"/>
                <a:sym typeface="Open Sans"/>
              </a:rPr>
              <a:t> Vận hành kết hợp các chi nhánh vật lý (POS) trải dài tại các tỉnh thành và kênh kỹ thuật số (Website TMĐT, Mobile App).</a:t>
            </a:r>
          </a:p>
        </p:txBody>
      </p:sp>
      <p:sp>
        <p:nvSpPr>
          <p:cNvPr name="TextBox 11" id="11"/>
          <p:cNvSpPr txBox="true"/>
          <p:nvPr/>
        </p:nvSpPr>
        <p:spPr>
          <a:xfrm rot="0">
            <a:off x="10560383" y="2266950"/>
            <a:ext cx="7072312" cy="1122235"/>
          </a:xfrm>
          <a:prstGeom prst="rect">
            <a:avLst/>
          </a:prstGeom>
        </p:spPr>
        <p:txBody>
          <a:bodyPr anchor="t" rtlCol="false" tIns="0" lIns="0" bIns="0" rIns="0">
            <a:spAutoFit/>
          </a:bodyPr>
          <a:lstStyle/>
          <a:p>
            <a:pPr algn="l">
              <a:lnSpc>
                <a:spcPts val="3058"/>
              </a:lnSpc>
            </a:pPr>
            <a:r>
              <a:rPr lang="en-US" b="true" sz="1912">
                <a:solidFill>
                  <a:srgbClr val="FFFFFF"/>
                </a:solidFill>
                <a:latin typeface="Open Sans Bold"/>
                <a:ea typeface="Open Sans Bold"/>
                <a:cs typeface="Open Sans Bold"/>
                <a:sym typeface="Open Sans Bold"/>
              </a:rPr>
              <a:t>Thách thức tăng trưởng:</a:t>
            </a:r>
            <a:r>
              <a:rPr lang="en-US" sz="1912">
                <a:solidFill>
                  <a:srgbClr val="FFFFFF"/>
                </a:solidFill>
                <a:latin typeface="Open Sans"/>
                <a:ea typeface="Open Sans"/>
                <a:cs typeface="Open Sans"/>
                <a:sym typeface="Open Sans"/>
              </a:rPr>
              <a:t> Sự phát triển nóng của các kênh bán hàng độc lập đã làm bộc lộ những yếu điểm nghiêm trọng trong nền tảng công nghệ và kiến trúc hệ thống hiện tại.</a:t>
            </a:r>
          </a:p>
        </p:txBody>
      </p:sp>
      <p:grpSp>
        <p:nvGrpSpPr>
          <p:cNvPr name="Group 12" id="12"/>
          <p:cNvGrpSpPr/>
          <p:nvPr/>
        </p:nvGrpSpPr>
        <p:grpSpPr>
          <a:xfrm rot="0">
            <a:off x="1143000" y="2371725"/>
            <a:ext cx="128588" cy="214312"/>
            <a:chOff x="0" y="0"/>
            <a:chExt cx="171450" cy="285750"/>
          </a:xfrm>
        </p:grpSpPr>
        <p:sp>
          <p:nvSpPr>
            <p:cNvPr name="Freeform 13" id="13" descr="image.png"/>
            <p:cNvSpPr/>
            <p:nvPr/>
          </p:nvSpPr>
          <p:spPr>
            <a:xfrm flipH="false" flipV="false" rot="0">
              <a:off x="0" y="0"/>
              <a:ext cx="171450" cy="285750"/>
            </a:xfrm>
            <a:custGeom>
              <a:avLst/>
              <a:gdLst/>
              <a:ahLst/>
              <a:cxnLst/>
              <a:rect r="r" b="b" t="t" l="l"/>
              <a:pathLst>
                <a:path h="285750" w="171450">
                  <a:moveTo>
                    <a:pt x="0" y="0"/>
                  </a:moveTo>
                  <a:lnTo>
                    <a:pt x="171450" y="0"/>
                  </a:lnTo>
                  <a:lnTo>
                    <a:pt x="171450" y="285750"/>
                  </a:lnTo>
                  <a:lnTo>
                    <a:pt x="0" y="285750"/>
                  </a:lnTo>
                  <a:lnTo>
                    <a:pt x="0" y="0"/>
                  </a:lnTo>
                  <a:close/>
                </a:path>
              </a:pathLst>
            </a:custGeom>
            <a:blipFill>
              <a:blip r:embed="rId4"/>
              <a:stretch>
                <a:fillRect l="0" t="0" r="0" b="0"/>
              </a:stretch>
            </a:blipFill>
          </p:spPr>
        </p:sp>
      </p:grpSp>
      <p:grpSp>
        <p:nvGrpSpPr>
          <p:cNvPr name="Group 14" id="14"/>
          <p:cNvGrpSpPr/>
          <p:nvPr/>
        </p:nvGrpSpPr>
        <p:grpSpPr>
          <a:xfrm rot="0">
            <a:off x="1143000" y="3822802"/>
            <a:ext cx="128588" cy="214312"/>
            <a:chOff x="0" y="0"/>
            <a:chExt cx="171450" cy="285750"/>
          </a:xfrm>
        </p:grpSpPr>
        <p:sp>
          <p:nvSpPr>
            <p:cNvPr name="Freeform 15" id="15" descr="image.png"/>
            <p:cNvSpPr/>
            <p:nvPr/>
          </p:nvSpPr>
          <p:spPr>
            <a:xfrm flipH="false" flipV="false" rot="0">
              <a:off x="0" y="0"/>
              <a:ext cx="171450" cy="285750"/>
            </a:xfrm>
            <a:custGeom>
              <a:avLst/>
              <a:gdLst/>
              <a:ahLst/>
              <a:cxnLst/>
              <a:rect r="r" b="b" t="t" l="l"/>
              <a:pathLst>
                <a:path h="285750" w="171450">
                  <a:moveTo>
                    <a:pt x="0" y="0"/>
                  </a:moveTo>
                  <a:lnTo>
                    <a:pt x="171450" y="0"/>
                  </a:lnTo>
                  <a:lnTo>
                    <a:pt x="171450" y="285750"/>
                  </a:lnTo>
                  <a:lnTo>
                    <a:pt x="0" y="285750"/>
                  </a:lnTo>
                  <a:lnTo>
                    <a:pt x="0" y="0"/>
                  </a:lnTo>
                  <a:close/>
                </a:path>
              </a:pathLst>
            </a:custGeom>
            <a:blipFill>
              <a:blip r:embed="rId4"/>
              <a:stretch>
                <a:fillRect l="0" t="0" r="0" b="0"/>
              </a:stretch>
            </a:blipFill>
          </p:spPr>
        </p:sp>
      </p:grpSp>
      <p:grpSp>
        <p:nvGrpSpPr>
          <p:cNvPr name="Group 16" id="16"/>
          <p:cNvGrpSpPr/>
          <p:nvPr/>
        </p:nvGrpSpPr>
        <p:grpSpPr>
          <a:xfrm rot="0">
            <a:off x="10182588" y="3851377"/>
            <a:ext cx="128588" cy="214312"/>
            <a:chOff x="0" y="0"/>
            <a:chExt cx="171450" cy="285750"/>
          </a:xfrm>
        </p:grpSpPr>
        <p:sp>
          <p:nvSpPr>
            <p:cNvPr name="Freeform 17" id="17" descr="image.png"/>
            <p:cNvSpPr/>
            <p:nvPr/>
          </p:nvSpPr>
          <p:spPr>
            <a:xfrm flipH="false" flipV="false" rot="0">
              <a:off x="0" y="0"/>
              <a:ext cx="171450" cy="285750"/>
            </a:xfrm>
            <a:custGeom>
              <a:avLst/>
              <a:gdLst/>
              <a:ahLst/>
              <a:cxnLst/>
              <a:rect r="r" b="b" t="t" l="l"/>
              <a:pathLst>
                <a:path h="285750" w="171450">
                  <a:moveTo>
                    <a:pt x="0" y="0"/>
                  </a:moveTo>
                  <a:lnTo>
                    <a:pt x="171450" y="0"/>
                  </a:lnTo>
                  <a:lnTo>
                    <a:pt x="171450" y="285750"/>
                  </a:lnTo>
                  <a:lnTo>
                    <a:pt x="0" y="285750"/>
                  </a:lnTo>
                  <a:lnTo>
                    <a:pt x="0" y="0"/>
                  </a:lnTo>
                  <a:close/>
                </a:path>
              </a:pathLst>
            </a:custGeom>
            <a:blipFill>
              <a:blip r:embed="rId4"/>
              <a:stretch>
                <a:fillRect l="0" t="0" r="0" b="0"/>
              </a:stretch>
            </a:blipFill>
          </p:spPr>
        </p:sp>
      </p:grpSp>
      <p:grpSp>
        <p:nvGrpSpPr>
          <p:cNvPr name="Group 18" id="18"/>
          <p:cNvGrpSpPr/>
          <p:nvPr/>
        </p:nvGrpSpPr>
        <p:grpSpPr>
          <a:xfrm rot="0">
            <a:off x="10182588" y="2371725"/>
            <a:ext cx="128588" cy="214312"/>
            <a:chOff x="0" y="0"/>
            <a:chExt cx="171450" cy="285750"/>
          </a:xfrm>
        </p:grpSpPr>
        <p:sp>
          <p:nvSpPr>
            <p:cNvPr name="Freeform 19" id="19" descr="image.png"/>
            <p:cNvSpPr/>
            <p:nvPr/>
          </p:nvSpPr>
          <p:spPr>
            <a:xfrm flipH="false" flipV="false" rot="0">
              <a:off x="0" y="0"/>
              <a:ext cx="171450" cy="285750"/>
            </a:xfrm>
            <a:custGeom>
              <a:avLst/>
              <a:gdLst/>
              <a:ahLst/>
              <a:cxnLst/>
              <a:rect r="r" b="b" t="t" l="l"/>
              <a:pathLst>
                <a:path h="285750" w="171450">
                  <a:moveTo>
                    <a:pt x="0" y="0"/>
                  </a:moveTo>
                  <a:lnTo>
                    <a:pt x="171450" y="0"/>
                  </a:lnTo>
                  <a:lnTo>
                    <a:pt x="171450" y="285750"/>
                  </a:lnTo>
                  <a:lnTo>
                    <a:pt x="0" y="285750"/>
                  </a:lnTo>
                  <a:lnTo>
                    <a:pt x="0" y="0"/>
                  </a:lnTo>
                  <a:close/>
                </a:path>
              </a:pathLst>
            </a:custGeom>
            <a:blipFill>
              <a:blip r:embed="rId4"/>
              <a:stretch>
                <a:fillRect l="0" t="0" r="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98" y="1028700"/>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10549477"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THÁCH THỨC CỐT LÕI CỦA HỆ THỐNG HIỆN TẠI</a:t>
            </a:r>
          </a:p>
        </p:txBody>
      </p:sp>
      <p:grpSp>
        <p:nvGrpSpPr>
          <p:cNvPr name="Group 8" id="8"/>
          <p:cNvGrpSpPr/>
          <p:nvPr/>
        </p:nvGrpSpPr>
        <p:grpSpPr>
          <a:xfrm rot="0">
            <a:off x="1028700" y="2109192"/>
            <a:ext cx="16001771" cy="6068616"/>
            <a:chOff x="0" y="0"/>
            <a:chExt cx="21335695" cy="8091488"/>
          </a:xfrm>
        </p:grpSpPr>
        <p:grpSp>
          <p:nvGrpSpPr>
            <p:cNvPr name="Group 9" id="9"/>
            <p:cNvGrpSpPr/>
            <p:nvPr/>
          </p:nvGrpSpPr>
          <p:grpSpPr>
            <a:xfrm rot="0">
              <a:off x="0" y="0"/>
              <a:ext cx="6730898" cy="8091488"/>
              <a:chOff x="0" y="0"/>
              <a:chExt cx="6730898" cy="8091488"/>
            </a:xfrm>
          </p:grpSpPr>
          <p:sp>
            <p:nvSpPr>
              <p:cNvPr name="Freeform 10" id="10" descr="image.png"/>
              <p:cNvSpPr/>
              <p:nvPr/>
            </p:nvSpPr>
            <p:spPr>
              <a:xfrm flipH="false" flipV="false" rot="0">
                <a:off x="0" y="0"/>
                <a:ext cx="6730873" cy="8091424"/>
              </a:xfrm>
              <a:custGeom>
                <a:avLst/>
                <a:gdLst/>
                <a:ahLst/>
                <a:cxnLst/>
                <a:rect r="r" b="b" t="t" l="l"/>
                <a:pathLst>
                  <a:path h="8091424" w="6730873">
                    <a:moveTo>
                      <a:pt x="0" y="0"/>
                    </a:moveTo>
                    <a:lnTo>
                      <a:pt x="6730873" y="0"/>
                    </a:lnTo>
                    <a:lnTo>
                      <a:pt x="6730873" y="8091424"/>
                    </a:lnTo>
                    <a:lnTo>
                      <a:pt x="0" y="8091424"/>
                    </a:lnTo>
                    <a:lnTo>
                      <a:pt x="0" y="0"/>
                    </a:lnTo>
                    <a:close/>
                  </a:path>
                </a:pathLst>
              </a:custGeom>
              <a:blipFill>
                <a:blip r:embed="rId4"/>
                <a:stretch>
                  <a:fillRect l="-65" t="0" r="-66" b="0"/>
                </a:stretch>
              </a:blipFill>
            </p:spPr>
          </p:sp>
        </p:grpSp>
        <p:grpSp>
          <p:nvGrpSpPr>
            <p:cNvPr name="Group 11" id="11"/>
            <p:cNvGrpSpPr/>
            <p:nvPr/>
          </p:nvGrpSpPr>
          <p:grpSpPr>
            <a:xfrm rot="0">
              <a:off x="7302398" y="0"/>
              <a:ext cx="6730898" cy="8091488"/>
              <a:chOff x="0" y="0"/>
              <a:chExt cx="6730898" cy="8091488"/>
            </a:xfrm>
          </p:grpSpPr>
          <p:sp>
            <p:nvSpPr>
              <p:cNvPr name="Freeform 12" id="12" descr="image.png"/>
              <p:cNvSpPr/>
              <p:nvPr/>
            </p:nvSpPr>
            <p:spPr>
              <a:xfrm flipH="false" flipV="false" rot="0">
                <a:off x="0" y="0"/>
                <a:ext cx="6730873" cy="8091424"/>
              </a:xfrm>
              <a:custGeom>
                <a:avLst/>
                <a:gdLst/>
                <a:ahLst/>
                <a:cxnLst/>
                <a:rect r="r" b="b" t="t" l="l"/>
                <a:pathLst>
                  <a:path h="8091424" w="6730873">
                    <a:moveTo>
                      <a:pt x="0" y="0"/>
                    </a:moveTo>
                    <a:lnTo>
                      <a:pt x="6730873" y="0"/>
                    </a:lnTo>
                    <a:lnTo>
                      <a:pt x="6730873" y="8091424"/>
                    </a:lnTo>
                    <a:lnTo>
                      <a:pt x="0" y="8091424"/>
                    </a:lnTo>
                    <a:lnTo>
                      <a:pt x="0" y="0"/>
                    </a:lnTo>
                    <a:close/>
                  </a:path>
                </a:pathLst>
              </a:custGeom>
              <a:blipFill>
                <a:blip r:embed="rId5"/>
                <a:stretch>
                  <a:fillRect l="-65" t="0" r="-66" b="0"/>
                </a:stretch>
              </a:blipFill>
            </p:spPr>
          </p:sp>
        </p:grpSp>
        <p:grpSp>
          <p:nvGrpSpPr>
            <p:cNvPr name="Group 13" id="13"/>
            <p:cNvGrpSpPr/>
            <p:nvPr/>
          </p:nvGrpSpPr>
          <p:grpSpPr>
            <a:xfrm rot="0">
              <a:off x="14604797" y="0"/>
              <a:ext cx="6730898" cy="8091488"/>
              <a:chOff x="0" y="0"/>
              <a:chExt cx="6730898" cy="8091488"/>
            </a:xfrm>
          </p:grpSpPr>
          <p:sp>
            <p:nvSpPr>
              <p:cNvPr name="Freeform 14" id="14" descr="image.png"/>
              <p:cNvSpPr/>
              <p:nvPr/>
            </p:nvSpPr>
            <p:spPr>
              <a:xfrm flipH="false" flipV="false" rot="0">
                <a:off x="0" y="0"/>
                <a:ext cx="6730873" cy="8091424"/>
              </a:xfrm>
              <a:custGeom>
                <a:avLst/>
                <a:gdLst/>
                <a:ahLst/>
                <a:cxnLst/>
                <a:rect r="r" b="b" t="t" l="l"/>
                <a:pathLst>
                  <a:path h="8091424" w="6730873">
                    <a:moveTo>
                      <a:pt x="0" y="0"/>
                    </a:moveTo>
                    <a:lnTo>
                      <a:pt x="6730873" y="0"/>
                    </a:lnTo>
                    <a:lnTo>
                      <a:pt x="6730873" y="8091424"/>
                    </a:lnTo>
                    <a:lnTo>
                      <a:pt x="0" y="8091424"/>
                    </a:lnTo>
                    <a:lnTo>
                      <a:pt x="0" y="0"/>
                    </a:lnTo>
                    <a:close/>
                  </a:path>
                </a:pathLst>
              </a:custGeom>
              <a:blipFill>
                <a:blip r:embed="rId6"/>
                <a:stretch>
                  <a:fillRect l="-65" t="0" r="-66" b="0"/>
                </a:stretch>
              </a:blipFill>
            </p:spPr>
          </p:sp>
        </p:grpSp>
        <p:grpSp>
          <p:nvGrpSpPr>
            <p:cNvPr name="Group 15" id="15"/>
            <p:cNvGrpSpPr/>
            <p:nvPr/>
          </p:nvGrpSpPr>
          <p:grpSpPr>
            <a:xfrm rot="0">
              <a:off x="571500" y="838200"/>
              <a:ext cx="1143000" cy="1143000"/>
              <a:chOff x="0" y="0"/>
              <a:chExt cx="1143000" cy="1143000"/>
            </a:xfrm>
          </p:grpSpPr>
          <p:sp>
            <p:nvSpPr>
              <p:cNvPr name="Freeform 16" id="16" descr="image.png"/>
              <p:cNvSpPr/>
              <p:nvPr/>
            </p:nvSpPr>
            <p:spPr>
              <a:xfrm flipH="false" flipV="false" rot="0">
                <a:off x="0" y="0"/>
                <a:ext cx="1143000" cy="1143000"/>
              </a:xfrm>
              <a:custGeom>
                <a:avLst/>
                <a:gdLst/>
                <a:ahLst/>
                <a:cxnLst/>
                <a:rect r="r" b="b" t="t" l="l"/>
                <a:pathLst>
                  <a:path h="1143000" w="1143000">
                    <a:moveTo>
                      <a:pt x="0" y="0"/>
                    </a:moveTo>
                    <a:lnTo>
                      <a:pt x="1143000" y="0"/>
                    </a:lnTo>
                    <a:lnTo>
                      <a:pt x="1143000" y="1143000"/>
                    </a:lnTo>
                    <a:lnTo>
                      <a:pt x="0" y="1143000"/>
                    </a:lnTo>
                    <a:lnTo>
                      <a:pt x="0" y="0"/>
                    </a:lnTo>
                    <a:close/>
                  </a:path>
                </a:pathLst>
              </a:custGeom>
              <a:blipFill>
                <a:blip r:embed="rId7"/>
                <a:stretch>
                  <a:fillRect l="0" t="0" r="0" b="0"/>
                </a:stretch>
              </a:blipFill>
            </p:spPr>
          </p:sp>
        </p:grpSp>
        <p:sp>
          <p:nvSpPr>
            <p:cNvPr name="TextBox 17" id="17"/>
            <p:cNvSpPr txBox="true"/>
            <p:nvPr/>
          </p:nvSpPr>
          <p:spPr>
            <a:xfrm rot="0">
              <a:off x="571500" y="2409825"/>
              <a:ext cx="5867298" cy="1220991"/>
            </a:xfrm>
            <a:prstGeom prst="rect">
              <a:avLst/>
            </a:prstGeom>
          </p:spPr>
          <p:txBody>
            <a:bodyPr anchor="t" rtlCol="false" tIns="0" lIns="0" bIns="0" rIns="0">
              <a:spAutoFit/>
            </a:bodyPr>
            <a:lstStyle/>
            <a:p>
              <a:pPr algn="l">
                <a:lnSpc>
                  <a:spcPts val="3465"/>
                </a:lnSpc>
              </a:pPr>
              <a:r>
                <a:rPr lang="en-US" sz="2475" b="true">
                  <a:solidFill>
                    <a:srgbClr val="051C2C"/>
                  </a:solidFill>
                  <a:latin typeface="Montserrat Bold"/>
                  <a:ea typeface="Montserrat Bold"/>
                  <a:cs typeface="Montserrat Bold"/>
                  <a:sym typeface="Montserrat Bold"/>
                </a:rPr>
                <a:t>Trải Nghiệm Khách Hàng Đứt Gãy</a:t>
              </a:r>
            </a:p>
          </p:txBody>
        </p:sp>
        <p:sp>
          <p:nvSpPr>
            <p:cNvPr name="TextBox 18" id="18"/>
            <p:cNvSpPr txBox="true"/>
            <p:nvPr/>
          </p:nvSpPr>
          <p:spPr>
            <a:xfrm rot="0">
              <a:off x="571500" y="3859416"/>
              <a:ext cx="5587898" cy="2982519"/>
            </a:xfrm>
            <a:prstGeom prst="rect">
              <a:avLst/>
            </a:prstGeom>
          </p:spPr>
          <p:txBody>
            <a:bodyPr anchor="t" rtlCol="false" tIns="0" lIns="0" bIns="0" rIns="0">
              <a:spAutoFit/>
            </a:bodyPr>
            <a:lstStyle/>
            <a:p>
              <a:pPr algn="l">
                <a:lnSpc>
                  <a:spcPts val="2880"/>
                </a:lnSpc>
              </a:pPr>
              <a:r>
                <a:rPr lang="en-US" sz="1800">
                  <a:solidFill>
                    <a:srgbClr val="475569"/>
                  </a:solidFill>
                  <a:latin typeface="Open Sans"/>
                  <a:ea typeface="Open Sans"/>
                  <a:cs typeface="Open Sans"/>
                  <a:sym typeface="Open Sans"/>
                </a:rPr>
                <a:t>Hành trình đa kênh bị gián đoạn. Thiếu vắng hệ thống CRM và CEM tập trung khiến nhân viên quầy không nắm được lịch sử tương tác online, gây khó khăn cho việc cá nhân hóa và làm mất cơ hội bán chéo (Cross-sell).</a:t>
              </a:r>
            </a:p>
          </p:txBody>
        </p:sp>
        <p:grpSp>
          <p:nvGrpSpPr>
            <p:cNvPr name="Group 19" id="19"/>
            <p:cNvGrpSpPr/>
            <p:nvPr/>
          </p:nvGrpSpPr>
          <p:grpSpPr>
            <a:xfrm rot="0">
              <a:off x="7873898" y="838200"/>
              <a:ext cx="1143000" cy="1143000"/>
              <a:chOff x="0" y="0"/>
              <a:chExt cx="1143000" cy="1143000"/>
            </a:xfrm>
          </p:grpSpPr>
          <p:sp>
            <p:nvSpPr>
              <p:cNvPr name="Freeform 20" id="20" descr="image.png"/>
              <p:cNvSpPr/>
              <p:nvPr/>
            </p:nvSpPr>
            <p:spPr>
              <a:xfrm flipH="false" flipV="false" rot="0">
                <a:off x="0" y="0"/>
                <a:ext cx="1143000" cy="1143000"/>
              </a:xfrm>
              <a:custGeom>
                <a:avLst/>
                <a:gdLst/>
                <a:ahLst/>
                <a:cxnLst/>
                <a:rect r="r" b="b" t="t" l="l"/>
                <a:pathLst>
                  <a:path h="1143000" w="1143000">
                    <a:moveTo>
                      <a:pt x="0" y="0"/>
                    </a:moveTo>
                    <a:lnTo>
                      <a:pt x="1143000" y="0"/>
                    </a:lnTo>
                    <a:lnTo>
                      <a:pt x="1143000" y="1143000"/>
                    </a:lnTo>
                    <a:lnTo>
                      <a:pt x="0" y="1143000"/>
                    </a:lnTo>
                    <a:lnTo>
                      <a:pt x="0" y="0"/>
                    </a:lnTo>
                    <a:close/>
                  </a:path>
                </a:pathLst>
              </a:custGeom>
              <a:blipFill>
                <a:blip r:embed="rId8"/>
                <a:stretch>
                  <a:fillRect l="-833" t="0" r="-833" b="0"/>
                </a:stretch>
              </a:blipFill>
            </p:spPr>
          </p:sp>
        </p:grpSp>
        <p:sp>
          <p:nvSpPr>
            <p:cNvPr name="TextBox 21" id="21"/>
            <p:cNvSpPr txBox="true"/>
            <p:nvPr/>
          </p:nvSpPr>
          <p:spPr>
            <a:xfrm rot="0">
              <a:off x="7873898" y="2409825"/>
              <a:ext cx="5867298" cy="1220991"/>
            </a:xfrm>
            <a:prstGeom prst="rect">
              <a:avLst/>
            </a:prstGeom>
          </p:spPr>
          <p:txBody>
            <a:bodyPr anchor="t" rtlCol="false" tIns="0" lIns="0" bIns="0" rIns="0">
              <a:spAutoFit/>
            </a:bodyPr>
            <a:lstStyle/>
            <a:p>
              <a:pPr algn="l">
                <a:lnSpc>
                  <a:spcPts val="3465"/>
                </a:lnSpc>
              </a:pPr>
              <a:r>
                <a:rPr lang="en-US" sz="2475" b="true">
                  <a:solidFill>
                    <a:srgbClr val="051C2C"/>
                  </a:solidFill>
                  <a:latin typeface="Montserrat Bold"/>
                  <a:ea typeface="Montserrat Bold"/>
                  <a:cs typeface="Montserrat Bold"/>
                  <a:sym typeface="Montserrat Bold"/>
                </a:rPr>
                <a:t>Dữ Liệu &amp; Tồn Kho Phân Mảnh</a:t>
              </a:r>
            </a:p>
          </p:txBody>
        </p:sp>
        <p:sp>
          <p:nvSpPr>
            <p:cNvPr name="TextBox 22" id="22"/>
            <p:cNvSpPr txBox="true"/>
            <p:nvPr/>
          </p:nvSpPr>
          <p:spPr>
            <a:xfrm rot="0">
              <a:off x="7873898" y="3859416"/>
              <a:ext cx="5587898" cy="3470072"/>
            </a:xfrm>
            <a:prstGeom prst="rect">
              <a:avLst/>
            </a:prstGeom>
          </p:spPr>
          <p:txBody>
            <a:bodyPr anchor="t" rtlCol="false" tIns="0" lIns="0" bIns="0" rIns="0">
              <a:spAutoFit/>
            </a:bodyPr>
            <a:lstStyle/>
            <a:p>
              <a:pPr algn="l">
                <a:lnSpc>
                  <a:spcPts val="2880"/>
                </a:lnSpc>
              </a:pPr>
              <a:r>
                <a:rPr lang="en-US" sz="1800">
                  <a:solidFill>
                    <a:srgbClr val="475569"/>
                  </a:solidFill>
                  <a:latin typeface="Open Sans"/>
                  <a:ea typeface="Open Sans"/>
                  <a:cs typeface="Open Sans"/>
                  <a:sym typeface="Open Sans"/>
                </a:rPr>
                <a:t>Hệ thống POS và Online hoạt động trên CSDL rời rạc, đồng bộ chậm theo lô (batch). Độ trễ này gây ra rủi ro nghiêm trọng về Overbooking (bán vượt quỹ chỗ) hoặc đọng vốn khi chi nhánh giữ chỗ nhưng không bán được.</a:t>
              </a:r>
            </a:p>
          </p:txBody>
        </p:sp>
        <p:grpSp>
          <p:nvGrpSpPr>
            <p:cNvPr name="Group 23" id="23"/>
            <p:cNvGrpSpPr/>
            <p:nvPr/>
          </p:nvGrpSpPr>
          <p:grpSpPr>
            <a:xfrm rot="0">
              <a:off x="15176297" y="838200"/>
              <a:ext cx="1143000" cy="1143000"/>
              <a:chOff x="0" y="0"/>
              <a:chExt cx="1143000" cy="1143000"/>
            </a:xfrm>
          </p:grpSpPr>
          <p:sp>
            <p:nvSpPr>
              <p:cNvPr name="Freeform 24" id="24" descr="image.png"/>
              <p:cNvSpPr/>
              <p:nvPr/>
            </p:nvSpPr>
            <p:spPr>
              <a:xfrm flipH="false" flipV="false" rot="0">
                <a:off x="0" y="0"/>
                <a:ext cx="1143000" cy="1143000"/>
              </a:xfrm>
              <a:custGeom>
                <a:avLst/>
                <a:gdLst/>
                <a:ahLst/>
                <a:cxnLst/>
                <a:rect r="r" b="b" t="t" l="l"/>
                <a:pathLst>
                  <a:path h="1143000" w="1143000">
                    <a:moveTo>
                      <a:pt x="0" y="0"/>
                    </a:moveTo>
                    <a:lnTo>
                      <a:pt x="1143000" y="0"/>
                    </a:lnTo>
                    <a:lnTo>
                      <a:pt x="1143000" y="1143000"/>
                    </a:lnTo>
                    <a:lnTo>
                      <a:pt x="0" y="1143000"/>
                    </a:lnTo>
                    <a:lnTo>
                      <a:pt x="0" y="0"/>
                    </a:lnTo>
                    <a:close/>
                  </a:path>
                </a:pathLst>
              </a:custGeom>
              <a:blipFill>
                <a:blip r:embed="rId9"/>
                <a:stretch>
                  <a:fillRect l="-833" t="0" r="-833" b="0"/>
                </a:stretch>
              </a:blipFill>
            </p:spPr>
          </p:sp>
        </p:grpSp>
        <p:sp>
          <p:nvSpPr>
            <p:cNvPr name="TextBox 25" id="25"/>
            <p:cNvSpPr txBox="true"/>
            <p:nvPr/>
          </p:nvSpPr>
          <p:spPr>
            <a:xfrm rot="0">
              <a:off x="15176297" y="2409825"/>
              <a:ext cx="5867298" cy="1220991"/>
            </a:xfrm>
            <a:prstGeom prst="rect">
              <a:avLst/>
            </a:prstGeom>
          </p:spPr>
          <p:txBody>
            <a:bodyPr anchor="t" rtlCol="false" tIns="0" lIns="0" bIns="0" rIns="0">
              <a:spAutoFit/>
            </a:bodyPr>
            <a:lstStyle/>
            <a:p>
              <a:pPr algn="l">
                <a:lnSpc>
                  <a:spcPts val="3465"/>
                </a:lnSpc>
              </a:pPr>
              <a:r>
                <a:rPr lang="en-US" sz="2475" b="true">
                  <a:solidFill>
                    <a:srgbClr val="051C2C"/>
                  </a:solidFill>
                  <a:latin typeface="Montserrat Bold"/>
                  <a:ea typeface="Montserrat Bold"/>
                  <a:cs typeface="Montserrat Bold"/>
                  <a:sym typeface="Montserrat Bold"/>
                </a:rPr>
                <a:t>Kiến Trúc Cũ &amp; Bảo Mật Yếu</a:t>
              </a:r>
            </a:p>
          </p:txBody>
        </p:sp>
        <p:sp>
          <p:nvSpPr>
            <p:cNvPr name="TextBox 26" id="26"/>
            <p:cNvSpPr txBox="true"/>
            <p:nvPr/>
          </p:nvSpPr>
          <p:spPr>
            <a:xfrm rot="0">
              <a:off x="15176297" y="3859416"/>
              <a:ext cx="5587898" cy="2982519"/>
            </a:xfrm>
            <a:prstGeom prst="rect">
              <a:avLst/>
            </a:prstGeom>
          </p:spPr>
          <p:txBody>
            <a:bodyPr anchor="t" rtlCol="false" tIns="0" lIns="0" bIns="0" rIns="0">
              <a:spAutoFit/>
            </a:bodyPr>
            <a:lstStyle/>
            <a:p>
              <a:pPr algn="l">
                <a:lnSpc>
                  <a:spcPts val="2880"/>
                </a:lnSpc>
              </a:pPr>
              <a:r>
                <a:rPr lang="en-US" sz="1800">
                  <a:solidFill>
                    <a:srgbClr val="475569"/>
                  </a:solidFill>
                  <a:latin typeface="Open Sans"/>
                  <a:ea typeface="Open Sans"/>
                  <a:cs typeface="Open Sans"/>
                  <a:sym typeface="Open Sans"/>
                </a:rPr>
                <a:t>Hệ thống lõi thiếu linh hoạt, thiếu API chuẩn gây khó khăn, tốn kém khi tích hợp đối tác. Thiết lập bảo mật chỉ dựa vào mạng nội bộ, thiếu kiểm soát truy cập, tiềm ẩn rủi ro lộ lọt dữ liệu khách hàng.</a:t>
              </a:r>
            </a:p>
          </p:txBody>
        </p:sp>
        <p:grpSp>
          <p:nvGrpSpPr>
            <p:cNvPr name="Group 27" id="27"/>
            <p:cNvGrpSpPr/>
            <p:nvPr/>
          </p:nvGrpSpPr>
          <p:grpSpPr>
            <a:xfrm rot="0">
              <a:off x="809625" y="1143000"/>
              <a:ext cx="666750" cy="533400"/>
              <a:chOff x="0" y="0"/>
              <a:chExt cx="666750" cy="533400"/>
            </a:xfrm>
          </p:grpSpPr>
          <p:sp>
            <p:nvSpPr>
              <p:cNvPr name="Freeform 28" id="28" descr="image.png"/>
              <p:cNvSpPr/>
              <p:nvPr/>
            </p:nvSpPr>
            <p:spPr>
              <a:xfrm flipH="false" flipV="false" rot="0">
                <a:off x="0" y="0"/>
                <a:ext cx="666750" cy="533400"/>
              </a:xfrm>
              <a:custGeom>
                <a:avLst/>
                <a:gdLst/>
                <a:ahLst/>
                <a:cxnLst/>
                <a:rect r="r" b="b" t="t" l="l"/>
                <a:pathLst>
                  <a:path h="533400" w="666750">
                    <a:moveTo>
                      <a:pt x="0" y="0"/>
                    </a:moveTo>
                    <a:lnTo>
                      <a:pt x="666750" y="0"/>
                    </a:lnTo>
                    <a:lnTo>
                      <a:pt x="666750" y="533400"/>
                    </a:lnTo>
                    <a:lnTo>
                      <a:pt x="0" y="533400"/>
                    </a:lnTo>
                    <a:lnTo>
                      <a:pt x="0" y="0"/>
                    </a:lnTo>
                    <a:close/>
                  </a:path>
                </a:pathLst>
              </a:custGeom>
              <a:blipFill>
                <a:blip r:embed="rId10"/>
                <a:stretch>
                  <a:fillRect l="-1428" t="0" r="-1428" b="0"/>
                </a:stretch>
              </a:blipFill>
            </p:spPr>
          </p:sp>
        </p:grpSp>
        <p:grpSp>
          <p:nvGrpSpPr>
            <p:cNvPr name="Group 29" id="29"/>
            <p:cNvGrpSpPr/>
            <p:nvPr/>
          </p:nvGrpSpPr>
          <p:grpSpPr>
            <a:xfrm rot="0">
              <a:off x="8207273" y="1143000"/>
              <a:ext cx="476250" cy="533400"/>
              <a:chOff x="0" y="0"/>
              <a:chExt cx="476250" cy="533400"/>
            </a:xfrm>
          </p:grpSpPr>
          <p:sp>
            <p:nvSpPr>
              <p:cNvPr name="Freeform 30" id="30" descr="image.png"/>
              <p:cNvSpPr/>
              <p:nvPr/>
            </p:nvSpPr>
            <p:spPr>
              <a:xfrm flipH="false" flipV="false" rot="0">
                <a:off x="0" y="0"/>
                <a:ext cx="476250" cy="533400"/>
              </a:xfrm>
              <a:custGeom>
                <a:avLst/>
                <a:gdLst/>
                <a:ahLst/>
                <a:cxnLst/>
                <a:rect r="r" b="b" t="t" l="l"/>
                <a:pathLst>
                  <a:path h="533400" w="476250">
                    <a:moveTo>
                      <a:pt x="0" y="0"/>
                    </a:moveTo>
                    <a:lnTo>
                      <a:pt x="476250" y="0"/>
                    </a:lnTo>
                    <a:lnTo>
                      <a:pt x="476250" y="533400"/>
                    </a:lnTo>
                    <a:lnTo>
                      <a:pt x="0" y="533400"/>
                    </a:lnTo>
                    <a:lnTo>
                      <a:pt x="0" y="0"/>
                    </a:lnTo>
                    <a:close/>
                  </a:path>
                </a:pathLst>
              </a:custGeom>
              <a:blipFill>
                <a:blip r:embed="rId11"/>
                <a:stretch>
                  <a:fillRect l="-2000" t="0" r="-2000" b="0"/>
                </a:stretch>
              </a:blipFill>
            </p:spPr>
          </p:sp>
        </p:grpSp>
        <p:grpSp>
          <p:nvGrpSpPr>
            <p:cNvPr name="Group 31" id="31"/>
            <p:cNvGrpSpPr/>
            <p:nvPr/>
          </p:nvGrpSpPr>
          <p:grpSpPr>
            <a:xfrm rot="0">
              <a:off x="15481097" y="1143000"/>
              <a:ext cx="533400" cy="533400"/>
              <a:chOff x="0" y="0"/>
              <a:chExt cx="533400" cy="533400"/>
            </a:xfrm>
          </p:grpSpPr>
          <p:sp>
            <p:nvSpPr>
              <p:cNvPr name="Freeform 32" id="32" descr="image.png"/>
              <p:cNvSpPr/>
              <p:nvPr/>
            </p:nvSpPr>
            <p:spPr>
              <a:xfrm flipH="false" flipV="false" rot="0">
                <a:off x="0" y="0"/>
                <a:ext cx="533400" cy="533400"/>
              </a:xfrm>
              <a:custGeom>
                <a:avLst/>
                <a:gdLst/>
                <a:ahLst/>
                <a:cxnLst/>
                <a:rect r="r" b="b" t="t" l="l"/>
                <a:pathLst>
                  <a:path h="533400" w="533400">
                    <a:moveTo>
                      <a:pt x="0" y="0"/>
                    </a:moveTo>
                    <a:lnTo>
                      <a:pt x="533400" y="0"/>
                    </a:lnTo>
                    <a:lnTo>
                      <a:pt x="533400" y="533400"/>
                    </a:lnTo>
                    <a:lnTo>
                      <a:pt x="0" y="533400"/>
                    </a:lnTo>
                    <a:lnTo>
                      <a:pt x="0" y="0"/>
                    </a:lnTo>
                    <a:close/>
                  </a:path>
                </a:pathLst>
              </a:custGeom>
              <a:blipFill>
                <a:blip r:embed="rId12"/>
                <a:stretch>
                  <a:fillRect l="-1785" t="0" r="-1785" b="0"/>
                </a:stretch>
              </a:blipFill>
            </p:spPr>
          </p:sp>
        </p:gr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98" y="1028700"/>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10549477"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MỤC TIÊU CHIẾN LƯỢC TÁI CẤU TRÚC OMNI-CHANNEL</a:t>
            </a:r>
          </a:p>
        </p:txBody>
      </p:sp>
      <p:grpSp>
        <p:nvGrpSpPr>
          <p:cNvPr name="Group 8" id="8"/>
          <p:cNvGrpSpPr/>
          <p:nvPr/>
        </p:nvGrpSpPr>
        <p:grpSpPr>
          <a:xfrm rot="0">
            <a:off x="1142886" y="2228850"/>
            <a:ext cx="16002229" cy="5829300"/>
            <a:chOff x="0" y="0"/>
            <a:chExt cx="21336305" cy="7772400"/>
          </a:xfrm>
        </p:grpSpPr>
        <p:grpSp>
          <p:nvGrpSpPr>
            <p:cNvPr name="Group 9" id="9"/>
            <p:cNvGrpSpPr/>
            <p:nvPr/>
          </p:nvGrpSpPr>
          <p:grpSpPr>
            <a:xfrm rot="0">
              <a:off x="0" y="0"/>
              <a:ext cx="6794602" cy="7772400"/>
              <a:chOff x="0" y="0"/>
              <a:chExt cx="6794602" cy="7772400"/>
            </a:xfrm>
          </p:grpSpPr>
          <p:sp>
            <p:nvSpPr>
              <p:cNvPr name="Freeform 10" id="10" descr="image.png"/>
              <p:cNvSpPr/>
              <p:nvPr/>
            </p:nvSpPr>
            <p:spPr>
              <a:xfrm flipH="false" flipV="false" rot="0">
                <a:off x="0" y="0"/>
                <a:ext cx="6794627" cy="7772400"/>
              </a:xfrm>
              <a:custGeom>
                <a:avLst/>
                <a:gdLst/>
                <a:ahLst/>
                <a:cxnLst/>
                <a:rect r="r" b="b" t="t" l="l"/>
                <a:pathLst>
                  <a:path h="7772400" w="6794627">
                    <a:moveTo>
                      <a:pt x="0" y="0"/>
                    </a:moveTo>
                    <a:lnTo>
                      <a:pt x="6794627" y="0"/>
                    </a:lnTo>
                    <a:lnTo>
                      <a:pt x="6794627" y="7772400"/>
                    </a:lnTo>
                    <a:lnTo>
                      <a:pt x="0" y="7772400"/>
                    </a:lnTo>
                    <a:lnTo>
                      <a:pt x="0" y="0"/>
                    </a:lnTo>
                    <a:close/>
                  </a:path>
                </a:pathLst>
              </a:custGeom>
              <a:blipFill>
                <a:blip r:embed="rId4"/>
                <a:stretch>
                  <a:fillRect l="-45" t="0" r="-45" b="0"/>
                </a:stretch>
              </a:blipFill>
            </p:spPr>
          </p:sp>
        </p:grpSp>
        <p:grpSp>
          <p:nvGrpSpPr>
            <p:cNvPr name="Group 11" id="11"/>
            <p:cNvGrpSpPr/>
            <p:nvPr/>
          </p:nvGrpSpPr>
          <p:grpSpPr>
            <a:xfrm rot="0">
              <a:off x="7270852" y="0"/>
              <a:ext cx="6794602" cy="7772400"/>
              <a:chOff x="0" y="0"/>
              <a:chExt cx="6794602" cy="7772400"/>
            </a:xfrm>
          </p:grpSpPr>
          <p:sp>
            <p:nvSpPr>
              <p:cNvPr name="Freeform 12" id="12" descr="image.png"/>
              <p:cNvSpPr/>
              <p:nvPr/>
            </p:nvSpPr>
            <p:spPr>
              <a:xfrm flipH="false" flipV="false" rot="0">
                <a:off x="0" y="0"/>
                <a:ext cx="6794627" cy="7772400"/>
              </a:xfrm>
              <a:custGeom>
                <a:avLst/>
                <a:gdLst/>
                <a:ahLst/>
                <a:cxnLst/>
                <a:rect r="r" b="b" t="t" l="l"/>
                <a:pathLst>
                  <a:path h="7772400" w="6794627">
                    <a:moveTo>
                      <a:pt x="0" y="0"/>
                    </a:moveTo>
                    <a:lnTo>
                      <a:pt x="6794627" y="0"/>
                    </a:lnTo>
                    <a:lnTo>
                      <a:pt x="6794627" y="7772400"/>
                    </a:lnTo>
                    <a:lnTo>
                      <a:pt x="0" y="7772400"/>
                    </a:lnTo>
                    <a:lnTo>
                      <a:pt x="0" y="0"/>
                    </a:lnTo>
                    <a:close/>
                  </a:path>
                </a:pathLst>
              </a:custGeom>
              <a:blipFill>
                <a:blip r:embed="rId5"/>
                <a:stretch>
                  <a:fillRect l="-186" t="0" r="-185" b="0"/>
                </a:stretch>
              </a:blipFill>
            </p:spPr>
          </p:sp>
        </p:grpSp>
        <p:grpSp>
          <p:nvGrpSpPr>
            <p:cNvPr name="Group 13" id="13"/>
            <p:cNvGrpSpPr/>
            <p:nvPr/>
          </p:nvGrpSpPr>
          <p:grpSpPr>
            <a:xfrm rot="0">
              <a:off x="14541703" y="0"/>
              <a:ext cx="6794602" cy="7772400"/>
              <a:chOff x="0" y="0"/>
              <a:chExt cx="6794602" cy="7772400"/>
            </a:xfrm>
          </p:grpSpPr>
          <p:sp>
            <p:nvSpPr>
              <p:cNvPr name="Freeform 14" id="14" descr="image.png"/>
              <p:cNvSpPr/>
              <p:nvPr/>
            </p:nvSpPr>
            <p:spPr>
              <a:xfrm flipH="false" flipV="false" rot="0">
                <a:off x="0" y="0"/>
                <a:ext cx="6794627" cy="7772400"/>
              </a:xfrm>
              <a:custGeom>
                <a:avLst/>
                <a:gdLst/>
                <a:ahLst/>
                <a:cxnLst/>
                <a:rect r="r" b="b" t="t" l="l"/>
                <a:pathLst>
                  <a:path h="7772400" w="6794627">
                    <a:moveTo>
                      <a:pt x="0" y="0"/>
                    </a:moveTo>
                    <a:lnTo>
                      <a:pt x="6794627" y="0"/>
                    </a:lnTo>
                    <a:lnTo>
                      <a:pt x="6794627" y="7772400"/>
                    </a:lnTo>
                    <a:lnTo>
                      <a:pt x="0" y="7772400"/>
                    </a:lnTo>
                    <a:lnTo>
                      <a:pt x="0" y="0"/>
                    </a:lnTo>
                    <a:close/>
                  </a:path>
                </a:pathLst>
              </a:custGeom>
              <a:blipFill>
                <a:blip r:embed="rId6"/>
                <a:stretch>
                  <a:fillRect l="-186" t="0" r="-185" b="0"/>
                </a:stretch>
              </a:blipFill>
            </p:spPr>
          </p:sp>
        </p:grpSp>
        <p:grpSp>
          <p:nvGrpSpPr>
            <p:cNvPr name="Group 15" id="15"/>
            <p:cNvGrpSpPr/>
            <p:nvPr/>
          </p:nvGrpSpPr>
          <p:grpSpPr>
            <a:xfrm rot="0">
              <a:off x="19050" y="19050"/>
              <a:ext cx="6756502" cy="3733800"/>
              <a:chOff x="0" y="0"/>
              <a:chExt cx="6756502" cy="3733800"/>
            </a:xfrm>
          </p:grpSpPr>
          <p:sp>
            <p:nvSpPr>
              <p:cNvPr name="Freeform 16" id="16" descr="image.png"/>
              <p:cNvSpPr/>
              <p:nvPr/>
            </p:nvSpPr>
            <p:spPr>
              <a:xfrm flipH="false" flipV="false" rot="0">
                <a:off x="0" y="0"/>
                <a:ext cx="6756527" cy="3733800"/>
              </a:xfrm>
              <a:custGeom>
                <a:avLst/>
                <a:gdLst/>
                <a:ahLst/>
                <a:cxnLst/>
                <a:rect r="r" b="b" t="t" l="l"/>
                <a:pathLst>
                  <a:path h="3733800" w="6756527">
                    <a:moveTo>
                      <a:pt x="0" y="0"/>
                    </a:moveTo>
                    <a:lnTo>
                      <a:pt x="6756527" y="0"/>
                    </a:lnTo>
                    <a:lnTo>
                      <a:pt x="6756527" y="3733800"/>
                    </a:lnTo>
                    <a:lnTo>
                      <a:pt x="0" y="3733800"/>
                    </a:lnTo>
                    <a:lnTo>
                      <a:pt x="0" y="0"/>
                    </a:lnTo>
                    <a:close/>
                  </a:path>
                </a:pathLst>
              </a:custGeom>
              <a:blipFill>
                <a:blip r:embed="rId7"/>
                <a:stretch>
                  <a:fillRect l="0" t="-829" r="0" b="-830"/>
                </a:stretch>
              </a:blipFill>
            </p:spPr>
          </p:sp>
        </p:grpSp>
        <p:sp>
          <p:nvSpPr>
            <p:cNvPr name="TextBox 17" id="17"/>
            <p:cNvSpPr txBox="true"/>
            <p:nvPr/>
          </p:nvSpPr>
          <p:spPr>
            <a:xfrm rot="0">
              <a:off x="495300" y="4295775"/>
              <a:ext cx="6094197" cy="466725"/>
            </a:xfrm>
            <a:prstGeom prst="rect">
              <a:avLst/>
            </a:prstGeom>
          </p:spPr>
          <p:txBody>
            <a:bodyPr anchor="t" rtlCol="false" tIns="0" lIns="0" bIns="0" rIns="0">
              <a:spAutoFit/>
            </a:bodyPr>
            <a:lstStyle/>
            <a:p>
              <a:pPr algn="l">
                <a:lnSpc>
                  <a:spcPts val="2700"/>
                </a:lnSpc>
              </a:pPr>
              <a:r>
                <a:rPr lang="en-US" sz="2250" b="true">
                  <a:solidFill>
                    <a:srgbClr val="051C2C"/>
                  </a:solidFill>
                  <a:latin typeface="Montserrat Bold"/>
                  <a:ea typeface="Montserrat Bold"/>
                  <a:cs typeface="Montserrat Bold"/>
                  <a:sym typeface="Montserrat Bold"/>
                </a:rPr>
                <a:t>Đồng Bộ Thời Gian Thực</a:t>
              </a:r>
            </a:p>
          </p:txBody>
        </p:sp>
        <p:sp>
          <p:nvSpPr>
            <p:cNvPr name="TextBox 18" id="18"/>
            <p:cNvSpPr txBox="true"/>
            <p:nvPr/>
          </p:nvSpPr>
          <p:spPr>
            <a:xfrm rot="0">
              <a:off x="495300" y="4924425"/>
              <a:ext cx="5804002" cy="2352675"/>
            </a:xfrm>
            <a:prstGeom prst="rect">
              <a:avLst/>
            </a:prstGeom>
          </p:spPr>
          <p:txBody>
            <a:bodyPr anchor="t" rtlCol="false" tIns="0" lIns="0" bIns="0" rIns="0">
              <a:spAutoFit/>
            </a:bodyPr>
            <a:lstStyle/>
            <a:p>
              <a:pPr algn="l">
                <a:lnSpc>
                  <a:spcPts val="2700"/>
                </a:lnSpc>
              </a:pPr>
              <a:r>
                <a:rPr lang="en-US" sz="1687">
                  <a:solidFill>
                    <a:srgbClr val="475569"/>
                  </a:solidFill>
                  <a:latin typeface="Open Sans"/>
                  <a:ea typeface="Open Sans"/>
                  <a:cs typeface="Open Sans"/>
                  <a:sym typeface="Open Sans"/>
                </a:rPr>
                <a:t>Áp dụng kiến trúc Hướng sự kiện (Event-driven Architecture). Mọi giao dịch đặt, hủy trên mọi kênh lập tức cập nhật quỹ chỗ toàn hệ thống, triệt tiêu bài toán Overbooking.</a:t>
              </a:r>
            </a:p>
          </p:txBody>
        </p:sp>
        <p:grpSp>
          <p:nvGrpSpPr>
            <p:cNvPr name="Group 19" id="19"/>
            <p:cNvGrpSpPr/>
            <p:nvPr/>
          </p:nvGrpSpPr>
          <p:grpSpPr>
            <a:xfrm rot="0">
              <a:off x="7289902" y="19050"/>
              <a:ext cx="6756502" cy="3733800"/>
              <a:chOff x="0" y="0"/>
              <a:chExt cx="6756502" cy="3733800"/>
            </a:xfrm>
          </p:grpSpPr>
          <p:sp>
            <p:nvSpPr>
              <p:cNvPr name="Freeform 20" id="20" descr="image.png"/>
              <p:cNvSpPr/>
              <p:nvPr/>
            </p:nvSpPr>
            <p:spPr>
              <a:xfrm flipH="false" flipV="false" rot="0">
                <a:off x="0" y="0"/>
                <a:ext cx="6756527" cy="3733800"/>
              </a:xfrm>
              <a:custGeom>
                <a:avLst/>
                <a:gdLst/>
                <a:ahLst/>
                <a:cxnLst/>
                <a:rect r="r" b="b" t="t" l="l"/>
                <a:pathLst>
                  <a:path h="3733800" w="6756527">
                    <a:moveTo>
                      <a:pt x="0" y="0"/>
                    </a:moveTo>
                    <a:lnTo>
                      <a:pt x="6756527" y="0"/>
                    </a:lnTo>
                    <a:lnTo>
                      <a:pt x="6756527" y="3733800"/>
                    </a:lnTo>
                    <a:lnTo>
                      <a:pt x="0" y="3733800"/>
                    </a:lnTo>
                    <a:lnTo>
                      <a:pt x="0" y="0"/>
                    </a:lnTo>
                    <a:close/>
                  </a:path>
                </a:pathLst>
              </a:custGeom>
              <a:blipFill>
                <a:blip r:embed="rId8"/>
                <a:stretch>
                  <a:fillRect l="0" t="-829" r="0" b="-830"/>
                </a:stretch>
              </a:blipFill>
            </p:spPr>
          </p:sp>
        </p:grpSp>
        <p:sp>
          <p:nvSpPr>
            <p:cNvPr name="TextBox 21" id="21"/>
            <p:cNvSpPr txBox="true"/>
            <p:nvPr/>
          </p:nvSpPr>
          <p:spPr>
            <a:xfrm rot="0">
              <a:off x="7766152" y="4295775"/>
              <a:ext cx="6094197" cy="466725"/>
            </a:xfrm>
            <a:prstGeom prst="rect">
              <a:avLst/>
            </a:prstGeom>
          </p:spPr>
          <p:txBody>
            <a:bodyPr anchor="t" rtlCol="false" tIns="0" lIns="0" bIns="0" rIns="0">
              <a:spAutoFit/>
            </a:bodyPr>
            <a:lstStyle/>
            <a:p>
              <a:pPr algn="l">
                <a:lnSpc>
                  <a:spcPts val="2700"/>
                </a:lnSpc>
              </a:pPr>
              <a:r>
                <a:rPr lang="en-US" sz="2250" b="true">
                  <a:solidFill>
                    <a:srgbClr val="051C2C"/>
                  </a:solidFill>
                  <a:latin typeface="Montserrat Bold"/>
                  <a:ea typeface="Montserrat Bold"/>
                  <a:cs typeface="Montserrat Bold"/>
                  <a:sym typeface="Montserrat Bold"/>
                </a:rPr>
                <a:t>Trải Nghiệm Cá Nhân 360°</a:t>
              </a:r>
            </a:p>
          </p:txBody>
        </p:sp>
        <p:sp>
          <p:nvSpPr>
            <p:cNvPr name="TextBox 22" id="22"/>
            <p:cNvSpPr txBox="true"/>
            <p:nvPr/>
          </p:nvSpPr>
          <p:spPr>
            <a:xfrm rot="0">
              <a:off x="7766152" y="4924425"/>
              <a:ext cx="5804002" cy="2352675"/>
            </a:xfrm>
            <a:prstGeom prst="rect">
              <a:avLst/>
            </a:prstGeom>
          </p:spPr>
          <p:txBody>
            <a:bodyPr anchor="t" rtlCol="false" tIns="0" lIns="0" bIns="0" rIns="0">
              <a:spAutoFit/>
            </a:bodyPr>
            <a:lstStyle/>
            <a:p>
              <a:pPr algn="l">
                <a:lnSpc>
                  <a:spcPts val="2700"/>
                </a:lnSpc>
              </a:pPr>
              <a:r>
                <a:rPr lang="en-US" sz="1687">
                  <a:solidFill>
                    <a:srgbClr val="475569"/>
                  </a:solidFill>
                  <a:latin typeface="Open Sans"/>
                  <a:ea typeface="Open Sans"/>
                  <a:cs typeface="Open Sans"/>
                  <a:sym typeface="Open Sans"/>
                </a:rPr>
                <a:t>Hợp nhất dữ liệu từ POS, CRM và hành vi online vào một hồ sơ duy nhất. Trao quyền cho nhân viên và hệ thống để thấu hiểu khách hàng, đưa ra đề xuất Tour tối ưu nhất.</a:t>
              </a:r>
            </a:p>
          </p:txBody>
        </p:sp>
        <p:grpSp>
          <p:nvGrpSpPr>
            <p:cNvPr name="Group 23" id="23"/>
            <p:cNvGrpSpPr/>
            <p:nvPr/>
          </p:nvGrpSpPr>
          <p:grpSpPr>
            <a:xfrm rot="0">
              <a:off x="14560753" y="19050"/>
              <a:ext cx="6756502" cy="3733800"/>
              <a:chOff x="0" y="0"/>
              <a:chExt cx="6756502" cy="3733800"/>
            </a:xfrm>
          </p:grpSpPr>
          <p:sp>
            <p:nvSpPr>
              <p:cNvPr name="Freeform 24" id="24" descr="image.png"/>
              <p:cNvSpPr/>
              <p:nvPr/>
            </p:nvSpPr>
            <p:spPr>
              <a:xfrm flipH="false" flipV="false" rot="0">
                <a:off x="0" y="0"/>
                <a:ext cx="6756527" cy="3733800"/>
              </a:xfrm>
              <a:custGeom>
                <a:avLst/>
                <a:gdLst/>
                <a:ahLst/>
                <a:cxnLst/>
                <a:rect r="r" b="b" t="t" l="l"/>
                <a:pathLst>
                  <a:path h="3733800" w="6756527">
                    <a:moveTo>
                      <a:pt x="0" y="0"/>
                    </a:moveTo>
                    <a:lnTo>
                      <a:pt x="6756527" y="0"/>
                    </a:lnTo>
                    <a:lnTo>
                      <a:pt x="6756527" y="3733800"/>
                    </a:lnTo>
                    <a:lnTo>
                      <a:pt x="0" y="3733800"/>
                    </a:lnTo>
                    <a:lnTo>
                      <a:pt x="0" y="0"/>
                    </a:lnTo>
                    <a:close/>
                  </a:path>
                </a:pathLst>
              </a:custGeom>
              <a:blipFill>
                <a:blip r:embed="rId9"/>
                <a:stretch>
                  <a:fillRect l="0" t="-829" r="0" b="-830"/>
                </a:stretch>
              </a:blipFill>
            </p:spPr>
          </p:sp>
        </p:grpSp>
        <p:sp>
          <p:nvSpPr>
            <p:cNvPr name="TextBox 25" id="25"/>
            <p:cNvSpPr txBox="true"/>
            <p:nvPr/>
          </p:nvSpPr>
          <p:spPr>
            <a:xfrm rot="0">
              <a:off x="15037003" y="4295775"/>
              <a:ext cx="6094197" cy="923925"/>
            </a:xfrm>
            <a:prstGeom prst="rect">
              <a:avLst/>
            </a:prstGeom>
          </p:spPr>
          <p:txBody>
            <a:bodyPr anchor="t" rtlCol="false" tIns="0" lIns="0" bIns="0" rIns="0">
              <a:spAutoFit/>
            </a:bodyPr>
            <a:lstStyle/>
            <a:p>
              <a:pPr algn="l">
                <a:lnSpc>
                  <a:spcPts val="2700"/>
                </a:lnSpc>
              </a:pPr>
              <a:r>
                <a:rPr lang="en-US" sz="2250" b="true">
                  <a:solidFill>
                    <a:srgbClr val="051C2C"/>
                  </a:solidFill>
                  <a:latin typeface="Montserrat Bold"/>
                  <a:ea typeface="Montserrat Bold"/>
                  <a:cs typeface="Montserrat Bold"/>
                  <a:sym typeface="Montserrat Bold"/>
                </a:rPr>
                <a:t>Linh Hoạt &amp; Bảo Mật Tuyệt Đối</a:t>
              </a:r>
            </a:p>
          </p:txBody>
        </p:sp>
        <p:sp>
          <p:nvSpPr>
            <p:cNvPr name="TextBox 26" id="26"/>
            <p:cNvSpPr txBox="true"/>
            <p:nvPr/>
          </p:nvSpPr>
          <p:spPr>
            <a:xfrm rot="0">
              <a:off x="15037003" y="5381625"/>
              <a:ext cx="5804002" cy="1895475"/>
            </a:xfrm>
            <a:prstGeom prst="rect">
              <a:avLst/>
            </a:prstGeom>
          </p:spPr>
          <p:txBody>
            <a:bodyPr anchor="t" rtlCol="false" tIns="0" lIns="0" bIns="0" rIns="0">
              <a:spAutoFit/>
            </a:bodyPr>
            <a:lstStyle/>
            <a:p>
              <a:pPr algn="l">
                <a:lnSpc>
                  <a:spcPts val="2700"/>
                </a:lnSpc>
              </a:pPr>
              <a:r>
                <a:rPr lang="en-US" sz="1687">
                  <a:solidFill>
                    <a:srgbClr val="475569"/>
                  </a:solidFill>
                  <a:latin typeface="Open Sans"/>
                  <a:ea typeface="Open Sans"/>
                  <a:cs typeface="Open Sans"/>
                  <a:sym typeface="Open Sans"/>
                </a:rPr>
                <a:t>Chuyển đổi sang kiến trúc Microservices để dễ dàng chịu tải cao điểm lễ, Tết. Áp dụng triết lý an ninh Zero Trust để bảo vệ toàn vẹn dữ liệu giao dịch đa kênh.</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12675"/>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sz="2182" b="true">
                <a:solidFill>
                  <a:srgbClr val="FAA61A"/>
                </a:solidFill>
                <a:latin typeface="Montserrat Bold"/>
                <a:ea typeface="Montserrat Bold"/>
                <a:cs typeface="Montserrat Bold"/>
                <a:sym typeface="Montserrat Bold"/>
              </a:rPr>
              <a:t>NỘI DUNG THUYẾT TRÌNH</a:t>
            </a:r>
          </a:p>
        </p:txBody>
      </p:sp>
      <p:sp>
        <p:nvSpPr>
          <p:cNvPr name="TextBox 8" id="8"/>
          <p:cNvSpPr txBox="true"/>
          <p:nvPr/>
        </p:nvSpPr>
        <p:spPr>
          <a:xfrm rot="0">
            <a:off x="4051371" y="4094162"/>
            <a:ext cx="12446695" cy="488059"/>
          </a:xfrm>
          <a:prstGeom prst="rect">
            <a:avLst/>
          </a:prstGeom>
        </p:spPr>
        <p:txBody>
          <a:bodyPr anchor="t" rtlCol="false" tIns="0" lIns="0" bIns="0" rIns="0">
            <a:spAutoFit/>
          </a:bodyPr>
          <a:lstStyle/>
          <a:p>
            <a:pPr algn="l" marL="0" indent="0" lvl="0">
              <a:lnSpc>
                <a:spcPts val="4041"/>
              </a:lnSpc>
              <a:spcBef>
                <a:spcPct val="0"/>
              </a:spcBef>
            </a:pPr>
            <a:r>
              <a:rPr lang="en-US" b="true" sz="2882">
                <a:solidFill>
                  <a:srgbClr val="FBFBFC"/>
                </a:solidFill>
                <a:latin typeface="Montserrat Bold"/>
                <a:ea typeface="Montserrat Bold"/>
                <a:cs typeface="Montserrat Bold"/>
                <a:sym typeface="Montserrat Bold"/>
              </a:rPr>
              <a:t>Xây</a:t>
            </a:r>
            <a:r>
              <a:rPr lang="en-US" b="true" sz="2882" strike="noStrike" u="none">
                <a:solidFill>
                  <a:srgbClr val="FBFBFC"/>
                </a:solidFill>
                <a:latin typeface="Montserrat Bold"/>
                <a:ea typeface="Montserrat Bold"/>
                <a:cs typeface="Montserrat Bold"/>
                <a:sym typeface="Montserrat Bold"/>
              </a:rPr>
              <a:t> </a:t>
            </a:r>
            <a:r>
              <a:rPr lang="en-US" b="true" sz="2882" strike="noStrike" u="none">
                <a:solidFill>
                  <a:srgbClr val="FBFBFC"/>
                </a:solidFill>
                <a:latin typeface="Montserrat Bold"/>
                <a:ea typeface="Montserrat Bold"/>
                <a:cs typeface="Montserrat Bold"/>
                <a:sym typeface="Montserrat Bold"/>
              </a:rPr>
              <a:t>Dự</a:t>
            </a:r>
            <a:r>
              <a:rPr lang="en-US" b="true" sz="2882" strike="noStrike" u="none">
                <a:solidFill>
                  <a:srgbClr val="FBFBFC"/>
                </a:solidFill>
                <a:latin typeface="Montserrat Bold"/>
                <a:ea typeface="Montserrat Bold"/>
                <a:cs typeface="Montserrat Bold"/>
                <a:sym typeface="Montserrat Bold"/>
              </a:rPr>
              <a:t>ng </a:t>
            </a:r>
            <a:r>
              <a:rPr lang="en-US" b="true" sz="2882" strike="noStrike" u="none">
                <a:solidFill>
                  <a:srgbClr val="FBFBFC"/>
                </a:solidFill>
                <a:latin typeface="Montserrat Bold"/>
                <a:ea typeface="Montserrat Bold"/>
                <a:cs typeface="Montserrat Bold"/>
                <a:sym typeface="Montserrat Bold"/>
              </a:rPr>
              <a:t>Tầm</a:t>
            </a:r>
            <a:r>
              <a:rPr lang="en-US" b="true" sz="2882" strike="noStrike" u="none">
                <a:solidFill>
                  <a:srgbClr val="FBFBFC"/>
                </a:solidFill>
                <a:latin typeface="Montserrat Bold"/>
                <a:ea typeface="Montserrat Bold"/>
                <a:cs typeface="Montserrat Bold"/>
                <a:sym typeface="Montserrat Bold"/>
              </a:rPr>
              <a:t> </a:t>
            </a:r>
            <a:r>
              <a:rPr lang="en-US" b="true" sz="2882" strike="noStrike" u="none">
                <a:solidFill>
                  <a:srgbClr val="FBFBFC"/>
                </a:solidFill>
                <a:latin typeface="Montserrat Bold"/>
                <a:ea typeface="Montserrat Bold"/>
                <a:cs typeface="Montserrat Bold"/>
                <a:sym typeface="Montserrat Bold"/>
              </a:rPr>
              <a:t>Nhì</a:t>
            </a:r>
            <a:r>
              <a:rPr lang="en-US" b="true" sz="2882" strike="noStrike" u="none">
                <a:solidFill>
                  <a:srgbClr val="FBFBFC"/>
                </a:solidFill>
                <a:latin typeface="Montserrat Bold"/>
                <a:ea typeface="Montserrat Bold"/>
                <a:cs typeface="Montserrat Bold"/>
                <a:sym typeface="Montserrat Bold"/>
              </a:rPr>
              <a:t>n </a:t>
            </a:r>
            <a:r>
              <a:rPr lang="en-US" b="true" sz="2882" strike="noStrike" u="none">
                <a:solidFill>
                  <a:srgbClr val="FBFBFC"/>
                </a:solidFill>
                <a:latin typeface="Montserrat Bold"/>
                <a:ea typeface="Montserrat Bold"/>
                <a:cs typeface="Montserrat Bold"/>
                <a:sym typeface="Montserrat Bold"/>
              </a:rPr>
              <a:t>K</a:t>
            </a:r>
            <a:r>
              <a:rPr lang="en-US" b="true" sz="2882" strike="noStrike" u="none">
                <a:solidFill>
                  <a:srgbClr val="FBFBFC"/>
                </a:solidFill>
                <a:latin typeface="Montserrat Bold"/>
                <a:ea typeface="Montserrat Bold"/>
                <a:cs typeface="Montserrat Bold"/>
                <a:sym typeface="Montserrat Bold"/>
              </a:rPr>
              <a:t>iến </a:t>
            </a:r>
            <a:r>
              <a:rPr lang="en-US" b="true" sz="2882" strike="noStrike" u="none">
                <a:solidFill>
                  <a:srgbClr val="FBFBFC"/>
                </a:solidFill>
                <a:latin typeface="Montserrat Bold"/>
                <a:ea typeface="Montserrat Bold"/>
                <a:cs typeface="Montserrat Bold"/>
                <a:sym typeface="Montserrat Bold"/>
              </a:rPr>
              <a:t>T</a:t>
            </a:r>
            <a:r>
              <a:rPr lang="en-US" b="true" sz="2882" strike="noStrike" u="none">
                <a:solidFill>
                  <a:srgbClr val="FBFBFC"/>
                </a:solidFill>
                <a:latin typeface="Montserrat Bold"/>
                <a:ea typeface="Montserrat Bold"/>
                <a:cs typeface="Montserrat Bold"/>
                <a:sym typeface="Montserrat Bold"/>
              </a:rPr>
              <a:t>rúc H</a:t>
            </a:r>
            <a:r>
              <a:rPr lang="en-US" b="true" sz="2882" strike="noStrike" u="none">
                <a:solidFill>
                  <a:srgbClr val="FBFBFC"/>
                </a:solidFill>
                <a:latin typeface="Montserrat Bold"/>
                <a:ea typeface="Montserrat Bold"/>
                <a:cs typeface="Montserrat Bold"/>
                <a:sym typeface="Montserrat Bold"/>
              </a:rPr>
              <a:t>ệ </a:t>
            </a:r>
            <a:r>
              <a:rPr lang="en-US" b="true" sz="2882" strike="noStrike" u="none">
                <a:solidFill>
                  <a:srgbClr val="FBFBFC"/>
                </a:solidFill>
                <a:latin typeface="Montserrat Bold"/>
                <a:ea typeface="Montserrat Bold"/>
                <a:cs typeface="Montserrat Bold"/>
                <a:sym typeface="Montserrat Bold"/>
              </a:rPr>
              <a:t>T</a:t>
            </a:r>
            <a:r>
              <a:rPr lang="en-US" b="true" sz="2882" strike="noStrike" u="none">
                <a:solidFill>
                  <a:srgbClr val="FBFBFC"/>
                </a:solidFill>
                <a:latin typeface="Montserrat Bold"/>
                <a:ea typeface="Montserrat Bold"/>
                <a:cs typeface="Montserrat Bold"/>
                <a:sym typeface="Montserrat Bold"/>
              </a:rPr>
              <a:t>hống</a:t>
            </a:r>
            <a:r>
              <a:rPr lang="en-US" b="true" sz="2882" strike="noStrike" u="none">
                <a:solidFill>
                  <a:srgbClr val="FBFBFC"/>
                </a:solidFill>
                <a:latin typeface="Montserrat Bold"/>
                <a:ea typeface="Montserrat Bold"/>
                <a:cs typeface="Montserrat Bold"/>
                <a:sym typeface="Montserrat Bold"/>
              </a:rPr>
              <a:t> </a:t>
            </a:r>
            <a:r>
              <a:rPr lang="en-US" b="true" sz="2882" strike="noStrike" u="none">
                <a:solidFill>
                  <a:srgbClr val="FBFBFC"/>
                </a:solidFill>
                <a:latin typeface="Montserrat Bold"/>
                <a:ea typeface="Montserrat Bold"/>
                <a:cs typeface="Montserrat Bold"/>
                <a:sym typeface="Montserrat Bold"/>
              </a:rPr>
              <a:t>Bán Lẻ Đ</a:t>
            </a:r>
            <a:r>
              <a:rPr lang="en-US" b="true" sz="2882" strike="noStrike" u="none">
                <a:solidFill>
                  <a:srgbClr val="FBFBFC"/>
                </a:solidFill>
                <a:latin typeface="Montserrat Bold"/>
                <a:ea typeface="Montserrat Bold"/>
                <a:cs typeface="Montserrat Bold"/>
                <a:sym typeface="Montserrat Bold"/>
              </a:rPr>
              <a:t>a </a:t>
            </a:r>
            <a:r>
              <a:rPr lang="en-US" b="true" sz="2882" strike="noStrike" u="none">
                <a:solidFill>
                  <a:srgbClr val="FBFBFC"/>
                </a:solidFill>
                <a:latin typeface="Montserrat Bold"/>
                <a:ea typeface="Montserrat Bold"/>
                <a:cs typeface="Montserrat Bold"/>
                <a:sym typeface="Montserrat Bold"/>
              </a:rPr>
              <a:t>Kê</a:t>
            </a:r>
            <a:r>
              <a:rPr lang="en-US" b="true" sz="2882" strike="noStrike" u="none">
                <a:solidFill>
                  <a:srgbClr val="FBFBFC"/>
                </a:solidFill>
                <a:latin typeface="Montserrat Bold"/>
                <a:ea typeface="Montserrat Bold"/>
                <a:cs typeface="Montserrat Bold"/>
                <a:sym typeface="Montserrat Bold"/>
              </a:rPr>
              <a:t>nh</a:t>
            </a:r>
          </a:p>
        </p:txBody>
      </p:sp>
      <p:grpSp>
        <p:nvGrpSpPr>
          <p:cNvPr name="Group 9" id="9"/>
          <p:cNvGrpSpPr/>
          <p:nvPr/>
        </p:nvGrpSpPr>
        <p:grpSpPr>
          <a:xfrm rot="0">
            <a:off x="9142557" y="3070829"/>
            <a:ext cx="642938" cy="642938"/>
            <a:chOff x="0" y="0"/>
            <a:chExt cx="857250" cy="857250"/>
          </a:xfrm>
        </p:grpSpPr>
        <p:sp>
          <p:nvSpPr>
            <p:cNvPr name="Freeform 10" id="10"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4"/>
              <a:stretch>
                <a:fillRect l="0" t="0" r="0"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12675"/>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TẦM NHÌN ĐỊNH HƯỚNG CHIẾN LƯỢC</a:t>
            </a:r>
          </a:p>
        </p:txBody>
      </p:sp>
      <p:grpSp>
        <p:nvGrpSpPr>
          <p:cNvPr name="Group 8" id="8"/>
          <p:cNvGrpSpPr/>
          <p:nvPr/>
        </p:nvGrpSpPr>
        <p:grpSpPr>
          <a:xfrm rot="0">
            <a:off x="1143000" y="2200275"/>
            <a:ext cx="16002000" cy="4600975"/>
            <a:chOff x="0" y="0"/>
            <a:chExt cx="21336000" cy="6134634"/>
          </a:xfrm>
        </p:grpSpPr>
        <p:sp>
          <p:nvSpPr>
            <p:cNvPr name="Freeform 9" id="9" descr="image.png"/>
            <p:cNvSpPr/>
            <p:nvPr/>
          </p:nvSpPr>
          <p:spPr>
            <a:xfrm flipH="false" flipV="false" rot="0">
              <a:off x="0" y="0"/>
              <a:ext cx="21336000" cy="6134594"/>
            </a:xfrm>
            <a:custGeom>
              <a:avLst/>
              <a:gdLst/>
              <a:ahLst/>
              <a:cxnLst/>
              <a:rect r="r" b="b" t="t" l="l"/>
              <a:pathLst>
                <a:path h="6134594" w="21336000">
                  <a:moveTo>
                    <a:pt x="0" y="0"/>
                  </a:moveTo>
                  <a:lnTo>
                    <a:pt x="21336000" y="0"/>
                  </a:lnTo>
                  <a:lnTo>
                    <a:pt x="21336000" y="6134594"/>
                  </a:lnTo>
                  <a:lnTo>
                    <a:pt x="0" y="6134594"/>
                  </a:lnTo>
                  <a:lnTo>
                    <a:pt x="0" y="0"/>
                  </a:lnTo>
                  <a:close/>
                </a:path>
              </a:pathLst>
            </a:custGeom>
            <a:blipFill>
              <a:blip r:embed="rId4"/>
              <a:stretch>
                <a:fillRect l="-28162" t="0" r="-28162" b="0"/>
              </a:stretch>
            </a:blipFill>
          </p:spPr>
        </p:sp>
      </p:grpSp>
      <p:sp>
        <p:nvSpPr>
          <p:cNvPr name="TextBox 10" id="10"/>
          <p:cNvSpPr txBox="true"/>
          <p:nvPr/>
        </p:nvSpPr>
        <p:spPr>
          <a:xfrm rot="0">
            <a:off x="1748776" y="4832830"/>
            <a:ext cx="14455177" cy="1122235"/>
          </a:xfrm>
          <a:prstGeom prst="rect">
            <a:avLst/>
          </a:prstGeom>
        </p:spPr>
        <p:txBody>
          <a:bodyPr anchor="t" rtlCol="false" tIns="0" lIns="0" bIns="0" rIns="0">
            <a:spAutoFit/>
          </a:bodyPr>
          <a:lstStyle/>
          <a:p>
            <a:pPr algn="l">
              <a:lnSpc>
                <a:spcPts val="3058"/>
              </a:lnSpc>
            </a:pPr>
            <a:r>
              <a:rPr lang="en-US" sz="1912">
                <a:solidFill>
                  <a:srgbClr val="051C2C"/>
                </a:solidFill>
                <a:latin typeface="Open Sans"/>
                <a:ea typeface="Open Sans"/>
                <a:cs typeface="Open Sans"/>
                <a:sym typeface="Open Sans"/>
              </a:rPr>
              <a:t>Hệ sinh thái này xóa bỏ ranh giới giữa kênh vật lý và kỹ thuật số bằng cách áp dụng khung TOGAF, chuyển đổi từ kiến trúc nguyên khối sang linh hoạt. Luồng thông tin quỹ chỗ và dữ liệu khách hàng sẽ chảy xuyên suốt theo thời gian thực, giải quyết bài toán Overbooking và biến dữ liệu thành lợi thế cạnh tranh cốt lõi.</a:t>
            </a:r>
          </a:p>
        </p:txBody>
      </p:sp>
      <p:sp>
        <p:nvSpPr>
          <p:cNvPr name="TextBox 11" id="11"/>
          <p:cNvSpPr txBox="true"/>
          <p:nvPr/>
        </p:nvSpPr>
        <p:spPr>
          <a:xfrm rot="0">
            <a:off x="1748776" y="2857985"/>
            <a:ext cx="14787562" cy="1262063"/>
          </a:xfrm>
          <a:prstGeom prst="rect">
            <a:avLst/>
          </a:prstGeom>
        </p:spPr>
        <p:txBody>
          <a:bodyPr anchor="t" rtlCol="false" tIns="0" lIns="0" bIns="0" rIns="0">
            <a:spAutoFit/>
          </a:bodyPr>
          <a:lstStyle/>
          <a:p>
            <a:pPr algn="l">
              <a:lnSpc>
                <a:spcPts val="3442"/>
              </a:lnSpc>
            </a:pPr>
            <a:r>
              <a:rPr lang="en-US" sz="2025">
                <a:solidFill>
                  <a:srgbClr val="334155"/>
                </a:solidFill>
                <a:latin typeface="Open Sans"/>
                <a:ea typeface="Open Sans"/>
                <a:cs typeface="Open Sans"/>
                <a:sym typeface="Open Sans"/>
              </a:rPr>
              <a:t>Dựa trên mô hình Liên kết chiến lược, tầm nhìn kiến trúc của Công ty TNHH TM&amp;CP du lịch Việt Nguyễn được xây dựng nhằm xóa bỏ sự sai lệch giữa hoạt động kinh doanh lữ hành và hạ tầng công nghệ. Công nghệ sẽ chuyển từ vai trò hỗ trợ thụ động sang động lực thúc đẩy chiến lược kinh doanh, tối ưu hóa chi phí và cải thiện trải nghiệm khách hàng.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12675"/>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CÁC NGUYÊN TẮC THIẾT KẾ CỐT LÕI</a:t>
            </a:r>
          </a:p>
        </p:txBody>
      </p:sp>
      <p:grpSp>
        <p:nvGrpSpPr>
          <p:cNvPr name="Group 8" id="8"/>
          <p:cNvGrpSpPr/>
          <p:nvPr/>
        </p:nvGrpSpPr>
        <p:grpSpPr>
          <a:xfrm rot="0">
            <a:off x="1143000" y="2343150"/>
            <a:ext cx="16002000" cy="5263153"/>
            <a:chOff x="0" y="0"/>
            <a:chExt cx="21336000" cy="7017537"/>
          </a:xfrm>
        </p:grpSpPr>
        <p:grpSp>
          <p:nvGrpSpPr>
            <p:cNvPr name="Group 9" id="9"/>
            <p:cNvGrpSpPr/>
            <p:nvPr/>
          </p:nvGrpSpPr>
          <p:grpSpPr>
            <a:xfrm rot="0">
              <a:off x="0" y="0"/>
              <a:ext cx="10429875" cy="3270644"/>
              <a:chOff x="0" y="0"/>
              <a:chExt cx="10429875" cy="3270644"/>
            </a:xfrm>
          </p:grpSpPr>
          <p:sp>
            <p:nvSpPr>
              <p:cNvPr name="Freeform 10" id="10" descr="image.png"/>
              <p:cNvSpPr/>
              <p:nvPr/>
            </p:nvSpPr>
            <p:spPr>
              <a:xfrm flipH="false" flipV="false" rot="0">
                <a:off x="0" y="0"/>
                <a:ext cx="10429875" cy="3270631"/>
              </a:xfrm>
              <a:custGeom>
                <a:avLst/>
                <a:gdLst/>
                <a:ahLst/>
                <a:cxnLst/>
                <a:rect r="r" b="b" t="t" l="l"/>
                <a:pathLst>
                  <a:path h="3270631" w="10429875">
                    <a:moveTo>
                      <a:pt x="0" y="0"/>
                    </a:moveTo>
                    <a:lnTo>
                      <a:pt x="10429875" y="0"/>
                    </a:lnTo>
                    <a:lnTo>
                      <a:pt x="10429875" y="3270631"/>
                    </a:lnTo>
                    <a:lnTo>
                      <a:pt x="0" y="3270631"/>
                    </a:lnTo>
                    <a:lnTo>
                      <a:pt x="0" y="0"/>
                    </a:lnTo>
                    <a:close/>
                  </a:path>
                </a:pathLst>
              </a:custGeom>
              <a:blipFill>
                <a:blip r:embed="rId4"/>
                <a:stretch>
                  <a:fillRect l="0" t="-45" r="0" b="-45"/>
                </a:stretch>
              </a:blipFill>
            </p:spPr>
          </p:sp>
        </p:grpSp>
        <p:grpSp>
          <p:nvGrpSpPr>
            <p:cNvPr name="Group 11" id="11"/>
            <p:cNvGrpSpPr/>
            <p:nvPr/>
          </p:nvGrpSpPr>
          <p:grpSpPr>
            <a:xfrm rot="0">
              <a:off x="10906125" y="0"/>
              <a:ext cx="10429875" cy="3270644"/>
              <a:chOff x="0" y="0"/>
              <a:chExt cx="10429875" cy="3270644"/>
            </a:xfrm>
          </p:grpSpPr>
          <p:sp>
            <p:nvSpPr>
              <p:cNvPr name="Freeform 12" id="12" descr="image.png"/>
              <p:cNvSpPr/>
              <p:nvPr/>
            </p:nvSpPr>
            <p:spPr>
              <a:xfrm flipH="false" flipV="false" rot="0">
                <a:off x="0" y="0"/>
                <a:ext cx="10429875" cy="3270631"/>
              </a:xfrm>
              <a:custGeom>
                <a:avLst/>
                <a:gdLst/>
                <a:ahLst/>
                <a:cxnLst/>
                <a:rect r="r" b="b" t="t" l="l"/>
                <a:pathLst>
                  <a:path h="3270631" w="10429875">
                    <a:moveTo>
                      <a:pt x="0" y="0"/>
                    </a:moveTo>
                    <a:lnTo>
                      <a:pt x="10429875" y="0"/>
                    </a:lnTo>
                    <a:lnTo>
                      <a:pt x="10429875" y="3270631"/>
                    </a:lnTo>
                    <a:lnTo>
                      <a:pt x="0" y="3270631"/>
                    </a:lnTo>
                    <a:lnTo>
                      <a:pt x="0" y="0"/>
                    </a:lnTo>
                    <a:close/>
                  </a:path>
                </a:pathLst>
              </a:custGeom>
              <a:blipFill>
                <a:blip r:embed="rId5"/>
                <a:stretch>
                  <a:fillRect l="0" t="-45" r="0" b="-45"/>
                </a:stretch>
              </a:blipFill>
            </p:spPr>
          </p:sp>
        </p:grpSp>
        <p:grpSp>
          <p:nvGrpSpPr>
            <p:cNvPr name="Group 13" id="13"/>
            <p:cNvGrpSpPr/>
            <p:nvPr/>
          </p:nvGrpSpPr>
          <p:grpSpPr>
            <a:xfrm rot="0">
              <a:off x="0" y="3746894"/>
              <a:ext cx="10429875" cy="3270644"/>
              <a:chOff x="0" y="0"/>
              <a:chExt cx="10429875" cy="3270644"/>
            </a:xfrm>
          </p:grpSpPr>
          <p:sp>
            <p:nvSpPr>
              <p:cNvPr name="Freeform 14" id="14" descr="image.png"/>
              <p:cNvSpPr/>
              <p:nvPr/>
            </p:nvSpPr>
            <p:spPr>
              <a:xfrm flipH="false" flipV="false" rot="0">
                <a:off x="0" y="0"/>
                <a:ext cx="10429875" cy="3270631"/>
              </a:xfrm>
              <a:custGeom>
                <a:avLst/>
                <a:gdLst/>
                <a:ahLst/>
                <a:cxnLst/>
                <a:rect r="r" b="b" t="t" l="l"/>
                <a:pathLst>
                  <a:path h="3270631" w="10429875">
                    <a:moveTo>
                      <a:pt x="0" y="0"/>
                    </a:moveTo>
                    <a:lnTo>
                      <a:pt x="10429875" y="0"/>
                    </a:lnTo>
                    <a:lnTo>
                      <a:pt x="10429875" y="3270631"/>
                    </a:lnTo>
                    <a:lnTo>
                      <a:pt x="0" y="3270631"/>
                    </a:lnTo>
                    <a:lnTo>
                      <a:pt x="0" y="0"/>
                    </a:lnTo>
                    <a:close/>
                  </a:path>
                </a:pathLst>
              </a:custGeom>
              <a:blipFill>
                <a:blip r:embed="rId6"/>
                <a:stretch>
                  <a:fillRect l="0" t="-336" r="0" b="-336"/>
                </a:stretch>
              </a:blipFill>
            </p:spPr>
          </p:sp>
        </p:grpSp>
        <p:grpSp>
          <p:nvGrpSpPr>
            <p:cNvPr name="Group 15" id="15"/>
            <p:cNvGrpSpPr/>
            <p:nvPr/>
          </p:nvGrpSpPr>
          <p:grpSpPr>
            <a:xfrm rot="0">
              <a:off x="10906125" y="3746894"/>
              <a:ext cx="10429875" cy="3270644"/>
              <a:chOff x="0" y="0"/>
              <a:chExt cx="10429875" cy="3270644"/>
            </a:xfrm>
          </p:grpSpPr>
          <p:sp>
            <p:nvSpPr>
              <p:cNvPr name="Freeform 16" id="16" descr="image.png"/>
              <p:cNvSpPr/>
              <p:nvPr/>
            </p:nvSpPr>
            <p:spPr>
              <a:xfrm flipH="false" flipV="false" rot="0">
                <a:off x="0" y="0"/>
                <a:ext cx="10429875" cy="3270631"/>
              </a:xfrm>
              <a:custGeom>
                <a:avLst/>
                <a:gdLst/>
                <a:ahLst/>
                <a:cxnLst/>
                <a:rect r="r" b="b" t="t" l="l"/>
                <a:pathLst>
                  <a:path h="3270631" w="10429875">
                    <a:moveTo>
                      <a:pt x="0" y="0"/>
                    </a:moveTo>
                    <a:lnTo>
                      <a:pt x="10429875" y="0"/>
                    </a:lnTo>
                    <a:lnTo>
                      <a:pt x="10429875" y="3270631"/>
                    </a:lnTo>
                    <a:lnTo>
                      <a:pt x="0" y="3270631"/>
                    </a:lnTo>
                    <a:lnTo>
                      <a:pt x="0" y="0"/>
                    </a:lnTo>
                    <a:close/>
                  </a:path>
                </a:pathLst>
              </a:custGeom>
              <a:blipFill>
                <a:blip r:embed="rId7"/>
                <a:stretch>
                  <a:fillRect l="0" t="-336" r="0" b="-336"/>
                </a:stretch>
              </a:blipFill>
            </p:spPr>
          </p:sp>
        </p:grpSp>
        <p:grpSp>
          <p:nvGrpSpPr>
            <p:cNvPr name="Group 17" id="17"/>
            <p:cNvGrpSpPr/>
            <p:nvPr/>
          </p:nvGrpSpPr>
          <p:grpSpPr>
            <a:xfrm rot="0">
              <a:off x="495300" y="590550"/>
              <a:ext cx="952500" cy="952500"/>
              <a:chOff x="0" y="0"/>
              <a:chExt cx="952500" cy="952500"/>
            </a:xfrm>
          </p:grpSpPr>
          <p:sp>
            <p:nvSpPr>
              <p:cNvPr name="Freeform 18" id="18" descr="image.png"/>
              <p:cNvSpPr/>
              <p:nvPr/>
            </p:nvSpPr>
            <p:spPr>
              <a:xfrm flipH="false" flipV="false" rot="0">
                <a:off x="0" y="0"/>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8"/>
                <a:stretch>
                  <a:fillRect l="0" t="0" r="0" b="0"/>
                </a:stretch>
              </a:blipFill>
            </p:spPr>
          </p:sp>
        </p:grpSp>
        <p:grpSp>
          <p:nvGrpSpPr>
            <p:cNvPr name="Group 19" id="19"/>
            <p:cNvGrpSpPr/>
            <p:nvPr/>
          </p:nvGrpSpPr>
          <p:grpSpPr>
            <a:xfrm rot="0">
              <a:off x="11401425" y="590550"/>
              <a:ext cx="952500" cy="952500"/>
              <a:chOff x="0" y="0"/>
              <a:chExt cx="952500" cy="952500"/>
            </a:xfrm>
          </p:grpSpPr>
          <p:sp>
            <p:nvSpPr>
              <p:cNvPr name="Freeform 20" id="20" descr="image.png"/>
              <p:cNvSpPr/>
              <p:nvPr/>
            </p:nvSpPr>
            <p:spPr>
              <a:xfrm flipH="false" flipV="false" rot="0">
                <a:off x="0" y="0"/>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9"/>
                <a:stretch>
                  <a:fillRect l="-1000" t="0" r="-1000" b="0"/>
                </a:stretch>
              </a:blipFill>
            </p:spPr>
          </p:sp>
        </p:grpSp>
        <p:grpSp>
          <p:nvGrpSpPr>
            <p:cNvPr name="Group 21" id="21"/>
            <p:cNvGrpSpPr/>
            <p:nvPr/>
          </p:nvGrpSpPr>
          <p:grpSpPr>
            <a:xfrm rot="0">
              <a:off x="495300" y="4337444"/>
              <a:ext cx="952500" cy="952500"/>
              <a:chOff x="0" y="0"/>
              <a:chExt cx="952500" cy="952500"/>
            </a:xfrm>
          </p:grpSpPr>
          <p:sp>
            <p:nvSpPr>
              <p:cNvPr name="Freeform 22" id="22" descr="image.png"/>
              <p:cNvSpPr/>
              <p:nvPr/>
            </p:nvSpPr>
            <p:spPr>
              <a:xfrm flipH="false" flipV="false" rot="0">
                <a:off x="0" y="0"/>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10"/>
                <a:stretch>
                  <a:fillRect l="0" t="-1000" r="0" b="-1000"/>
                </a:stretch>
              </a:blipFill>
            </p:spPr>
          </p:sp>
        </p:grpSp>
        <p:grpSp>
          <p:nvGrpSpPr>
            <p:cNvPr name="Group 23" id="23"/>
            <p:cNvGrpSpPr/>
            <p:nvPr/>
          </p:nvGrpSpPr>
          <p:grpSpPr>
            <a:xfrm rot="0">
              <a:off x="11401425" y="4337444"/>
              <a:ext cx="952500" cy="952500"/>
              <a:chOff x="0" y="0"/>
              <a:chExt cx="952500" cy="952500"/>
            </a:xfrm>
          </p:grpSpPr>
          <p:sp>
            <p:nvSpPr>
              <p:cNvPr name="Freeform 24" id="24" descr="image.png"/>
              <p:cNvSpPr/>
              <p:nvPr/>
            </p:nvSpPr>
            <p:spPr>
              <a:xfrm flipH="false" flipV="false" rot="0">
                <a:off x="0" y="0"/>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11"/>
                <a:stretch>
                  <a:fillRect l="0" t="0" r="0" b="0"/>
                </a:stretch>
              </a:blipFill>
            </p:spPr>
          </p:sp>
        </p:grpSp>
        <p:grpSp>
          <p:nvGrpSpPr>
            <p:cNvPr name="Group 25" id="25"/>
            <p:cNvGrpSpPr/>
            <p:nvPr/>
          </p:nvGrpSpPr>
          <p:grpSpPr>
            <a:xfrm rot="0">
              <a:off x="733425" y="857250"/>
              <a:ext cx="476250" cy="419100"/>
              <a:chOff x="0" y="0"/>
              <a:chExt cx="476250" cy="419100"/>
            </a:xfrm>
          </p:grpSpPr>
          <p:sp>
            <p:nvSpPr>
              <p:cNvPr name="Freeform 26" id="26" descr="image.png"/>
              <p:cNvSpPr/>
              <p:nvPr/>
            </p:nvSpPr>
            <p:spPr>
              <a:xfrm flipH="false" flipV="false" rot="0">
                <a:off x="0" y="0"/>
                <a:ext cx="476250" cy="419100"/>
              </a:xfrm>
              <a:custGeom>
                <a:avLst/>
                <a:gdLst/>
                <a:ahLst/>
                <a:cxnLst/>
                <a:rect r="r" b="b" t="t" l="l"/>
                <a:pathLst>
                  <a:path h="419100" w="476250">
                    <a:moveTo>
                      <a:pt x="0" y="0"/>
                    </a:moveTo>
                    <a:lnTo>
                      <a:pt x="476250" y="0"/>
                    </a:lnTo>
                    <a:lnTo>
                      <a:pt x="476250" y="419100"/>
                    </a:lnTo>
                    <a:lnTo>
                      <a:pt x="0" y="419100"/>
                    </a:lnTo>
                    <a:lnTo>
                      <a:pt x="0" y="0"/>
                    </a:lnTo>
                    <a:close/>
                  </a:path>
                </a:pathLst>
              </a:custGeom>
              <a:blipFill>
                <a:blip r:embed="rId12"/>
                <a:stretch>
                  <a:fillRect l="-2000" t="0" r="-2000" b="0"/>
                </a:stretch>
              </a:blipFill>
            </p:spPr>
          </p:sp>
        </p:grpSp>
        <p:sp>
          <p:nvSpPr>
            <p:cNvPr name="TextBox 27" id="27"/>
            <p:cNvSpPr txBox="true"/>
            <p:nvPr/>
          </p:nvSpPr>
          <p:spPr>
            <a:xfrm rot="0">
              <a:off x="1828800" y="476250"/>
              <a:ext cx="8511057" cy="489344"/>
            </a:xfrm>
            <a:prstGeom prst="rect">
              <a:avLst/>
            </a:prstGeom>
          </p:spPr>
          <p:txBody>
            <a:bodyPr anchor="t" rtlCol="false" tIns="0" lIns="0" bIns="0" rIns="0">
              <a:spAutoFit/>
            </a:bodyPr>
            <a:lstStyle/>
            <a:p>
              <a:pPr algn="l">
                <a:lnSpc>
                  <a:spcPts val="2778"/>
                </a:lnSpc>
              </a:pPr>
              <a:r>
                <a:rPr lang="en-US" sz="2137" b="true">
                  <a:solidFill>
                    <a:srgbClr val="051C2C"/>
                  </a:solidFill>
                  <a:latin typeface="Montserrat Bold"/>
                  <a:ea typeface="Montserrat Bold"/>
                  <a:cs typeface="Montserrat Bold"/>
                  <a:sym typeface="Montserrat Bold"/>
                </a:rPr>
                <a:t>Trải Nghiệm Đa Kênh Đồng Nhất</a:t>
              </a:r>
            </a:p>
          </p:txBody>
        </p:sp>
        <p:sp>
          <p:nvSpPr>
            <p:cNvPr name="TextBox 28" id="28"/>
            <p:cNvSpPr txBox="true"/>
            <p:nvPr/>
          </p:nvSpPr>
          <p:spPr>
            <a:xfrm rot="0">
              <a:off x="1828800" y="1070369"/>
              <a:ext cx="8105775" cy="1704975"/>
            </a:xfrm>
            <a:prstGeom prst="rect">
              <a:avLst/>
            </a:prstGeom>
          </p:spPr>
          <p:txBody>
            <a:bodyPr anchor="t" rtlCol="false" tIns="0" lIns="0" bIns="0" rIns="0">
              <a:spAutoFit/>
            </a:bodyPr>
            <a:lstStyle/>
            <a:p>
              <a:pPr algn="l">
                <a:lnSpc>
                  <a:spcPts val="2446"/>
                </a:lnSpc>
              </a:pPr>
              <a:r>
                <a:rPr lang="en-US" sz="1630">
                  <a:solidFill>
                    <a:srgbClr val="475569"/>
                  </a:solidFill>
                  <a:latin typeface="Open Sans"/>
                  <a:ea typeface="Open Sans"/>
                  <a:cs typeface="Open Sans"/>
                  <a:sym typeface="Open Sans"/>
                </a:rPr>
                <a:t>Mọi kênh tương tác cung cấp thông tin, giá cả và dịch vụ đồng nhất. Hệ thống frontend không lưu trữ logic cục bộ mà gọi chung đến các dịch vụ backend, yêu cầu kiến trúc phân lớp rõ ràng.</a:t>
              </a:r>
            </a:p>
          </p:txBody>
        </p:sp>
        <p:grpSp>
          <p:nvGrpSpPr>
            <p:cNvPr name="Group 29" id="29"/>
            <p:cNvGrpSpPr/>
            <p:nvPr/>
          </p:nvGrpSpPr>
          <p:grpSpPr>
            <a:xfrm rot="0">
              <a:off x="11696700" y="857250"/>
              <a:ext cx="361950" cy="419100"/>
              <a:chOff x="0" y="0"/>
              <a:chExt cx="361950" cy="419100"/>
            </a:xfrm>
          </p:grpSpPr>
          <p:sp>
            <p:nvSpPr>
              <p:cNvPr name="Freeform 30" id="30" descr="image.png"/>
              <p:cNvSpPr/>
              <p:nvPr/>
            </p:nvSpPr>
            <p:spPr>
              <a:xfrm flipH="false" flipV="false" rot="0">
                <a:off x="0" y="0"/>
                <a:ext cx="361950" cy="419100"/>
              </a:xfrm>
              <a:custGeom>
                <a:avLst/>
                <a:gdLst/>
                <a:ahLst/>
                <a:cxnLst/>
                <a:rect r="r" b="b" t="t" l="l"/>
                <a:pathLst>
                  <a:path h="419100" w="361950">
                    <a:moveTo>
                      <a:pt x="0" y="0"/>
                    </a:moveTo>
                    <a:lnTo>
                      <a:pt x="361950" y="0"/>
                    </a:lnTo>
                    <a:lnTo>
                      <a:pt x="361950" y="419100"/>
                    </a:lnTo>
                    <a:lnTo>
                      <a:pt x="0" y="419100"/>
                    </a:lnTo>
                    <a:lnTo>
                      <a:pt x="0" y="0"/>
                    </a:lnTo>
                    <a:close/>
                  </a:path>
                </a:pathLst>
              </a:custGeom>
              <a:blipFill>
                <a:blip r:embed="rId13"/>
                <a:stretch>
                  <a:fillRect l="0" t="0" r="0" b="0"/>
                </a:stretch>
              </a:blipFill>
            </p:spPr>
          </p:sp>
        </p:grpSp>
        <p:sp>
          <p:nvSpPr>
            <p:cNvPr name="TextBox 31" id="31"/>
            <p:cNvSpPr txBox="true"/>
            <p:nvPr/>
          </p:nvSpPr>
          <p:spPr>
            <a:xfrm rot="0">
              <a:off x="12734925" y="476250"/>
              <a:ext cx="8511057" cy="489344"/>
            </a:xfrm>
            <a:prstGeom prst="rect">
              <a:avLst/>
            </a:prstGeom>
          </p:spPr>
          <p:txBody>
            <a:bodyPr anchor="t" rtlCol="false" tIns="0" lIns="0" bIns="0" rIns="0">
              <a:spAutoFit/>
            </a:bodyPr>
            <a:lstStyle/>
            <a:p>
              <a:pPr algn="l">
                <a:lnSpc>
                  <a:spcPts val="2778"/>
                </a:lnSpc>
              </a:pPr>
              <a:r>
                <a:rPr lang="en-US" sz="2137" b="true">
                  <a:solidFill>
                    <a:srgbClr val="051C2C"/>
                  </a:solidFill>
                  <a:latin typeface="Montserrat Bold"/>
                  <a:ea typeface="Montserrat Bold"/>
                  <a:cs typeface="Montserrat Bold"/>
                  <a:sym typeface="Montserrat Bold"/>
                </a:rPr>
                <a:t>Dữ Liệu Là Nguồn Sự Thật Duy Nhất</a:t>
              </a:r>
            </a:p>
          </p:txBody>
        </p:sp>
        <p:sp>
          <p:nvSpPr>
            <p:cNvPr name="TextBox 32" id="32"/>
            <p:cNvSpPr txBox="true"/>
            <p:nvPr/>
          </p:nvSpPr>
          <p:spPr>
            <a:xfrm rot="0">
              <a:off x="12734925" y="1070369"/>
              <a:ext cx="8105775" cy="1704975"/>
            </a:xfrm>
            <a:prstGeom prst="rect">
              <a:avLst/>
            </a:prstGeom>
          </p:spPr>
          <p:txBody>
            <a:bodyPr anchor="t" rtlCol="false" tIns="0" lIns="0" bIns="0" rIns="0">
              <a:spAutoFit/>
            </a:bodyPr>
            <a:lstStyle/>
            <a:p>
              <a:pPr algn="l">
                <a:lnSpc>
                  <a:spcPts val="2446"/>
                </a:lnSpc>
              </a:pPr>
              <a:r>
                <a:rPr lang="en-US" sz="1630">
                  <a:solidFill>
                    <a:srgbClr val="475569"/>
                  </a:solidFill>
                  <a:latin typeface="Open Sans"/>
                  <a:ea typeface="Open Sans"/>
                  <a:cs typeface="Open Sans"/>
                  <a:sym typeface="Open Sans"/>
                </a:rPr>
                <a:t>Thông tin quỹ chỗ và hồ sơ khách hàng chỉ được quản lý tại </a:t>
              </a:r>
              <a:r>
                <a:rPr lang="en-US" sz="1630" b="true">
                  <a:solidFill>
                    <a:srgbClr val="475569"/>
                  </a:solidFill>
                  <a:latin typeface="Open Sans Bold"/>
                  <a:ea typeface="Open Sans Bold"/>
                  <a:cs typeface="Open Sans Bold"/>
                  <a:sym typeface="Open Sans Bold"/>
                </a:rPr>
                <a:t>một nguồn duy nhất</a:t>
              </a:r>
              <a:r>
                <a:rPr lang="en-US" sz="1630">
                  <a:solidFill>
                    <a:srgbClr val="475569"/>
                  </a:solidFill>
                  <a:latin typeface="Open Sans"/>
                  <a:ea typeface="Open Sans"/>
                  <a:cs typeface="Open Sans"/>
                  <a:sym typeface="Open Sans"/>
                </a:rPr>
                <a:t>. Cập nhật quỹ chỗ bắt buộc thông qua API tập trung, chấm dứt tình trạng dữ liệu phân mảnh gây lỗi cấp phát trùng.</a:t>
              </a:r>
            </a:p>
          </p:txBody>
        </p:sp>
        <p:grpSp>
          <p:nvGrpSpPr>
            <p:cNvPr name="Group 33" id="33"/>
            <p:cNvGrpSpPr/>
            <p:nvPr/>
          </p:nvGrpSpPr>
          <p:grpSpPr>
            <a:xfrm rot="0">
              <a:off x="790575" y="4604144"/>
              <a:ext cx="361950" cy="419100"/>
              <a:chOff x="0" y="0"/>
              <a:chExt cx="361950" cy="419100"/>
            </a:xfrm>
          </p:grpSpPr>
          <p:sp>
            <p:nvSpPr>
              <p:cNvPr name="Freeform 34" id="34" descr="image.png"/>
              <p:cNvSpPr/>
              <p:nvPr/>
            </p:nvSpPr>
            <p:spPr>
              <a:xfrm flipH="false" flipV="false" rot="0">
                <a:off x="0" y="0"/>
                <a:ext cx="361950" cy="419100"/>
              </a:xfrm>
              <a:custGeom>
                <a:avLst/>
                <a:gdLst/>
                <a:ahLst/>
                <a:cxnLst/>
                <a:rect r="r" b="b" t="t" l="l"/>
                <a:pathLst>
                  <a:path h="419100" w="361950">
                    <a:moveTo>
                      <a:pt x="0" y="0"/>
                    </a:moveTo>
                    <a:lnTo>
                      <a:pt x="361950" y="0"/>
                    </a:lnTo>
                    <a:lnTo>
                      <a:pt x="361950" y="419100"/>
                    </a:lnTo>
                    <a:lnTo>
                      <a:pt x="0" y="419100"/>
                    </a:lnTo>
                    <a:lnTo>
                      <a:pt x="0" y="0"/>
                    </a:lnTo>
                    <a:close/>
                  </a:path>
                </a:pathLst>
              </a:custGeom>
              <a:blipFill>
                <a:blip r:embed="rId14"/>
                <a:stretch>
                  <a:fillRect l="-343" t="0" r="-343" b="0"/>
                </a:stretch>
              </a:blipFill>
            </p:spPr>
          </p:sp>
        </p:grpSp>
        <p:sp>
          <p:nvSpPr>
            <p:cNvPr name="TextBox 35" id="35"/>
            <p:cNvSpPr txBox="true"/>
            <p:nvPr/>
          </p:nvSpPr>
          <p:spPr>
            <a:xfrm rot="0">
              <a:off x="1828800" y="4223144"/>
              <a:ext cx="8511057" cy="489344"/>
            </a:xfrm>
            <a:prstGeom prst="rect">
              <a:avLst/>
            </a:prstGeom>
          </p:spPr>
          <p:txBody>
            <a:bodyPr anchor="t" rtlCol="false" tIns="0" lIns="0" bIns="0" rIns="0">
              <a:spAutoFit/>
            </a:bodyPr>
            <a:lstStyle/>
            <a:p>
              <a:pPr algn="l">
                <a:lnSpc>
                  <a:spcPts val="2778"/>
                </a:lnSpc>
              </a:pPr>
              <a:r>
                <a:rPr lang="en-US" sz="2137" b="true">
                  <a:solidFill>
                    <a:srgbClr val="051C2C"/>
                  </a:solidFill>
                  <a:latin typeface="Montserrat Bold"/>
                  <a:ea typeface="Montserrat Bold"/>
                  <a:cs typeface="Montserrat Bold"/>
                  <a:sym typeface="Montserrat Bold"/>
                </a:rPr>
                <a:t>Tích Hợp Hướng Sự Kiện (Event-Driven)</a:t>
              </a:r>
            </a:p>
          </p:txBody>
        </p:sp>
        <p:sp>
          <p:nvSpPr>
            <p:cNvPr name="TextBox 36" id="36"/>
            <p:cNvSpPr txBox="true"/>
            <p:nvPr/>
          </p:nvSpPr>
          <p:spPr>
            <a:xfrm rot="0">
              <a:off x="1828800" y="4817262"/>
              <a:ext cx="8105775" cy="1704975"/>
            </a:xfrm>
            <a:prstGeom prst="rect">
              <a:avLst/>
            </a:prstGeom>
          </p:spPr>
          <p:txBody>
            <a:bodyPr anchor="t" rtlCol="false" tIns="0" lIns="0" bIns="0" rIns="0">
              <a:spAutoFit/>
            </a:bodyPr>
            <a:lstStyle/>
            <a:p>
              <a:pPr algn="l">
                <a:lnSpc>
                  <a:spcPts val="2446"/>
                </a:lnSpc>
              </a:pPr>
              <a:r>
                <a:rPr lang="en-US" sz="1630">
                  <a:solidFill>
                    <a:srgbClr val="475569"/>
                  </a:solidFill>
                  <a:latin typeface="Open Sans"/>
                  <a:ea typeface="Open Sans"/>
                  <a:cs typeface="Open Sans"/>
                  <a:sym typeface="Open Sans"/>
                </a:rPr>
                <a:t>Triển khai Message Broker (Kafka/RabbitMQ) thay thế đồng bộ theo lô. Mọi giao dịch phát sinh sẽ phát ra sự kiện, lập tức cập nhật trạng thái quỹ chỗ trên toàn hệ thống theo thời gian thực.</a:t>
              </a:r>
            </a:p>
          </p:txBody>
        </p:sp>
        <p:grpSp>
          <p:nvGrpSpPr>
            <p:cNvPr name="Group 37" id="37"/>
            <p:cNvGrpSpPr/>
            <p:nvPr/>
          </p:nvGrpSpPr>
          <p:grpSpPr>
            <a:xfrm rot="0">
              <a:off x="11668125" y="4604144"/>
              <a:ext cx="419100" cy="419100"/>
              <a:chOff x="0" y="0"/>
              <a:chExt cx="419100" cy="419100"/>
            </a:xfrm>
          </p:grpSpPr>
          <p:sp>
            <p:nvSpPr>
              <p:cNvPr name="Freeform 38" id="38" descr="image.png"/>
              <p:cNvSpPr/>
              <p:nvPr/>
            </p:nvSpPr>
            <p:spPr>
              <a:xfrm flipH="false" flipV="false" rot="0">
                <a:off x="0" y="0"/>
                <a:ext cx="419100" cy="419100"/>
              </a:xfrm>
              <a:custGeom>
                <a:avLst/>
                <a:gdLst/>
                <a:ahLst/>
                <a:cxnLst/>
                <a:rect r="r" b="b" t="t" l="l"/>
                <a:pathLst>
                  <a:path h="419100" w="419100">
                    <a:moveTo>
                      <a:pt x="0" y="0"/>
                    </a:moveTo>
                    <a:lnTo>
                      <a:pt x="419100" y="0"/>
                    </a:lnTo>
                    <a:lnTo>
                      <a:pt x="419100" y="419100"/>
                    </a:lnTo>
                    <a:lnTo>
                      <a:pt x="0" y="419100"/>
                    </a:lnTo>
                    <a:lnTo>
                      <a:pt x="0" y="0"/>
                    </a:lnTo>
                    <a:close/>
                  </a:path>
                </a:pathLst>
              </a:custGeom>
              <a:blipFill>
                <a:blip r:embed="rId15"/>
                <a:stretch>
                  <a:fillRect l="0" t="0" r="0" b="0"/>
                </a:stretch>
              </a:blipFill>
            </p:spPr>
          </p:sp>
        </p:grpSp>
        <p:sp>
          <p:nvSpPr>
            <p:cNvPr name="TextBox 39" id="39"/>
            <p:cNvSpPr txBox="true"/>
            <p:nvPr/>
          </p:nvSpPr>
          <p:spPr>
            <a:xfrm rot="0">
              <a:off x="12734925" y="4223144"/>
              <a:ext cx="8511057" cy="489344"/>
            </a:xfrm>
            <a:prstGeom prst="rect">
              <a:avLst/>
            </a:prstGeom>
          </p:spPr>
          <p:txBody>
            <a:bodyPr anchor="t" rtlCol="false" tIns="0" lIns="0" bIns="0" rIns="0">
              <a:spAutoFit/>
            </a:bodyPr>
            <a:lstStyle/>
            <a:p>
              <a:pPr algn="l">
                <a:lnSpc>
                  <a:spcPts val="2778"/>
                </a:lnSpc>
              </a:pPr>
              <a:r>
                <a:rPr lang="en-US" sz="2137" b="true">
                  <a:solidFill>
                    <a:srgbClr val="051C2C"/>
                  </a:solidFill>
                  <a:latin typeface="Montserrat Bold"/>
                  <a:ea typeface="Montserrat Bold"/>
                  <a:cs typeface="Montserrat Bold"/>
                  <a:sym typeface="Montserrat Bold"/>
                </a:rPr>
                <a:t>Bảo Mật Từ Khâu Thiết Kế (Zero Trust)</a:t>
              </a:r>
            </a:p>
          </p:txBody>
        </p:sp>
        <p:sp>
          <p:nvSpPr>
            <p:cNvPr name="TextBox 40" id="40"/>
            <p:cNvSpPr txBox="true"/>
            <p:nvPr/>
          </p:nvSpPr>
          <p:spPr>
            <a:xfrm rot="0">
              <a:off x="12734925" y="4817262"/>
              <a:ext cx="8105775" cy="1704975"/>
            </a:xfrm>
            <a:prstGeom prst="rect">
              <a:avLst/>
            </a:prstGeom>
          </p:spPr>
          <p:txBody>
            <a:bodyPr anchor="t" rtlCol="false" tIns="0" lIns="0" bIns="0" rIns="0">
              <a:spAutoFit/>
            </a:bodyPr>
            <a:lstStyle/>
            <a:p>
              <a:pPr algn="l">
                <a:lnSpc>
                  <a:spcPts val="2446"/>
                </a:lnSpc>
              </a:pPr>
              <a:r>
                <a:rPr lang="en-US" sz="1630">
                  <a:solidFill>
                    <a:srgbClr val="475569"/>
                  </a:solidFill>
                  <a:latin typeface="Open Sans"/>
                  <a:ea typeface="Open Sans"/>
                  <a:cs typeface="Open Sans"/>
                  <a:sym typeface="Open Sans"/>
                </a:rPr>
                <a:t>Áp dụng triết lý "Zero Trust" - Không tin tưởng mặc định. Mã hóa toàn diện luồng dữ liệu, áp dụng xác thực và phân quyền (IAM) khắt khe ở mọi cấp độ để bảo vệ dữ liệu cá nhân, thẻ thanh toán.</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12675"/>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LỘ TRÌNH PHÁT TRIỂN KIẾN TRÚC</a:t>
            </a:r>
          </a:p>
        </p:txBody>
      </p:sp>
      <p:grpSp>
        <p:nvGrpSpPr>
          <p:cNvPr name="Group 8" id="8"/>
          <p:cNvGrpSpPr/>
          <p:nvPr/>
        </p:nvGrpSpPr>
        <p:grpSpPr>
          <a:xfrm rot="0">
            <a:off x="502871" y="1825804"/>
            <a:ext cx="16002000" cy="4375547"/>
            <a:chOff x="0" y="0"/>
            <a:chExt cx="21336000" cy="5834062"/>
          </a:xfrm>
        </p:grpSpPr>
        <p:grpSp>
          <p:nvGrpSpPr>
            <p:cNvPr name="Group 9" id="9"/>
            <p:cNvGrpSpPr/>
            <p:nvPr/>
          </p:nvGrpSpPr>
          <p:grpSpPr>
            <a:xfrm rot="0">
              <a:off x="0" y="0"/>
              <a:ext cx="9601200" cy="4891088"/>
              <a:chOff x="0" y="0"/>
              <a:chExt cx="9601200" cy="4891088"/>
            </a:xfrm>
          </p:grpSpPr>
          <p:sp>
            <p:nvSpPr>
              <p:cNvPr name="Freeform 10" id="10" descr="image.png"/>
              <p:cNvSpPr/>
              <p:nvPr/>
            </p:nvSpPr>
            <p:spPr>
              <a:xfrm flipH="false" flipV="false" rot="0">
                <a:off x="0" y="0"/>
                <a:ext cx="9601200" cy="4891024"/>
              </a:xfrm>
              <a:custGeom>
                <a:avLst/>
                <a:gdLst/>
                <a:ahLst/>
                <a:cxnLst/>
                <a:rect r="r" b="b" t="t" l="l"/>
                <a:pathLst>
                  <a:path h="4891024" w="9601200">
                    <a:moveTo>
                      <a:pt x="0" y="0"/>
                    </a:moveTo>
                    <a:lnTo>
                      <a:pt x="9601200" y="0"/>
                    </a:lnTo>
                    <a:lnTo>
                      <a:pt x="9601200" y="4891024"/>
                    </a:lnTo>
                    <a:lnTo>
                      <a:pt x="0" y="4891024"/>
                    </a:lnTo>
                    <a:lnTo>
                      <a:pt x="0" y="0"/>
                    </a:lnTo>
                    <a:close/>
                  </a:path>
                </a:pathLst>
              </a:custGeom>
              <a:blipFill>
                <a:blip r:embed="rId4"/>
                <a:stretch>
                  <a:fillRect l="0" t="-243" r="0" b="-244"/>
                </a:stretch>
              </a:blipFill>
            </p:spPr>
          </p:sp>
        </p:grpSp>
        <p:grpSp>
          <p:nvGrpSpPr>
            <p:cNvPr name="Group 11" id="11"/>
            <p:cNvGrpSpPr/>
            <p:nvPr/>
          </p:nvGrpSpPr>
          <p:grpSpPr>
            <a:xfrm rot="0">
              <a:off x="0" y="5024438"/>
              <a:ext cx="21336000" cy="114300"/>
              <a:chOff x="0" y="0"/>
              <a:chExt cx="21336000" cy="114300"/>
            </a:xfrm>
          </p:grpSpPr>
          <p:sp>
            <p:nvSpPr>
              <p:cNvPr name="Freeform 12" id="12"/>
              <p:cNvSpPr/>
              <p:nvPr/>
            </p:nvSpPr>
            <p:spPr>
              <a:xfrm flipH="false" flipV="false" rot="0">
                <a:off x="0" y="0"/>
                <a:ext cx="21336000" cy="114300"/>
              </a:xfrm>
              <a:custGeom>
                <a:avLst/>
                <a:gdLst/>
                <a:ahLst/>
                <a:cxnLst/>
                <a:rect r="r" b="b" t="t" l="l"/>
                <a:pathLst>
                  <a:path h="114300" w="21336000">
                    <a:moveTo>
                      <a:pt x="0" y="0"/>
                    </a:moveTo>
                    <a:lnTo>
                      <a:pt x="21336000" y="0"/>
                    </a:lnTo>
                    <a:lnTo>
                      <a:pt x="21336000" y="114300"/>
                    </a:lnTo>
                    <a:lnTo>
                      <a:pt x="0" y="114300"/>
                    </a:lnTo>
                    <a:close/>
                  </a:path>
                </a:pathLst>
              </a:custGeom>
              <a:solidFill>
                <a:srgbClr val="E2E8F0"/>
              </a:solidFill>
            </p:spPr>
          </p:sp>
        </p:grpSp>
        <p:grpSp>
          <p:nvGrpSpPr>
            <p:cNvPr name="Group 13" id="13"/>
            <p:cNvGrpSpPr/>
            <p:nvPr/>
          </p:nvGrpSpPr>
          <p:grpSpPr>
            <a:xfrm rot="0">
              <a:off x="2110677" y="495300"/>
              <a:ext cx="5379542" cy="457200"/>
              <a:chOff x="0" y="0"/>
              <a:chExt cx="5379542" cy="457200"/>
            </a:xfrm>
          </p:grpSpPr>
          <p:sp>
            <p:nvSpPr>
              <p:cNvPr name="Freeform 14" id="14" descr="image.png"/>
              <p:cNvSpPr/>
              <p:nvPr/>
            </p:nvSpPr>
            <p:spPr>
              <a:xfrm flipH="false" flipV="false" rot="0">
                <a:off x="0" y="0"/>
                <a:ext cx="5379593" cy="457200"/>
              </a:xfrm>
              <a:custGeom>
                <a:avLst/>
                <a:gdLst/>
                <a:ahLst/>
                <a:cxnLst/>
                <a:rect r="r" b="b" t="t" l="l"/>
                <a:pathLst>
                  <a:path h="457200" w="5379593">
                    <a:moveTo>
                      <a:pt x="0" y="0"/>
                    </a:moveTo>
                    <a:lnTo>
                      <a:pt x="5379593" y="0"/>
                    </a:lnTo>
                    <a:lnTo>
                      <a:pt x="5379593" y="457200"/>
                    </a:lnTo>
                    <a:lnTo>
                      <a:pt x="0" y="457200"/>
                    </a:lnTo>
                    <a:lnTo>
                      <a:pt x="0" y="0"/>
                    </a:lnTo>
                    <a:close/>
                  </a:path>
                </a:pathLst>
              </a:custGeom>
              <a:blipFill>
                <a:blip r:embed="rId5"/>
                <a:stretch>
                  <a:fillRect l="0" t="-1788" r="0" b="-1786"/>
                </a:stretch>
              </a:blipFill>
            </p:spPr>
          </p:sp>
        </p:grpSp>
        <p:sp>
          <p:nvSpPr>
            <p:cNvPr name="TextBox 15" id="15"/>
            <p:cNvSpPr txBox="true"/>
            <p:nvPr/>
          </p:nvSpPr>
          <p:spPr>
            <a:xfrm rot="0">
              <a:off x="280035" y="1181100"/>
              <a:ext cx="9041130" cy="514350"/>
            </a:xfrm>
            <a:prstGeom prst="rect">
              <a:avLst/>
            </a:prstGeom>
          </p:spPr>
          <p:txBody>
            <a:bodyPr anchor="t" rtlCol="false" tIns="0" lIns="0" bIns="0" rIns="0">
              <a:spAutoFit/>
            </a:bodyPr>
            <a:lstStyle/>
            <a:p>
              <a:pPr algn="ctr">
                <a:lnSpc>
                  <a:spcPts val="2970"/>
                </a:lnSpc>
              </a:pPr>
              <a:r>
                <a:rPr lang="en-US" sz="2475" b="true">
                  <a:solidFill>
                    <a:srgbClr val="1F70C1"/>
                  </a:solidFill>
                  <a:latin typeface="Montserrat Bold"/>
                  <a:ea typeface="Montserrat Bold"/>
                  <a:cs typeface="Montserrat Bold"/>
                  <a:sym typeface="Montserrat Bold"/>
                </a:rPr>
                <a:t>Kiến trúc chuyển tiếp 1</a:t>
              </a:r>
            </a:p>
          </p:txBody>
        </p:sp>
        <p:sp>
          <p:nvSpPr>
            <p:cNvPr name="TextBox 16" id="16"/>
            <p:cNvSpPr txBox="true"/>
            <p:nvPr/>
          </p:nvSpPr>
          <p:spPr>
            <a:xfrm rot="0">
              <a:off x="495300" y="1857375"/>
              <a:ext cx="8610600" cy="523875"/>
            </a:xfrm>
            <a:prstGeom prst="rect">
              <a:avLst/>
            </a:prstGeom>
          </p:spPr>
          <p:txBody>
            <a:bodyPr anchor="t" rtlCol="false" tIns="0" lIns="0" bIns="0" rIns="0">
              <a:spAutoFit/>
            </a:bodyPr>
            <a:lstStyle/>
            <a:p>
              <a:pPr algn="l">
                <a:lnSpc>
                  <a:spcPts val="2700"/>
                </a:lnSpc>
              </a:pPr>
              <a:r>
                <a:rPr lang="en-US" sz="1687" b="true">
                  <a:solidFill>
                    <a:srgbClr val="334155"/>
                  </a:solidFill>
                  <a:latin typeface="Open Sans Bold"/>
                  <a:ea typeface="Open Sans Bold"/>
                  <a:cs typeface="Open Sans Bold"/>
                  <a:sym typeface="Open Sans Bold"/>
                </a:rPr>
                <a:t>Trọng tâm:</a:t>
              </a:r>
              <a:r>
                <a:rPr lang="en-US" sz="1687">
                  <a:solidFill>
                    <a:srgbClr val="334155"/>
                  </a:solidFill>
                  <a:latin typeface="Open Sans"/>
                  <a:ea typeface="Open Sans"/>
                  <a:cs typeface="Open Sans"/>
                  <a:sym typeface="Open Sans"/>
                </a:rPr>
                <a:t> Giải quyết triệt để điểm đau về dữ liệu quỹ chỗ.</a:t>
              </a:r>
            </a:p>
          </p:txBody>
        </p:sp>
        <p:sp>
          <p:nvSpPr>
            <p:cNvPr name="TextBox 17" id="17"/>
            <p:cNvSpPr txBox="true"/>
            <p:nvPr/>
          </p:nvSpPr>
          <p:spPr>
            <a:xfrm rot="0">
              <a:off x="781050" y="2573655"/>
              <a:ext cx="95250" cy="438150"/>
            </a:xfrm>
            <a:prstGeom prst="rect">
              <a:avLst/>
            </a:prstGeom>
          </p:spPr>
          <p:txBody>
            <a:bodyPr anchor="t" rtlCol="false" tIns="0" lIns="0" bIns="0" rIns="0">
              <a:spAutoFit/>
            </a:bodyPr>
            <a:lstStyle/>
            <a:p>
              <a:pPr algn="l">
                <a:lnSpc>
                  <a:spcPts val="1956"/>
                </a:lnSpc>
              </a:pPr>
              <a:r>
                <a:rPr lang="en-US" sz="1630">
                  <a:solidFill>
                    <a:srgbClr val="334155"/>
                  </a:solidFill>
                  <a:latin typeface="Open Sans"/>
                  <a:ea typeface="Open Sans"/>
                  <a:cs typeface="Open Sans"/>
                  <a:sym typeface="Open Sans"/>
                </a:rPr>
                <a:t>•</a:t>
              </a:r>
            </a:p>
          </p:txBody>
        </p:sp>
        <p:sp>
          <p:nvSpPr>
            <p:cNvPr name="TextBox 18" id="18"/>
            <p:cNvSpPr txBox="true"/>
            <p:nvPr/>
          </p:nvSpPr>
          <p:spPr>
            <a:xfrm rot="0">
              <a:off x="939800" y="2505075"/>
              <a:ext cx="8166100" cy="950112"/>
            </a:xfrm>
            <a:prstGeom prst="rect">
              <a:avLst/>
            </a:prstGeom>
          </p:spPr>
          <p:txBody>
            <a:bodyPr anchor="t" rtlCol="false" tIns="0" lIns="0" bIns="0" rIns="0">
              <a:spAutoFit/>
            </a:bodyPr>
            <a:lstStyle/>
            <a:p>
              <a:pPr algn="l">
                <a:lnSpc>
                  <a:spcPts val="2608"/>
                </a:lnSpc>
              </a:pPr>
              <a:r>
                <a:rPr lang="en-US" sz="1630">
                  <a:solidFill>
                    <a:srgbClr val="334155"/>
                  </a:solidFill>
                  <a:latin typeface="Open Sans"/>
                  <a:ea typeface="Open Sans"/>
                  <a:cs typeface="Open Sans"/>
                  <a:sym typeface="Open Sans"/>
                </a:rPr>
                <a:t>Xây dựng lớp nền tảng API Gateway nối thông CSDL Tồn kho với POS và nền tảng Web/App.</a:t>
              </a:r>
            </a:p>
          </p:txBody>
        </p:sp>
        <p:sp>
          <p:nvSpPr>
            <p:cNvPr name="TextBox 19" id="19"/>
            <p:cNvSpPr txBox="true"/>
            <p:nvPr/>
          </p:nvSpPr>
          <p:spPr>
            <a:xfrm rot="0">
              <a:off x="781050" y="3457105"/>
              <a:ext cx="95250" cy="438150"/>
            </a:xfrm>
            <a:prstGeom prst="rect">
              <a:avLst/>
            </a:prstGeom>
          </p:spPr>
          <p:txBody>
            <a:bodyPr anchor="t" rtlCol="false" tIns="0" lIns="0" bIns="0" rIns="0">
              <a:spAutoFit/>
            </a:bodyPr>
            <a:lstStyle/>
            <a:p>
              <a:pPr algn="l">
                <a:lnSpc>
                  <a:spcPts val="1956"/>
                </a:lnSpc>
              </a:pPr>
              <a:r>
                <a:rPr lang="en-US" sz="1630">
                  <a:solidFill>
                    <a:srgbClr val="334155"/>
                  </a:solidFill>
                  <a:latin typeface="Open Sans"/>
                  <a:ea typeface="Open Sans"/>
                  <a:cs typeface="Open Sans"/>
                  <a:sym typeface="Open Sans"/>
                </a:rPr>
                <a:t>•</a:t>
              </a:r>
            </a:p>
          </p:txBody>
        </p:sp>
        <p:sp>
          <p:nvSpPr>
            <p:cNvPr name="TextBox 20" id="20"/>
            <p:cNvSpPr txBox="true"/>
            <p:nvPr/>
          </p:nvSpPr>
          <p:spPr>
            <a:xfrm rot="0">
              <a:off x="939800" y="3388525"/>
              <a:ext cx="8166100" cy="950112"/>
            </a:xfrm>
            <a:prstGeom prst="rect">
              <a:avLst/>
            </a:prstGeom>
          </p:spPr>
          <p:txBody>
            <a:bodyPr anchor="t" rtlCol="false" tIns="0" lIns="0" bIns="0" rIns="0">
              <a:spAutoFit/>
            </a:bodyPr>
            <a:lstStyle/>
            <a:p>
              <a:pPr algn="l">
                <a:lnSpc>
                  <a:spcPts val="2608"/>
                </a:lnSpc>
              </a:pPr>
              <a:r>
                <a:rPr lang="en-US" sz="1630">
                  <a:solidFill>
                    <a:srgbClr val="334155"/>
                  </a:solidFill>
                  <a:latin typeface="Open Sans"/>
                  <a:ea typeface="Open Sans"/>
                  <a:cs typeface="Open Sans"/>
                  <a:sym typeface="Open Sans"/>
                </a:rPr>
                <a:t>Đồng bộ hệ thống CRM cơ bản, nhận diện khách hàng đa kênh tại quầy POS.</a:t>
              </a:r>
            </a:p>
          </p:txBody>
        </p:sp>
        <p:grpSp>
          <p:nvGrpSpPr>
            <p:cNvPr name="Group 21" id="21"/>
            <p:cNvGrpSpPr/>
            <p:nvPr/>
          </p:nvGrpSpPr>
          <p:grpSpPr>
            <a:xfrm rot="0">
              <a:off x="4524375" y="5281612"/>
              <a:ext cx="552450" cy="552450"/>
              <a:chOff x="0" y="0"/>
              <a:chExt cx="552450" cy="552450"/>
            </a:xfrm>
          </p:grpSpPr>
          <p:sp>
            <p:nvSpPr>
              <p:cNvPr name="Freeform 22" id="22"/>
              <p:cNvSpPr/>
              <p:nvPr/>
            </p:nvSpPr>
            <p:spPr>
              <a:xfrm flipH="false" flipV="false" rot="0">
                <a:off x="0" y="0"/>
                <a:ext cx="552450" cy="552450"/>
              </a:xfrm>
              <a:custGeom>
                <a:avLst/>
                <a:gdLst/>
                <a:ahLst/>
                <a:cxnLst/>
                <a:rect r="r" b="b" t="t" l="l"/>
                <a:pathLst>
                  <a:path h="552450" w="552450">
                    <a:moveTo>
                      <a:pt x="0" y="276225"/>
                    </a:moveTo>
                    <a:cubicBezTo>
                      <a:pt x="0" y="123698"/>
                      <a:pt x="123698" y="0"/>
                      <a:pt x="276225" y="0"/>
                    </a:cubicBezTo>
                    <a:cubicBezTo>
                      <a:pt x="428752" y="0"/>
                      <a:pt x="552450" y="123698"/>
                      <a:pt x="552450" y="276225"/>
                    </a:cubicBezTo>
                    <a:cubicBezTo>
                      <a:pt x="552450" y="428752"/>
                      <a:pt x="428752" y="552450"/>
                      <a:pt x="276225" y="552450"/>
                    </a:cubicBezTo>
                    <a:cubicBezTo>
                      <a:pt x="123698" y="552450"/>
                      <a:pt x="0" y="428752"/>
                      <a:pt x="0" y="276225"/>
                    </a:cubicBezTo>
                    <a:close/>
                  </a:path>
                </a:pathLst>
              </a:custGeom>
              <a:solidFill>
                <a:srgbClr val="FFFFFF"/>
              </a:solidFill>
              <a:ln w="71438" cap="sq">
                <a:solidFill>
                  <a:srgbClr val="1F70C1"/>
                </a:solidFill>
                <a:prstDash val="solid"/>
                <a:miter/>
              </a:ln>
            </p:spPr>
          </p:sp>
        </p:grpSp>
      </p:grpSp>
      <p:grpSp>
        <p:nvGrpSpPr>
          <p:cNvPr name="Group 23" id="23"/>
          <p:cNvGrpSpPr/>
          <p:nvPr/>
        </p:nvGrpSpPr>
        <p:grpSpPr>
          <a:xfrm rot="0">
            <a:off x="9348098" y="5822156"/>
            <a:ext cx="7200900" cy="4011216"/>
            <a:chOff x="0" y="0"/>
            <a:chExt cx="9601200" cy="5348288"/>
          </a:xfrm>
        </p:grpSpPr>
        <p:sp>
          <p:nvSpPr>
            <p:cNvPr name="Freeform 24" id="24" descr="image.png"/>
            <p:cNvSpPr/>
            <p:nvPr/>
          </p:nvSpPr>
          <p:spPr>
            <a:xfrm flipH="false" flipV="false" rot="0">
              <a:off x="0" y="0"/>
              <a:ext cx="9601200" cy="5348224"/>
            </a:xfrm>
            <a:custGeom>
              <a:avLst/>
              <a:gdLst/>
              <a:ahLst/>
              <a:cxnLst/>
              <a:rect r="r" b="b" t="t" l="l"/>
              <a:pathLst>
                <a:path h="5348224" w="9601200">
                  <a:moveTo>
                    <a:pt x="0" y="0"/>
                  </a:moveTo>
                  <a:lnTo>
                    <a:pt x="9601200" y="0"/>
                  </a:lnTo>
                  <a:lnTo>
                    <a:pt x="9601200" y="5348224"/>
                  </a:lnTo>
                  <a:lnTo>
                    <a:pt x="0" y="5348224"/>
                  </a:lnTo>
                  <a:lnTo>
                    <a:pt x="0" y="0"/>
                  </a:lnTo>
                  <a:close/>
                </a:path>
              </a:pathLst>
            </a:custGeom>
            <a:blipFill>
              <a:blip r:embed="rId6"/>
              <a:stretch>
                <a:fillRect l="0" t="-44" r="0" b="-45"/>
              </a:stretch>
            </a:blipFill>
          </p:spPr>
        </p:sp>
      </p:grpSp>
      <p:grpSp>
        <p:nvGrpSpPr>
          <p:cNvPr name="Group 25" id="25"/>
          <p:cNvGrpSpPr/>
          <p:nvPr/>
        </p:nvGrpSpPr>
        <p:grpSpPr>
          <a:xfrm rot="0">
            <a:off x="11741026" y="6236494"/>
            <a:ext cx="2414807" cy="342900"/>
            <a:chOff x="0" y="0"/>
            <a:chExt cx="3219742" cy="457200"/>
          </a:xfrm>
        </p:grpSpPr>
        <p:sp>
          <p:nvSpPr>
            <p:cNvPr name="Freeform 26" id="26" descr="image.png"/>
            <p:cNvSpPr/>
            <p:nvPr/>
          </p:nvSpPr>
          <p:spPr>
            <a:xfrm flipH="false" flipV="false" rot="0">
              <a:off x="0" y="0"/>
              <a:ext cx="3219704" cy="457200"/>
            </a:xfrm>
            <a:custGeom>
              <a:avLst/>
              <a:gdLst/>
              <a:ahLst/>
              <a:cxnLst/>
              <a:rect r="r" b="b" t="t" l="l"/>
              <a:pathLst>
                <a:path h="457200" w="3219704">
                  <a:moveTo>
                    <a:pt x="0" y="0"/>
                  </a:moveTo>
                  <a:lnTo>
                    <a:pt x="3219704" y="0"/>
                  </a:lnTo>
                  <a:lnTo>
                    <a:pt x="3219704" y="457200"/>
                  </a:lnTo>
                  <a:lnTo>
                    <a:pt x="0" y="457200"/>
                  </a:lnTo>
                  <a:lnTo>
                    <a:pt x="0" y="0"/>
                  </a:lnTo>
                  <a:close/>
                </a:path>
              </a:pathLst>
            </a:custGeom>
            <a:blipFill>
              <a:blip r:embed="rId7"/>
              <a:stretch>
                <a:fillRect l="0" t="-1780" r="-1" b="-1783"/>
              </a:stretch>
            </a:blipFill>
          </p:spPr>
        </p:sp>
      </p:grpSp>
      <p:sp>
        <p:nvSpPr>
          <p:cNvPr name="TextBox 27" id="27"/>
          <p:cNvSpPr txBox="true"/>
          <p:nvPr/>
        </p:nvSpPr>
        <p:spPr>
          <a:xfrm rot="0">
            <a:off x="9558124" y="6750844"/>
            <a:ext cx="6780847" cy="385762"/>
          </a:xfrm>
          <a:prstGeom prst="rect">
            <a:avLst/>
          </a:prstGeom>
        </p:spPr>
        <p:txBody>
          <a:bodyPr anchor="t" rtlCol="false" tIns="0" lIns="0" bIns="0" rIns="0">
            <a:spAutoFit/>
          </a:bodyPr>
          <a:lstStyle/>
          <a:p>
            <a:pPr algn="ctr">
              <a:lnSpc>
                <a:spcPts val="2970"/>
              </a:lnSpc>
            </a:pPr>
            <a:r>
              <a:rPr lang="en-US" sz="2475" b="true">
                <a:solidFill>
                  <a:srgbClr val="1F70C1"/>
                </a:solidFill>
                <a:latin typeface="Montserrat Bold"/>
                <a:ea typeface="Montserrat Bold"/>
                <a:cs typeface="Montserrat Bold"/>
                <a:sym typeface="Montserrat Bold"/>
              </a:rPr>
              <a:t>Kiến trúc mục tiêu toàn vẹn</a:t>
            </a:r>
          </a:p>
        </p:txBody>
      </p:sp>
      <p:sp>
        <p:nvSpPr>
          <p:cNvPr name="TextBox 28" id="28"/>
          <p:cNvSpPr txBox="true"/>
          <p:nvPr/>
        </p:nvSpPr>
        <p:spPr>
          <a:xfrm rot="0">
            <a:off x="9719573" y="7241381"/>
            <a:ext cx="6457950" cy="752475"/>
          </a:xfrm>
          <a:prstGeom prst="rect">
            <a:avLst/>
          </a:prstGeom>
        </p:spPr>
        <p:txBody>
          <a:bodyPr anchor="t" rtlCol="false" tIns="0" lIns="0" bIns="0" rIns="0">
            <a:spAutoFit/>
          </a:bodyPr>
          <a:lstStyle/>
          <a:p>
            <a:pPr algn="l">
              <a:lnSpc>
                <a:spcPts val="2700"/>
              </a:lnSpc>
            </a:pPr>
            <a:r>
              <a:rPr lang="en-US" sz="1687" b="true">
                <a:solidFill>
                  <a:srgbClr val="334155"/>
                </a:solidFill>
                <a:latin typeface="Open Sans Bold"/>
                <a:ea typeface="Open Sans Bold"/>
                <a:cs typeface="Open Sans Bold"/>
                <a:sym typeface="Open Sans Bold"/>
              </a:rPr>
              <a:t>Trọng tâm:</a:t>
            </a:r>
            <a:r>
              <a:rPr lang="en-US" sz="1687">
                <a:solidFill>
                  <a:srgbClr val="334155"/>
                </a:solidFill>
                <a:latin typeface="Open Sans"/>
                <a:ea typeface="Open Sans"/>
                <a:cs typeface="Open Sans"/>
                <a:sym typeface="Open Sans"/>
              </a:rPr>
              <a:t> Hiện thực hóa hoàn toàn kiến trúc Microservices và AI.</a:t>
            </a:r>
          </a:p>
        </p:txBody>
      </p:sp>
      <p:sp>
        <p:nvSpPr>
          <p:cNvPr name="TextBox 29" id="29"/>
          <p:cNvSpPr txBox="true"/>
          <p:nvPr/>
        </p:nvSpPr>
        <p:spPr>
          <a:xfrm rot="0">
            <a:off x="9933885" y="8138160"/>
            <a:ext cx="71438" cy="328612"/>
          </a:xfrm>
          <a:prstGeom prst="rect">
            <a:avLst/>
          </a:prstGeom>
        </p:spPr>
        <p:txBody>
          <a:bodyPr anchor="t" rtlCol="false" tIns="0" lIns="0" bIns="0" rIns="0">
            <a:spAutoFit/>
          </a:bodyPr>
          <a:lstStyle/>
          <a:p>
            <a:pPr algn="l">
              <a:lnSpc>
                <a:spcPts val="1956"/>
              </a:lnSpc>
            </a:pPr>
            <a:r>
              <a:rPr lang="en-US" sz="1630">
                <a:solidFill>
                  <a:srgbClr val="334155"/>
                </a:solidFill>
                <a:latin typeface="Open Sans"/>
                <a:ea typeface="Open Sans"/>
                <a:cs typeface="Open Sans"/>
                <a:sym typeface="Open Sans"/>
              </a:rPr>
              <a:t>•</a:t>
            </a:r>
          </a:p>
        </p:txBody>
      </p:sp>
      <p:sp>
        <p:nvSpPr>
          <p:cNvPr name="TextBox 30" id="30"/>
          <p:cNvSpPr txBox="true"/>
          <p:nvPr/>
        </p:nvSpPr>
        <p:spPr>
          <a:xfrm rot="0">
            <a:off x="10052948" y="8070056"/>
            <a:ext cx="6124575" cy="729253"/>
          </a:xfrm>
          <a:prstGeom prst="rect">
            <a:avLst/>
          </a:prstGeom>
        </p:spPr>
        <p:txBody>
          <a:bodyPr anchor="t" rtlCol="false" tIns="0" lIns="0" bIns="0" rIns="0">
            <a:spAutoFit/>
          </a:bodyPr>
          <a:lstStyle/>
          <a:p>
            <a:pPr algn="l">
              <a:lnSpc>
                <a:spcPts val="2608"/>
              </a:lnSpc>
            </a:pPr>
            <a:r>
              <a:rPr lang="en-US" sz="1630">
                <a:solidFill>
                  <a:srgbClr val="334155"/>
                </a:solidFill>
                <a:latin typeface="Open Sans"/>
                <a:ea typeface="Open Sans"/>
                <a:cs typeface="Open Sans"/>
                <a:sym typeface="Open Sans"/>
              </a:rPr>
              <a:t>Bóc tách kiến trúc nguyên khối sang Microservices linh hoạt mở rộng.</a:t>
            </a:r>
          </a:p>
        </p:txBody>
      </p:sp>
      <p:sp>
        <p:nvSpPr>
          <p:cNvPr name="TextBox 31" id="31"/>
          <p:cNvSpPr txBox="true"/>
          <p:nvPr/>
        </p:nvSpPr>
        <p:spPr>
          <a:xfrm rot="0">
            <a:off x="9933885" y="8800748"/>
            <a:ext cx="71438" cy="104832"/>
          </a:xfrm>
          <a:prstGeom prst="rect">
            <a:avLst/>
          </a:prstGeom>
        </p:spPr>
        <p:txBody>
          <a:bodyPr anchor="t" rtlCol="false" tIns="0" lIns="0" bIns="0" rIns="0">
            <a:spAutoFit/>
          </a:bodyPr>
          <a:lstStyle/>
          <a:p>
            <a:pPr algn="l">
              <a:lnSpc>
                <a:spcPts val="1956"/>
              </a:lnSpc>
            </a:pPr>
            <a:r>
              <a:rPr lang="en-US" sz="1630">
                <a:solidFill>
                  <a:srgbClr val="334155"/>
                </a:solidFill>
                <a:latin typeface="Open Sans"/>
                <a:ea typeface="Open Sans"/>
                <a:cs typeface="Open Sans"/>
                <a:sym typeface="Open Sans"/>
              </a:rPr>
              <a:t>•</a:t>
            </a:r>
          </a:p>
        </p:txBody>
      </p:sp>
      <p:sp>
        <p:nvSpPr>
          <p:cNvPr name="TextBox 32" id="32"/>
          <p:cNvSpPr txBox="true"/>
          <p:nvPr/>
        </p:nvSpPr>
        <p:spPr>
          <a:xfrm rot="0">
            <a:off x="10052948" y="8732644"/>
            <a:ext cx="6124575" cy="172936"/>
          </a:xfrm>
          <a:prstGeom prst="rect">
            <a:avLst/>
          </a:prstGeom>
        </p:spPr>
        <p:txBody>
          <a:bodyPr anchor="t" rtlCol="false" tIns="0" lIns="0" bIns="0" rIns="0">
            <a:spAutoFit/>
          </a:bodyPr>
          <a:lstStyle/>
          <a:p>
            <a:pPr algn="l">
              <a:lnSpc>
                <a:spcPts val="2608"/>
              </a:lnSpc>
            </a:pPr>
            <a:r>
              <a:rPr lang="en-US" sz="1630">
                <a:solidFill>
                  <a:srgbClr val="334155"/>
                </a:solidFill>
                <a:latin typeface="Open Sans"/>
                <a:ea typeface="Open Sans"/>
                <a:cs typeface="Open Sans"/>
                <a:sym typeface="Open Sans"/>
              </a:rPr>
              <a:t>Triển khai nền tảng Big Data &amp; AI vào quản trị CEM để tự động hóa gợi ý Tour và cá nhân hóa chiến dịch.</a:t>
            </a:r>
          </a:p>
        </p:txBody>
      </p:sp>
      <p:grpSp>
        <p:nvGrpSpPr>
          <p:cNvPr name="Group 33" id="33"/>
          <p:cNvGrpSpPr/>
          <p:nvPr/>
        </p:nvGrpSpPr>
        <p:grpSpPr>
          <a:xfrm rot="0">
            <a:off x="12741379" y="5114925"/>
            <a:ext cx="414338" cy="414338"/>
            <a:chOff x="0" y="0"/>
            <a:chExt cx="552450" cy="552450"/>
          </a:xfrm>
        </p:grpSpPr>
        <p:sp>
          <p:nvSpPr>
            <p:cNvPr name="Freeform 34" id="34"/>
            <p:cNvSpPr/>
            <p:nvPr/>
          </p:nvSpPr>
          <p:spPr>
            <a:xfrm flipH="false" flipV="false" rot="0">
              <a:off x="0" y="0"/>
              <a:ext cx="552450" cy="552450"/>
            </a:xfrm>
            <a:custGeom>
              <a:avLst/>
              <a:gdLst/>
              <a:ahLst/>
              <a:cxnLst/>
              <a:rect r="r" b="b" t="t" l="l"/>
              <a:pathLst>
                <a:path h="552450" w="552450">
                  <a:moveTo>
                    <a:pt x="0" y="276225"/>
                  </a:moveTo>
                  <a:cubicBezTo>
                    <a:pt x="0" y="123698"/>
                    <a:pt x="123698" y="0"/>
                    <a:pt x="276225" y="0"/>
                  </a:cubicBezTo>
                  <a:cubicBezTo>
                    <a:pt x="428752" y="0"/>
                    <a:pt x="552450" y="123698"/>
                    <a:pt x="552450" y="276225"/>
                  </a:cubicBezTo>
                  <a:cubicBezTo>
                    <a:pt x="552450" y="428752"/>
                    <a:pt x="428752" y="552450"/>
                    <a:pt x="276225" y="552450"/>
                  </a:cubicBezTo>
                  <a:cubicBezTo>
                    <a:pt x="123698" y="552450"/>
                    <a:pt x="0" y="428752"/>
                    <a:pt x="0" y="276225"/>
                  </a:cubicBezTo>
                  <a:close/>
                </a:path>
              </a:pathLst>
            </a:custGeom>
            <a:solidFill>
              <a:srgbClr val="FFFFFF"/>
            </a:solidFill>
            <a:ln w="71438" cap="sq">
              <a:solidFill>
                <a:srgbClr val="1F70C1"/>
              </a:solidFill>
              <a:prstDash val="solid"/>
              <a:miter/>
            </a:ln>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98" y="1212675"/>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sz="2182" b="true">
                <a:solidFill>
                  <a:srgbClr val="FAA61A"/>
                </a:solidFill>
                <a:latin typeface="Montserrat Bold"/>
                <a:ea typeface="Montserrat Bold"/>
                <a:cs typeface="Montserrat Bold"/>
                <a:sym typeface="Montserrat Bold"/>
              </a:rPr>
              <a:t>NỘI DUNG THUYẾT TRÌNH</a:t>
            </a:r>
          </a:p>
        </p:txBody>
      </p:sp>
      <p:sp>
        <p:nvSpPr>
          <p:cNvPr name="TextBox 8" id="8"/>
          <p:cNvSpPr txBox="true"/>
          <p:nvPr/>
        </p:nvSpPr>
        <p:spPr>
          <a:xfrm rot="0">
            <a:off x="3878364" y="5107149"/>
            <a:ext cx="11045332" cy="488059"/>
          </a:xfrm>
          <a:prstGeom prst="rect">
            <a:avLst/>
          </a:prstGeom>
        </p:spPr>
        <p:txBody>
          <a:bodyPr anchor="t" rtlCol="false" tIns="0" lIns="0" bIns="0" rIns="0">
            <a:spAutoFit/>
          </a:bodyPr>
          <a:lstStyle/>
          <a:p>
            <a:pPr algn="ctr" marL="0" indent="0" lvl="0">
              <a:lnSpc>
                <a:spcPts val="4041"/>
              </a:lnSpc>
              <a:spcBef>
                <a:spcPct val="0"/>
              </a:spcBef>
            </a:pPr>
            <a:r>
              <a:rPr lang="en-US" b="true" sz="2882">
                <a:solidFill>
                  <a:srgbClr val="FBFBFC"/>
                </a:solidFill>
                <a:latin typeface="Montserrat Bold"/>
                <a:ea typeface="Montserrat Bold"/>
                <a:cs typeface="Montserrat Bold"/>
                <a:sym typeface="Montserrat Bold"/>
              </a:rPr>
              <a:t>Xây</a:t>
            </a:r>
            <a:r>
              <a:rPr lang="en-US" b="true" sz="2882" strike="noStrike" u="none">
                <a:solidFill>
                  <a:srgbClr val="FBFBFC"/>
                </a:solidFill>
                <a:latin typeface="Montserrat Bold"/>
                <a:ea typeface="Montserrat Bold"/>
                <a:cs typeface="Montserrat Bold"/>
                <a:sym typeface="Montserrat Bold"/>
              </a:rPr>
              <a:t> Dựng Kiến Trúc Kinh </a:t>
            </a:r>
            <a:r>
              <a:rPr lang="en-US" b="true" sz="2882" strike="noStrike" u="none">
                <a:solidFill>
                  <a:srgbClr val="FBFBFC"/>
                </a:solidFill>
                <a:latin typeface="Montserrat Bold"/>
                <a:ea typeface="Montserrat Bold"/>
                <a:cs typeface="Montserrat Bold"/>
                <a:sym typeface="Montserrat Bold"/>
              </a:rPr>
              <a:t>Doan</a:t>
            </a:r>
            <a:r>
              <a:rPr lang="en-US" b="true" sz="2882" strike="noStrike" u="none">
                <a:solidFill>
                  <a:srgbClr val="FBFBFC"/>
                </a:solidFill>
                <a:latin typeface="Montserrat Bold"/>
                <a:ea typeface="Montserrat Bold"/>
                <a:cs typeface="Montserrat Bold"/>
                <a:sym typeface="Montserrat Bold"/>
              </a:rPr>
              <a:t>h (B</a:t>
            </a:r>
            <a:r>
              <a:rPr lang="en-US" b="true" sz="2882" strike="noStrike" u="none">
                <a:solidFill>
                  <a:srgbClr val="FBFBFC"/>
                </a:solidFill>
                <a:latin typeface="Montserrat Bold"/>
                <a:ea typeface="Montserrat Bold"/>
                <a:cs typeface="Montserrat Bold"/>
                <a:sym typeface="Montserrat Bold"/>
              </a:rPr>
              <a:t>usi</a:t>
            </a:r>
            <a:r>
              <a:rPr lang="en-US" b="true" sz="2882" strike="noStrike" u="none">
                <a:solidFill>
                  <a:srgbClr val="FBFBFC"/>
                </a:solidFill>
                <a:latin typeface="Montserrat Bold"/>
                <a:ea typeface="Montserrat Bold"/>
                <a:cs typeface="Montserrat Bold"/>
                <a:sym typeface="Montserrat Bold"/>
              </a:rPr>
              <a:t>n</a:t>
            </a:r>
            <a:r>
              <a:rPr lang="en-US" b="true" sz="2882" strike="noStrike" u="none">
                <a:solidFill>
                  <a:srgbClr val="FBFBFC"/>
                </a:solidFill>
                <a:latin typeface="Montserrat Bold"/>
                <a:ea typeface="Montserrat Bold"/>
                <a:cs typeface="Montserrat Bold"/>
                <a:sym typeface="Montserrat Bold"/>
              </a:rPr>
              <a:t>ess</a:t>
            </a:r>
            <a:r>
              <a:rPr lang="en-US" b="true" sz="2882" strike="noStrike" u="none">
                <a:solidFill>
                  <a:srgbClr val="FBFBFC"/>
                </a:solidFill>
                <a:latin typeface="Montserrat Bold"/>
                <a:ea typeface="Montserrat Bold"/>
                <a:cs typeface="Montserrat Bold"/>
                <a:sym typeface="Montserrat Bold"/>
              </a:rPr>
              <a:t> </a:t>
            </a:r>
            <a:r>
              <a:rPr lang="en-US" b="true" sz="2882" strike="noStrike" u="none">
                <a:solidFill>
                  <a:srgbClr val="FBFBFC"/>
                </a:solidFill>
                <a:latin typeface="Montserrat Bold"/>
                <a:ea typeface="Montserrat Bold"/>
                <a:cs typeface="Montserrat Bold"/>
                <a:sym typeface="Montserrat Bold"/>
              </a:rPr>
              <a:t>Arc</a:t>
            </a:r>
            <a:r>
              <a:rPr lang="en-US" b="true" sz="2882" strike="noStrike" u="none">
                <a:solidFill>
                  <a:srgbClr val="FBFBFC"/>
                </a:solidFill>
                <a:latin typeface="Montserrat Bold"/>
                <a:ea typeface="Montserrat Bold"/>
                <a:cs typeface="Montserrat Bold"/>
                <a:sym typeface="Montserrat Bold"/>
              </a:rPr>
              <a:t>hitecture)</a:t>
            </a:r>
          </a:p>
        </p:txBody>
      </p:sp>
      <p:grpSp>
        <p:nvGrpSpPr>
          <p:cNvPr name="Group 9" id="9"/>
          <p:cNvGrpSpPr/>
          <p:nvPr/>
        </p:nvGrpSpPr>
        <p:grpSpPr>
          <a:xfrm rot="0">
            <a:off x="8649524" y="4157080"/>
            <a:ext cx="642938" cy="642938"/>
            <a:chOff x="0" y="0"/>
            <a:chExt cx="857250" cy="857250"/>
          </a:xfrm>
        </p:grpSpPr>
        <p:sp>
          <p:nvSpPr>
            <p:cNvPr name="Freeform 10" id="10"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4"/>
              <a:stretch>
                <a:fillRect l="0" t="0" r="0"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98" y="1212675"/>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QUY TRÌNH NGHIỆP VỤ ĐA KÊNH</a:t>
            </a:r>
          </a:p>
        </p:txBody>
      </p:sp>
      <p:grpSp>
        <p:nvGrpSpPr>
          <p:cNvPr name="Group 8" id="8"/>
          <p:cNvGrpSpPr/>
          <p:nvPr/>
        </p:nvGrpSpPr>
        <p:grpSpPr>
          <a:xfrm rot="0">
            <a:off x="10000997" y="2241483"/>
            <a:ext cx="8027075" cy="3894487"/>
            <a:chOff x="0" y="0"/>
            <a:chExt cx="10702766" cy="5192649"/>
          </a:xfrm>
        </p:grpSpPr>
        <p:grpSp>
          <p:nvGrpSpPr>
            <p:cNvPr name="Group 9" id="9"/>
            <p:cNvGrpSpPr/>
            <p:nvPr/>
          </p:nvGrpSpPr>
          <p:grpSpPr>
            <a:xfrm rot="0">
              <a:off x="601504" y="0"/>
              <a:ext cx="10101262" cy="601599"/>
              <a:chOff x="0" y="0"/>
              <a:chExt cx="10101262" cy="601599"/>
            </a:xfrm>
          </p:grpSpPr>
          <p:sp>
            <p:nvSpPr>
              <p:cNvPr name="Freeform 10" id="10"/>
              <p:cNvSpPr/>
              <p:nvPr/>
            </p:nvSpPr>
            <p:spPr>
              <a:xfrm flipH="false" flipV="false" rot="0">
                <a:off x="0" y="0"/>
                <a:ext cx="10101262" cy="601599"/>
              </a:xfrm>
              <a:custGeom>
                <a:avLst/>
                <a:gdLst/>
                <a:ahLst/>
                <a:cxnLst/>
                <a:rect r="r" b="b" t="t" l="l"/>
                <a:pathLst>
                  <a:path h="601599" w="10101262">
                    <a:moveTo>
                      <a:pt x="0" y="0"/>
                    </a:moveTo>
                    <a:lnTo>
                      <a:pt x="10101262" y="0"/>
                    </a:lnTo>
                    <a:lnTo>
                      <a:pt x="10101262" y="601599"/>
                    </a:lnTo>
                    <a:lnTo>
                      <a:pt x="0" y="601599"/>
                    </a:lnTo>
                    <a:close/>
                  </a:path>
                </a:pathLst>
              </a:custGeom>
              <a:blipFill>
                <a:blip r:embed="rId4">
                  <a:alphaModFix amt="0"/>
                </a:blip>
                <a:stretch>
                  <a:fillRect l="0" t="-289168" r="0" b="-265165"/>
                </a:stretch>
              </a:blipFill>
            </p:spPr>
          </p:sp>
          <p:sp>
            <p:nvSpPr>
              <p:cNvPr name="TextBox 11" id="11"/>
              <p:cNvSpPr txBox="true"/>
              <p:nvPr/>
            </p:nvSpPr>
            <p:spPr>
              <a:xfrm>
                <a:off x="0" y="-9525"/>
                <a:ext cx="10101262" cy="611124"/>
              </a:xfrm>
              <a:prstGeom prst="rect">
                <a:avLst/>
              </a:prstGeom>
            </p:spPr>
            <p:txBody>
              <a:bodyPr anchor="ctr" rtlCol="false" tIns="0" lIns="0" bIns="0" rIns="0"/>
              <a:lstStyle/>
              <a:p>
                <a:pPr algn="l">
                  <a:lnSpc>
                    <a:spcPts val="2700"/>
                  </a:lnSpc>
                </a:pPr>
                <a:r>
                  <a:rPr lang="en-US" b="true" sz="2250">
                    <a:solidFill>
                      <a:srgbClr val="FBFBFC"/>
                    </a:solidFill>
                    <a:latin typeface="Montserrat Bold"/>
                    <a:ea typeface="Montserrat Bold"/>
                    <a:cs typeface="Montserrat Bold"/>
                    <a:sym typeface="Montserrat Bold"/>
                  </a:rPr>
                  <a:t>Thanh toán (Payment)</a:t>
                </a:r>
              </a:p>
            </p:txBody>
          </p:sp>
        </p:grpSp>
        <p:sp>
          <p:nvSpPr>
            <p:cNvPr name="TextBox 12" id="12"/>
            <p:cNvSpPr txBox="true"/>
            <p:nvPr/>
          </p:nvSpPr>
          <p:spPr>
            <a:xfrm rot="0">
              <a:off x="0" y="630174"/>
              <a:ext cx="10191750" cy="1762125"/>
            </a:xfrm>
            <a:prstGeom prst="rect">
              <a:avLst/>
            </a:prstGeom>
          </p:spPr>
          <p:txBody>
            <a:bodyPr anchor="t" rtlCol="false" tIns="0" lIns="0" bIns="0" rIns="0">
              <a:spAutoFit/>
            </a:bodyPr>
            <a:lstStyle/>
            <a:p>
              <a:pPr algn="l">
                <a:lnSpc>
                  <a:spcPts val="2530"/>
                </a:lnSpc>
              </a:pPr>
              <a:r>
                <a:rPr lang="en-US" sz="1687">
                  <a:solidFill>
                    <a:srgbClr val="FBFBFC"/>
                  </a:solidFill>
                  <a:latin typeface="Open Sans"/>
                  <a:ea typeface="Open Sans"/>
                  <a:cs typeface="Open Sans"/>
                  <a:sym typeface="Open Sans"/>
                </a:rPr>
                <a:t>Hỗ trợ luân chuyển tự do: chốt tour tại quầy nhưng thanh toán ví điện tử tại nhà, hoặc đặt online nhưng thanh toán tiền mặt tại chi nhánh. Mọi biến động được ghi nhận, đối soát thời gian thực và tự động mở khóa dịch vụ cho bộ phận điều hành.</a:t>
              </a:r>
            </a:p>
          </p:txBody>
        </p:sp>
        <p:grpSp>
          <p:nvGrpSpPr>
            <p:cNvPr name="Group 13" id="13"/>
            <p:cNvGrpSpPr/>
            <p:nvPr/>
          </p:nvGrpSpPr>
          <p:grpSpPr>
            <a:xfrm rot="0">
              <a:off x="631507" y="2796350"/>
              <a:ext cx="10041255" cy="601599"/>
              <a:chOff x="0" y="0"/>
              <a:chExt cx="10041255" cy="601599"/>
            </a:xfrm>
          </p:grpSpPr>
          <p:sp>
            <p:nvSpPr>
              <p:cNvPr name="Freeform 14" id="14"/>
              <p:cNvSpPr/>
              <p:nvPr/>
            </p:nvSpPr>
            <p:spPr>
              <a:xfrm flipH="false" flipV="false" rot="0">
                <a:off x="0" y="0"/>
                <a:ext cx="10041254" cy="601599"/>
              </a:xfrm>
              <a:custGeom>
                <a:avLst/>
                <a:gdLst/>
                <a:ahLst/>
                <a:cxnLst/>
                <a:rect r="r" b="b" t="t" l="l"/>
                <a:pathLst>
                  <a:path h="601599" w="10041254">
                    <a:moveTo>
                      <a:pt x="0" y="0"/>
                    </a:moveTo>
                    <a:lnTo>
                      <a:pt x="10041254" y="0"/>
                    </a:lnTo>
                    <a:lnTo>
                      <a:pt x="10041254" y="601599"/>
                    </a:lnTo>
                    <a:lnTo>
                      <a:pt x="0" y="601599"/>
                    </a:lnTo>
                    <a:close/>
                  </a:path>
                </a:pathLst>
              </a:custGeom>
              <a:blipFill>
                <a:blip r:embed="rId4">
                  <a:alphaModFix amt="0"/>
                </a:blip>
                <a:stretch>
                  <a:fillRect l="0" t="-287224" r="0" b="-263222"/>
                </a:stretch>
              </a:blipFill>
            </p:spPr>
          </p:sp>
          <p:sp>
            <p:nvSpPr>
              <p:cNvPr name="TextBox 15" id="15"/>
              <p:cNvSpPr txBox="true"/>
              <p:nvPr/>
            </p:nvSpPr>
            <p:spPr>
              <a:xfrm>
                <a:off x="0" y="-9525"/>
                <a:ext cx="10041255" cy="611124"/>
              </a:xfrm>
              <a:prstGeom prst="rect">
                <a:avLst/>
              </a:prstGeom>
            </p:spPr>
            <p:txBody>
              <a:bodyPr anchor="ctr" rtlCol="false" tIns="0" lIns="0" bIns="0" rIns="0"/>
              <a:lstStyle/>
              <a:p>
                <a:pPr algn="l">
                  <a:lnSpc>
                    <a:spcPts val="2700"/>
                  </a:lnSpc>
                </a:pPr>
                <a:r>
                  <a:rPr lang="en-US" b="true" sz="2250">
                    <a:solidFill>
                      <a:srgbClr val="FBFBFC"/>
                    </a:solidFill>
                    <a:latin typeface="Montserrat Bold"/>
                    <a:ea typeface="Montserrat Bold"/>
                    <a:cs typeface="Montserrat Bold"/>
                    <a:sym typeface="Montserrat Bold"/>
                  </a:rPr>
                  <a:t>Quản lý Quan hệ Khách hàng (CRM)</a:t>
                </a:r>
              </a:p>
            </p:txBody>
          </p:sp>
        </p:grpSp>
        <p:sp>
          <p:nvSpPr>
            <p:cNvPr name="TextBox 16" id="16"/>
            <p:cNvSpPr txBox="true"/>
            <p:nvPr/>
          </p:nvSpPr>
          <p:spPr>
            <a:xfrm rot="0">
              <a:off x="0" y="3430524"/>
              <a:ext cx="10191750" cy="1762125"/>
            </a:xfrm>
            <a:prstGeom prst="rect">
              <a:avLst/>
            </a:prstGeom>
          </p:spPr>
          <p:txBody>
            <a:bodyPr anchor="t" rtlCol="false" tIns="0" lIns="0" bIns="0" rIns="0">
              <a:spAutoFit/>
            </a:bodyPr>
            <a:lstStyle/>
            <a:p>
              <a:pPr algn="l">
                <a:lnSpc>
                  <a:spcPts val="2530"/>
                </a:lnSpc>
              </a:pPr>
              <a:r>
                <a:rPr lang="en-US" sz="1687">
                  <a:solidFill>
                    <a:srgbClr val="FBFBFC"/>
                  </a:solidFill>
                  <a:latin typeface="Open Sans"/>
                  <a:ea typeface="Open Sans"/>
                  <a:cs typeface="Open Sans"/>
                  <a:sym typeface="Open Sans"/>
                </a:rPr>
                <a:t>Hội tụ dữ liệu từ Sales, Inventory, POS, Payment thành hệ sinh thái hợp nhất. Tự động kích hoạt chiến dịch CSKH (gửi email hướng dẫn, khảo sát). Phân tích dữ liệu xây dựng kịch bản bán chéo/bán thêm cá nhân hóa, tối đa hóa giá trị vòng đời khách hàng.</a:t>
              </a:r>
            </a:p>
          </p:txBody>
        </p:sp>
        <p:grpSp>
          <p:nvGrpSpPr>
            <p:cNvPr name="Group 17" id="17"/>
            <p:cNvGrpSpPr/>
            <p:nvPr/>
          </p:nvGrpSpPr>
          <p:grpSpPr>
            <a:xfrm rot="0">
              <a:off x="0" y="125349"/>
              <a:ext cx="381000" cy="342900"/>
              <a:chOff x="0" y="0"/>
              <a:chExt cx="381000" cy="342900"/>
            </a:xfrm>
          </p:grpSpPr>
          <p:sp>
            <p:nvSpPr>
              <p:cNvPr name="Freeform 18" id="18" descr="image.png"/>
              <p:cNvSpPr/>
              <p:nvPr/>
            </p:nvSpPr>
            <p:spPr>
              <a:xfrm flipH="false" flipV="false" rot="0">
                <a:off x="0" y="0"/>
                <a:ext cx="381000" cy="342900"/>
              </a:xfrm>
              <a:custGeom>
                <a:avLst/>
                <a:gdLst/>
                <a:ahLst/>
                <a:cxnLst/>
                <a:rect r="r" b="b" t="t" l="l"/>
                <a:pathLst>
                  <a:path h="342900" w="381000">
                    <a:moveTo>
                      <a:pt x="0" y="0"/>
                    </a:moveTo>
                    <a:lnTo>
                      <a:pt x="381000" y="0"/>
                    </a:lnTo>
                    <a:lnTo>
                      <a:pt x="381000" y="342900"/>
                    </a:lnTo>
                    <a:lnTo>
                      <a:pt x="0" y="342900"/>
                    </a:lnTo>
                    <a:lnTo>
                      <a:pt x="0" y="0"/>
                    </a:lnTo>
                    <a:close/>
                  </a:path>
                </a:pathLst>
              </a:custGeom>
              <a:blipFill>
                <a:blip r:embed="rId5"/>
                <a:stretch>
                  <a:fillRect l="0" t="-2777" r="0" b="-2777"/>
                </a:stretch>
              </a:blipFill>
            </p:spPr>
          </p:sp>
        </p:grpSp>
        <p:grpSp>
          <p:nvGrpSpPr>
            <p:cNvPr name="Group 19" id="19"/>
            <p:cNvGrpSpPr/>
            <p:nvPr/>
          </p:nvGrpSpPr>
          <p:grpSpPr>
            <a:xfrm rot="0">
              <a:off x="0" y="2925699"/>
              <a:ext cx="438150" cy="342900"/>
              <a:chOff x="0" y="0"/>
              <a:chExt cx="438150" cy="342900"/>
            </a:xfrm>
          </p:grpSpPr>
          <p:sp>
            <p:nvSpPr>
              <p:cNvPr name="Freeform 20" id="20" descr="image.png"/>
              <p:cNvSpPr/>
              <p:nvPr/>
            </p:nvSpPr>
            <p:spPr>
              <a:xfrm flipH="false" flipV="false" rot="0">
                <a:off x="0" y="0"/>
                <a:ext cx="438150" cy="342900"/>
              </a:xfrm>
              <a:custGeom>
                <a:avLst/>
                <a:gdLst/>
                <a:ahLst/>
                <a:cxnLst/>
                <a:rect r="r" b="b" t="t" l="l"/>
                <a:pathLst>
                  <a:path h="342900" w="438150">
                    <a:moveTo>
                      <a:pt x="0" y="0"/>
                    </a:moveTo>
                    <a:lnTo>
                      <a:pt x="438150" y="0"/>
                    </a:lnTo>
                    <a:lnTo>
                      <a:pt x="438150" y="342900"/>
                    </a:lnTo>
                    <a:lnTo>
                      <a:pt x="0" y="342900"/>
                    </a:lnTo>
                    <a:lnTo>
                      <a:pt x="0" y="0"/>
                    </a:lnTo>
                    <a:close/>
                  </a:path>
                </a:pathLst>
              </a:custGeom>
              <a:blipFill>
                <a:blip r:embed="rId6"/>
                <a:stretch>
                  <a:fillRect l="0" t="-2777" r="0" b="-2777"/>
                </a:stretch>
              </a:blipFill>
            </p:spPr>
          </p:sp>
        </p:grpSp>
      </p:grpSp>
      <p:grpSp>
        <p:nvGrpSpPr>
          <p:cNvPr name="Group 21" id="21"/>
          <p:cNvGrpSpPr/>
          <p:nvPr/>
        </p:nvGrpSpPr>
        <p:grpSpPr>
          <a:xfrm rot="0">
            <a:off x="1277512" y="2270058"/>
            <a:ext cx="7575947" cy="451199"/>
            <a:chOff x="0" y="0"/>
            <a:chExt cx="10101262" cy="601599"/>
          </a:xfrm>
        </p:grpSpPr>
        <p:sp>
          <p:nvSpPr>
            <p:cNvPr name="Freeform 22" id="22"/>
            <p:cNvSpPr/>
            <p:nvPr/>
          </p:nvSpPr>
          <p:spPr>
            <a:xfrm flipH="false" flipV="false" rot="0">
              <a:off x="0" y="0"/>
              <a:ext cx="10101262" cy="601599"/>
            </a:xfrm>
            <a:custGeom>
              <a:avLst/>
              <a:gdLst/>
              <a:ahLst/>
              <a:cxnLst/>
              <a:rect r="r" b="b" t="t" l="l"/>
              <a:pathLst>
                <a:path h="601599" w="10101262">
                  <a:moveTo>
                    <a:pt x="0" y="0"/>
                  </a:moveTo>
                  <a:lnTo>
                    <a:pt x="10101262" y="0"/>
                  </a:lnTo>
                  <a:lnTo>
                    <a:pt x="10101262" y="601599"/>
                  </a:lnTo>
                  <a:lnTo>
                    <a:pt x="0" y="601599"/>
                  </a:lnTo>
                  <a:close/>
                </a:path>
              </a:pathLst>
            </a:custGeom>
            <a:blipFill>
              <a:blip r:embed="rId4">
                <a:alphaModFix amt="0"/>
              </a:blip>
              <a:stretch>
                <a:fillRect l="0" t="-289168" r="0" b="-265165"/>
              </a:stretch>
            </a:blipFill>
          </p:spPr>
        </p:sp>
        <p:sp>
          <p:nvSpPr>
            <p:cNvPr name="TextBox 23" id="23"/>
            <p:cNvSpPr txBox="true"/>
            <p:nvPr/>
          </p:nvSpPr>
          <p:spPr>
            <a:xfrm>
              <a:off x="0" y="-9525"/>
              <a:ext cx="10101262" cy="611124"/>
            </a:xfrm>
            <a:prstGeom prst="rect">
              <a:avLst/>
            </a:prstGeom>
          </p:spPr>
          <p:txBody>
            <a:bodyPr anchor="ctr" rtlCol="false" tIns="0" lIns="0" bIns="0" rIns="0"/>
            <a:lstStyle/>
            <a:p>
              <a:pPr algn="l">
                <a:lnSpc>
                  <a:spcPts val="2700"/>
                </a:lnSpc>
              </a:pPr>
              <a:r>
                <a:rPr lang="en-US" b="true" sz="2250">
                  <a:solidFill>
                    <a:srgbClr val="FBFBFC"/>
                  </a:solidFill>
                  <a:latin typeface="Montserrat Bold"/>
                  <a:ea typeface="Montserrat Bold"/>
                  <a:cs typeface="Montserrat Bold"/>
                  <a:sym typeface="Montserrat Bold"/>
                </a:rPr>
                <a:t>Bán hàng (Sales)</a:t>
              </a:r>
            </a:p>
          </p:txBody>
        </p:sp>
      </p:grpSp>
      <p:sp>
        <p:nvSpPr>
          <p:cNvPr name="TextBox 24" id="24"/>
          <p:cNvSpPr txBox="true"/>
          <p:nvPr/>
        </p:nvSpPr>
        <p:spPr>
          <a:xfrm rot="0">
            <a:off x="848887" y="2702208"/>
            <a:ext cx="7643812" cy="1333500"/>
          </a:xfrm>
          <a:prstGeom prst="rect">
            <a:avLst/>
          </a:prstGeom>
        </p:spPr>
        <p:txBody>
          <a:bodyPr anchor="t" rtlCol="false" tIns="0" lIns="0" bIns="0" rIns="0">
            <a:spAutoFit/>
          </a:bodyPr>
          <a:lstStyle/>
          <a:p>
            <a:pPr algn="l">
              <a:lnSpc>
                <a:spcPts val="2530"/>
              </a:lnSpc>
            </a:pPr>
            <a:r>
              <a:rPr lang="en-US" sz="1687">
                <a:solidFill>
                  <a:srgbClr val="FBFBFC"/>
                </a:solidFill>
                <a:latin typeface="Open Sans"/>
                <a:ea typeface="Open Sans"/>
                <a:cs typeface="Open Sans"/>
                <a:sym typeface="Open Sans"/>
              </a:rPr>
              <a:t>Đảm bảo tính liên tục của giao dịch. Khách hàng tìm kiếm, lưu giỏ hàng trên App, sau đó đến văn phòng vật lý. Nhân viên truy xuất mã định danh, kế thừa dữ liệu để tiếp tục tư vấn, chốt đơn trơn tru mà không cần khách hàng lặp lại thông tin.</a:t>
            </a:r>
          </a:p>
        </p:txBody>
      </p:sp>
      <p:grpSp>
        <p:nvGrpSpPr>
          <p:cNvPr name="Group 25" id="25"/>
          <p:cNvGrpSpPr/>
          <p:nvPr/>
        </p:nvGrpSpPr>
        <p:grpSpPr>
          <a:xfrm rot="0">
            <a:off x="1277512" y="4383370"/>
            <a:ext cx="7575947" cy="451199"/>
            <a:chOff x="0" y="0"/>
            <a:chExt cx="10101262" cy="601599"/>
          </a:xfrm>
        </p:grpSpPr>
        <p:sp>
          <p:nvSpPr>
            <p:cNvPr name="Freeform 26" id="26"/>
            <p:cNvSpPr/>
            <p:nvPr/>
          </p:nvSpPr>
          <p:spPr>
            <a:xfrm flipH="false" flipV="false" rot="0">
              <a:off x="0" y="0"/>
              <a:ext cx="10101262" cy="601599"/>
            </a:xfrm>
            <a:custGeom>
              <a:avLst/>
              <a:gdLst/>
              <a:ahLst/>
              <a:cxnLst/>
              <a:rect r="r" b="b" t="t" l="l"/>
              <a:pathLst>
                <a:path h="601599" w="10101262">
                  <a:moveTo>
                    <a:pt x="0" y="0"/>
                  </a:moveTo>
                  <a:lnTo>
                    <a:pt x="10101262" y="0"/>
                  </a:lnTo>
                  <a:lnTo>
                    <a:pt x="10101262" y="601599"/>
                  </a:lnTo>
                  <a:lnTo>
                    <a:pt x="0" y="601599"/>
                  </a:lnTo>
                  <a:close/>
                </a:path>
              </a:pathLst>
            </a:custGeom>
            <a:blipFill>
              <a:blip r:embed="rId4">
                <a:alphaModFix amt="0"/>
              </a:blip>
              <a:stretch>
                <a:fillRect l="0" t="-289168" r="0" b="-265165"/>
              </a:stretch>
            </a:blipFill>
          </p:spPr>
        </p:sp>
        <p:sp>
          <p:nvSpPr>
            <p:cNvPr name="TextBox 27" id="27"/>
            <p:cNvSpPr txBox="true"/>
            <p:nvPr/>
          </p:nvSpPr>
          <p:spPr>
            <a:xfrm>
              <a:off x="0" y="-9525"/>
              <a:ext cx="10101262" cy="611124"/>
            </a:xfrm>
            <a:prstGeom prst="rect">
              <a:avLst/>
            </a:prstGeom>
          </p:spPr>
          <p:txBody>
            <a:bodyPr anchor="ctr" rtlCol="false" tIns="0" lIns="0" bIns="0" rIns="0"/>
            <a:lstStyle/>
            <a:p>
              <a:pPr algn="l">
                <a:lnSpc>
                  <a:spcPts val="2700"/>
                </a:lnSpc>
              </a:pPr>
              <a:r>
                <a:rPr lang="en-US" b="true" sz="2250">
                  <a:solidFill>
                    <a:srgbClr val="FBFBFC"/>
                  </a:solidFill>
                  <a:latin typeface="Montserrat Bold"/>
                  <a:ea typeface="Montserrat Bold"/>
                  <a:cs typeface="Montserrat Bold"/>
                  <a:sym typeface="Montserrat Bold"/>
                </a:rPr>
                <a:t>Quản lý Tồn kho (Inventory)</a:t>
              </a:r>
            </a:p>
          </p:txBody>
        </p:sp>
      </p:grpSp>
      <p:sp>
        <p:nvSpPr>
          <p:cNvPr name="TextBox 28" id="28"/>
          <p:cNvSpPr txBox="true"/>
          <p:nvPr/>
        </p:nvSpPr>
        <p:spPr>
          <a:xfrm rot="0">
            <a:off x="848887" y="4802470"/>
            <a:ext cx="7643812" cy="1012031"/>
          </a:xfrm>
          <a:prstGeom prst="rect">
            <a:avLst/>
          </a:prstGeom>
        </p:spPr>
        <p:txBody>
          <a:bodyPr anchor="t" rtlCol="false" tIns="0" lIns="0" bIns="0" rIns="0">
            <a:spAutoFit/>
          </a:bodyPr>
          <a:lstStyle/>
          <a:p>
            <a:pPr algn="l">
              <a:lnSpc>
                <a:spcPts val="2530"/>
              </a:lnSpc>
            </a:pPr>
            <a:r>
              <a:rPr lang="en-US" sz="1687">
                <a:solidFill>
                  <a:srgbClr val="FBFBFC"/>
                </a:solidFill>
                <a:latin typeface="Open Sans"/>
                <a:ea typeface="Open Sans"/>
                <a:cs typeface="Open Sans"/>
                <a:sym typeface="Open Sans"/>
              </a:rPr>
              <a:t>Hoạt động theo cơ chế hướng sự kiện thời gian thực. Bất kỳ lệnh giữ chỗ nào (Web, App, POS) lập tức phát sự kiện khóa quỹ chỗ trên hệ thống trung tâm. Triệt tiêu rủi ro bán vượt (overbooking) hoặc kẹt chỗ giữa các kênh.</a:t>
            </a:r>
          </a:p>
        </p:txBody>
      </p:sp>
      <p:grpSp>
        <p:nvGrpSpPr>
          <p:cNvPr name="Group 29" id="29"/>
          <p:cNvGrpSpPr/>
          <p:nvPr/>
        </p:nvGrpSpPr>
        <p:grpSpPr>
          <a:xfrm rot="0">
            <a:off x="1277512" y="6152639"/>
            <a:ext cx="7575947" cy="451199"/>
            <a:chOff x="0" y="0"/>
            <a:chExt cx="10101262" cy="601599"/>
          </a:xfrm>
        </p:grpSpPr>
        <p:sp>
          <p:nvSpPr>
            <p:cNvPr name="Freeform 30" id="30"/>
            <p:cNvSpPr/>
            <p:nvPr/>
          </p:nvSpPr>
          <p:spPr>
            <a:xfrm flipH="false" flipV="false" rot="0">
              <a:off x="0" y="0"/>
              <a:ext cx="10101262" cy="601599"/>
            </a:xfrm>
            <a:custGeom>
              <a:avLst/>
              <a:gdLst/>
              <a:ahLst/>
              <a:cxnLst/>
              <a:rect r="r" b="b" t="t" l="l"/>
              <a:pathLst>
                <a:path h="601599" w="10101262">
                  <a:moveTo>
                    <a:pt x="0" y="0"/>
                  </a:moveTo>
                  <a:lnTo>
                    <a:pt x="10101262" y="0"/>
                  </a:lnTo>
                  <a:lnTo>
                    <a:pt x="10101262" y="601599"/>
                  </a:lnTo>
                  <a:lnTo>
                    <a:pt x="0" y="601599"/>
                  </a:lnTo>
                  <a:close/>
                </a:path>
              </a:pathLst>
            </a:custGeom>
            <a:blipFill>
              <a:blip r:embed="rId4">
                <a:alphaModFix amt="0"/>
              </a:blip>
              <a:stretch>
                <a:fillRect l="0" t="-289168" r="0" b="-265165"/>
              </a:stretch>
            </a:blipFill>
          </p:spPr>
        </p:sp>
        <p:sp>
          <p:nvSpPr>
            <p:cNvPr name="TextBox 31" id="31"/>
            <p:cNvSpPr txBox="true"/>
            <p:nvPr/>
          </p:nvSpPr>
          <p:spPr>
            <a:xfrm>
              <a:off x="0" y="-9525"/>
              <a:ext cx="10101262" cy="611124"/>
            </a:xfrm>
            <a:prstGeom prst="rect">
              <a:avLst/>
            </a:prstGeom>
          </p:spPr>
          <p:txBody>
            <a:bodyPr anchor="ctr" rtlCol="false" tIns="0" lIns="0" bIns="0" rIns="0"/>
            <a:lstStyle/>
            <a:p>
              <a:pPr algn="l">
                <a:lnSpc>
                  <a:spcPts val="2700"/>
                </a:lnSpc>
              </a:pPr>
              <a:r>
                <a:rPr lang="en-US" b="true" sz="2250">
                  <a:solidFill>
                    <a:srgbClr val="FBFBFC"/>
                  </a:solidFill>
                  <a:latin typeface="Montserrat Bold"/>
                  <a:ea typeface="Montserrat Bold"/>
                  <a:cs typeface="Montserrat Bold"/>
                  <a:sym typeface="Montserrat Bold"/>
                </a:rPr>
                <a:t>Tại Điểm bán (POS)</a:t>
              </a:r>
            </a:p>
          </p:txBody>
        </p:sp>
      </p:grpSp>
      <p:sp>
        <p:nvSpPr>
          <p:cNvPr name="TextBox 32" id="32"/>
          <p:cNvSpPr txBox="true"/>
          <p:nvPr/>
        </p:nvSpPr>
        <p:spPr>
          <a:xfrm rot="0">
            <a:off x="848887" y="6581264"/>
            <a:ext cx="7643812" cy="1012031"/>
          </a:xfrm>
          <a:prstGeom prst="rect">
            <a:avLst/>
          </a:prstGeom>
        </p:spPr>
        <p:txBody>
          <a:bodyPr anchor="t" rtlCol="false" tIns="0" lIns="0" bIns="0" rIns="0">
            <a:spAutoFit/>
          </a:bodyPr>
          <a:lstStyle/>
          <a:p>
            <a:pPr algn="l">
              <a:lnSpc>
                <a:spcPts val="2530"/>
              </a:lnSpc>
            </a:pPr>
            <a:r>
              <a:rPr lang="en-US" sz="1687">
                <a:solidFill>
                  <a:srgbClr val="FBFBFC"/>
                </a:solidFill>
                <a:latin typeface="Open Sans"/>
                <a:ea typeface="Open Sans"/>
                <a:cs typeface="Open Sans"/>
                <a:sym typeface="Open Sans"/>
              </a:rPr>
              <a:t>Nâng cấp POS thành trung tâm tương tác đa năng. Nhân viên truy cập hệ thống trung tâm kiểm tra lịch sử, khuyến mãi để tư vấn. Tự động hóa các luồng công việc: nhận cọc, xuất vé, hóa đơn và tự động cập nhật trạng thái.</a:t>
            </a:r>
          </a:p>
        </p:txBody>
      </p:sp>
      <p:grpSp>
        <p:nvGrpSpPr>
          <p:cNvPr name="Group 33" id="33"/>
          <p:cNvGrpSpPr/>
          <p:nvPr/>
        </p:nvGrpSpPr>
        <p:grpSpPr>
          <a:xfrm rot="0">
            <a:off x="848887" y="2335495"/>
            <a:ext cx="285750" cy="257175"/>
            <a:chOff x="0" y="0"/>
            <a:chExt cx="381000" cy="342900"/>
          </a:xfrm>
        </p:grpSpPr>
        <p:sp>
          <p:nvSpPr>
            <p:cNvPr name="Freeform 34" id="34" descr="image.png"/>
            <p:cNvSpPr/>
            <p:nvPr/>
          </p:nvSpPr>
          <p:spPr>
            <a:xfrm flipH="false" flipV="false" rot="0">
              <a:off x="0" y="0"/>
              <a:ext cx="381000" cy="342900"/>
            </a:xfrm>
            <a:custGeom>
              <a:avLst/>
              <a:gdLst/>
              <a:ahLst/>
              <a:cxnLst/>
              <a:rect r="r" b="b" t="t" l="l"/>
              <a:pathLst>
                <a:path h="342900" w="381000">
                  <a:moveTo>
                    <a:pt x="0" y="0"/>
                  </a:moveTo>
                  <a:lnTo>
                    <a:pt x="381000" y="0"/>
                  </a:lnTo>
                  <a:lnTo>
                    <a:pt x="381000" y="342900"/>
                  </a:lnTo>
                  <a:lnTo>
                    <a:pt x="0" y="342900"/>
                  </a:lnTo>
                  <a:lnTo>
                    <a:pt x="0" y="0"/>
                  </a:lnTo>
                  <a:close/>
                </a:path>
              </a:pathLst>
            </a:custGeom>
            <a:blipFill>
              <a:blip r:embed="rId7"/>
              <a:stretch>
                <a:fillRect l="0" t="-2777" r="0" b="-2777"/>
              </a:stretch>
            </a:blipFill>
          </p:spPr>
        </p:sp>
      </p:grpSp>
      <p:grpSp>
        <p:nvGrpSpPr>
          <p:cNvPr name="Group 35" id="35"/>
          <p:cNvGrpSpPr/>
          <p:nvPr/>
        </p:nvGrpSpPr>
        <p:grpSpPr>
          <a:xfrm rot="0">
            <a:off x="848887" y="4435758"/>
            <a:ext cx="285750" cy="257175"/>
            <a:chOff x="0" y="0"/>
            <a:chExt cx="381000" cy="342900"/>
          </a:xfrm>
        </p:grpSpPr>
        <p:sp>
          <p:nvSpPr>
            <p:cNvPr name="Freeform 36" id="36" descr="image.png"/>
            <p:cNvSpPr/>
            <p:nvPr/>
          </p:nvSpPr>
          <p:spPr>
            <a:xfrm flipH="false" flipV="false" rot="0">
              <a:off x="0" y="0"/>
              <a:ext cx="381000" cy="342900"/>
            </a:xfrm>
            <a:custGeom>
              <a:avLst/>
              <a:gdLst/>
              <a:ahLst/>
              <a:cxnLst/>
              <a:rect r="r" b="b" t="t" l="l"/>
              <a:pathLst>
                <a:path h="342900" w="381000">
                  <a:moveTo>
                    <a:pt x="0" y="0"/>
                  </a:moveTo>
                  <a:lnTo>
                    <a:pt x="381000" y="0"/>
                  </a:lnTo>
                  <a:lnTo>
                    <a:pt x="381000" y="342900"/>
                  </a:lnTo>
                  <a:lnTo>
                    <a:pt x="0" y="342900"/>
                  </a:lnTo>
                  <a:lnTo>
                    <a:pt x="0" y="0"/>
                  </a:lnTo>
                  <a:close/>
                </a:path>
              </a:pathLst>
            </a:custGeom>
            <a:blipFill>
              <a:blip r:embed="rId8"/>
              <a:stretch>
                <a:fillRect l="0" t="-2777" r="0" b="-2777"/>
              </a:stretch>
            </a:blipFill>
          </p:spPr>
        </p:sp>
      </p:grpSp>
      <p:grpSp>
        <p:nvGrpSpPr>
          <p:cNvPr name="Group 37" id="37"/>
          <p:cNvGrpSpPr/>
          <p:nvPr/>
        </p:nvGrpSpPr>
        <p:grpSpPr>
          <a:xfrm rot="0">
            <a:off x="848887" y="6214551"/>
            <a:ext cx="285750" cy="257175"/>
            <a:chOff x="0" y="0"/>
            <a:chExt cx="381000" cy="342900"/>
          </a:xfrm>
        </p:grpSpPr>
        <p:sp>
          <p:nvSpPr>
            <p:cNvPr name="Freeform 38" id="38" descr="image.png"/>
            <p:cNvSpPr/>
            <p:nvPr/>
          </p:nvSpPr>
          <p:spPr>
            <a:xfrm flipH="false" flipV="false" rot="0">
              <a:off x="0" y="0"/>
              <a:ext cx="381000" cy="342900"/>
            </a:xfrm>
            <a:custGeom>
              <a:avLst/>
              <a:gdLst/>
              <a:ahLst/>
              <a:cxnLst/>
              <a:rect r="r" b="b" t="t" l="l"/>
              <a:pathLst>
                <a:path h="342900" w="381000">
                  <a:moveTo>
                    <a:pt x="0" y="0"/>
                  </a:moveTo>
                  <a:lnTo>
                    <a:pt x="381000" y="0"/>
                  </a:lnTo>
                  <a:lnTo>
                    <a:pt x="381000" y="342900"/>
                  </a:lnTo>
                  <a:lnTo>
                    <a:pt x="0" y="342900"/>
                  </a:lnTo>
                  <a:lnTo>
                    <a:pt x="0" y="0"/>
                  </a:lnTo>
                  <a:close/>
                </a:path>
              </a:pathLst>
            </a:custGeom>
            <a:blipFill>
              <a:blip r:embed="rId9"/>
              <a:stretch>
                <a:fillRect l="0" t="0" r="0" b="0"/>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98" y="1212675"/>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MÔ HÌNH KINH DOANH CANVAS</a:t>
            </a:r>
          </a:p>
        </p:txBody>
      </p:sp>
      <p:grpSp>
        <p:nvGrpSpPr>
          <p:cNvPr name="Group 8" id="8"/>
          <p:cNvGrpSpPr/>
          <p:nvPr/>
        </p:nvGrpSpPr>
        <p:grpSpPr>
          <a:xfrm rot="0">
            <a:off x="1852332" y="1711249"/>
            <a:ext cx="14314145" cy="7767919"/>
            <a:chOff x="0" y="0"/>
            <a:chExt cx="19085527" cy="10357226"/>
          </a:xfrm>
        </p:grpSpPr>
        <p:grpSp>
          <p:nvGrpSpPr>
            <p:cNvPr name="Group 9" id="9"/>
            <p:cNvGrpSpPr/>
            <p:nvPr/>
          </p:nvGrpSpPr>
          <p:grpSpPr>
            <a:xfrm rot="0">
              <a:off x="0" y="0"/>
              <a:ext cx="3598082" cy="7462410"/>
              <a:chOff x="0" y="0"/>
              <a:chExt cx="4038600" cy="8376044"/>
            </a:xfrm>
          </p:grpSpPr>
          <p:sp>
            <p:nvSpPr>
              <p:cNvPr name="Freeform 10" id="10" descr="image.png"/>
              <p:cNvSpPr/>
              <p:nvPr/>
            </p:nvSpPr>
            <p:spPr>
              <a:xfrm flipH="false" flipV="false" rot="0">
                <a:off x="0" y="0"/>
                <a:ext cx="4038600" cy="8376031"/>
              </a:xfrm>
              <a:custGeom>
                <a:avLst/>
                <a:gdLst/>
                <a:ahLst/>
                <a:cxnLst/>
                <a:rect r="r" b="b" t="t" l="l"/>
                <a:pathLst>
                  <a:path h="8376031" w="4038600">
                    <a:moveTo>
                      <a:pt x="0" y="0"/>
                    </a:moveTo>
                    <a:lnTo>
                      <a:pt x="4038600" y="0"/>
                    </a:lnTo>
                    <a:lnTo>
                      <a:pt x="4038600" y="8376031"/>
                    </a:lnTo>
                    <a:lnTo>
                      <a:pt x="0" y="8376031"/>
                    </a:lnTo>
                    <a:lnTo>
                      <a:pt x="0" y="0"/>
                    </a:lnTo>
                    <a:close/>
                  </a:path>
                </a:pathLst>
              </a:custGeom>
              <a:blipFill>
                <a:blip r:embed="rId4"/>
                <a:stretch>
                  <a:fillRect l="0" t="-149" r="0" b="-149"/>
                </a:stretch>
              </a:blipFill>
            </p:spPr>
          </p:sp>
        </p:grpSp>
        <p:grpSp>
          <p:nvGrpSpPr>
            <p:cNvPr name="Group 11" id="11"/>
            <p:cNvGrpSpPr/>
            <p:nvPr/>
          </p:nvGrpSpPr>
          <p:grpSpPr>
            <a:xfrm rot="0">
              <a:off x="3852663" y="0"/>
              <a:ext cx="3598082" cy="3603920"/>
              <a:chOff x="0" y="0"/>
              <a:chExt cx="4038600" cy="4045153"/>
            </a:xfrm>
          </p:grpSpPr>
          <p:sp>
            <p:nvSpPr>
              <p:cNvPr name="Freeform 12" id="12" descr="image.png"/>
              <p:cNvSpPr/>
              <p:nvPr/>
            </p:nvSpPr>
            <p:spPr>
              <a:xfrm flipH="false" flipV="false" rot="0">
                <a:off x="0" y="0"/>
                <a:ext cx="4038600" cy="4045204"/>
              </a:xfrm>
              <a:custGeom>
                <a:avLst/>
                <a:gdLst/>
                <a:ahLst/>
                <a:cxnLst/>
                <a:rect r="r" b="b" t="t" l="l"/>
                <a:pathLst>
                  <a:path h="4045204" w="4038600">
                    <a:moveTo>
                      <a:pt x="0" y="0"/>
                    </a:moveTo>
                    <a:lnTo>
                      <a:pt x="4038600" y="0"/>
                    </a:lnTo>
                    <a:lnTo>
                      <a:pt x="4038600" y="4045204"/>
                    </a:lnTo>
                    <a:lnTo>
                      <a:pt x="0" y="4045204"/>
                    </a:lnTo>
                    <a:lnTo>
                      <a:pt x="0" y="0"/>
                    </a:lnTo>
                    <a:close/>
                  </a:path>
                </a:pathLst>
              </a:custGeom>
              <a:blipFill>
                <a:blip r:embed="rId5"/>
                <a:stretch>
                  <a:fillRect l="0" t="-154" r="0" b="-153"/>
                </a:stretch>
              </a:blipFill>
            </p:spPr>
          </p:sp>
        </p:grpSp>
        <p:grpSp>
          <p:nvGrpSpPr>
            <p:cNvPr name="Group 13" id="13"/>
            <p:cNvGrpSpPr/>
            <p:nvPr/>
          </p:nvGrpSpPr>
          <p:grpSpPr>
            <a:xfrm rot="0">
              <a:off x="7705326" y="0"/>
              <a:ext cx="3598082" cy="7462410"/>
              <a:chOff x="0" y="0"/>
              <a:chExt cx="4038600" cy="8376044"/>
            </a:xfrm>
          </p:grpSpPr>
          <p:sp>
            <p:nvSpPr>
              <p:cNvPr name="Freeform 14" id="14" descr="image.png"/>
              <p:cNvSpPr/>
              <p:nvPr/>
            </p:nvSpPr>
            <p:spPr>
              <a:xfrm flipH="false" flipV="false" rot="0">
                <a:off x="0" y="0"/>
                <a:ext cx="4038600" cy="8376031"/>
              </a:xfrm>
              <a:custGeom>
                <a:avLst/>
                <a:gdLst/>
                <a:ahLst/>
                <a:cxnLst/>
                <a:rect r="r" b="b" t="t" l="l"/>
                <a:pathLst>
                  <a:path h="8376031" w="4038600">
                    <a:moveTo>
                      <a:pt x="0" y="0"/>
                    </a:moveTo>
                    <a:lnTo>
                      <a:pt x="4038600" y="0"/>
                    </a:lnTo>
                    <a:lnTo>
                      <a:pt x="4038600" y="8376031"/>
                    </a:lnTo>
                    <a:lnTo>
                      <a:pt x="0" y="8376031"/>
                    </a:lnTo>
                    <a:lnTo>
                      <a:pt x="0" y="0"/>
                    </a:lnTo>
                    <a:close/>
                  </a:path>
                </a:pathLst>
              </a:custGeom>
              <a:blipFill>
                <a:blip r:embed="rId6"/>
                <a:stretch>
                  <a:fillRect l="0" t="-149" r="0" b="-149"/>
                </a:stretch>
              </a:blipFill>
            </p:spPr>
          </p:sp>
        </p:grpSp>
        <p:grpSp>
          <p:nvGrpSpPr>
            <p:cNvPr name="Group 15" id="15"/>
            <p:cNvGrpSpPr/>
            <p:nvPr/>
          </p:nvGrpSpPr>
          <p:grpSpPr>
            <a:xfrm rot="0">
              <a:off x="11557989" y="0"/>
              <a:ext cx="3598082" cy="3603920"/>
              <a:chOff x="0" y="0"/>
              <a:chExt cx="4038600" cy="4045153"/>
            </a:xfrm>
          </p:grpSpPr>
          <p:sp>
            <p:nvSpPr>
              <p:cNvPr name="Freeform 16" id="16" descr="image.png"/>
              <p:cNvSpPr/>
              <p:nvPr/>
            </p:nvSpPr>
            <p:spPr>
              <a:xfrm flipH="false" flipV="false" rot="0">
                <a:off x="0" y="0"/>
                <a:ext cx="4038600" cy="4045204"/>
              </a:xfrm>
              <a:custGeom>
                <a:avLst/>
                <a:gdLst/>
                <a:ahLst/>
                <a:cxnLst/>
                <a:rect r="r" b="b" t="t" l="l"/>
                <a:pathLst>
                  <a:path h="4045204" w="4038600">
                    <a:moveTo>
                      <a:pt x="0" y="0"/>
                    </a:moveTo>
                    <a:lnTo>
                      <a:pt x="4038600" y="0"/>
                    </a:lnTo>
                    <a:lnTo>
                      <a:pt x="4038600" y="4045204"/>
                    </a:lnTo>
                    <a:lnTo>
                      <a:pt x="0" y="4045204"/>
                    </a:lnTo>
                    <a:lnTo>
                      <a:pt x="0" y="0"/>
                    </a:lnTo>
                    <a:close/>
                  </a:path>
                </a:pathLst>
              </a:custGeom>
              <a:blipFill>
                <a:blip r:embed="rId7"/>
                <a:stretch>
                  <a:fillRect l="0" t="-154" r="0" b="-153"/>
                </a:stretch>
              </a:blipFill>
            </p:spPr>
          </p:sp>
        </p:grpSp>
        <p:grpSp>
          <p:nvGrpSpPr>
            <p:cNvPr name="Group 17" id="17"/>
            <p:cNvGrpSpPr/>
            <p:nvPr/>
          </p:nvGrpSpPr>
          <p:grpSpPr>
            <a:xfrm rot="0">
              <a:off x="15410652" y="0"/>
              <a:ext cx="3598082" cy="7462410"/>
              <a:chOff x="0" y="0"/>
              <a:chExt cx="4038600" cy="8376044"/>
            </a:xfrm>
          </p:grpSpPr>
          <p:sp>
            <p:nvSpPr>
              <p:cNvPr name="Freeform 18" id="18" descr="image.png"/>
              <p:cNvSpPr/>
              <p:nvPr/>
            </p:nvSpPr>
            <p:spPr>
              <a:xfrm flipH="false" flipV="false" rot="0">
                <a:off x="0" y="0"/>
                <a:ext cx="4038600" cy="8376031"/>
              </a:xfrm>
              <a:custGeom>
                <a:avLst/>
                <a:gdLst/>
                <a:ahLst/>
                <a:cxnLst/>
                <a:rect r="r" b="b" t="t" l="l"/>
                <a:pathLst>
                  <a:path h="8376031" w="4038600">
                    <a:moveTo>
                      <a:pt x="0" y="0"/>
                    </a:moveTo>
                    <a:lnTo>
                      <a:pt x="4038600" y="0"/>
                    </a:lnTo>
                    <a:lnTo>
                      <a:pt x="4038600" y="8376031"/>
                    </a:lnTo>
                    <a:lnTo>
                      <a:pt x="0" y="8376031"/>
                    </a:lnTo>
                    <a:lnTo>
                      <a:pt x="0" y="0"/>
                    </a:lnTo>
                    <a:close/>
                  </a:path>
                </a:pathLst>
              </a:custGeom>
              <a:blipFill>
                <a:blip r:embed="rId8"/>
                <a:stretch>
                  <a:fillRect l="0" t="-149" r="0" b="-149"/>
                </a:stretch>
              </a:blipFill>
            </p:spPr>
          </p:sp>
        </p:grpSp>
        <p:grpSp>
          <p:nvGrpSpPr>
            <p:cNvPr name="Group 19" id="19"/>
            <p:cNvGrpSpPr/>
            <p:nvPr/>
          </p:nvGrpSpPr>
          <p:grpSpPr>
            <a:xfrm rot="0">
              <a:off x="3852663" y="3858501"/>
              <a:ext cx="3598082" cy="3603920"/>
              <a:chOff x="0" y="0"/>
              <a:chExt cx="4038600" cy="4045153"/>
            </a:xfrm>
          </p:grpSpPr>
          <p:sp>
            <p:nvSpPr>
              <p:cNvPr name="Freeform 20" id="20" descr="image.png"/>
              <p:cNvSpPr/>
              <p:nvPr/>
            </p:nvSpPr>
            <p:spPr>
              <a:xfrm flipH="false" flipV="false" rot="0">
                <a:off x="0" y="0"/>
                <a:ext cx="4038600" cy="4045204"/>
              </a:xfrm>
              <a:custGeom>
                <a:avLst/>
                <a:gdLst/>
                <a:ahLst/>
                <a:cxnLst/>
                <a:rect r="r" b="b" t="t" l="l"/>
                <a:pathLst>
                  <a:path h="4045204" w="4038600">
                    <a:moveTo>
                      <a:pt x="0" y="0"/>
                    </a:moveTo>
                    <a:lnTo>
                      <a:pt x="4038600" y="0"/>
                    </a:lnTo>
                    <a:lnTo>
                      <a:pt x="4038600" y="4045204"/>
                    </a:lnTo>
                    <a:lnTo>
                      <a:pt x="0" y="4045204"/>
                    </a:lnTo>
                    <a:lnTo>
                      <a:pt x="0" y="0"/>
                    </a:lnTo>
                    <a:close/>
                  </a:path>
                </a:pathLst>
              </a:custGeom>
              <a:blipFill>
                <a:blip r:embed="rId9"/>
                <a:stretch>
                  <a:fillRect l="0" t="-154" r="0" b="-153"/>
                </a:stretch>
              </a:blipFill>
            </p:spPr>
          </p:sp>
        </p:grpSp>
        <p:grpSp>
          <p:nvGrpSpPr>
            <p:cNvPr name="Group 21" id="21"/>
            <p:cNvGrpSpPr/>
            <p:nvPr/>
          </p:nvGrpSpPr>
          <p:grpSpPr>
            <a:xfrm rot="0">
              <a:off x="11557989" y="3858501"/>
              <a:ext cx="3598082" cy="3603920"/>
              <a:chOff x="0" y="0"/>
              <a:chExt cx="4038600" cy="4045153"/>
            </a:xfrm>
          </p:grpSpPr>
          <p:sp>
            <p:nvSpPr>
              <p:cNvPr name="Freeform 22" id="22" descr="image.png"/>
              <p:cNvSpPr/>
              <p:nvPr/>
            </p:nvSpPr>
            <p:spPr>
              <a:xfrm flipH="false" flipV="false" rot="0">
                <a:off x="0" y="0"/>
                <a:ext cx="4038600" cy="4045204"/>
              </a:xfrm>
              <a:custGeom>
                <a:avLst/>
                <a:gdLst/>
                <a:ahLst/>
                <a:cxnLst/>
                <a:rect r="r" b="b" t="t" l="l"/>
                <a:pathLst>
                  <a:path h="4045204" w="4038600">
                    <a:moveTo>
                      <a:pt x="0" y="0"/>
                    </a:moveTo>
                    <a:lnTo>
                      <a:pt x="4038600" y="0"/>
                    </a:lnTo>
                    <a:lnTo>
                      <a:pt x="4038600" y="4045204"/>
                    </a:lnTo>
                    <a:lnTo>
                      <a:pt x="0" y="4045204"/>
                    </a:lnTo>
                    <a:lnTo>
                      <a:pt x="0" y="0"/>
                    </a:lnTo>
                    <a:close/>
                  </a:path>
                </a:pathLst>
              </a:custGeom>
              <a:blipFill>
                <a:blip r:embed="rId10"/>
                <a:stretch>
                  <a:fillRect l="0" t="-154" r="0" b="-153"/>
                </a:stretch>
              </a:blipFill>
            </p:spPr>
          </p:sp>
        </p:grpSp>
        <p:grpSp>
          <p:nvGrpSpPr>
            <p:cNvPr name="Group 23" id="23"/>
            <p:cNvGrpSpPr/>
            <p:nvPr/>
          </p:nvGrpSpPr>
          <p:grpSpPr>
            <a:xfrm rot="0">
              <a:off x="0" y="7717003"/>
              <a:ext cx="9377076" cy="2640223"/>
              <a:chOff x="0" y="0"/>
              <a:chExt cx="10525125" cy="2963469"/>
            </a:xfrm>
          </p:grpSpPr>
          <p:sp>
            <p:nvSpPr>
              <p:cNvPr name="Freeform 24" id="24" descr="image.png"/>
              <p:cNvSpPr/>
              <p:nvPr/>
            </p:nvSpPr>
            <p:spPr>
              <a:xfrm flipH="false" flipV="false" rot="0">
                <a:off x="0" y="0"/>
                <a:ext cx="10525125" cy="2963418"/>
              </a:xfrm>
              <a:custGeom>
                <a:avLst/>
                <a:gdLst/>
                <a:ahLst/>
                <a:cxnLst/>
                <a:rect r="r" b="b" t="t" l="l"/>
                <a:pathLst>
                  <a:path h="2963418" w="10525125">
                    <a:moveTo>
                      <a:pt x="0" y="0"/>
                    </a:moveTo>
                    <a:lnTo>
                      <a:pt x="10525125" y="0"/>
                    </a:lnTo>
                    <a:lnTo>
                      <a:pt x="10525125" y="2963418"/>
                    </a:lnTo>
                    <a:lnTo>
                      <a:pt x="0" y="2963418"/>
                    </a:lnTo>
                    <a:lnTo>
                      <a:pt x="0" y="0"/>
                    </a:lnTo>
                    <a:close/>
                  </a:path>
                </a:pathLst>
              </a:custGeom>
              <a:blipFill>
                <a:blip r:embed="rId11"/>
                <a:stretch>
                  <a:fillRect l="0" t="-95" r="0" b="-96"/>
                </a:stretch>
              </a:blipFill>
            </p:spPr>
          </p:sp>
        </p:grpSp>
        <p:grpSp>
          <p:nvGrpSpPr>
            <p:cNvPr name="Group 25" id="25"/>
            <p:cNvGrpSpPr/>
            <p:nvPr/>
          </p:nvGrpSpPr>
          <p:grpSpPr>
            <a:xfrm rot="0">
              <a:off x="9631658" y="7717003"/>
              <a:ext cx="9377076" cy="2640223"/>
              <a:chOff x="0" y="0"/>
              <a:chExt cx="10525125" cy="2963469"/>
            </a:xfrm>
          </p:grpSpPr>
          <p:sp>
            <p:nvSpPr>
              <p:cNvPr name="Freeform 26" id="26" descr="image.png"/>
              <p:cNvSpPr/>
              <p:nvPr/>
            </p:nvSpPr>
            <p:spPr>
              <a:xfrm flipH="false" flipV="false" rot="0">
                <a:off x="0" y="0"/>
                <a:ext cx="10525125" cy="2963418"/>
              </a:xfrm>
              <a:custGeom>
                <a:avLst/>
                <a:gdLst/>
                <a:ahLst/>
                <a:cxnLst/>
                <a:rect r="r" b="b" t="t" l="l"/>
                <a:pathLst>
                  <a:path h="2963418" w="10525125">
                    <a:moveTo>
                      <a:pt x="0" y="0"/>
                    </a:moveTo>
                    <a:lnTo>
                      <a:pt x="10525125" y="0"/>
                    </a:lnTo>
                    <a:lnTo>
                      <a:pt x="10525125" y="2963418"/>
                    </a:lnTo>
                    <a:lnTo>
                      <a:pt x="0" y="2963418"/>
                    </a:lnTo>
                    <a:lnTo>
                      <a:pt x="0" y="0"/>
                    </a:lnTo>
                    <a:close/>
                  </a:path>
                </a:pathLst>
              </a:custGeom>
              <a:blipFill>
                <a:blip r:embed="rId12"/>
                <a:stretch>
                  <a:fillRect l="0" t="-95" r="0" b="-96"/>
                </a:stretch>
              </a:blipFill>
            </p:spPr>
          </p:sp>
        </p:grpSp>
        <p:sp>
          <p:nvSpPr>
            <p:cNvPr name="TextBox 27" id="27"/>
            <p:cNvSpPr txBox="true"/>
            <p:nvPr/>
          </p:nvSpPr>
          <p:spPr>
            <a:xfrm rot="0">
              <a:off x="356414" y="356414"/>
              <a:ext cx="3029517" cy="316812"/>
            </a:xfrm>
            <a:prstGeom prst="rect">
              <a:avLst/>
            </a:prstGeom>
          </p:spPr>
          <p:txBody>
            <a:bodyPr anchor="t" rtlCol="false" tIns="0" lIns="0" bIns="0" rIns="0">
              <a:spAutoFit/>
            </a:bodyPr>
            <a:lstStyle/>
            <a:p>
              <a:pPr algn="l">
                <a:lnSpc>
                  <a:spcPts val="1924"/>
                </a:lnSpc>
              </a:pPr>
              <a:r>
                <a:rPr lang="en-US" sz="1603" b="true">
                  <a:solidFill>
                    <a:srgbClr val="051C2C"/>
                  </a:solidFill>
                  <a:latin typeface="Montserrat Bold"/>
                  <a:ea typeface="Montserrat Bold"/>
                  <a:cs typeface="Montserrat Bold"/>
                  <a:sym typeface="Montserrat Bold"/>
                </a:rPr>
                <a:t>Đối tác chính</a:t>
              </a:r>
            </a:p>
          </p:txBody>
        </p:sp>
        <p:grpSp>
          <p:nvGrpSpPr>
            <p:cNvPr name="Group 28" id="28"/>
            <p:cNvGrpSpPr/>
            <p:nvPr/>
          </p:nvGrpSpPr>
          <p:grpSpPr>
            <a:xfrm rot="0">
              <a:off x="356414" y="763744"/>
              <a:ext cx="2885254" cy="33944"/>
              <a:chOff x="0" y="0"/>
              <a:chExt cx="3238500" cy="38100"/>
            </a:xfrm>
          </p:grpSpPr>
          <p:sp>
            <p:nvSpPr>
              <p:cNvPr name="Freeform 29" id="29"/>
              <p:cNvSpPr/>
              <p:nvPr/>
            </p:nvSpPr>
            <p:spPr>
              <a:xfrm flipH="false" flipV="false" rot="0">
                <a:off x="0" y="0"/>
                <a:ext cx="3238500" cy="38100"/>
              </a:xfrm>
              <a:custGeom>
                <a:avLst/>
                <a:gdLst/>
                <a:ahLst/>
                <a:cxnLst/>
                <a:rect r="r" b="b" t="t" l="l"/>
                <a:pathLst>
                  <a:path h="38100" w="3238500">
                    <a:moveTo>
                      <a:pt x="0" y="0"/>
                    </a:moveTo>
                    <a:lnTo>
                      <a:pt x="3238500" y="0"/>
                    </a:lnTo>
                    <a:lnTo>
                      <a:pt x="3238500" y="38100"/>
                    </a:lnTo>
                    <a:lnTo>
                      <a:pt x="0" y="38100"/>
                    </a:lnTo>
                    <a:close/>
                  </a:path>
                </a:pathLst>
              </a:custGeom>
              <a:solidFill>
                <a:srgbClr val="1F70C1"/>
              </a:solidFill>
            </p:spPr>
          </p:sp>
        </p:grpSp>
        <p:sp>
          <p:nvSpPr>
            <p:cNvPr name="TextBox 30" id="30"/>
            <p:cNvSpPr txBox="true"/>
            <p:nvPr/>
          </p:nvSpPr>
          <p:spPr>
            <a:xfrm rot="0">
              <a:off x="356414" y="972778"/>
              <a:ext cx="2885254" cy="3234704"/>
            </a:xfrm>
            <a:prstGeom prst="rect">
              <a:avLst/>
            </a:prstGeom>
          </p:spPr>
          <p:txBody>
            <a:bodyPr anchor="t" rtlCol="false" tIns="0" lIns="0" bIns="0" rIns="0">
              <a:spAutoFit/>
            </a:bodyPr>
            <a:lstStyle/>
            <a:p>
              <a:pPr algn="l">
                <a:lnSpc>
                  <a:spcPts val="1893"/>
                </a:lnSpc>
              </a:pPr>
              <a:r>
                <a:rPr lang="en-US" sz="1352" b="true">
                  <a:solidFill>
                    <a:srgbClr val="475569"/>
                  </a:solidFill>
                  <a:latin typeface="Open Sans Bold"/>
                  <a:ea typeface="Open Sans Bold"/>
                  <a:cs typeface="Open Sans Bold"/>
                  <a:sym typeface="Open Sans Bold"/>
                </a:rPr>
                <a:t>Chuỗi cung ứng:</a:t>
              </a:r>
              <a:r>
                <a:rPr lang="en-US" sz="1352">
                  <a:solidFill>
                    <a:srgbClr val="475569"/>
                  </a:solidFill>
                  <a:latin typeface="Open Sans"/>
                  <a:ea typeface="Open Sans"/>
                  <a:cs typeface="Open Sans"/>
                  <a:sym typeface="Open Sans"/>
                </a:rPr>
                <a:t> Hàng không, khách sạn, vận tải (cung cấp quỹ chỗ).</a:t>
              </a:r>
            </a:p>
            <a:p>
              <a:pPr algn="l">
                <a:lnSpc>
                  <a:spcPts val="1893"/>
                </a:lnSpc>
              </a:pPr>
            </a:p>
            <a:p>
              <a:pPr algn="l">
                <a:lnSpc>
                  <a:spcPts val="1893"/>
                </a:lnSpc>
              </a:pPr>
              <a:r>
                <a:rPr lang="en-US" sz="1352" b="true">
                  <a:solidFill>
                    <a:srgbClr val="475569"/>
                  </a:solidFill>
                  <a:latin typeface="Open Sans Bold"/>
                  <a:ea typeface="Open Sans Bold"/>
                  <a:cs typeface="Open Sans Bold"/>
                  <a:sym typeface="Open Sans Bold"/>
                </a:rPr>
                <a:t>Công nghệ:</a:t>
              </a:r>
              <a:r>
                <a:rPr lang="en-US" sz="1352">
                  <a:solidFill>
                    <a:srgbClr val="475569"/>
                  </a:solidFill>
                  <a:latin typeface="Open Sans"/>
                  <a:ea typeface="Open Sans"/>
                  <a:cs typeface="Open Sans"/>
                  <a:sym typeface="Open Sans"/>
                </a:rPr>
                <a:t> NCC điện toán đám mây, tích hợp hệ thống.</a:t>
              </a:r>
            </a:p>
            <a:p>
              <a:pPr algn="l">
                <a:lnSpc>
                  <a:spcPts val="1893"/>
                </a:lnSpc>
              </a:pPr>
            </a:p>
            <a:p>
              <a:pPr algn="l">
                <a:lnSpc>
                  <a:spcPts val="1893"/>
                </a:lnSpc>
              </a:pPr>
              <a:r>
                <a:rPr lang="en-US" sz="1352" b="true">
                  <a:solidFill>
                    <a:srgbClr val="475569"/>
                  </a:solidFill>
                  <a:latin typeface="Open Sans Bold"/>
                  <a:ea typeface="Open Sans Bold"/>
                  <a:cs typeface="Open Sans Bold"/>
                  <a:sym typeface="Open Sans Bold"/>
                </a:rPr>
                <a:t>Thanh toán:</a:t>
              </a:r>
              <a:r>
                <a:rPr lang="en-US" sz="1352">
                  <a:solidFill>
                    <a:srgbClr val="475569"/>
                  </a:solidFill>
                  <a:latin typeface="Open Sans"/>
                  <a:ea typeface="Open Sans"/>
                  <a:cs typeface="Open Sans"/>
                  <a:sym typeface="Open Sans"/>
                </a:rPr>
                <a:t> Ngân hàng, Ví điện tử.</a:t>
              </a:r>
            </a:p>
          </p:txBody>
        </p:sp>
        <p:sp>
          <p:nvSpPr>
            <p:cNvPr name="TextBox 31" id="31"/>
            <p:cNvSpPr txBox="true"/>
            <p:nvPr/>
          </p:nvSpPr>
          <p:spPr>
            <a:xfrm rot="0">
              <a:off x="4209077" y="356414"/>
              <a:ext cx="3029517" cy="316812"/>
            </a:xfrm>
            <a:prstGeom prst="rect">
              <a:avLst/>
            </a:prstGeom>
          </p:spPr>
          <p:txBody>
            <a:bodyPr anchor="t" rtlCol="false" tIns="0" lIns="0" bIns="0" rIns="0">
              <a:spAutoFit/>
            </a:bodyPr>
            <a:lstStyle/>
            <a:p>
              <a:pPr algn="l">
                <a:lnSpc>
                  <a:spcPts val="1924"/>
                </a:lnSpc>
              </a:pPr>
              <a:r>
                <a:rPr lang="en-US" sz="1603" b="true">
                  <a:solidFill>
                    <a:srgbClr val="051C2C"/>
                  </a:solidFill>
                  <a:latin typeface="Montserrat Bold"/>
                  <a:ea typeface="Montserrat Bold"/>
                  <a:cs typeface="Montserrat Bold"/>
                  <a:sym typeface="Montserrat Bold"/>
                </a:rPr>
                <a:t>Hoạt động chính</a:t>
              </a:r>
            </a:p>
          </p:txBody>
        </p:sp>
        <p:grpSp>
          <p:nvGrpSpPr>
            <p:cNvPr name="Group 32" id="32"/>
            <p:cNvGrpSpPr/>
            <p:nvPr/>
          </p:nvGrpSpPr>
          <p:grpSpPr>
            <a:xfrm rot="0">
              <a:off x="4209077" y="1086213"/>
              <a:ext cx="2885254" cy="33944"/>
              <a:chOff x="0" y="0"/>
              <a:chExt cx="3238500" cy="38100"/>
            </a:xfrm>
          </p:grpSpPr>
          <p:sp>
            <p:nvSpPr>
              <p:cNvPr name="Freeform 33" id="33"/>
              <p:cNvSpPr/>
              <p:nvPr/>
            </p:nvSpPr>
            <p:spPr>
              <a:xfrm flipH="false" flipV="false" rot="0">
                <a:off x="0" y="0"/>
                <a:ext cx="3238500" cy="38100"/>
              </a:xfrm>
              <a:custGeom>
                <a:avLst/>
                <a:gdLst/>
                <a:ahLst/>
                <a:cxnLst/>
                <a:rect r="r" b="b" t="t" l="l"/>
                <a:pathLst>
                  <a:path h="38100" w="3238500">
                    <a:moveTo>
                      <a:pt x="0" y="0"/>
                    </a:moveTo>
                    <a:lnTo>
                      <a:pt x="3238500" y="0"/>
                    </a:lnTo>
                    <a:lnTo>
                      <a:pt x="3238500" y="38100"/>
                    </a:lnTo>
                    <a:lnTo>
                      <a:pt x="0" y="38100"/>
                    </a:lnTo>
                    <a:close/>
                  </a:path>
                </a:pathLst>
              </a:custGeom>
              <a:solidFill>
                <a:srgbClr val="1F70C1"/>
              </a:solidFill>
            </p:spPr>
          </p:sp>
        </p:grpSp>
        <p:sp>
          <p:nvSpPr>
            <p:cNvPr name="TextBox 34" id="34"/>
            <p:cNvSpPr txBox="true"/>
            <p:nvPr/>
          </p:nvSpPr>
          <p:spPr>
            <a:xfrm rot="0">
              <a:off x="4209077" y="1295248"/>
              <a:ext cx="2885254" cy="1631645"/>
            </a:xfrm>
            <a:prstGeom prst="rect">
              <a:avLst/>
            </a:prstGeom>
          </p:spPr>
          <p:txBody>
            <a:bodyPr anchor="t" rtlCol="false" tIns="0" lIns="0" bIns="0" rIns="0">
              <a:spAutoFit/>
            </a:bodyPr>
            <a:lstStyle/>
            <a:p>
              <a:pPr algn="l">
                <a:lnSpc>
                  <a:spcPts val="1893"/>
                </a:lnSpc>
              </a:pPr>
              <a:r>
                <a:rPr lang="en-US" sz="1352" b="true">
                  <a:solidFill>
                    <a:srgbClr val="475569"/>
                  </a:solidFill>
                  <a:latin typeface="Open Sans Bold"/>
                  <a:ea typeface="Open Sans Bold"/>
                  <a:cs typeface="Open Sans Bold"/>
                  <a:sym typeface="Open Sans Bold"/>
                </a:rPr>
                <a:t>Tạo GTGT:</a:t>
              </a:r>
              <a:r>
                <a:rPr lang="en-US" sz="1352">
                  <a:solidFill>
                    <a:srgbClr val="475569"/>
                  </a:solidFill>
                  <a:latin typeface="Open Sans"/>
                  <a:ea typeface="Open Sans"/>
                  <a:cs typeface="Open Sans"/>
                  <a:sym typeface="Open Sans"/>
                </a:rPr>
                <a:t> Nghiên cứu, thiết kế, điều hành tour.</a:t>
              </a:r>
            </a:p>
            <a:p>
              <a:pPr algn="l">
                <a:lnSpc>
                  <a:spcPts val="1893"/>
                </a:lnSpc>
              </a:pPr>
              <a:r>
                <a:rPr lang="en-US" sz="1352" b="true">
                  <a:solidFill>
                    <a:srgbClr val="475569"/>
                  </a:solidFill>
                  <a:latin typeface="Open Sans Bold"/>
                  <a:ea typeface="Open Sans Bold"/>
                  <a:cs typeface="Open Sans Bold"/>
                  <a:sym typeface="Open Sans Bold"/>
                </a:rPr>
                <a:t>Vận hành:</a:t>
              </a:r>
              <a:r>
                <a:rPr lang="en-US" sz="1352">
                  <a:solidFill>
                    <a:srgbClr val="475569"/>
                  </a:solidFill>
                  <a:latin typeface="Open Sans"/>
                  <a:ea typeface="Open Sans"/>
                  <a:cs typeface="Open Sans"/>
                  <a:sym typeface="Open Sans"/>
                </a:rPr>
                <a:t> Quản trị nền tảng Omni-channel, đồng bộ tồn kho thời gian thực.</a:t>
              </a:r>
            </a:p>
          </p:txBody>
        </p:sp>
        <p:sp>
          <p:nvSpPr>
            <p:cNvPr name="TextBox 35" id="35"/>
            <p:cNvSpPr txBox="true"/>
            <p:nvPr/>
          </p:nvSpPr>
          <p:spPr>
            <a:xfrm rot="0">
              <a:off x="8061740" y="356414"/>
              <a:ext cx="3029517" cy="316812"/>
            </a:xfrm>
            <a:prstGeom prst="rect">
              <a:avLst/>
            </a:prstGeom>
          </p:spPr>
          <p:txBody>
            <a:bodyPr anchor="t" rtlCol="false" tIns="0" lIns="0" bIns="0" rIns="0">
              <a:spAutoFit/>
            </a:bodyPr>
            <a:lstStyle/>
            <a:p>
              <a:pPr algn="l">
                <a:lnSpc>
                  <a:spcPts val="1924"/>
                </a:lnSpc>
              </a:pPr>
              <a:r>
                <a:rPr lang="en-US" sz="1603" b="true">
                  <a:solidFill>
                    <a:srgbClr val="051C2C"/>
                  </a:solidFill>
                  <a:latin typeface="Montserrat Bold"/>
                  <a:ea typeface="Montserrat Bold"/>
                  <a:cs typeface="Montserrat Bold"/>
                  <a:sym typeface="Montserrat Bold"/>
                </a:rPr>
                <a:t>Giải pháp giá trị</a:t>
              </a:r>
            </a:p>
          </p:txBody>
        </p:sp>
        <p:grpSp>
          <p:nvGrpSpPr>
            <p:cNvPr name="Group 36" id="36"/>
            <p:cNvGrpSpPr/>
            <p:nvPr/>
          </p:nvGrpSpPr>
          <p:grpSpPr>
            <a:xfrm rot="0">
              <a:off x="8061740" y="1086213"/>
              <a:ext cx="2885254" cy="33944"/>
              <a:chOff x="0" y="0"/>
              <a:chExt cx="3238500" cy="38100"/>
            </a:xfrm>
          </p:grpSpPr>
          <p:sp>
            <p:nvSpPr>
              <p:cNvPr name="Freeform 37" id="37"/>
              <p:cNvSpPr/>
              <p:nvPr/>
            </p:nvSpPr>
            <p:spPr>
              <a:xfrm flipH="false" flipV="false" rot="0">
                <a:off x="0" y="0"/>
                <a:ext cx="3238500" cy="38100"/>
              </a:xfrm>
              <a:custGeom>
                <a:avLst/>
                <a:gdLst/>
                <a:ahLst/>
                <a:cxnLst/>
                <a:rect r="r" b="b" t="t" l="l"/>
                <a:pathLst>
                  <a:path h="38100" w="3238500">
                    <a:moveTo>
                      <a:pt x="0" y="0"/>
                    </a:moveTo>
                    <a:lnTo>
                      <a:pt x="3238500" y="0"/>
                    </a:lnTo>
                    <a:lnTo>
                      <a:pt x="3238500" y="38100"/>
                    </a:lnTo>
                    <a:lnTo>
                      <a:pt x="0" y="38100"/>
                    </a:lnTo>
                    <a:close/>
                  </a:path>
                </a:pathLst>
              </a:custGeom>
              <a:solidFill>
                <a:srgbClr val="1F70C1"/>
              </a:solidFill>
            </p:spPr>
          </p:sp>
        </p:grpSp>
        <p:sp>
          <p:nvSpPr>
            <p:cNvPr name="TextBox 38" id="38"/>
            <p:cNvSpPr txBox="true"/>
            <p:nvPr/>
          </p:nvSpPr>
          <p:spPr>
            <a:xfrm rot="0">
              <a:off x="8061740" y="1295248"/>
              <a:ext cx="2885254" cy="3875931"/>
            </a:xfrm>
            <a:prstGeom prst="rect">
              <a:avLst/>
            </a:prstGeom>
          </p:spPr>
          <p:txBody>
            <a:bodyPr anchor="t" rtlCol="false" tIns="0" lIns="0" bIns="0" rIns="0">
              <a:spAutoFit/>
            </a:bodyPr>
            <a:lstStyle/>
            <a:p>
              <a:pPr algn="l">
                <a:lnSpc>
                  <a:spcPts val="1893"/>
                </a:lnSpc>
              </a:pPr>
              <a:r>
                <a:rPr lang="en-US" sz="1352" b="true">
                  <a:solidFill>
                    <a:srgbClr val="475569"/>
                  </a:solidFill>
                  <a:latin typeface="Open Sans Bold"/>
                  <a:ea typeface="Open Sans Bold"/>
                  <a:cs typeface="Open Sans Bold"/>
                  <a:sym typeface="Open Sans Bold"/>
                </a:rPr>
                <a:t>Omni-channel:</a:t>
              </a:r>
              <a:r>
                <a:rPr lang="en-US" sz="1352">
                  <a:solidFill>
                    <a:srgbClr val="475569"/>
                  </a:solidFill>
                  <a:latin typeface="Open Sans"/>
                  <a:ea typeface="Open Sans"/>
                  <a:cs typeface="Open Sans"/>
                  <a:sym typeface="Open Sans"/>
                </a:rPr>
                <a:t> Trải nghiệm đặt chỗ đa kênh thống nhất, tồn kho đồng bộ thời gian thực.</a:t>
              </a:r>
            </a:p>
            <a:p>
              <a:pPr algn="l">
                <a:lnSpc>
                  <a:spcPts val="1893"/>
                </a:lnSpc>
              </a:pPr>
            </a:p>
            <a:p>
              <a:pPr algn="l">
                <a:lnSpc>
                  <a:spcPts val="1893"/>
                </a:lnSpc>
              </a:pPr>
              <a:r>
                <a:rPr lang="en-US" sz="1352" b="true">
                  <a:solidFill>
                    <a:srgbClr val="475569"/>
                  </a:solidFill>
                  <a:latin typeface="Open Sans Bold"/>
                  <a:ea typeface="Open Sans Bold"/>
                  <a:cs typeface="Open Sans Bold"/>
                  <a:sym typeface="Open Sans Bold"/>
                </a:rPr>
                <a:t>Cá nhân hóa:</a:t>
              </a:r>
              <a:r>
                <a:rPr lang="en-US" sz="1352">
                  <a:solidFill>
                    <a:srgbClr val="475569"/>
                  </a:solidFill>
                  <a:latin typeface="Open Sans"/>
                  <a:ea typeface="Open Sans"/>
                  <a:cs typeface="Open Sans"/>
                  <a:sym typeface="Open Sans"/>
                </a:rPr>
                <a:t> Tư vấn &amp; thiết kế tour dựa trên dữ liệu CRM.</a:t>
              </a:r>
            </a:p>
            <a:p>
              <a:pPr algn="l">
                <a:lnSpc>
                  <a:spcPts val="1893"/>
                </a:lnSpc>
              </a:pPr>
            </a:p>
            <a:p>
              <a:pPr algn="l">
                <a:lnSpc>
                  <a:spcPts val="1893"/>
                </a:lnSpc>
              </a:pPr>
              <a:r>
                <a:rPr lang="en-US" sz="1352">
                  <a:solidFill>
                    <a:srgbClr val="475569"/>
                  </a:solidFill>
                  <a:latin typeface="Open Sans"/>
                  <a:ea typeface="Open Sans"/>
                  <a:cs typeface="Open Sans"/>
                  <a:sym typeface="Open Sans"/>
                </a:rPr>
                <a:t> Xóa bỏ rào cản, luân chuyển tự do giữa Online &amp; Offline.</a:t>
              </a:r>
            </a:p>
          </p:txBody>
        </p:sp>
        <p:sp>
          <p:nvSpPr>
            <p:cNvPr name="TextBox 39" id="39"/>
            <p:cNvSpPr txBox="true"/>
            <p:nvPr/>
          </p:nvSpPr>
          <p:spPr>
            <a:xfrm rot="0">
              <a:off x="11914403" y="356414"/>
              <a:ext cx="3029517" cy="316812"/>
            </a:xfrm>
            <a:prstGeom prst="rect">
              <a:avLst/>
            </a:prstGeom>
          </p:spPr>
          <p:txBody>
            <a:bodyPr anchor="t" rtlCol="false" tIns="0" lIns="0" bIns="0" rIns="0">
              <a:spAutoFit/>
            </a:bodyPr>
            <a:lstStyle/>
            <a:p>
              <a:pPr algn="l">
                <a:lnSpc>
                  <a:spcPts val="1924"/>
                </a:lnSpc>
              </a:pPr>
              <a:r>
                <a:rPr lang="en-US" sz="1603" b="true">
                  <a:solidFill>
                    <a:srgbClr val="051C2C"/>
                  </a:solidFill>
                  <a:latin typeface="Montserrat Bold"/>
                  <a:ea typeface="Montserrat Bold"/>
                  <a:cs typeface="Montserrat Bold"/>
                  <a:sym typeface="Montserrat Bold"/>
                </a:rPr>
                <a:t>Quan hệ KH</a:t>
              </a:r>
            </a:p>
          </p:txBody>
        </p:sp>
        <p:grpSp>
          <p:nvGrpSpPr>
            <p:cNvPr name="Group 40" id="40"/>
            <p:cNvGrpSpPr/>
            <p:nvPr/>
          </p:nvGrpSpPr>
          <p:grpSpPr>
            <a:xfrm rot="0">
              <a:off x="11914403" y="763744"/>
              <a:ext cx="2885254" cy="33944"/>
              <a:chOff x="0" y="0"/>
              <a:chExt cx="3238500" cy="38100"/>
            </a:xfrm>
          </p:grpSpPr>
          <p:sp>
            <p:nvSpPr>
              <p:cNvPr name="Freeform 41" id="41"/>
              <p:cNvSpPr/>
              <p:nvPr/>
            </p:nvSpPr>
            <p:spPr>
              <a:xfrm flipH="false" flipV="false" rot="0">
                <a:off x="0" y="0"/>
                <a:ext cx="3238500" cy="38100"/>
              </a:xfrm>
              <a:custGeom>
                <a:avLst/>
                <a:gdLst/>
                <a:ahLst/>
                <a:cxnLst/>
                <a:rect r="r" b="b" t="t" l="l"/>
                <a:pathLst>
                  <a:path h="38100" w="3238500">
                    <a:moveTo>
                      <a:pt x="0" y="0"/>
                    </a:moveTo>
                    <a:lnTo>
                      <a:pt x="3238500" y="0"/>
                    </a:lnTo>
                    <a:lnTo>
                      <a:pt x="3238500" y="38100"/>
                    </a:lnTo>
                    <a:lnTo>
                      <a:pt x="0" y="38100"/>
                    </a:lnTo>
                    <a:close/>
                  </a:path>
                </a:pathLst>
              </a:custGeom>
              <a:solidFill>
                <a:srgbClr val="1F70C1"/>
              </a:solidFill>
            </p:spPr>
          </p:sp>
        </p:grpSp>
        <p:sp>
          <p:nvSpPr>
            <p:cNvPr name="TextBox 42" id="42"/>
            <p:cNvSpPr txBox="true"/>
            <p:nvPr/>
          </p:nvSpPr>
          <p:spPr>
            <a:xfrm rot="0">
              <a:off x="11914403" y="972778"/>
              <a:ext cx="2885254" cy="1631645"/>
            </a:xfrm>
            <a:prstGeom prst="rect">
              <a:avLst/>
            </a:prstGeom>
          </p:spPr>
          <p:txBody>
            <a:bodyPr anchor="t" rtlCol="false" tIns="0" lIns="0" bIns="0" rIns="0">
              <a:spAutoFit/>
            </a:bodyPr>
            <a:lstStyle/>
            <a:p>
              <a:pPr algn="l">
                <a:lnSpc>
                  <a:spcPts val="1893"/>
                </a:lnSpc>
              </a:pPr>
              <a:r>
                <a:rPr lang="en-US" sz="1352" b="true">
                  <a:solidFill>
                    <a:srgbClr val="475569"/>
                  </a:solidFill>
                  <a:latin typeface="Open Sans Bold"/>
                  <a:ea typeface="Open Sans Bold"/>
                  <a:cs typeface="Open Sans Bold"/>
                  <a:sym typeface="Open Sans Bold"/>
                </a:rPr>
                <a:t>Online:</a:t>
              </a:r>
              <a:r>
                <a:rPr lang="en-US" sz="1352">
                  <a:solidFill>
                    <a:srgbClr val="475569"/>
                  </a:solidFill>
                  <a:latin typeface="Open Sans"/>
                  <a:ea typeface="Open Sans"/>
                  <a:cs typeface="Open Sans"/>
                  <a:sym typeface="Open Sans"/>
                </a:rPr>
                <a:t> Tự phục vụ, gợi ý tự động, tích điểm.</a:t>
              </a:r>
            </a:p>
            <a:p>
              <a:pPr algn="l">
                <a:lnSpc>
                  <a:spcPts val="1893"/>
                </a:lnSpc>
              </a:pPr>
              <a:r>
                <a:rPr lang="en-US" sz="1352" b="true">
                  <a:solidFill>
                    <a:srgbClr val="475569"/>
                  </a:solidFill>
                  <a:latin typeface="Open Sans Bold"/>
                  <a:ea typeface="Open Sans Bold"/>
                  <a:cs typeface="Open Sans Bold"/>
                  <a:sym typeface="Open Sans Bold"/>
                </a:rPr>
                <a:t>Offline:</a:t>
              </a:r>
              <a:r>
                <a:rPr lang="en-US" sz="1352">
                  <a:solidFill>
                    <a:srgbClr val="475569"/>
                  </a:solidFill>
                  <a:latin typeface="Open Sans"/>
                  <a:ea typeface="Open Sans"/>
                  <a:cs typeface="Open Sans"/>
                  <a:sym typeface="Open Sans"/>
                </a:rPr>
                <a:t> Tư vấn cá nhân hóa (Góc nhìn 360 độ từ CRM).</a:t>
              </a:r>
            </a:p>
          </p:txBody>
        </p:sp>
        <p:sp>
          <p:nvSpPr>
            <p:cNvPr name="TextBox 43" id="43"/>
            <p:cNvSpPr txBox="true"/>
            <p:nvPr/>
          </p:nvSpPr>
          <p:spPr>
            <a:xfrm rot="0">
              <a:off x="15767066" y="356414"/>
              <a:ext cx="3029517" cy="316812"/>
            </a:xfrm>
            <a:prstGeom prst="rect">
              <a:avLst/>
            </a:prstGeom>
          </p:spPr>
          <p:txBody>
            <a:bodyPr anchor="t" rtlCol="false" tIns="0" lIns="0" bIns="0" rIns="0">
              <a:spAutoFit/>
            </a:bodyPr>
            <a:lstStyle/>
            <a:p>
              <a:pPr algn="l">
                <a:lnSpc>
                  <a:spcPts val="1924"/>
                </a:lnSpc>
              </a:pPr>
              <a:r>
                <a:rPr lang="en-US" sz="1603" b="true">
                  <a:solidFill>
                    <a:srgbClr val="051C2C"/>
                  </a:solidFill>
                  <a:latin typeface="Montserrat Bold"/>
                  <a:ea typeface="Montserrat Bold"/>
                  <a:cs typeface="Montserrat Bold"/>
                  <a:sym typeface="Montserrat Bold"/>
                </a:rPr>
                <a:t>Phân khúc KH</a:t>
              </a:r>
            </a:p>
          </p:txBody>
        </p:sp>
        <p:grpSp>
          <p:nvGrpSpPr>
            <p:cNvPr name="Group 44" id="44"/>
            <p:cNvGrpSpPr/>
            <p:nvPr/>
          </p:nvGrpSpPr>
          <p:grpSpPr>
            <a:xfrm rot="0">
              <a:off x="15767066" y="763744"/>
              <a:ext cx="2885254" cy="33944"/>
              <a:chOff x="0" y="0"/>
              <a:chExt cx="3238500" cy="38100"/>
            </a:xfrm>
          </p:grpSpPr>
          <p:sp>
            <p:nvSpPr>
              <p:cNvPr name="Freeform 45" id="45"/>
              <p:cNvSpPr/>
              <p:nvPr/>
            </p:nvSpPr>
            <p:spPr>
              <a:xfrm flipH="false" flipV="false" rot="0">
                <a:off x="0" y="0"/>
                <a:ext cx="3238500" cy="38100"/>
              </a:xfrm>
              <a:custGeom>
                <a:avLst/>
                <a:gdLst/>
                <a:ahLst/>
                <a:cxnLst/>
                <a:rect r="r" b="b" t="t" l="l"/>
                <a:pathLst>
                  <a:path h="38100" w="3238500">
                    <a:moveTo>
                      <a:pt x="0" y="0"/>
                    </a:moveTo>
                    <a:lnTo>
                      <a:pt x="3238500" y="0"/>
                    </a:lnTo>
                    <a:lnTo>
                      <a:pt x="3238500" y="38100"/>
                    </a:lnTo>
                    <a:lnTo>
                      <a:pt x="0" y="38100"/>
                    </a:lnTo>
                    <a:close/>
                  </a:path>
                </a:pathLst>
              </a:custGeom>
              <a:solidFill>
                <a:srgbClr val="1F70C1"/>
              </a:solidFill>
            </p:spPr>
          </p:sp>
        </p:grpSp>
        <p:sp>
          <p:nvSpPr>
            <p:cNvPr name="TextBox 46" id="46"/>
            <p:cNvSpPr txBox="true"/>
            <p:nvPr/>
          </p:nvSpPr>
          <p:spPr>
            <a:xfrm rot="0">
              <a:off x="15767066" y="972778"/>
              <a:ext cx="2885254" cy="3555318"/>
            </a:xfrm>
            <a:prstGeom prst="rect">
              <a:avLst/>
            </a:prstGeom>
          </p:spPr>
          <p:txBody>
            <a:bodyPr anchor="t" rtlCol="false" tIns="0" lIns="0" bIns="0" rIns="0">
              <a:spAutoFit/>
            </a:bodyPr>
            <a:lstStyle/>
            <a:p>
              <a:pPr algn="l">
                <a:lnSpc>
                  <a:spcPts val="1893"/>
                </a:lnSpc>
              </a:pPr>
              <a:r>
                <a:rPr lang="en-US" sz="1352" b="true">
                  <a:solidFill>
                    <a:srgbClr val="475569"/>
                  </a:solidFill>
                  <a:latin typeface="Open Sans Bold"/>
                  <a:ea typeface="Open Sans Bold"/>
                  <a:cs typeface="Open Sans Bold"/>
                  <a:sym typeface="Open Sans Bold"/>
                </a:rPr>
                <a:t>Cá nhân KTS:</a:t>
              </a:r>
              <a:r>
                <a:rPr lang="en-US" sz="1352">
                  <a:solidFill>
                    <a:srgbClr val="475569"/>
                  </a:solidFill>
                  <a:latin typeface="Open Sans"/>
                  <a:ea typeface="Open Sans"/>
                  <a:cs typeface="Open Sans"/>
                  <a:sym typeface="Open Sans"/>
                </a:rPr>
                <a:t> Trẻ tuổi, thích tự phục vụ qua App/Web.</a:t>
              </a:r>
            </a:p>
            <a:p>
              <a:pPr algn="l">
                <a:lnSpc>
                  <a:spcPts val="1893"/>
                </a:lnSpc>
              </a:pPr>
            </a:p>
            <a:p>
              <a:pPr algn="l">
                <a:lnSpc>
                  <a:spcPts val="1893"/>
                </a:lnSpc>
              </a:pPr>
              <a:r>
                <a:rPr lang="en-US" sz="1352" b="true">
                  <a:solidFill>
                    <a:srgbClr val="475569"/>
                  </a:solidFill>
                  <a:latin typeface="Open Sans Bold"/>
                  <a:ea typeface="Open Sans Bold"/>
                  <a:cs typeface="Open Sans Bold"/>
                  <a:sym typeface="Open Sans Bold"/>
                </a:rPr>
                <a:t>Cá nhân TT:</a:t>
              </a:r>
              <a:r>
                <a:rPr lang="en-US" sz="1352">
                  <a:solidFill>
                    <a:srgbClr val="475569"/>
                  </a:solidFill>
                  <a:latin typeface="Open Sans"/>
                  <a:ea typeface="Open Sans"/>
                  <a:cs typeface="Open Sans"/>
                  <a:sym typeface="Open Sans"/>
                </a:rPr>
                <a:t> Gia đình, người lớn tuổi, cần tư vấn trực tiếp (Tour dài ngày).</a:t>
              </a:r>
            </a:p>
            <a:p>
              <a:pPr algn="l">
                <a:lnSpc>
                  <a:spcPts val="1893"/>
                </a:lnSpc>
              </a:pPr>
            </a:p>
            <a:p>
              <a:pPr algn="l">
                <a:lnSpc>
                  <a:spcPts val="1893"/>
                </a:lnSpc>
              </a:pPr>
              <a:r>
                <a:rPr lang="en-US" sz="1352" b="true">
                  <a:solidFill>
                    <a:srgbClr val="475569"/>
                  </a:solidFill>
                  <a:latin typeface="Open Sans Bold"/>
                  <a:ea typeface="Open Sans Bold"/>
                  <a:cs typeface="Open Sans Bold"/>
                  <a:sym typeface="Open Sans Bold"/>
                </a:rPr>
                <a:t>Doanh nghiệp:</a:t>
              </a:r>
              <a:r>
                <a:rPr lang="en-US" sz="1352">
                  <a:solidFill>
                    <a:srgbClr val="475569"/>
                  </a:solidFill>
                  <a:latin typeface="Open Sans"/>
                  <a:ea typeface="Open Sans"/>
                  <a:cs typeface="Open Sans"/>
                  <a:sym typeface="Open Sans"/>
                </a:rPr>
                <a:t> Tổ chức, hội nghị, sự kiện ngân sách lớn.</a:t>
              </a:r>
            </a:p>
          </p:txBody>
        </p:sp>
        <p:sp>
          <p:nvSpPr>
            <p:cNvPr name="TextBox 47" id="47"/>
            <p:cNvSpPr txBox="true"/>
            <p:nvPr/>
          </p:nvSpPr>
          <p:spPr>
            <a:xfrm rot="0">
              <a:off x="4209077" y="4214915"/>
              <a:ext cx="3029517" cy="316812"/>
            </a:xfrm>
            <a:prstGeom prst="rect">
              <a:avLst/>
            </a:prstGeom>
          </p:spPr>
          <p:txBody>
            <a:bodyPr anchor="t" rtlCol="false" tIns="0" lIns="0" bIns="0" rIns="0">
              <a:spAutoFit/>
            </a:bodyPr>
            <a:lstStyle/>
            <a:p>
              <a:pPr algn="l">
                <a:lnSpc>
                  <a:spcPts val="1924"/>
                </a:lnSpc>
              </a:pPr>
              <a:r>
                <a:rPr lang="en-US" sz="1603" b="true">
                  <a:solidFill>
                    <a:srgbClr val="051C2C"/>
                  </a:solidFill>
                  <a:latin typeface="Montserrat Bold"/>
                  <a:ea typeface="Montserrat Bold"/>
                  <a:cs typeface="Montserrat Bold"/>
                  <a:sym typeface="Montserrat Bold"/>
                </a:rPr>
                <a:t>Nguồn lực chính</a:t>
              </a:r>
            </a:p>
          </p:txBody>
        </p:sp>
        <p:grpSp>
          <p:nvGrpSpPr>
            <p:cNvPr name="Group 48" id="48"/>
            <p:cNvGrpSpPr/>
            <p:nvPr/>
          </p:nvGrpSpPr>
          <p:grpSpPr>
            <a:xfrm rot="0">
              <a:off x="4209077" y="4944715"/>
              <a:ext cx="2885254" cy="33944"/>
              <a:chOff x="0" y="0"/>
              <a:chExt cx="3238500" cy="38100"/>
            </a:xfrm>
          </p:grpSpPr>
          <p:sp>
            <p:nvSpPr>
              <p:cNvPr name="Freeform 49" id="49"/>
              <p:cNvSpPr/>
              <p:nvPr/>
            </p:nvSpPr>
            <p:spPr>
              <a:xfrm flipH="false" flipV="false" rot="0">
                <a:off x="0" y="0"/>
                <a:ext cx="3238500" cy="38100"/>
              </a:xfrm>
              <a:custGeom>
                <a:avLst/>
                <a:gdLst/>
                <a:ahLst/>
                <a:cxnLst/>
                <a:rect r="r" b="b" t="t" l="l"/>
                <a:pathLst>
                  <a:path h="38100" w="3238500">
                    <a:moveTo>
                      <a:pt x="0" y="0"/>
                    </a:moveTo>
                    <a:lnTo>
                      <a:pt x="3238500" y="0"/>
                    </a:lnTo>
                    <a:lnTo>
                      <a:pt x="3238500" y="38100"/>
                    </a:lnTo>
                    <a:lnTo>
                      <a:pt x="0" y="38100"/>
                    </a:lnTo>
                    <a:close/>
                  </a:path>
                </a:pathLst>
              </a:custGeom>
              <a:solidFill>
                <a:srgbClr val="1F70C1"/>
              </a:solidFill>
            </p:spPr>
          </p:sp>
        </p:grpSp>
        <p:sp>
          <p:nvSpPr>
            <p:cNvPr name="TextBox 50" id="50"/>
            <p:cNvSpPr txBox="true"/>
            <p:nvPr/>
          </p:nvSpPr>
          <p:spPr>
            <a:xfrm rot="0">
              <a:off x="4209077" y="5153749"/>
              <a:ext cx="2885254" cy="1952259"/>
            </a:xfrm>
            <a:prstGeom prst="rect">
              <a:avLst/>
            </a:prstGeom>
          </p:spPr>
          <p:txBody>
            <a:bodyPr anchor="t" rtlCol="false" tIns="0" lIns="0" bIns="0" rIns="0">
              <a:spAutoFit/>
            </a:bodyPr>
            <a:lstStyle/>
            <a:p>
              <a:pPr algn="l">
                <a:lnSpc>
                  <a:spcPts val="1893"/>
                </a:lnSpc>
              </a:pPr>
              <a:r>
                <a:rPr lang="en-US" sz="1352" b="true">
                  <a:solidFill>
                    <a:srgbClr val="475569"/>
                  </a:solidFill>
                  <a:latin typeface="Open Sans Bold"/>
                  <a:ea typeface="Open Sans Bold"/>
                  <a:cs typeface="Open Sans Bold"/>
                  <a:sym typeface="Open Sans Bold"/>
                </a:rPr>
                <a:t>Trí tuệ:</a:t>
              </a:r>
              <a:r>
                <a:rPr lang="en-US" sz="1352">
                  <a:solidFill>
                    <a:srgbClr val="475569"/>
                  </a:solidFill>
                  <a:latin typeface="Open Sans"/>
                  <a:ea typeface="Open Sans"/>
                  <a:cs typeface="Open Sans"/>
                  <a:sym typeface="Open Sans"/>
                </a:rPr>
                <a:t> Thương hiệu, CSDL khách hàng.</a:t>
              </a:r>
            </a:p>
            <a:p>
              <a:pPr algn="l">
                <a:lnSpc>
                  <a:spcPts val="1893"/>
                </a:lnSpc>
              </a:pPr>
              <a:r>
                <a:rPr lang="en-US" sz="1352" b="true">
                  <a:solidFill>
                    <a:srgbClr val="475569"/>
                  </a:solidFill>
                  <a:latin typeface="Open Sans Bold"/>
                  <a:ea typeface="Open Sans Bold"/>
                  <a:cs typeface="Open Sans Bold"/>
                  <a:sym typeface="Open Sans Bold"/>
                </a:rPr>
                <a:t>Vật chất:</a:t>
              </a:r>
              <a:r>
                <a:rPr lang="en-US" sz="1352">
                  <a:solidFill>
                    <a:srgbClr val="475569"/>
                  </a:solidFill>
                  <a:latin typeface="Open Sans"/>
                  <a:ea typeface="Open Sans"/>
                  <a:cs typeface="Open Sans"/>
                  <a:sym typeface="Open Sans"/>
                </a:rPr>
                <a:t> Hạ tầng Cloud, mạng lưới POS.</a:t>
              </a:r>
            </a:p>
            <a:p>
              <a:pPr algn="l">
                <a:lnSpc>
                  <a:spcPts val="1893"/>
                </a:lnSpc>
              </a:pPr>
              <a:r>
                <a:rPr lang="en-US" sz="1352" b="true">
                  <a:solidFill>
                    <a:srgbClr val="475569"/>
                  </a:solidFill>
                  <a:latin typeface="Open Sans Bold"/>
                  <a:ea typeface="Open Sans Bold"/>
                  <a:cs typeface="Open Sans Bold"/>
                  <a:sym typeface="Open Sans Bold"/>
                </a:rPr>
                <a:t>Nhân sự:</a:t>
              </a:r>
              <a:r>
                <a:rPr lang="en-US" sz="1352">
                  <a:solidFill>
                    <a:srgbClr val="475569"/>
                  </a:solidFill>
                  <a:latin typeface="Open Sans"/>
                  <a:ea typeface="Open Sans"/>
                  <a:cs typeface="Open Sans"/>
                  <a:sym typeface="Open Sans"/>
                </a:rPr>
                <a:t> Chuyên gia thiết kế, tư vấn viên.</a:t>
              </a:r>
            </a:p>
          </p:txBody>
        </p:sp>
        <p:sp>
          <p:nvSpPr>
            <p:cNvPr name="TextBox 51" id="51"/>
            <p:cNvSpPr txBox="true"/>
            <p:nvPr/>
          </p:nvSpPr>
          <p:spPr>
            <a:xfrm rot="0">
              <a:off x="11914403" y="4214915"/>
              <a:ext cx="3029517" cy="316812"/>
            </a:xfrm>
            <a:prstGeom prst="rect">
              <a:avLst/>
            </a:prstGeom>
          </p:spPr>
          <p:txBody>
            <a:bodyPr anchor="t" rtlCol="false" tIns="0" lIns="0" bIns="0" rIns="0">
              <a:spAutoFit/>
            </a:bodyPr>
            <a:lstStyle/>
            <a:p>
              <a:pPr algn="l">
                <a:lnSpc>
                  <a:spcPts val="1924"/>
                </a:lnSpc>
              </a:pPr>
              <a:r>
                <a:rPr lang="en-US" sz="1603" b="true">
                  <a:solidFill>
                    <a:srgbClr val="051C2C"/>
                  </a:solidFill>
                  <a:latin typeface="Montserrat Bold"/>
                  <a:ea typeface="Montserrat Bold"/>
                  <a:cs typeface="Montserrat Bold"/>
                  <a:sym typeface="Montserrat Bold"/>
                </a:rPr>
                <a:t>Kênh phân phối</a:t>
              </a:r>
            </a:p>
          </p:txBody>
        </p:sp>
        <p:grpSp>
          <p:nvGrpSpPr>
            <p:cNvPr name="Group 52" id="52"/>
            <p:cNvGrpSpPr/>
            <p:nvPr/>
          </p:nvGrpSpPr>
          <p:grpSpPr>
            <a:xfrm rot="0">
              <a:off x="11914403" y="4944715"/>
              <a:ext cx="2885254" cy="33944"/>
              <a:chOff x="0" y="0"/>
              <a:chExt cx="3238500" cy="38100"/>
            </a:xfrm>
          </p:grpSpPr>
          <p:sp>
            <p:nvSpPr>
              <p:cNvPr name="Freeform 53" id="53"/>
              <p:cNvSpPr/>
              <p:nvPr/>
            </p:nvSpPr>
            <p:spPr>
              <a:xfrm flipH="false" flipV="false" rot="0">
                <a:off x="0" y="0"/>
                <a:ext cx="3238500" cy="38100"/>
              </a:xfrm>
              <a:custGeom>
                <a:avLst/>
                <a:gdLst/>
                <a:ahLst/>
                <a:cxnLst/>
                <a:rect r="r" b="b" t="t" l="l"/>
                <a:pathLst>
                  <a:path h="38100" w="3238500">
                    <a:moveTo>
                      <a:pt x="0" y="0"/>
                    </a:moveTo>
                    <a:lnTo>
                      <a:pt x="3238500" y="0"/>
                    </a:lnTo>
                    <a:lnTo>
                      <a:pt x="3238500" y="38100"/>
                    </a:lnTo>
                    <a:lnTo>
                      <a:pt x="0" y="38100"/>
                    </a:lnTo>
                    <a:close/>
                  </a:path>
                </a:pathLst>
              </a:custGeom>
              <a:solidFill>
                <a:srgbClr val="1F70C1"/>
              </a:solidFill>
            </p:spPr>
          </p:sp>
        </p:grpSp>
        <p:sp>
          <p:nvSpPr>
            <p:cNvPr name="TextBox 54" id="54"/>
            <p:cNvSpPr txBox="true"/>
            <p:nvPr/>
          </p:nvSpPr>
          <p:spPr>
            <a:xfrm rot="0">
              <a:off x="11914403" y="5153749"/>
              <a:ext cx="2885254" cy="1952259"/>
            </a:xfrm>
            <a:prstGeom prst="rect">
              <a:avLst/>
            </a:prstGeom>
          </p:spPr>
          <p:txBody>
            <a:bodyPr anchor="t" rtlCol="false" tIns="0" lIns="0" bIns="0" rIns="0">
              <a:spAutoFit/>
            </a:bodyPr>
            <a:lstStyle/>
            <a:p>
              <a:pPr algn="l">
                <a:lnSpc>
                  <a:spcPts val="1893"/>
                </a:lnSpc>
              </a:pPr>
              <a:r>
                <a:rPr lang="en-US" sz="1352" b="true">
                  <a:solidFill>
                    <a:srgbClr val="475569"/>
                  </a:solidFill>
                  <a:latin typeface="Open Sans Bold"/>
                  <a:ea typeface="Open Sans Bold"/>
                  <a:cs typeface="Open Sans Bold"/>
                  <a:sym typeface="Open Sans Bold"/>
                </a:rPr>
                <a:t>Kỹ thuật số:</a:t>
              </a:r>
              <a:r>
                <a:rPr lang="en-US" sz="1352">
                  <a:solidFill>
                    <a:srgbClr val="475569"/>
                  </a:solidFill>
                  <a:latin typeface="Open Sans"/>
                  <a:ea typeface="Open Sans"/>
                  <a:cs typeface="Open Sans"/>
                  <a:sym typeface="Open Sans"/>
                </a:rPr>
                <a:t> Website, Mobile App (24/7).</a:t>
              </a:r>
            </a:p>
            <a:p>
              <a:pPr algn="l">
                <a:lnSpc>
                  <a:spcPts val="1893"/>
                </a:lnSpc>
              </a:pPr>
              <a:r>
                <a:rPr lang="en-US" sz="1352" b="true">
                  <a:solidFill>
                    <a:srgbClr val="475569"/>
                  </a:solidFill>
                  <a:latin typeface="Open Sans Bold"/>
                  <a:ea typeface="Open Sans Bold"/>
                  <a:cs typeface="Open Sans Bold"/>
                  <a:sym typeface="Open Sans Bold"/>
                </a:rPr>
                <a:t>Vật lý:</a:t>
              </a:r>
              <a:r>
                <a:rPr lang="en-US" sz="1352">
                  <a:solidFill>
                    <a:srgbClr val="475569"/>
                  </a:solidFill>
                  <a:latin typeface="Open Sans"/>
                  <a:ea typeface="Open Sans"/>
                  <a:cs typeface="Open Sans"/>
                  <a:sym typeface="Open Sans"/>
                </a:rPr>
                <a:t> POS toàn quốc (tư vấn chuyên sâu).</a:t>
              </a:r>
            </a:p>
            <a:p>
              <a:pPr algn="l">
                <a:lnSpc>
                  <a:spcPts val="1893"/>
                </a:lnSpc>
              </a:pPr>
              <a:r>
                <a:rPr lang="en-US" sz="1352" b="true">
                  <a:solidFill>
                    <a:srgbClr val="475569"/>
                  </a:solidFill>
                  <a:latin typeface="Open Sans Bold"/>
                  <a:ea typeface="Open Sans Bold"/>
                  <a:cs typeface="Open Sans Bold"/>
                  <a:sym typeface="Open Sans Bold"/>
                </a:rPr>
                <a:t>Đối tác:</a:t>
              </a:r>
              <a:r>
                <a:rPr lang="en-US" sz="1352">
                  <a:solidFill>
                    <a:srgbClr val="475569"/>
                  </a:solidFill>
                  <a:latin typeface="Open Sans"/>
                  <a:ea typeface="Open Sans"/>
                  <a:cs typeface="Open Sans"/>
                  <a:sym typeface="Open Sans"/>
                </a:rPr>
                <a:t> Đại lý du lịch ủy quyền.</a:t>
              </a:r>
            </a:p>
          </p:txBody>
        </p:sp>
        <p:sp>
          <p:nvSpPr>
            <p:cNvPr name="TextBox 55" id="55"/>
            <p:cNvSpPr txBox="true"/>
            <p:nvPr/>
          </p:nvSpPr>
          <p:spPr>
            <a:xfrm rot="0">
              <a:off x="356414" y="8073417"/>
              <a:ext cx="9097456" cy="316812"/>
            </a:xfrm>
            <a:prstGeom prst="rect">
              <a:avLst/>
            </a:prstGeom>
          </p:spPr>
          <p:txBody>
            <a:bodyPr anchor="t" rtlCol="false" tIns="0" lIns="0" bIns="0" rIns="0">
              <a:spAutoFit/>
            </a:bodyPr>
            <a:lstStyle/>
            <a:p>
              <a:pPr algn="l">
                <a:lnSpc>
                  <a:spcPts val="1924"/>
                </a:lnSpc>
              </a:pPr>
              <a:r>
                <a:rPr lang="en-US" sz="1603" b="true">
                  <a:solidFill>
                    <a:srgbClr val="051C2C"/>
                  </a:solidFill>
                  <a:latin typeface="Montserrat Bold"/>
                  <a:ea typeface="Montserrat Bold"/>
                  <a:cs typeface="Montserrat Bold"/>
                  <a:sym typeface="Montserrat Bold"/>
                </a:rPr>
                <a:t>Cấu trúc chi phí</a:t>
              </a:r>
            </a:p>
          </p:txBody>
        </p:sp>
        <p:grpSp>
          <p:nvGrpSpPr>
            <p:cNvPr name="Group 56" id="56"/>
            <p:cNvGrpSpPr/>
            <p:nvPr/>
          </p:nvGrpSpPr>
          <p:grpSpPr>
            <a:xfrm rot="0">
              <a:off x="356414" y="8480747"/>
              <a:ext cx="8664249" cy="33944"/>
              <a:chOff x="0" y="0"/>
              <a:chExt cx="9725025" cy="38100"/>
            </a:xfrm>
          </p:grpSpPr>
          <p:sp>
            <p:nvSpPr>
              <p:cNvPr name="Freeform 57" id="57"/>
              <p:cNvSpPr/>
              <p:nvPr/>
            </p:nvSpPr>
            <p:spPr>
              <a:xfrm flipH="false" flipV="false" rot="0">
                <a:off x="0" y="0"/>
                <a:ext cx="9725025" cy="38100"/>
              </a:xfrm>
              <a:custGeom>
                <a:avLst/>
                <a:gdLst/>
                <a:ahLst/>
                <a:cxnLst/>
                <a:rect r="r" b="b" t="t" l="l"/>
                <a:pathLst>
                  <a:path h="38100" w="9725025">
                    <a:moveTo>
                      <a:pt x="0" y="0"/>
                    </a:moveTo>
                    <a:lnTo>
                      <a:pt x="9725025" y="0"/>
                    </a:lnTo>
                    <a:lnTo>
                      <a:pt x="9725025" y="38100"/>
                    </a:lnTo>
                    <a:lnTo>
                      <a:pt x="0" y="38100"/>
                    </a:lnTo>
                    <a:close/>
                  </a:path>
                </a:pathLst>
              </a:custGeom>
              <a:solidFill>
                <a:srgbClr val="1F70C1"/>
              </a:solidFill>
            </p:spPr>
          </p:sp>
        </p:grpSp>
        <p:sp>
          <p:nvSpPr>
            <p:cNvPr name="TextBox 58" id="58"/>
            <p:cNvSpPr txBox="true"/>
            <p:nvPr/>
          </p:nvSpPr>
          <p:spPr>
            <a:xfrm rot="0">
              <a:off x="356414" y="8689781"/>
              <a:ext cx="8664249" cy="1311031"/>
            </a:xfrm>
            <a:prstGeom prst="rect">
              <a:avLst/>
            </a:prstGeom>
          </p:spPr>
          <p:txBody>
            <a:bodyPr anchor="t" rtlCol="false" tIns="0" lIns="0" bIns="0" rIns="0">
              <a:spAutoFit/>
            </a:bodyPr>
            <a:lstStyle/>
            <a:p>
              <a:pPr algn="l">
                <a:lnSpc>
                  <a:spcPts val="1893"/>
                </a:lnSpc>
              </a:pPr>
              <a:r>
                <a:rPr lang="en-US" sz="1352" b="true">
                  <a:solidFill>
                    <a:srgbClr val="475569"/>
                  </a:solidFill>
                  <a:latin typeface="Open Sans Bold"/>
                  <a:ea typeface="Open Sans Bold"/>
                  <a:cs typeface="Open Sans Bold"/>
                  <a:sym typeface="Open Sans Bold"/>
                </a:rPr>
                <a:t>Chi phí biến đổi:</a:t>
              </a:r>
              <a:r>
                <a:rPr lang="en-US" sz="1352">
                  <a:solidFill>
                    <a:srgbClr val="475569"/>
                  </a:solidFill>
                  <a:latin typeface="Open Sans"/>
                  <a:ea typeface="Open Sans"/>
                  <a:cs typeface="Open Sans"/>
                  <a:sym typeface="Open Sans"/>
                </a:rPr>
                <a:t> Thanh toán NCC dịch vụ (vé máy bay, lưu trú, nhà hàng) dựa trên lượng khách.</a:t>
              </a:r>
            </a:p>
            <a:p>
              <a:pPr algn="l">
                <a:lnSpc>
                  <a:spcPts val="1893"/>
                </a:lnSpc>
              </a:pPr>
              <a:r>
                <a:rPr lang="en-US" sz="1352" b="true">
                  <a:solidFill>
                    <a:srgbClr val="475569"/>
                  </a:solidFill>
                  <a:latin typeface="Open Sans Bold"/>
                  <a:ea typeface="Open Sans Bold"/>
                  <a:cs typeface="Open Sans Bold"/>
                  <a:sym typeface="Open Sans Bold"/>
                </a:rPr>
                <a:t>Chi phí cố định:</a:t>
              </a:r>
              <a:r>
                <a:rPr lang="en-US" sz="1352">
                  <a:solidFill>
                    <a:srgbClr val="475569"/>
                  </a:solidFill>
                  <a:latin typeface="Open Sans"/>
                  <a:ea typeface="Open Sans"/>
                  <a:cs typeface="Open Sans"/>
                  <a:sym typeface="Open Sans"/>
                </a:rPr>
                <a:t> Đầu tư &amp; bảo trì hệ thống Omni-channel, quỹ lương POS, ngân sách Marketing.</a:t>
              </a:r>
            </a:p>
          </p:txBody>
        </p:sp>
        <p:sp>
          <p:nvSpPr>
            <p:cNvPr name="TextBox 59" id="59"/>
            <p:cNvSpPr txBox="true"/>
            <p:nvPr/>
          </p:nvSpPr>
          <p:spPr>
            <a:xfrm rot="0">
              <a:off x="9988072" y="8073417"/>
              <a:ext cx="9097456" cy="316812"/>
            </a:xfrm>
            <a:prstGeom prst="rect">
              <a:avLst/>
            </a:prstGeom>
          </p:spPr>
          <p:txBody>
            <a:bodyPr anchor="t" rtlCol="false" tIns="0" lIns="0" bIns="0" rIns="0">
              <a:spAutoFit/>
            </a:bodyPr>
            <a:lstStyle/>
            <a:p>
              <a:pPr algn="l">
                <a:lnSpc>
                  <a:spcPts val="1924"/>
                </a:lnSpc>
              </a:pPr>
              <a:r>
                <a:rPr lang="en-US" sz="1603" b="true">
                  <a:solidFill>
                    <a:srgbClr val="051C2C"/>
                  </a:solidFill>
                  <a:latin typeface="Montserrat Bold"/>
                  <a:ea typeface="Montserrat Bold"/>
                  <a:cs typeface="Montserrat Bold"/>
                  <a:sym typeface="Montserrat Bold"/>
                </a:rPr>
                <a:t> Dòng doanh thu</a:t>
              </a:r>
            </a:p>
          </p:txBody>
        </p:sp>
        <p:grpSp>
          <p:nvGrpSpPr>
            <p:cNvPr name="Group 60" id="60"/>
            <p:cNvGrpSpPr/>
            <p:nvPr/>
          </p:nvGrpSpPr>
          <p:grpSpPr>
            <a:xfrm rot="0">
              <a:off x="9988072" y="8480747"/>
              <a:ext cx="8664249" cy="33944"/>
              <a:chOff x="0" y="0"/>
              <a:chExt cx="9725025" cy="38100"/>
            </a:xfrm>
          </p:grpSpPr>
          <p:sp>
            <p:nvSpPr>
              <p:cNvPr name="Freeform 61" id="61"/>
              <p:cNvSpPr/>
              <p:nvPr/>
            </p:nvSpPr>
            <p:spPr>
              <a:xfrm flipH="false" flipV="false" rot="0">
                <a:off x="0" y="0"/>
                <a:ext cx="9725025" cy="38100"/>
              </a:xfrm>
              <a:custGeom>
                <a:avLst/>
                <a:gdLst/>
                <a:ahLst/>
                <a:cxnLst/>
                <a:rect r="r" b="b" t="t" l="l"/>
                <a:pathLst>
                  <a:path h="38100" w="9725025">
                    <a:moveTo>
                      <a:pt x="0" y="0"/>
                    </a:moveTo>
                    <a:lnTo>
                      <a:pt x="9725025" y="0"/>
                    </a:lnTo>
                    <a:lnTo>
                      <a:pt x="9725025" y="38100"/>
                    </a:lnTo>
                    <a:lnTo>
                      <a:pt x="0" y="38100"/>
                    </a:lnTo>
                    <a:close/>
                  </a:path>
                </a:pathLst>
              </a:custGeom>
              <a:solidFill>
                <a:srgbClr val="1F70C1"/>
              </a:solidFill>
            </p:spPr>
          </p:sp>
        </p:grpSp>
        <p:sp>
          <p:nvSpPr>
            <p:cNvPr name="TextBox 62" id="62"/>
            <p:cNvSpPr txBox="true"/>
            <p:nvPr/>
          </p:nvSpPr>
          <p:spPr>
            <a:xfrm rot="0">
              <a:off x="9988072" y="8689781"/>
              <a:ext cx="8664249" cy="990417"/>
            </a:xfrm>
            <a:prstGeom prst="rect">
              <a:avLst/>
            </a:prstGeom>
          </p:spPr>
          <p:txBody>
            <a:bodyPr anchor="t" rtlCol="false" tIns="0" lIns="0" bIns="0" rIns="0">
              <a:spAutoFit/>
            </a:bodyPr>
            <a:lstStyle/>
            <a:p>
              <a:pPr algn="l">
                <a:lnSpc>
                  <a:spcPts val="1893"/>
                </a:lnSpc>
              </a:pPr>
              <a:r>
                <a:rPr lang="en-US" sz="1352" b="true">
                  <a:solidFill>
                    <a:srgbClr val="475569"/>
                  </a:solidFill>
                  <a:latin typeface="Open Sans Bold"/>
                  <a:ea typeface="Open Sans Bold"/>
                  <a:cs typeface="Open Sans Bold"/>
                  <a:sym typeface="Open Sans Bold"/>
                </a:rPr>
                <a:t>Cốt lõi:</a:t>
              </a:r>
              <a:r>
                <a:rPr lang="en-US" sz="1352">
                  <a:solidFill>
                    <a:srgbClr val="475569"/>
                  </a:solidFill>
                  <a:latin typeface="Open Sans"/>
                  <a:ea typeface="Open Sans"/>
                  <a:cs typeface="Open Sans"/>
                  <a:sym typeface="Open Sans"/>
                </a:rPr>
                <a:t> Bán tour trọn gói.</a:t>
              </a:r>
            </a:p>
            <a:p>
              <a:pPr algn="l">
                <a:lnSpc>
                  <a:spcPts val="1893"/>
                </a:lnSpc>
              </a:pPr>
              <a:r>
                <a:rPr lang="en-US" sz="1352" b="true">
                  <a:solidFill>
                    <a:srgbClr val="475569"/>
                  </a:solidFill>
                  <a:latin typeface="Open Sans Bold"/>
                  <a:ea typeface="Open Sans Bold"/>
                  <a:cs typeface="Open Sans Bold"/>
                  <a:sym typeface="Open Sans Bold"/>
                </a:rPr>
                <a:t>Trung gian:</a:t>
              </a:r>
              <a:r>
                <a:rPr lang="en-US" sz="1352">
                  <a:solidFill>
                    <a:srgbClr val="475569"/>
                  </a:solidFill>
                  <a:latin typeface="Open Sans"/>
                  <a:ea typeface="Open Sans"/>
                  <a:cs typeface="Open Sans"/>
                  <a:sym typeface="Open Sans"/>
                </a:rPr>
                <a:t> Hoa hồng vé máy bay, phòng khách sạn lẻ.</a:t>
              </a:r>
            </a:p>
            <a:p>
              <a:pPr algn="l">
                <a:lnSpc>
                  <a:spcPts val="1893"/>
                </a:lnSpc>
              </a:pPr>
              <a:r>
                <a:rPr lang="en-US" sz="1352" b="true">
                  <a:solidFill>
                    <a:srgbClr val="475569"/>
                  </a:solidFill>
                  <a:latin typeface="Open Sans Bold"/>
                  <a:ea typeface="Open Sans Bold"/>
                  <a:cs typeface="Open Sans Bold"/>
                  <a:sym typeface="Open Sans Bold"/>
                </a:rPr>
                <a:t>Gia tăng (Cross-sell):</a:t>
              </a:r>
              <a:r>
                <a:rPr lang="en-US" sz="1352">
                  <a:solidFill>
                    <a:srgbClr val="475569"/>
                  </a:solidFill>
                  <a:latin typeface="Open Sans"/>
                  <a:ea typeface="Open Sans"/>
                  <a:cs typeface="Open Sans"/>
                  <a:sym typeface="Open Sans"/>
                </a:rPr>
                <a:t> Bảo hiểm, Visa, nâng cấp dịch vụ.</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98" y="1212675"/>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sz="2182" b="true">
                <a:solidFill>
                  <a:srgbClr val="FAA61A"/>
                </a:solidFill>
                <a:latin typeface="Montserrat Bold"/>
                <a:ea typeface="Montserrat Bold"/>
                <a:cs typeface="Montserrat Bold"/>
                <a:sym typeface="Montserrat Bold"/>
              </a:rPr>
              <a:t>NỘI DUNG THUYẾT TRÌNH</a:t>
            </a:r>
          </a:p>
        </p:txBody>
      </p:sp>
      <p:sp>
        <p:nvSpPr>
          <p:cNvPr name="TextBox 8" id="8"/>
          <p:cNvSpPr txBox="true"/>
          <p:nvPr/>
        </p:nvSpPr>
        <p:spPr>
          <a:xfrm rot="0">
            <a:off x="3878364" y="5107149"/>
            <a:ext cx="11045332" cy="488059"/>
          </a:xfrm>
          <a:prstGeom prst="rect">
            <a:avLst/>
          </a:prstGeom>
        </p:spPr>
        <p:txBody>
          <a:bodyPr anchor="t" rtlCol="false" tIns="0" lIns="0" bIns="0" rIns="0">
            <a:spAutoFit/>
          </a:bodyPr>
          <a:lstStyle/>
          <a:p>
            <a:pPr algn="ctr" marL="0" indent="0" lvl="0">
              <a:lnSpc>
                <a:spcPts val="4041"/>
              </a:lnSpc>
              <a:spcBef>
                <a:spcPct val="0"/>
              </a:spcBef>
            </a:pPr>
            <a:r>
              <a:rPr lang="en-US" b="true" sz="2882">
                <a:solidFill>
                  <a:srgbClr val="FBFBFC"/>
                </a:solidFill>
                <a:latin typeface="Montserrat Bold"/>
                <a:ea typeface="Montserrat Bold"/>
                <a:cs typeface="Montserrat Bold"/>
                <a:sym typeface="Montserrat Bold"/>
              </a:rPr>
              <a:t>Xây</a:t>
            </a:r>
            <a:r>
              <a:rPr lang="en-US" b="true" sz="2882" strike="noStrike" u="none">
                <a:solidFill>
                  <a:srgbClr val="FBFBFC"/>
                </a:solidFill>
                <a:latin typeface="Montserrat Bold"/>
                <a:ea typeface="Montserrat Bold"/>
                <a:cs typeface="Montserrat Bold"/>
                <a:sym typeface="Montserrat Bold"/>
              </a:rPr>
              <a:t> Dựng Kiến Trúc Dữ Liệu - Da</a:t>
            </a:r>
            <a:r>
              <a:rPr lang="en-US" b="true" sz="2882" strike="noStrike" u="none">
                <a:solidFill>
                  <a:srgbClr val="FBFBFC"/>
                </a:solidFill>
                <a:latin typeface="Montserrat Bold"/>
                <a:ea typeface="Montserrat Bold"/>
                <a:cs typeface="Montserrat Bold"/>
                <a:sym typeface="Montserrat Bold"/>
              </a:rPr>
              <a:t>ta</a:t>
            </a:r>
            <a:r>
              <a:rPr lang="en-US" b="true" sz="2882" strike="noStrike" u="none">
                <a:solidFill>
                  <a:srgbClr val="FBFBFC"/>
                </a:solidFill>
                <a:latin typeface="Montserrat Bold"/>
                <a:ea typeface="Montserrat Bold"/>
                <a:cs typeface="Montserrat Bold"/>
                <a:sym typeface="Montserrat Bold"/>
              </a:rPr>
              <a:t> Architecture</a:t>
            </a:r>
          </a:p>
        </p:txBody>
      </p:sp>
      <p:grpSp>
        <p:nvGrpSpPr>
          <p:cNvPr name="Group 9" id="9"/>
          <p:cNvGrpSpPr/>
          <p:nvPr/>
        </p:nvGrpSpPr>
        <p:grpSpPr>
          <a:xfrm rot="0">
            <a:off x="9079561" y="4030492"/>
            <a:ext cx="642938" cy="642938"/>
            <a:chOff x="0" y="0"/>
            <a:chExt cx="857250" cy="857250"/>
          </a:xfrm>
        </p:grpSpPr>
        <p:sp>
          <p:nvSpPr>
            <p:cNvPr name="Freeform 10" id="10"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4"/>
              <a:stretch>
                <a:fillRect l="0" t="0" r="0" b="0"/>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12675"/>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KIẾN TRÚC DỮ LIỆU: AS-IS VÀ TO-BE</a:t>
            </a:r>
          </a:p>
        </p:txBody>
      </p:sp>
      <p:grpSp>
        <p:nvGrpSpPr>
          <p:cNvPr name="Group 8" id="8"/>
          <p:cNvGrpSpPr/>
          <p:nvPr/>
        </p:nvGrpSpPr>
        <p:grpSpPr>
          <a:xfrm rot="0">
            <a:off x="1143000" y="2200275"/>
            <a:ext cx="16002000" cy="7229475"/>
            <a:chOff x="0" y="0"/>
            <a:chExt cx="21336000" cy="9639300"/>
          </a:xfrm>
        </p:grpSpPr>
        <p:grpSp>
          <p:nvGrpSpPr>
            <p:cNvPr name="Group 9" id="9"/>
            <p:cNvGrpSpPr/>
            <p:nvPr/>
          </p:nvGrpSpPr>
          <p:grpSpPr>
            <a:xfrm rot="0">
              <a:off x="0" y="0"/>
              <a:ext cx="10287000" cy="9639300"/>
              <a:chOff x="0" y="0"/>
              <a:chExt cx="10287000" cy="9639300"/>
            </a:xfrm>
          </p:grpSpPr>
          <p:sp>
            <p:nvSpPr>
              <p:cNvPr name="Freeform 10" id="10" descr="image.png"/>
              <p:cNvSpPr/>
              <p:nvPr/>
            </p:nvSpPr>
            <p:spPr>
              <a:xfrm flipH="false" flipV="false" rot="0">
                <a:off x="0" y="0"/>
                <a:ext cx="10287000" cy="9639300"/>
              </a:xfrm>
              <a:custGeom>
                <a:avLst/>
                <a:gdLst/>
                <a:ahLst/>
                <a:cxnLst/>
                <a:rect r="r" b="b" t="t" l="l"/>
                <a:pathLst>
                  <a:path h="9639300" w="10287000">
                    <a:moveTo>
                      <a:pt x="0" y="0"/>
                    </a:moveTo>
                    <a:lnTo>
                      <a:pt x="10287000" y="0"/>
                    </a:lnTo>
                    <a:lnTo>
                      <a:pt x="10287000" y="9639300"/>
                    </a:lnTo>
                    <a:lnTo>
                      <a:pt x="0" y="9639300"/>
                    </a:lnTo>
                    <a:lnTo>
                      <a:pt x="0" y="0"/>
                    </a:lnTo>
                    <a:close/>
                  </a:path>
                </a:pathLst>
              </a:custGeom>
              <a:blipFill>
                <a:blip r:embed="rId4"/>
                <a:stretch>
                  <a:fillRect l="0" t="0" r="0" b="0"/>
                </a:stretch>
              </a:blipFill>
            </p:spPr>
          </p:sp>
        </p:grpSp>
        <p:grpSp>
          <p:nvGrpSpPr>
            <p:cNvPr name="Group 11" id="11"/>
            <p:cNvGrpSpPr/>
            <p:nvPr/>
          </p:nvGrpSpPr>
          <p:grpSpPr>
            <a:xfrm rot="0">
              <a:off x="11049000" y="0"/>
              <a:ext cx="10287000" cy="9639300"/>
              <a:chOff x="0" y="0"/>
              <a:chExt cx="10287000" cy="9639300"/>
            </a:xfrm>
          </p:grpSpPr>
          <p:sp>
            <p:nvSpPr>
              <p:cNvPr name="Freeform 12" id="12" descr="image.png"/>
              <p:cNvSpPr/>
              <p:nvPr/>
            </p:nvSpPr>
            <p:spPr>
              <a:xfrm flipH="false" flipV="false" rot="0">
                <a:off x="0" y="0"/>
                <a:ext cx="10287000" cy="9639300"/>
              </a:xfrm>
              <a:custGeom>
                <a:avLst/>
                <a:gdLst/>
                <a:ahLst/>
                <a:cxnLst/>
                <a:rect r="r" b="b" t="t" l="l"/>
                <a:pathLst>
                  <a:path h="9639300" w="10287000">
                    <a:moveTo>
                      <a:pt x="0" y="0"/>
                    </a:moveTo>
                    <a:lnTo>
                      <a:pt x="10287000" y="0"/>
                    </a:lnTo>
                    <a:lnTo>
                      <a:pt x="10287000" y="9639300"/>
                    </a:lnTo>
                    <a:lnTo>
                      <a:pt x="0" y="9639300"/>
                    </a:lnTo>
                    <a:lnTo>
                      <a:pt x="0" y="0"/>
                    </a:lnTo>
                    <a:close/>
                  </a:path>
                </a:pathLst>
              </a:custGeom>
              <a:blipFill>
                <a:blip r:embed="rId5"/>
                <a:stretch>
                  <a:fillRect l="0" t="0" r="0" b="0"/>
                </a:stretch>
              </a:blipFill>
            </p:spPr>
          </p:sp>
        </p:grpSp>
        <p:grpSp>
          <p:nvGrpSpPr>
            <p:cNvPr name="Group 13" id="13"/>
            <p:cNvGrpSpPr/>
            <p:nvPr/>
          </p:nvGrpSpPr>
          <p:grpSpPr>
            <a:xfrm rot="0">
              <a:off x="1371600" y="762000"/>
              <a:ext cx="8641080" cy="552450"/>
              <a:chOff x="0" y="0"/>
              <a:chExt cx="8641080" cy="552450"/>
            </a:xfrm>
          </p:grpSpPr>
          <p:sp>
            <p:nvSpPr>
              <p:cNvPr name="Freeform 14" id="14"/>
              <p:cNvSpPr/>
              <p:nvPr/>
            </p:nvSpPr>
            <p:spPr>
              <a:xfrm flipH="false" flipV="false" rot="0">
                <a:off x="0" y="0"/>
                <a:ext cx="8641080" cy="552450"/>
              </a:xfrm>
              <a:custGeom>
                <a:avLst/>
                <a:gdLst/>
                <a:ahLst/>
                <a:cxnLst/>
                <a:rect r="r" b="b" t="t" l="l"/>
                <a:pathLst>
                  <a:path h="552450" w="8641080">
                    <a:moveTo>
                      <a:pt x="0" y="0"/>
                    </a:moveTo>
                    <a:lnTo>
                      <a:pt x="8641080" y="0"/>
                    </a:lnTo>
                    <a:lnTo>
                      <a:pt x="8641080" y="552450"/>
                    </a:lnTo>
                    <a:lnTo>
                      <a:pt x="0" y="552450"/>
                    </a:lnTo>
                    <a:close/>
                  </a:path>
                </a:pathLst>
              </a:custGeom>
              <a:blipFill>
                <a:blip r:embed="rId6">
                  <a:alphaModFix amt="0"/>
                </a:blip>
                <a:stretch>
                  <a:fillRect l="0" t="-254772" r="0" b="-254772"/>
                </a:stretch>
              </a:blipFill>
            </p:spPr>
          </p:sp>
          <p:sp>
            <p:nvSpPr>
              <p:cNvPr name="TextBox 15" id="15"/>
              <p:cNvSpPr txBox="true"/>
              <p:nvPr/>
            </p:nvSpPr>
            <p:spPr>
              <a:xfrm>
                <a:off x="0" y="0"/>
                <a:ext cx="8641080" cy="552450"/>
              </a:xfrm>
              <a:prstGeom prst="rect">
                <a:avLst/>
              </a:prstGeom>
            </p:spPr>
            <p:txBody>
              <a:bodyPr anchor="ctr" rtlCol="false" tIns="0" lIns="0" bIns="0" rIns="0"/>
              <a:lstStyle/>
              <a:p>
                <a:pPr algn="l">
                  <a:lnSpc>
                    <a:spcPts val="3240"/>
                  </a:lnSpc>
                </a:pPr>
                <a:r>
                  <a:rPr lang="en-US" sz="2700" b="true">
                    <a:solidFill>
                      <a:srgbClr val="475569"/>
                    </a:solidFill>
                    <a:latin typeface="Montserrat Bold"/>
                    <a:ea typeface="Montserrat Bold"/>
                    <a:cs typeface="Montserrat Bold"/>
                    <a:sym typeface="Montserrat Bold"/>
                  </a:rPr>
                  <a:t>Trạng Thái Hiện Tại (As-is)</a:t>
                </a:r>
              </a:p>
            </p:txBody>
          </p:sp>
        </p:grpSp>
        <p:grpSp>
          <p:nvGrpSpPr>
            <p:cNvPr name="Group 16" id="16"/>
            <p:cNvGrpSpPr/>
            <p:nvPr/>
          </p:nvGrpSpPr>
          <p:grpSpPr>
            <a:xfrm rot="0">
              <a:off x="12534900" y="762000"/>
              <a:ext cx="8521065" cy="552450"/>
              <a:chOff x="0" y="0"/>
              <a:chExt cx="8521065" cy="552450"/>
            </a:xfrm>
          </p:grpSpPr>
          <p:sp>
            <p:nvSpPr>
              <p:cNvPr name="Freeform 17" id="17"/>
              <p:cNvSpPr/>
              <p:nvPr/>
            </p:nvSpPr>
            <p:spPr>
              <a:xfrm flipH="false" flipV="false" rot="0">
                <a:off x="0" y="0"/>
                <a:ext cx="8521064" cy="552450"/>
              </a:xfrm>
              <a:custGeom>
                <a:avLst/>
                <a:gdLst/>
                <a:ahLst/>
                <a:cxnLst/>
                <a:rect r="r" b="b" t="t" l="l"/>
                <a:pathLst>
                  <a:path h="552450" w="8521064">
                    <a:moveTo>
                      <a:pt x="0" y="0"/>
                    </a:moveTo>
                    <a:lnTo>
                      <a:pt x="8521064" y="0"/>
                    </a:lnTo>
                    <a:lnTo>
                      <a:pt x="8521064" y="552450"/>
                    </a:lnTo>
                    <a:lnTo>
                      <a:pt x="0" y="552450"/>
                    </a:lnTo>
                    <a:close/>
                  </a:path>
                </a:pathLst>
              </a:custGeom>
              <a:blipFill>
                <a:blip r:embed="rId6">
                  <a:alphaModFix amt="0"/>
                </a:blip>
                <a:stretch>
                  <a:fillRect l="0" t="-250539" r="0" b="-250539"/>
                </a:stretch>
              </a:blipFill>
            </p:spPr>
          </p:sp>
          <p:sp>
            <p:nvSpPr>
              <p:cNvPr name="TextBox 18" id="18"/>
              <p:cNvSpPr txBox="true"/>
              <p:nvPr/>
            </p:nvSpPr>
            <p:spPr>
              <a:xfrm>
                <a:off x="0" y="0"/>
                <a:ext cx="8521065" cy="552450"/>
              </a:xfrm>
              <a:prstGeom prst="rect">
                <a:avLst/>
              </a:prstGeom>
            </p:spPr>
            <p:txBody>
              <a:bodyPr anchor="ctr" rtlCol="false" tIns="0" lIns="0" bIns="0" rIns="0"/>
              <a:lstStyle/>
              <a:p>
                <a:pPr algn="l">
                  <a:lnSpc>
                    <a:spcPts val="3240"/>
                  </a:lnSpc>
                </a:pPr>
                <a:r>
                  <a:rPr lang="en-US" sz="2700" b="true">
                    <a:solidFill>
                      <a:srgbClr val="1F70C1"/>
                    </a:solidFill>
                    <a:latin typeface="Montserrat Bold"/>
                    <a:ea typeface="Montserrat Bold"/>
                    <a:cs typeface="Montserrat Bold"/>
                    <a:sym typeface="Montserrat Bold"/>
                  </a:rPr>
                  <a:t>Kiến Trúc Mục Tiêu (To-be)</a:t>
                </a:r>
              </a:p>
            </p:txBody>
          </p:sp>
        </p:grpSp>
        <p:grpSp>
          <p:nvGrpSpPr>
            <p:cNvPr name="Group 19" id="19"/>
            <p:cNvGrpSpPr/>
            <p:nvPr/>
          </p:nvGrpSpPr>
          <p:grpSpPr>
            <a:xfrm rot="0">
              <a:off x="685800" y="809625"/>
              <a:ext cx="457200" cy="457200"/>
              <a:chOff x="0" y="0"/>
              <a:chExt cx="457200" cy="457200"/>
            </a:xfrm>
          </p:grpSpPr>
          <p:sp>
            <p:nvSpPr>
              <p:cNvPr name="Freeform 20" id="20" descr="image.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stretch>
                  <a:fillRect l="0" t="-2083" r="0" b="-2083"/>
                </a:stretch>
              </a:blipFill>
            </p:spPr>
          </p:sp>
        </p:grpSp>
        <p:sp>
          <p:nvSpPr>
            <p:cNvPr name="TextBox 21" id="21"/>
            <p:cNvSpPr txBox="true"/>
            <p:nvPr/>
          </p:nvSpPr>
          <p:spPr>
            <a:xfrm rot="0">
              <a:off x="1162050" y="1638300"/>
              <a:ext cx="8439150" cy="103226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Dữ liệu phân mảnh:</a:t>
              </a:r>
              <a:r>
                <a:rPr lang="en-US" sz="1800">
                  <a:solidFill>
                    <a:srgbClr val="334155"/>
                  </a:solidFill>
                  <a:latin typeface="Open Sans"/>
                  <a:ea typeface="Open Sans"/>
                  <a:cs typeface="Open Sans"/>
                  <a:sym typeface="Open Sans"/>
                </a:rPr>
                <a:t> 3 nhóm hệ thống độc lập (POS offline, Web/App online, Hệ thống Tồn kho đối tác).</a:t>
              </a:r>
            </a:p>
          </p:txBody>
        </p:sp>
        <p:sp>
          <p:nvSpPr>
            <p:cNvPr name="TextBox 22" id="22"/>
            <p:cNvSpPr txBox="true"/>
            <p:nvPr/>
          </p:nvSpPr>
          <p:spPr>
            <a:xfrm rot="0">
              <a:off x="1162050" y="2956319"/>
              <a:ext cx="8439150" cy="900430"/>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Đồng bộ độ trễ cao:</a:t>
              </a:r>
              <a:r>
                <a:rPr lang="en-US" sz="1800">
                  <a:solidFill>
                    <a:srgbClr val="334155"/>
                  </a:solidFill>
                  <a:latin typeface="Open Sans"/>
                  <a:ea typeface="Open Sans"/>
                  <a:cs typeface="Open Sans"/>
                  <a:sym typeface="Open Sans"/>
                </a:rPr>
                <a:t> Xử lý theo lô (batch) vào cuối ngày làm việc.</a:t>
              </a:r>
            </a:p>
          </p:txBody>
        </p:sp>
        <p:sp>
          <p:nvSpPr>
            <p:cNvPr name="TextBox 23" id="23"/>
            <p:cNvSpPr txBox="true"/>
            <p:nvPr/>
          </p:nvSpPr>
          <p:spPr>
            <a:xfrm rot="0">
              <a:off x="1162050" y="4274337"/>
              <a:ext cx="8439150" cy="103226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Hậu quả 1 - Overbooking:</a:t>
              </a:r>
              <a:r>
                <a:rPr lang="en-US" sz="1800">
                  <a:solidFill>
                    <a:srgbClr val="334155"/>
                  </a:solidFill>
                  <a:latin typeface="Open Sans"/>
                  <a:ea typeface="Open Sans"/>
                  <a:cs typeface="Open Sans"/>
                  <a:sym typeface="Open Sans"/>
                </a:rPr>
                <a:t> Lỗi cấp phát vượt số lượng khi khách hàng đa kênh cùng đặt dịch vụ.</a:t>
              </a:r>
            </a:p>
          </p:txBody>
        </p:sp>
        <p:sp>
          <p:nvSpPr>
            <p:cNvPr name="TextBox 24" id="24"/>
            <p:cNvSpPr txBox="true"/>
            <p:nvPr/>
          </p:nvSpPr>
          <p:spPr>
            <a:xfrm rot="0">
              <a:off x="1162050" y="5592369"/>
              <a:ext cx="8439150" cy="103226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Hậu quả 2 - Khách hàng ảo:</a:t>
              </a:r>
              <a:r>
                <a:rPr lang="en-US" sz="1800">
                  <a:solidFill>
                    <a:srgbClr val="334155"/>
                  </a:solidFill>
                  <a:latin typeface="Open Sans"/>
                  <a:ea typeface="Open Sans"/>
                  <a:cs typeface="Open Sans"/>
                  <a:sym typeface="Open Sans"/>
                </a:rPr>
                <a:t> Một khách hàng bị ghi nhận thành 2 hồ sơ khác nhau (Web &amp; POS) gây đứt gãy dịch vụ.</a:t>
              </a:r>
            </a:p>
          </p:txBody>
        </p:sp>
        <p:grpSp>
          <p:nvGrpSpPr>
            <p:cNvPr name="Group 25" id="25"/>
            <p:cNvGrpSpPr/>
            <p:nvPr/>
          </p:nvGrpSpPr>
          <p:grpSpPr>
            <a:xfrm rot="0">
              <a:off x="11734800" y="809625"/>
              <a:ext cx="571500" cy="457200"/>
              <a:chOff x="0" y="0"/>
              <a:chExt cx="571500" cy="457200"/>
            </a:xfrm>
          </p:grpSpPr>
          <p:sp>
            <p:nvSpPr>
              <p:cNvPr name="Freeform 26" id="26" descr="image.png"/>
              <p:cNvSpPr/>
              <p:nvPr/>
            </p:nvSpPr>
            <p:spPr>
              <a:xfrm flipH="false" flipV="false" rot="0">
                <a:off x="0" y="0"/>
                <a:ext cx="571500" cy="457200"/>
              </a:xfrm>
              <a:custGeom>
                <a:avLst/>
                <a:gdLst/>
                <a:ahLst/>
                <a:cxnLst/>
                <a:rect r="r" b="b" t="t" l="l"/>
                <a:pathLst>
                  <a:path h="457200" w="571500">
                    <a:moveTo>
                      <a:pt x="0" y="0"/>
                    </a:moveTo>
                    <a:lnTo>
                      <a:pt x="571500" y="0"/>
                    </a:lnTo>
                    <a:lnTo>
                      <a:pt x="571500" y="457200"/>
                    </a:lnTo>
                    <a:lnTo>
                      <a:pt x="0" y="457200"/>
                    </a:lnTo>
                    <a:lnTo>
                      <a:pt x="0" y="0"/>
                    </a:lnTo>
                    <a:close/>
                  </a:path>
                </a:pathLst>
              </a:custGeom>
              <a:blipFill>
                <a:blip r:embed="rId8"/>
                <a:stretch>
                  <a:fillRect l="0" t="-2083" r="0" b="-2083"/>
                </a:stretch>
              </a:blipFill>
            </p:spPr>
          </p:sp>
        </p:grpSp>
        <p:sp>
          <p:nvSpPr>
            <p:cNvPr name="TextBox 27" id="27"/>
            <p:cNvSpPr txBox="true"/>
            <p:nvPr/>
          </p:nvSpPr>
          <p:spPr>
            <a:xfrm rot="0">
              <a:off x="12211050" y="1638300"/>
              <a:ext cx="8439150" cy="103226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Quản lý Tập trung (MDM):</a:t>
              </a:r>
              <a:r>
                <a:rPr lang="en-US" sz="1800">
                  <a:solidFill>
                    <a:srgbClr val="334155"/>
                  </a:solidFill>
                  <a:latin typeface="Open Sans"/>
                  <a:ea typeface="Open Sans"/>
                  <a:cs typeface="Open Sans"/>
                  <a:sym typeface="Open Sans"/>
                </a:rPr>
                <a:t> Lưu trữ trên nền tảng Điện toán Đám mây, tạo "Nguồn sự thật duy nhất".</a:t>
              </a:r>
            </a:p>
          </p:txBody>
        </p:sp>
        <p:sp>
          <p:nvSpPr>
            <p:cNvPr name="TextBox 28" id="28"/>
            <p:cNvSpPr txBox="true"/>
            <p:nvPr/>
          </p:nvSpPr>
          <p:spPr>
            <a:xfrm rot="0">
              <a:off x="12211050" y="2956319"/>
              <a:ext cx="8439150" cy="103226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Kho dữ liệu (Data Warehouse):</a:t>
              </a:r>
              <a:r>
                <a:rPr lang="en-US" sz="1800">
                  <a:solidFill>
                    <a:srgbClr val="334155"/>
                  </a:solidFill>
                  <a:latin typeface="Open Sans"/>
                  <a:ea typeface="Open Sans"/>
                  <a:cs typeface="Open Sans"/>
                  <a:sym typeface="Open Sans"/>
                </a:rPr>
                <a:t> Lưu trữ dữ liệu có cấu trúc phục vụ nghiệp vụ (Hóa đơn, Thanh toán).</a:t>
              </a:r>
            </a:p>
          </p:txBody>
        </p:sp>
        <p:sp>
          <p:nvSpPr>
            <p:cNvPr name="TextBox 29" id="29"/>
            <p:cNvSpPr txBox="true"/>
            <p:nvPr/>
          </p:nvSpPr>
          <p:spPr>
            <a:xfrm rot="0">
              <a:off x="12211050" y="4274337"/>
              <a:ext cx="8439150" cy="103226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Hồ dữ liệu (Data Lake):</a:t>
              </a:r>
              <a:r>
                <a:rPr lang="en-US" sz="1800">
                  <a:solidFill>
                    <a:srgbClr val="334155"/>
                  </a:solidFill>
                  <a:latin typeface="Open Sans"/>
                  <a:ea typeface="Open Sans"/>
                  <a:cs typeface="Open Sans"/>
                  <a:sym typeface="Open Sans"/>
                </a:rPr>
                <a:t> Thu thập dữ liệu phi cấu trúc (Nhật ký truy cập, Hành vi khách hàng).</a:t>
              </a:r>
            </a:p>
          </p:txBody>
        </p:sp>
        <p:sp>
          <p:nvSpPr>
            <p:cNvPr name="TextBox 30" id="30"/>
            <p:cNvSpPr txBox="true"/>
            <p:nvPr/>
          </p:nvSpPr>
          <p:spPr>
            <a:xfrm rot="0">
              <a:off x="12211050" y="5592369"/>
              <a:ext cx="8439150" cy="103226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Giao tiếp chuẩn hóa:</a:t>
              </a:r>
              <a:r>
                <a:rPr lang="en-US" sz="1800">
                  <a:solidFill>
                    <a:srgbClr val="334155"/>
                  </a:solidFill>
                  <a:latin typeface="Open Sans"/>
                  <a:ea typeface="Open Sans"/>
                  <a:cs typeface="Open Sans"/>
                  <a:sym typeface="Open Sans"/>
                </a:rPr>
                <a:t> Mọi phần mềm truy xuất/cập nhật qua API tập trung.</a:t>
              </a:r>
            </a:p>
          </p:txBody>
        </p:sp>
        <p:grpSp>
          <p:nvGrpSpPr>
            <p:cNvPr name="Group 31" id="31"/>
            <p:cNvGrpSpPr/>
            <p:nvPr/>
          </p:nvGrpSpPr>
          <p:grpSpPr>
            <a:xfrm rot="0">
              <a:off x="685800" y="1752600"/>
              <a:ext cx="209550" cy="285750"/>
              <a:chOff x="0" y="0"/>
              <a:chExt cx="209550" cy="285750"/>
            </a:xfrm>
          </p:grpSpPr>
          <p:sp>
            <p:nvSpPr>
              <p:cNvPr name="Freeform 32" id="32" descr="image.png"/>
              <p:cNvSpPr/>
              <p:nvPr/>
            </p:nvSpPr>
            <p:spPr>
              <a:xfrm flipH="false" flipV="false" rot="0">
                <a:off x="0" y="0"/>
                <a:ext cx="209550" cy="285750"/>
              </a:xfrm>
              <a:custGeom>
                <a:avLst/>
                <a:gdLst/>
                <a:ahLst/>
                <a:cxnLst/>
                <a:rect r="r" b="b" t="t" l="l"/>
                <a:pathLst>
                  <a:path h="285750" w="209550">
                    <a:moveTo>
                      <a:pt x="0" y="0"/>
                    </a:moveTo>
                    <a:lnTo>
                      <a:pt x="209550" y="0"/>
                    </a:lnTo>
                    <a:lnTo>
                      <a:pt x="209550" y="285750"/>
                    </a:lnTo>
                    <a:lnTo>
                      <a:pt x="0" y="285750"/>
                    </a:lnTo>
                    <a:lnTo>
                      <a:pt x="0" y="0"/>
                    </a:lnTo>
                    <a:close/>
                  </a:path>
                </a:pathLst>
              </a:custGeom>
              <a:blipFill>
                <a:blip r:embed="rId9"/>
                <a:stretch>
                  <a:fillRect l="0" t="0" r="0" b="0"/>
                </a:stretch>
              </a:blipFill>
            </p:spPr>
          </p:sp>
        </p:grpSp>
        <p:grpSp>
          <p:nvGrpSpPr>
            <p:cNvPr name="Group 33" id="33"/>
            <p:cNvGrpSpPr/>
            <p:nvPr/>
          </p:nvGrpSpPr>
          <p:grpSpPr>
            <a:xfrm rot="0">
              <a:off x="685800" y="3070619"/>
              <a:ext cx="209550" cy="285750"/>
              <a:chOff x="0" y="0"/>
              <a:chExt cx="209550" cy="285750"/>
            </a:xfrm>
          </p:grpSpPr>
          <p:sp>
            <p:nvSpPr>
              <p:cNvPr name="Freeform 34" id="34" descr="image.png"/>
              <p:cNvSpPr/>
              <p:nvPr/>
            </p:nvSpPr>
            <p:spPr>
              <a:xfrm flipH="false" flipV="false" rot="0">
                <a:off x="0" y="0"/>
                <a:ext cx="209550" cy="285750"/>
              </a:xfrm>
              <a:custGeom>
                <a:avLst/>
                <a:gdLst/>
                <a:ahLst/>
                <a:cxnLst/>
                <a:rect r="r" b="b" t="t" l="l"/>
                <a:pathLst>
                  <a:path h="285750" w="209550">
                    <a:moveTo>
                      <a:pt x="0" y="0"/>
                    </a:moveTo>
                    <a:lnTo>
                      <a:pt x="209550" y="0"/>
                    </a:lnTo>
                    <a:lnTo>
                      <a:pt x="209550" y="285750"/>
                    </a:lnTo>
                    <a:lnTo>
                      <a:pt x="0" y="285750"/>
                    </a:lnTo>
                    <a:lnTo>
                      <a:pt x="0" y="0"/>
                    </a:lnTo>
                    <a:close/>
                  </a:path>
                </a:pathLst>
              </a:custGeom>
              <a:blipFill>
                <a:blip r:embed="rId9"/>
                <a:stretch>
                  <a:fillRect l="0" t="0" r="0" b="0"/>
                </a:stretch>
              </a:blipFill>
            </p:spPr>
          </p:sp>
        </p:grpSp>
        <p:grpSp>
          <p:nvGrpSpPr>
            <p:cNvPr name="Group 35" id="35"/>
            <p:cNvGrpSpPr/>
            <p:nvPr/>
          </p:nvGrpSpPr>
          <p:grpSpPr>
            <a:xfrm rot="0">
              <a:off x="685800" y="4388637"/>
              <a:ext cx="209550" cy="285750"/>
              <a:chOff x="0" y="0"/>
              <a:chExt cx="209550" cy="285750"/>
            </a:xfrm>
          </p:grpSpPr>
          <p:sp>
            <p:nvSpPr>
              <p:cNvPr name="Freeform 36" id="36" descr="image.png"/>
              <p:cNvSpPr/>
              <p:nvPr/>
            </p:nvSpPr>
            <p:spPr>
              <a:xfrm flipH="false" flipV="false" rot="0">
                <a:off x="0" y="0"/>
                <a:ext cx="209550" cy="285750"/>
              </a:xfrm>
              <a:custGeom>
                <a:avLst/>
                <a:gdLst/>
                <a:ahLst/>
                <a:cxnLst/>
                <a:rect r="r" b="b" t="t" l="l"/>
                <a:pathLst>
                  <a:path h="285750" w="209550">
                    <a:moveTo>
                      <a:pt x="0" y="0"/>
                    </a:moveTo>
                    <a:lnTo>
                      <a:pt x="209550" y="0"/>
                    </a:lnTo>
                    <a:lnTo>
                      <a:pt x="209550" y="285750"/>
                    </a:lnTo>
                    <a:lnTo>
                      <a:pt x="0" y="285750"/>
                    </a:lnTo>
                    <a:lnTo>
                      <a:pt x="0" y="0"/>
                    </a:lnTo>
                    <a:close/>
                  </a:path>
                </a:pathLst>
              </a:custGeom>
              <a:blipFill>
                <a:blip r:embed="rId9"/>
                <a:stretch>
                  <a:fillRect l="0" t="0" r="0" b="0"/>
                </a:stretch>
              </a:blipFill>
            </p:spPr>
          </p:sp>
        </p:grpSp>
        <p:grpSp>
          <p:nvGrpSpPr>
            <p:cNvPr name="Group 37" id="37"/>
            <p:cNvGrpSpPr/>
            <p:nvPr/>
          </p:nvGrpSpPr>
          <p:grpSpPr>
            <a:xfrm rot="0">
              <a:off x="685800" y="5706669"/>
              <a:ext cx="209550" cy="285750"/>
              <a:chOff x="0" y="0"/>
              <a:chExt cx="209550" cy="285750"/>
            </a:xfrm>
          </p:grpSpPr>
          <p:sp>
            <p:nvSpPr>
              <p:cNvPr name="Freeform 38" id="38" descr="image.png"/>
              <p:cNvSpPr/>
              <p:nvPr/>
            </p:nvSpPr>
            <p:spPr>
              <a:xfrm flipH="false" flipV="false" rot="0">
                <a:off x="0" y="0"/>
                <a:ext cx="209550" cy="285750"/>
              </a:xfrm>
              <a:custGeom>
                <a:avLst/>
                <a:gdLst/>
                <a:ahLst/>
                <a:cxnLst/>
                <a:rect r="r" b="b" t="t" l="l"/>
                <a:pathLst>
                  <a:path h="285750" w="209550">
                    <a:moveTo>
                      <a:pt x="0" y="0"/>
                    </a:moveTo>
                    <a:lnTo>
                      <a:pt x="209550" y="0"/>
                    </a:lnTo>
                    <a:lnTo>
                      <a:pt x="209550" y="285750"/>
                    </a:lnTo>
                    <a:lnTo>
                      <a:pt x="0" y="285750"/>
                    </a:lnTo>
                    <a:lnTo>
                      <a:pt x="0" y="0"/>
                    </a:lnTo>
                    <a:close/>
                  </a:path>
                </a:pathLst>
              </a:custGeom>
              <a:blipFill>
                <a:blip r:embed="rId9"/>
                <a:stretch>
                  <a:fillRect l="0" t="0" r="0" b="0"/>
                </a:stretch>
              </a:blipFill>
            </p:spPr>
          </p:sp>
        </p:grpSp>
        <p:grpSp>
          <p:nvGrpSpPr>
            <p:cNvPr name="Group 39" id="39"/>
            <p:cNvGrpSpPr/>
            <p:nvPr/>
          </p:nvGrpSpPr>
          <p:grpSpPr>
            <a:xfrm rot="0">
              <a:off x="11734800" y="1752600"/>
              <a:ext cx="228600" cy="285750"/>
              <a:chOff x="0" y="0"/>
              <a:chExt cx="228600" cy="285750"/>
            </a:xfrm>
          </p:grpSpPr>
          <p:sp>
            <p:nvSpPr>
              <p:cNvPr name="Freeform 40" id="40" descr="image.png"/>
              <p:cNvSpPr/>
              <p:nvPr/>
            </p:nvSpPr>
            <p:spPr>
              <a:xfrm flipH="false" flipV="false" rot="0">
                <a:off x="0" y="0"/>
                <a:ext cx="228600" cy="285750"/>
              </a:xfrm>
              <a:custGeom>
                <a:avLst/>
                <a:gdLst/>
                <a:ahLst/>
                <a:cxnLst/>
                <a:rect r="r" b="b" t="t" l="l"/>
                <a:pathLst>
                  <a:path h="285750" w="228600">
                    <a:moveTo>
                      <a:pt x="0" y="0"/>
                    </a:moveTo>
                    <a:lnTo>
                      <a:pt x="228600" y="0"/>
                    </a:lnTo>
                    <a:lnTo>
                      <a:pt x="228600" y="285750"/>
                    </a:lnTo>
                    <a:lnTo>
                      <a:pt x="0" y="285750"/>
                    </a:lnTo>
                    <a:lnTo>
                      <a:pt x="0" y="0"/>
                    </a:lnTo>
                    <a:close/>
                  </a:path>
                </a:pathLst>
              </a:custGeom>
              <a:blipFill>
                <a:blip r:embed="rId10"/>
                <a:stretch>
                  <a:fillRect l="0" t="0" r="0" b="0"/>
                </a:stretch>
              </a:blipFill>
            </p:spPr>
          </p:sp>
        </p:grpSp>
        <p:grpSp>
          <p:nvGrpSpPr>
            <p:cNvPr name="Group 41" id="41"/>
            <p:cNvGrpSpPr/>
            <p:nvPr/>
          </p:nvGrpSpPr>
          <p:grpSpPr>
            <a:xfrm rot="0">
              <a:off x="11734800" y="3070619"/>
              <a:ext cx="228600" cy="285750"/>
              <a:chOff x="0" y="0"/>
              <a:chExt cx="228600" cy="285750"/>
            </a:xfrm>
          </p:grpSpPr>
          <p:sp>
            <p:nvSpPr>
              <p:cNvPr name="Freeform 42" id="42" descr="image.png"/>
              <p:cNvSpPr/>
              <p:nvPr/>
            </p:nvSpPr>
            <p:spPr>
              <a:xfrm flipH="false" flipV="false" rot="0">
                <a:off x="0" y="0"/>
                <a:ext cx="228600" cy="285750"/>
              </a:xfrm>
              <a:custGeom>
                <a:avLst/>
                <a:gdLst/>
                <a:ahLst/>
                <a:cxnLst/>
                <a:rect r="r" b="b" t="t" l="l"/>
                <a:pathLst>
                  <a:path h="285750" w="228600">
                    <a:moveTo>
                      <a:pt x="0" y="0"/>
                    </a:moveTo>
                    <a:lnTo>
                      <a:pt x="228600" y="0"/>
                    </a:lnTo>
                    <a:lnTo>
                      <a:pt x="228600" y="285750"/>
                    </a:lnTo>
                    <a:lnTo>
                      <a:pt x="0" y="285750"/>
                    </a:lnTo>
                    <a:lnTo>
                      <a:pt x="0" y="0"/>
                    </a:lnTo>
                    <a:close/>
                  </a:path>
                </a:pathLst>
              </a:custGeom>
              <a:blipFill>
                <a:blip r:embed="rId10"/>
                <a:stretch>
                  <a:fillRect l="0" t="0" r="0" b="0"/>
                </a:stretch>
              </a:blipFill>
            </p:spPr>
          </p:sp>
        </p:grpSp>
        <p:grpSp>
          <p:nvGrpSpPr>
            <p:cNvPr name="Group 43" id="43"/>
            <p:cNvGrpSpPr/>
            <p:nvPr/>
          </p:nvGrpSpPr>
          <p:grpSpPr>
            <a:xfrm rot="0">
              <a:off x="11734800" y="4388637"/>
              <a:ext cx="228600" cy="285750"/>
              <a:chOff x="0" y="0"/>
              <a:chExt cx="228600" cy="285750"/>
            </a:xfrm>
          </p:grpSpPr>
          <p:sp>
            <p:nvSpPr>
              <p:cNvPr name="Freeform 44" id="44" descr="image.png"/>
              <p:cNvSpPr/>
              <p:nvPr/>
            </p:nvSpPr>
            <p:spPr>
              <a:xfrm flipH="false" flipV="false" rot="0">
                <a:off x="0" y="0"/>
                <a:ext cx="228600" cy="285750"/>
              </a:xfrm>
              <a:custGeom>
                <a:avLst/>
                <a:gdLst/>
                <a:ahLst/>
                <a:cxnLst/>
                <a:rect r="r" b="b" t="t" l="l"/>
                <a:pathLst>
                  <a:path h="285750" w="228600">
                    <a:moveTo>
                      <a:pt x="0" y="0"/>
                    </a:moveTo>
                    <a:lnTo>
                      <a:pt x="228600" y="0"/>
                    </a:lnTo>
                    <a:lnTo>
                      <a:pt x="228600" y="285750"/>
                    </a:lnTo>
                    <a:lnTo>
                      <a:pt x="0" y="285750"/>
                    </a:lnTo>
                    <a:lnTo>
                      <a:pt x="0" y="0"/>
                    </a:lnTo>
                    <a:close/>
                  </a:path>
                </a:pathLst>
              </a:custGeom>
              <a:blipFill>
                <a:blip r:embed="rId10"/>
                <a:stretch>
                  <a:fillRect l="0" t="0" r="0" b="0"/>
                </a:stretch>
              </a:blipFill>
            </p:spPr>
          </p:sp>
        </p:grpSp>
        <p:grpSp>
          <p:nvGrpSpPr>
            <p:cNvPr name="Group 45" id="45"/>
            <p:cNvGrpSpPr/>
            <p:nvPr/>
          </p:nvGrpSpPr>
          <p:grpSpPr>
            <a:xfrm rot="0">
              <a:off x="11734800" y="5706669"/>
              <a:ext cx="228600" cy="285750"/>
              <a:chOff x="0" y="0"/>
              <a:chExt cx="228600" cy="285750"/>
            </a:xfrm>
          </p:grpSpPr>
          <p:sp>
            <p:nvSpPr>
              <p:cNvPr name="Freeform 46" id="46" descr="image.png"/>
              <p:cNvSpPr/>
              <p:nvPr/>
            </p:nvSpPr>
            <p:spPr>
              <a:xfrm flipH="false" flipV="false" rot="0">
                <a:off x="0" y="0"/>
                <a:ext cx="228600" cy="285750"/>
              </a:xfrm>
              <a:custGeom>
                <a:avLst/>
                <a:gdLst/>
                <a:ahLst/>
                <a:cxnLst/>
                <a:rect r="r" b="b" t="t" l="l"/>
                <a:pathLst>
                  <a:path h="285750" w="228600">
                    <a:moveTo>
                      <a:pt x="0" y="0"/>
                    </a:moveTo>
                    <a:lnTo>
                      <a:pt x="228600" y="0"/>
                    </a:lnTo>
                    <a:lnTo>
                      <a:pt x="228600" y="285750"/>
                    </a:lnTo>
                    <a:lnTo>
                      <a:pt x="0" y="285750"/>
                    </a:lnTo>
                    <a:lnTo>
                      <a:pt x="0" y="0"/>
                    </a:lnTo>
                    <a:close/>
                  </a:path>
                </a:pathLst>
              </a:custGeom>
              <a:blipFill>
                <a:blip r:embed="rId10"/>
                <a:stretch>
                  <a:fillRect l="0" t="0" r="0" b="0"/>
                </a:stretch>
              </a:blipFill>
            </p:spPr>
          </p:sp>
        </p:gr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12675"/>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KIẾN TRÚC DỮ LIỆU</a:t>
            </a:r>
          </a:p>
        </p:txBody>
      </p:sp>
      <p:sp>
        <p:nvSpPr>
          <p:cNvPr name="Freeform 8" id="8"/>
          <p:cNvSpPr/>
          <p:nvPr/>
        </p:nvSpPr>
        <p:spPr>
          <a:xfrm flipH="false" flipV="false" rot="0">
            <a:off x="110305" y="3550438"/>
            <a:ext cx="18125118" cy="4889134"/>
          </a:xfrm>
          <a:custGeom>
            <a:avLst/>
            <a:gdLst/>
            <a:ahLst/>
            <a:cxnLst/>
            <a:rect r="r" b="b" t="t" l="l"/>
            <a:pathLst>
              <a:path h="4889134" w="18125118">
                <a:moveTo>
                  <a:pt x="0" y="0"/>
                </a:moveTo>
                <a:lnTo>
                  <a:pt x="18125118" y="0"/>
                </a:lnTo>
                <a:lnTo>
                  <a:pt x="18125118" y="4889135"/>
                </a:lnTo>
                <a:lnTo>
                  <a:pt x="0" y="4889135"/>
                </a:lnTo>
                <a:lnTo>
                  <a:pt x="0" y="0"/>
                </a:lnTo>
                <a:close/>
              </a:path>
            </a:pathLst>
          </a:custGeom>
          <a:blipFill>
            <a:blip r:embed="rId4"/>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12675"/>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QUẢN TRỊ &amp; BẢO MẬT DỮ LIỆU</a:t>
            </a:r>
          </a:p>
        </p:txBody>
      </p:sp>
      <p:grpSp>
        <p:nvGrpSpPr>
          <p:cNvPr name="Group 8" id="8"/>
          <p:cNvGrpSpPr/>
          <p:nvPr/>
        </p:nvGrpSpPr>
        <p:grpSpPr>
          <a:xfrm rot="0">
            <a:off x="1143000" y="2343150"/>
            <a:ext cx="16001771" cy="5554713"/>
            <a:chOff x="0" y="0"/>
            <a:chExt cx="21335695" cy="7406284"/>
          </a:xfrm>
        </p:grpSpPr>
        <p:grpSp>
          <p:nvGrpSpPr>
            <p:cNvPr name="Group 9" id="9"/>
            <p:cNvGrpSpPr/>
            <p:nvPr/>
          </p:nvGrpSpPr>
          <p:grpSpPr>
            <a:xfrm rot="0">
              <a:off x="0" y="0"/>
              <a:ext cx="6730898" cy="7406284"/>
              <a:chOff x="0" y="0"/>
              <a:chExt cx="6730898" cy="7406284"/>
            </a:xfrm>
          </p:grpSpPr>
          <p:sp>
            <p:nvSpPr>
              <p:cNvPr name="Freeform 10" id="10" descr="image.png"/>
              <p:cNvSpPr/>
              <p:nvPr/>
            </p:nvSpPr>
            <p:spPr>
              <a:xfrm flipH="false" flipV="false" rot="0">
                <a:off x="0" y="0"/>
                <a:ext cx="6730873" cy="7406259"/>
              </a:xfrm>
              <a:custGeom>
                <a:avLst/>
                <a:gdLst/>
                <a:ahLst/>
                <a:cxnLst/>
                <a:rect r="r" b="b" t="t" l="l"/>
                <a:pathLst>
                  <a:path h="7406259" w="6730873">
                    <a:moveTo>
                      <a:pt x="0" y="0"/>
                    </a:moveTo>
                    <a:lnTo>
                      <a:pt x="6730873" y="0"/>
                    </a:lnTo>
                    <a:lnTo>
                      <a:pt x="6730873" y="7406259"/>
                    </a:lnTo>
                    <a:lnTo>
                      <a:pt x="0" y="7406259"/>
                    </a:lnTo>
                    <a:lnTo>
                      <a:pt x="0" y="0"/>
                    </a:lnTo>
                    <a:close/>
                  </a:path>
                </a:pathLst>
              </a:custGeom>
              <a:blipFill>
                <a:blip r:embed="rId4"/>
                <a:stretch>
                  <a:fillRect l="-66" t="0" r="-67" b="0"/>
                </a:stretch>
              </a:blipFill>
            </p:spPr>
          </p:sp>
        </p:grpSp>
        <p:grpSp>
          <p:nvGrpSpPr>
            <p:cNvPr name="Group 11" id="11"/>
            <p:cNvGrpSpPr/>
            <p:nvPr/>
          </p:nvGrpSpPr>
          <p:grpSpPr>
            <a:xfrm rot="0">
              <a:off x="7302398" y="0"/>
              <a:ext cx="6730898" cy="7406284"/>
              <a:chOff x="0" y="0"/>
              <a:chExt cx="6730898" cy="7406284"/>
            </a:xfrm>
          </p:grpSpPr>
          <p:sp>
            <p:nvSpPr>
              <p:cNvPr name="Freeform 12" id="12" descr="image.png"/>
              <p:cNvSpPr/>
              <p:nvPr/>
            </p:nvSpPr>
            <p:spPr>
              <a:xfrm flipH="false" flipV="false" rot="0">
                <a:off x="0" y="0"/>
                <a:ext cx="6730873" cy="7406259"/>
              </a:xfrm>
              <a:custGeom>
                <a:avLst/>
                <a:gdLst/>
                <a:ahLst/>
                <a:cxnLst/>
                <a:rect r="r" b="b" t="t" l="l"/>
                <a:pathLst>
                  <a:path h="7406259" w="6730873">
                    <a:moveTo>
                      <a:pt x="0" y="0"/>
                    </a:moveTo>
                    <a:lnTo>
                      <a:pt x="6730873" y="0"/>
                    </a:lnTo>
                    <a:lnTo>
                      <a:pt x="6730873" y="7406259"/>
                    </a:lnTo>
                    <a:lnTo>
                      <a:pt x="0" y="7406259"/>
                    </a:lnTo>
                    <a:lnTo>
                      <a:pt x="0" y="0"/>
                    </a:lnTo>
                    <a:close/>
                  </a:path>
                </a:pathLst>
              </a:custGeom>
              <a:blipFill>
                <a:blip r:embed="rId5"/>
                <a:stretch>
                  <a:fillRect l="-66" t="0" r="-67" b="0"/>
                </a:stretch>
              </a:blipFill>
            </p:spPr>
          </p:sp>
        </p:grpSp>
        <p:grpSp>
          <p:nvGrpSpPr>
            <p:cNvPr name="Group 13" id="13"/>
            <p:cNvGrpSpPr/>
            <p:nvPr/>
          </p:nvGrpSpPr>
          <p:grpSpPr>
            <a:xfrm rot="0">
              <a:off x="14604797" y="0"/>
              <a:ext cx="6730898" cy="7406284"/>
              <a:chOff x="0" y="0"/>
              <a:chExt cx="6730898" cy="7406284"/>
            </a:xfrm>
          </p:grpSpPr>
          <p:sp>
            <p:nvSpPr>
              <p:cNvPr name="Freeform 14" id="14" descr="image.png"/>
              <p:cNvSpPr/>
              <p:nvPr/>
            </p:nvSpPr>
            <p:spPr>
              <a:xfrm flipH="false" flipV="false" rot="0">
                <a:off x="0" y="0"/>
                <a:ext cx="6730873" cy="7406259"/>
              </a:xfrm>
              <a:custGeom>
                <a:avLst/>
                <a:gdLst/>
                <a:ahLst/>
                <a:cxnLst/>
                <a:rect r="r" b="b" t="t" l="l"/>
                <a:pathLst>
                  <a:path h="7406259" w="6730873">
                    <a:moveTo>
                      <a:pt x="0" y="0"/>
                    </a:moveTo>
                    <a:lnTo>
                      <a:pt x="6730873" y="0"/>
                    </a:lnTo>
                    <a:lnTo>
                      <a:pt x="6730873" y="7406259"/>
                    </a:lnTo>
                    <a:lnTo>
                      <a:pt x="0" y="7406259"/>
                    </a:lnTo>
                    <a:lnTo>
                      <a:pt x="0" y="0"/>
                    </a:lnTo>
                    <a:close/>
                  </a:path>
                </a:pathLst>
              </a:custGeom>
              <a:blipFill>
                <a:blip r:embed="rId6"/>
                <a:stretch>
                  <a:fillRect l="-66" t="0" r="-67" b="0"/>
                </a:stretch>
              </a:blipFill>
            </p:spPr>
          </p:sp>
        </p:grpSp>
        <p:grpSp>
          <p:nvGrpSpPr>
            <p:cNvPr name="Group 15" id="15"/>
            <p:cNvGrpSpPr/>
            <p:nvPr/>
          </p:nvGrpSpPr>
          <p:grpSpPr>
            <a:xfrm rot="0">
              <a:off x="685800" y="685800"/>
              <a:ext cx="1047750" cy="1047750"/>
              <a:chOff x="0" y="0"/>
              <a:chExt cx="1047750" cy="1047750"/>
            </a:xfrm>
          </p:grpSpPr>
          <p:sp>
            <p:nvSpPr>
              <p:cNvPr name="Freeform 16" id="16" descr="image.png"/>
              <p:cNvSpPr/>
              <p:nvPr/>
            </p:nvSpPr>
            <p:spPr>
              <a:xfrm flipH="false" flipV="false" rot="0">
                <a:off x="0" y="0"/>
                <a:ext cx="1047750" cy="1047750"/>
              </a:xfrm>
              <a:custGeom>
                <a:avLst/>
                <a:gdLst/>
                <a:ahLst/>
                <a:cxnLst/>
                <a:rect r="r" b="b" t="t" l="l"/>
                <a:pathLst>
                  <a:path h="1047750" w="1047750">
                    <a:moveTo>
                      <a:pt x="0" y="0"/>
                    </a:moveTo>
                    <a:lnTo>
                      <a:pt x="1047750" y="0"/>
                    </a:lnTo>
                    <a:lnTo>
                      <a:pt x="1047750" y="1047750"/>
                    </a:lnTo>
                    <a:lnTo>
                      <a:pt x="0" y="1047750"/>
                    </a:lnTo>
                    <a:lnTo>
                      <a:pt x="0" y="0"/>
                    </a:lnTo>
                    <a:close/>
                  </a:path>
                </a:pathLst>
              </a:custGeom>
              <a:blipFill>
                <a:blip r:embed="rId7"/>
                <a:stretch>
                  <a:fillRect l="0" t="0" r="0" b="0"/>
                </a:stretch>
              </a:blipFill>
            </p:spPr>
          </p:sp>
        </p:grpSp>
        <p:sp>
          <p:nvSpPr>
            <p:cNvPr name="TextBox 17" id="17"/>
            <p:cNvSpPr txBox="true"/>
            <p:nvPr/>
          </p:nvSpPr>
          <p:spPr>
            <a:xfrm rot="0">
              <a:off x="685800" y="2057400"/>
              <a:ext cx="5627268" cy="536194"/>
            </a:xfrm>
            <a:prstGeom prst="rect">
              <a:avLst/>
            </a:prstGeom>
          </p:spPr>
          <p:txBody>
            <a:bodyPr anchor="t" rtlCol="false" tIns="0" lIns="0" bIns="0" rIns="0">
              <a:spAutoFit/>
            </a:bodyPr>
            <a:lstStyle/>
            <a:p>
              <a:pPr algn="l">
                <a:lnSpc>
                  <a:spcPts val="3306"/>
                </a:lnSpc>
              </a:pPr>
              <a:r>
                <a:rPr lang="en-US" sz="2362" b="true">
                  <a:solidFill>
                    <a:srgbClr val="051C2C"/>
                  </a:solidFill>
                  <a:latin typeface="Montserrat Bold"/>
                  <a:ea typeface="Montserrat Bold"/>
                  <a:cs typeface="Montserrat Bold"/>
                  <a:sym typeface="Montserrat Bold"/>
                </a:rPr>
                <a:t>Phân Quyền Quản Trị</a:t>
              </a:r>
            </a:p>
          </p:txBody>
        </p:sp>
        <p:sp>
          <p:nvSpPr>
            <p:cNvPr name="TextBox 18" id="18"/>
            <p:cNvSpPr txBox="true"/>
            <p:nvPr/>
          </p:nvSpPr>
          <p:spPr>
            <a:xfrm rot="0">
              <a:off x="685800" y="3453409"/>
              <a:ext cx="5359298" cy="3267075"/>
            </a:xfrm>
            <a:prstGeom prst="rect">
              <a:avLst/>
            </a:prstGeom>
          </p:spPr>
          <p:txBody>
            <a:bodyPr anchor="t" rtlCol="false" tIns="0" lIns="0" bIns="0" rIns="0">
              <a:spAutoFit/>
            </a:bodyPr>
            <a:lstStyle/>
            <a:p>
              <a:pPr algn="l">
                <a:lnSpc>
                  <a:spcPts val="2700"/>
                </a:lnSpc>
              </a:pPr>
              <a:r>
                <a:rPr lang="en-US" sz="1687">
                  <a:solidFill>
                    <a:srgbClr val="475569"/>
                  </a:solidFill>
                  <a:latin typeface="Open Sans"/>
                  <a:ea typeface="Open Sans"/>
                  <a:cs typeface="Open Sans"/>
                  <a:sym typeface="Open Sans"/>
                </a:rPr>
                <a:t>Thiết lập chính sách sở hữu rõ ràng: Bộ phận Điều hành chịu trách nhiệm về Dữ liệu Tồn kho; Bộ phận CSKH quản lý chất lượng Dữ liệu Hồ sơ. Hệ thống tự động phát hiện, làm sạch và hợp nhất các hồ sơ khách hàng trùng lặp qua SĐT hoặc Email.</a:t>
              </a:r>
            </a:p>
          </p:txBody>
        </p:sp>
        <p:grpSp>
          <p:nvGrpSpPr>
            <p:cNvPr name="Group 19" id="19"/>
            <p:cNvGrpSpPr/>
            <p:nvPr/>
          </p:nvGrpSpPr>
          <p:grpSpPr>
            <a:xfrm rot="0">
              <a:off x="7988198" y="685800"/>
              <a:ext cx="1047750" cy="1047750"/>
              <a:chOff x="0" y="0"/>
              <a:chExt cx="1047750" cy="1047750"/>
            </a:xfrm>
          </p:grpSpPr>
          <p:sp>
            <p:nvSpPr>
              <p:cNvPr name="Freeform 20" id="20" descr="image.png"/>
              <p:cNvSpPr/>
              <p:nvPr/>
            </p:nvSpPr>
            <p:spPr>
              <a:xfrm flipH="false" flipV="false" rot="0">
                <a:off x="0" y="0"/>
                <a:ext cx="1047750" cy="1047750"/>
              </a:xfrm>
              <a:custGeom>
                <a:avLst/>
                <a:gdLst/>
                <a:ahLst/>
                <a:cxnLst/>
                <a:rect r="r" b="b" t="t" l="l"/>
                <a:pathLst>
                  <a:path h="1047750" w="1047750">
                    <a:moveTo>
                      <a:pt x="0" y="0"/>
                    </a:moveTo>
                    <a:lnTo>
                      <a:pt x="1047750" y="0"/>
                    </a:lnTo>
                    <a:lnTo>
                      <a:pt x="1047750" y="1047750"/>
                    </a:lnTo>
                    <a:lnTo>
                      <a:pt x="0" y="1047750"/>
                    </a:lnTo>
                    <a:lnTo>
                      <a:pt x="0" y="0"/>
                    </a:lnTo>
                    <a:close/>
                  </a:path>
                </a:pathLst>
              </a:custGeom>
              <a:blipFill>
                <a:blip r:embed="rId7"/>
                <a:stretch>
                  <a:fillRect l="0" t="0" r="0" b="0"/>
                </a:stretch>
              </a:blipFill>
            </p:spPr>
          </p:sp>
        </p:grpSp>
        <p:sp>
          <p:nvSpPr>
            <p:cNvPr name="TextBox 21" id="21"/>
            <p:cNvSpPr txBox="true"/>
            <p:nvPr/>
          </p:nvSpPr>
          <p:spPr>
            <a:xfrm rot="0">
              <a:off x="7988198" y="2057400"/>
              <a:ext cx="5320665" cy="536194"/>
            </a:xfrm>
            <a:prstGeom prst="rect">
              <a:avLst/>
            </a:prstGeom>
          </p:spPr>
          <p:txBody>
            <a:bodyPr anchor="t" rtlCol="false" tIns="0" lIns="0" bIns="0" rIns="0">
              <a:spAutoFit/>
            </a:bodyPr>
            <a:lstStyle/>
            <a:p>
              <a:pPr algn="l">
                <a:lnSpc>
                  <a:spcPts val="3306"/>
                </a:lnSpc>
              </a:pPr>
              <a:r>
                <a:rPr lang="en-US" sz="2362" b="true">
                  <a:solidFill>
                    <a:srgbClr val="051C2C"/>
                  </a:solidFill>
                  <a:latin typeface="Montserrat Bold"/>
                  <a:ea typeface="Montserrat Bold"/>
                  <a:cs typeface="Montserrat Bold"/>
                  <a:sym typeface="Montserrat Bold"/>
                </a:rPr>
                <a:t>Security by Design</a:t>
              </a:r>
            </a:p>
          </p:txBody>
        </p:sp>
        <p:sp>
          <p:nvSpPr>
            <p:cNvPr name="TextBox 22" id="22"/>
            <p:cNvSpPr txBox="true"/>
            <p:nvPr/>
          </p:nvSpPr>
          <p:spPr>
            <a:xfrm rot="0">
              <a:off x="7988198" y="3453409"/>
              <a:ext cx="5359298" cy="2695575"/>
            </a:xfrm>
            <a:prstGeom prst="rect">
              <a:avLst/>
            </a:prstGeom>
          </p:spPr>
          <p:txBody>
            <a:bodyPr anchor="t" rtlCol="false" tIns="0" lIns="0" bIns="0" rIns="0">
              <a:spAutoFit/>
            </a:bodyPr>
            <a:lstStyle/>
            <a:p>
              <a:pPr algn="l">
                <a:lnSpc>
                  <a:spcPts val="2700"/>
                </a:lnSpc>
              </a:pPr>
              <a:r>
                <a:rPr lang="en-US" sz="1687">
                  <a:solidFill>
                    <a:srgbClr val="475569"/>
                  </a:solidFill>
                  <a:latin typeface="Open Sans"/>
                  <a:ea typeface="Open Sans"/>
                  <a:cs typeface="Open Sans"/>
                  <a:sym typeface="Open Sans"/>
                </a:rPr>
                <a:t>Bắt buộc mã hóa toàn diện: Dữ liệu thẻ thanh toán/Mật khẩu được mã hóa một chiều; Luồng dữ liệu truyền tải dùng SSL/TLS &amp; Chứng thư số. Đảm bảo an toàn tuyệt đối cho Dữ liệu Căn cước, Hộ chiếu.</a:t>
              </a:r>
            </a:p>
          </p:txBody>
        </p:sp>
        <p:grpSp>
          <p:nvGrpSpPr>
            <p:cNvPr name="Group 23" id="23"/>
            <p:cNvGrpSpPr/>
            <p:nvPr/>
          </p:nvGrpSpPr>
          <p:grpSpPr>
            <a:xfrm rot="0">
              <a:off x="15290597" y="685800"/>
              <a:ext cx="1047750" cy="1047750"/>
              <a:chOff x="0" y="0"/>
              <a:chExt cx="1047750" cy="1047750"/>
            </a:xfrm>
          </p:grpSpPr>
          <p:sp>
            <p:nvSpPr>
              <p:cNvPr name="Freeform 24" id="24" descr="image.png"/>
              <p:cNvSpPr/>
              <p:nvPr/>
            </p:nvSpPr>
            <p:spPr>
              <a:xfrm flipH="false" flipV="false" rot="0">
                <a:off x="0" y="0"/>
                <a:ext cx="1047750" cy="1047750"/>
              </a:xfrm>
              <a:custGeom>
                <a:avLst/>
                <a:gdLst/>
                <a:ahLst/>
                <a:cxnLst/>
                <a:rect r="r" b="b" t="t" l="l"/>
                <a:pathLst>
                  <a:path h="1047750" w="1047750">
                    <a:moveTo>
                      <a:pt x="0" y="0"/>
                    </a:moveTo>
                    <a:lnTo>
                      <a:pt x="1047750" y="0"/>
                    </a:lnTo>
                    <a:lnTo>
                      <a:pt x="1047750" y="1047750"/>
                    </a:lnTo>
                    <a:lnTo>
                      <a:pt x="0" y="1047750"/>
                    </a:lnTo>
                    <a:lnTo>
                      <a:pt x="0" y="0"/>
                    </a:lnTo>
                    <a:close/>
                  </a:path>
                </a:pathLst>
              </a:custGeom>
              <a:blipFill>
                <a:blip r:embed="rId8"/>
                <a:stretch>
                  <a:fillRect l="0" t="0" r="0" b="0"/>
                </a:stretch>
              </a:blipFill>
            </p:spPr>
          </p:sp>
        </p:grpSp>
        <p:sp>
          <p:nvSpPr>
            <p:cNvPr name="TextBox 25" id="25"/>
            <p:cNvSpPr txBox="true"/>
            <p:nvPr/>
          </p:nvSpPr>
          <p:spPr>
            <a:xfrm rot="0">
              <a:off x="15290597" y="2057400"/>
              <a:ext cx="5627268" cy="536194"/>
            </a:xfrm>
            <a:prstGeom prst="rect">
              <a:avLst/>
            </a:prstGeom>
          </p:spPr>
          <p:txBody>
            <a:bodyPr anchor="t" rtlCol="false" tIns="0" lIns="0" bIns="0" rIns="0">
              <a:spAutoFit/>
            </a:bodyPr>
            <a:lstStyle/>
            <a:p>
              <a:pPr algn="l">
                <a:lnSpc>
                  <a:spcPts val="3306"/>
                </a:lnSpc>
              </a:pPr>
              <a:r>
                <a:rPr lang="en-US" sz="2362" b="true">
                  <a:solidFill>
                    <a:srgbClr val="051C2C"/>
                  </a:solidFill>
                  <a:latin typeface="Montserrat Bold"/>
                  <a:ea typeface="Montserrat Bold"/>
                  <a:cs typeface="Montserrat Bold"/>
                  <a:sym typeface="Montserrat Bold"/>
                </a:rPr>
                <a:t>Tiêu Chuẩn Bảo Mật</a:t>
              </a:r>
            </a:p>
          </p:txBody>
        </p:sp>
        <p:sp>
          <p:nvSpPr>
            <p:cNvPr name="TextBox 26" id="26"/>
            <p:cNvSpPr txBox="true"/>
            <p:nvPr/>
          </p:nvSpPr>
          <p:spPr>
            <a:xfrm rot="0">
              <a:off x="15290597" y="3453409"/>
              <a:ext cx="5359298" cy="2352675"/>
            </a:xfrm>
            <a:prstGeom prst="rect">
              <a:avLst/>
            </a:prstGeom>
          </p:spPr>
          <p:txBody>
            <a:bodyPr anchor="t" rtlCol="false" tIns="0" lIns="0" bIns="0" rIns="0">
              <a:spAutoFit/>
            </a:bodyPr>
            <a:lstStyle/>
            <a:p>
              <a:pPr algn="l">
                <a:lnSpc>
                  <a:spcPts val="2700"/>
                </a:lnSpc>
              </a:pPr>
              <a:r>
                <a:rPr lang="en-US" sz="1687">
                  <a:solidFill>
                    <a:srgbClr val="475569"/>
                  </a:solidFill>
                  <a:latin typeface="Open Sans"/>
                  <a:ea typeface="Open Sans"/>
                  <a:cs typeface="Open Sans"/>
                  <a:sym typeface="Open Sans"/>
                </a:rPr>
                <a:t>Kiểm soát truy xuất dữ liệu CRM/Tồn kho bằng cơ chế phân quyền truy cập tối thiểu. Hệ thống thiết lập nhằm tuân thủ Tiêu chuẩn Bảo mật PCI DSS, tạo tiền đề triển khai mô hình kiến trúc Zero Trust.</a:t>
              </a:r>
            </a:p>
          </p:txBody>
        </p:sp>
        <p:grpSp>
          <p:nvGrpSpPr>
            <p:cNvPr name="Group 27" id="27"/>
            <p:cNvGrpSpPr/>
            <p:nvPr/>
          </p:nvGrpSpPr>
          <p:grpSpPr>
            <a:xfrm rot="0">
              <a:off x="895350" y="962025"/>
              <a:ext cx="628650" cy="495300"/>
              <a:chOff x="0" y="0"/>
              <a:chExt cx="628650" cy="495300"/>
            </a:xfrm>
          </p:grpSpPr>
          <p:sp>
            <p:nvSpPr>
              <p:cNvPr name="Freeform 28" id="28" descr="image.png"/>
              <p:cNvSpPr/>
              <p:nvPr/>
            </p:nvSpPr>
            <p:spPr>
              <a:xfrm flipH="false" flipV="false" rot="0">
                <a:off x="0" y="0"/>
                <a:ext cx="628650" cy="495300"/>
              </a:xfrm>
              <a:custGeom>
                <a:avLst/>
                <a:gdLst/>
                <a:ahLst/>
                <a:cxnLst/>
                <a:rect r="r" b="b" t="t" l="l"/>
                <a:pathLst>
                  <a:path h="495300" w="628650">
                    <a:moveTo>
                      <a:pt x="0" y="0"/>
                    </a:moveTo>
                    <a:lnTo>
                      <a:pt x="628650" y="0"/>
                    </a:lnTo>
                    <a:lnTo>
                      <a:pt x="628650" y="495300"/>
                    </a:lnTo>
                    <a:lnTo>
                      <a:pt x="0" y="495300"/>
                    </a:lnTo>
                    <a:lnTo>
                      <a:pt x="0" y="0"/>
                    </a:lnTo>
                    <a:close/>
                  </a:path>
                </a:pathLst>
              </a:custGeom>
              <a:blipFill>
                <a:blip r:embed="rId9"/>
                <a:stretch>
                  <a:fillRect l="0" t="-1923" r="0" b="-1923"/>
                </a:stretch>
              </a:blipFill>
            </p:spPr>
          </p:sp>
        </p:grpSp>
        <p:grpSp>
          <p:nvGrpSpPr>
            <p:cNvPr name="Group 29" id="29"/>
            <p:cNvGrpSpPr/>
            <p:nvPr/>
          </p:nvGrpSpPr>
          <p:grpSpPr>
            <a:xfrm rot="0">
              <a:off x="8292998" y="962025"/>
              <a:ext cx="438150" cy="495300"/>
              <a:chOff x="0" y="0"/>
              <a:chExt cx="438150" cy="495300"/>
            </a:xfrm>
          </p:grpSpPr>
          <p:sp>
            <p:nvSpPr>
              <p:cNvPr name="Freeform 30" id="30" descr="image.png"/>
              <p:cNvSpPr/>
              <p:nvPr/>
            </p:nvSpPr>
            <p:spPr>
              <a:xfrm flipH="false" flipV="false" rot="0">
                <a:off x="0" y="0"/>
                <a:ext cx="438150" cy="495300"/>
              </a:xfrm>
              <a:custGeom>
                <a:avLst/>
                <a:gdLst/>
                <a:ahLst/>
                <a:cxnLst/>
                <a:rect r="r" b="b" t="t" l="l"/>
                <a:pathLst>
                  <a:path h="495300" w="438150">
                    <a:moveTo>
                      <a:pt x="0" y="0"/>
                    </a:moveTo>
                    <a:lnTo>
                      <a:pt x="438150" y="0"/>
                    </a:lnTo>
                    <a:lnTo>
                      <a:pt x="438150" y="495300"/>
                    </a:lnTo>
                    <a:lnTo>
                      <a:pt x="0" y="495300"/>
                    </a:lnTo>
                    <a:lnTo>
                      <a:pt x="0" y="0"/>
                    </a:lnTo>
                    <a:close/>
                  </a:path>
                </a:pathLst>
              </a:custGeom>
              <a:blipFill>
                <a:blip r:embed="rId10"/>
                <a:stretch>
                  <a:fillRect l="0" t="-1923" r="0" b="-1923"/>
                </a:stretch>
              </a:blipFill>
            </p:spPr>
          </p:sp>
        </p:grpSp>
        <p:grpSp>
          <p:nvGrpSpPr>
            <p:cNvPr name="Group 31" id="31"/>
            <p:cNvGrpSpPr/>
            <p:nvPr/>
          </p:nvGrpSpPr>
          <p:grpSpPr>
            <a:xfrm rot="0">
              <a:off x="15566822" y="962025"/>
              <a:ext cx="495300" cy="495300"/>
              <a:chOff x="0" y="0"/>
              <a:chExt cx="495300" cy="495300"/>
            </a:xfrm>
          </p:grpSpPr>
          <p:sp>
            <p:nvSpPr>
              <p:cNvPr name="Freeform 32" id="32" descr="image.png"/>
              <p:cNvSpPr/>
              <p:nvPr/>
            </p:nvSpPr>
            <p:spPr>
              <a:xfrm flipH="false" flipV="false" rot="0">
                <a:off x="0" y="0"/>
                <a:ext cx="495300" cy="495300"/>
              </a:xfrm>
              <a:custGeom>
                <a:avLst/>
                <a:gdLst/>
                <a:ahLst/>
                <a:cxnLst/>
                <a:rect r="r" b="b" t="t" l="l"/>
                <a:pathLst>
                  <a:path h="495300" w="495300">
                    <a:moveTo>
                      <a:pt x="0" y="0"/>
                    </a:moveTo>
                    <a:lnTo>
                      <a:pt x="495300" y="0"/>
                    </a:lnTo>
                    <a:lnTo>
                      <a:pt x="495300" y="495300"/>
                    </a:lnTo>
                    <a:lnTo>
                      <a:pt x="0" y="495300"/>
                    </a:lnTo>
                    <a:lnTo>
                      <a:pt x="0" y="0"/>
                    </a:lnTo>
                    <a:close/>
                  </a:path>
                </a:pathLst>
              </a:custGeom>
              <a:blipFill>
                <a:blip r:embed="rId11"/>
                <a:stretch>
                  <a:fillRect l="0" t="0" r="0" b="0"/>
                </a:stretch>
              </a:blipFill>
            </p:spPr>
          </p:sp>
        </p:gr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98" y="1212675"/>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sz="2182" b="true">
                <a:solidFill>
                  <a:srgbClr val="FAA61A"/>
                </a:solidFill>
                <a:latin typeface="Montserrat Bold"/>
                <a:ea typeface="Montserrat Bold"/>
                <a:cs typeface="Montserrat Bold"/>
                <a:sym typeface="Montserrat Bold"/>
              </a:rPr>
              <a:t>NỘI DUNG THUYẾT TRÌNH</a:t>
            </a:r>
          </a:p>
        </p:txBody>
      </p:sp>
      <p:sp>
        <p:nvSpPr>
          <p:cNvPr name="TextBox 8" id="8"/>
          <p:cNvSpPr txBox="true"/>
          <p:nvPr/>
        </p:nvSpPr>
        <p:spPr>
          <a:xfrm rot="0">
            <a:off x="3942803" y="4345915"/>
            <a:ext cx="11045332" cy="488059"/>
          </a:xfrm>
          <a:prstGeom prst="rect">
            <a:avLst/>
          </a:prstGeom>
        </p:spPr>
        <p:txBody>
          <a:bodyPr anchor="t" rtlCol="false" tIns="0" lIns="0" bIns="0" rIns="0">
            <a:spAutoFit/>
          </a:bodyPr>
          <a:lstStyle/>
          <a:p>
            <a:pPr algn="ctr" marL="0" indent="0" lvl="0">
              <a:lnSpc>
                <a:spcPts val="4041"/>
              </a:lnSpc>
              <a:spcBef>
                <a:spcPct val="0"/>
              </a:spcBef>
            </a:pPr>
            <a:r>
              <a:rPr lang="en-US" b="true" sz="2882">
                <a:solidFill>
                  <a:srgbClr val="FBFBFC"/>
                </a:solidFill>
                <a:latin typeface="Montserrat Bold"/>
                <a:ea typeface="Montserrat Bold"/>
                <a:cs typeface="Montserrat Bold"/>
                <a:sym typeface="Montserrat Bold"/>
              </a:rPr>
              <a:t>Xây</a:t>
            </a:r>
            <a:r>
              <a:rPr lang="en-US" b="true" sz="2882" strike="noStrike" u="none">
                <a:solidFill>
                  <a:srgbClr val="FBFBFC"/>
                </a:solidFill>
                <a:latin typeface="Montserrat Bold"/>
                <a:ea typeface="Montserrat Bold"/>
                <a:cs typeface="Montserrat Bold"/>
                <a:sym typeface="Montserrat Bold"/>
              </a:rPr>
              <a:t> Dựng Kiến Trúc Ứng Dụng (Applicat</a:t>
            </a:r>
            <a:r>
              <a:rPr lang="en-US" b="true" sz="2882" strike="noStrike" u="none">
                <a:solidFill>
                  <a:srgbClr val="FBFBFC"/>
                </a:solidFill>
                <a:latin typeface="Montserrat Bold"/>
                <a:ea typeface="Montserrat Bold"/>
                <a:cs typeface="Montserrat Bold"/>
                <a:sym typeface="Montserrat Bold"/>
              </a:rPr>
              <a:t>ion</a:t>
            </a:r>
            <a:r>
              <a:rPr lang="en-US" b="true" sz="2882" strike="noStrike" u="none">
                <a:solidFill>
                  <a:srgbClr val="FBFBFC"/>
                </a:solidFill>
                <a:latin typeface="Montserrat Bold"/>
                <a:ea typeface="Montserrat Bold"/>
                <a:cs typeface="Montserrat Bold"/>
                <a:sym typeface="Montserrat Bold"/>
              </a:rPr>
              <a:t> Architecture)</a:t>
            </a:r>
          </a:p>
        </p:txBody>
      </p:sp>
      <p:grpSp>
        <p:nvGrpSpPr>
          <p:cNvPr name="Group 9" id="9"/>
          <p:cNvGrpSpPr/>
          <p:nvPr/>
        </p:nvGrpSpPr>
        <p:grpSpPr>
          <a:xfrm rot="0">
            <a:off x="8822531" y="3177097"/>
            <a:ext cx="642938" cy="642938"/>
            <a:chOff x="0" y="0"/>
            <a:chExt cx="857250" cy="857250"/>
          </a:xfrm>
        </p:grpSpPr>
        <p:sp>
          <p:nvSpPr>
            <p:cNvPr name="Freeform 10" id="10"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4"/>
              <a:stretch>
                <a:fillRect l="0" t="0" r="0" b="0"/>
              </a:stretch>
            </a:blipFill>
          </p:spPr>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98" y="1212675"/>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KIẾN TRÚC ỨNG DỤNG: AS-IS VÀ TO-BE</a:t>
            </a:r>
          </a:p>
        </p:txBody>
      </p:sp>
      <p:grpSp>
        <p:nvGrpSpPr>
          <p:cNvPr name="Group 8" id="8"/>
          <p:cNvGrpSpPr/>
          <p:nvPr/>
        </p:nvGrpSpPr>
        <p:grpSpPr>
          <a:xfrm rot="0">
            <a:off x="1143000" y="2200275"/>
            <a:ext cx="16002000" cy="7229475"/>
            <a:chOff x="0" y="0"/>
            <a:chExt cx="21336000" cy="9639300"/>
          </a:xfrm>
        </p:grpSpPr>
        <p:grpSp>
          <p:nvGrpSpPr>
            <p:cNvPr name="Group 9" id="9"/>
            <p:cNvGrpSpPr/>
            <p:nvPr/>
          </p:nvGrpSpPr>
          <p:grpSpPr>
            <a:xfrm rot="0">
              <a:off x="0" y="0"/>
              <a:ext cx="10287000" cy="9639300"/>
              <a:chOff x="0" y="0"/>
              <a:chExt cx="10287000" cy="9639300"/>
            </a:xfrm>
          </p:grpSpPr>
          <p:sp>
            <p:nvSpPr>
              <p:cNvPr name="Freeform 10" id="10" descr="image.png"/>
              <p:cNvSpPr/>
              <p:nvPr/>
            </p:nvSpPr>
            <p:spPr>
              <a:xfrm flipH="false" flipV="false" rot="0">
                <a:off x="0" y="0"/>
                <a:ext cx="10287000" cy="9639300"/>
              </a:xfrm>
              <a:custGeom>
                <a:avLst/>
                <a:gdLst/>
                <a:ahLst/>
                <a:cxnLst/>
                <a:rect r="r" b="b" t="t" l="l"/>
                <a:pathLst>
                  <a:path h="9639300" w="10287000">
                    <a:moveTo>
                      <a:pt x="0" y="0"/>
                    </a:moveTo>
                    <a:lnTo>
                      <a:pt x="10287000" y="0"/>
                    </a:lnTo>
                    <a:lnTo>
                      <a:pt x="10287000" y="9639300"/>
                    </a:lnTo>
                    <a:lnTo>
                      <a:pt x="0" y="9639300"/>
                    </a:lnTo>
                    <a:lnTo>
                      <a:pt x="0" y="0"/>
                    </a:lnTo>
                    <a:close/>
                  </a:path>
                </a:pathLst>
              </a:custGeom>
              <a:blipFill>
                <a:blip r:embed="rId4"/>
                <a:stretch>
                  <a:fillRect l="0" t="0" r="0" b="0"/>
                </a:stretch>
              </a:blipFill>
            </p:spPr>
          </p:sp>
        </p:grpSp>
        <p:grpSp>
          <p:nvGrpSpPr>
            <p:cNvPr name="Group 11" id="11"/>
            <p:cNvGrpSpPr/>
            <p:nvPr/>
          </p:nvGrpSpPr>
          <p:grpSpPr>
            <a:xfrm rot="0">
              <a:off x="11049000" y="0"/>
              <a:ext cx="10287000" cy="9639300"/>
              <a:chOff x="0" y="0"/>
              <a:chExt cx="10287000" cy="9639300"/>
            </a:xfrm>
          </p:grpSpPr>
          <p:sp>
            <p:nvSpPr>
              <p:cNvPr name="Freeform 12" id="12" descr="image.png"/>
              <p:cNvSpPr/>
              <p:nvPr/>
            </p:nvSpPr>
            <p:spPr>
              <a:xfrm flipH="false" flipV="false" rot="0">
                <a:off x="0" y="0"/>
                <a:ext cx="10287000" cy="9639300"/>
              </a:xfrm>
              <a:custGeom>
                <a:avLst/>
                <a:gdLst/>
                <a:ahLst/>
                <a:cxnLst/>
                <a:rect r="r" b="b" t="t" l="l"/>
                <a:pathLst>
                  <a:path h="9639300" w="10287000">
                    <a:moveTo>
                      <a:pt x="0" y="0"/>
                    </a:moveTo>
                    <a:lnTo>
                      <a:pt x="10287000" y="0"/>
                    </a:lnTo>
                    <a:lnTo>
                      <a:pt x="10287000" y="9639300"/>
                    </a:lnTo>
                    <a:lnTo>
                      <a:pt x="0" y="9639300"/>
                    </a:lnTo>
                    <a:lnTo>
                      <a:pt x="0" y="0"/>
                    </a:lnTo>
                    <a:close/>
                  </a:path>
                </a:pathLst>
              </a:custGeom>
              <a:blipFill>
                <a:blip r:embed="rId5"/>
                <a:stretch>
                  <a:fillRect l="0" t="0" r="0" b="0"/>
                </a:stretch>
              </a:blipFill>
            </p:spPr>
          </p:sp>
        </p:grpSp>
        <p:grpSp>
          <p:nvGrpSpPr>
            <p:cNvPr name="Group 13" id="13"/>
            <p:cNvGrpSpPr/>
            <p:nvPr/>
          </p:nvGrpSpPr>
          <p:grpSpPr>
            <a:xfrm rot="0">
              <a:off x="1428750" y="762000"/>
              <a:ext cx="8581072" cy="719379"/>
              <a:chOff x="0" y="0"/>
              <a:chExt cx="8581072" cy="719379"/>
            </a:xfrm>
          </p:grpSpPr>
          <p:sp>
            <p:nvSpPr>
              <p:cNvPr name="Freeform 14" id="14"/>
              <p:cNvSpPr/>
              <p:nvPr/>
            </p:nvSpPr>
            <p:spPr>
              <a:xfrm flipH="false" flipV="false" rot="0">
                <a:off x="0" y="0"/>
                <a:ext cx="8581072" cy="719379"/>
              </a:xfrm>
              <a:custGeom>
                <a:avLst/>
                <a:gdLst/>
                <a:ahLst/>
                <a:cxnLst/>
                <a:rect r="r" b="b" t="t" l="l"/>
                <a:pathLst>
                  <a:path h="719379" w="8581072">
                    <a:moveTo>
                      <a:pt x="0" y="0"/>
                    </a:moveTo>
                    <a:lnTo>
                      <a:pt x="8581072" y="0"/>
                    </a:lnTo>
                    <a:lnTo>
                      <a:pt x="8581072" y="719379"/>
                    </a:lnTo>
                    <a:lnTo>
                      <a:pt x="0" y="719379"/>
                    </a:lnTo>
                    <a:close/>
                  </a:path>
                </a:pathLst>
              </a:custGeom>
              <a:blipFill>
                <a:blip r:embed="rId6">
                  <a:alphaModFix amt="0"/>
                </a:blip>
                <a:stretch>
                  <a:fillRect l="0" t="-194028" r="0" b="-170823"/>
                </a:stretch>
              </a:blipFill>
            </p:spPr>
          </p:sp>
          <p:sp>
            <p:nvSpPr>
              <p:cNvPr name="TextBox 15" id="15"/>
              <p:cNvSpPr txBox="true"/>
              <p:nvPr/>
            </p:nvSpPr>
            <p:spPr>
              <a:xfrm>
                <a:off x="0" y="0"/>
                <a:ext cx="8581072" cy="719379"/>
              </a:xfrm>
              <a:prstGeom prst="rect">
                <a:avLst/>
              </a:prstGeom>
            </p:spPr>
            <p:txBody>
              <a:bodyPr anchor="ctr" rtlCol="false" tIns="0" lIns="0" bIns="0" rIns="0"/>
              <a:lstStyle/>
              <a:p>
                <a:pPr algn="l">
                  <a:lnSpc>
                    <a:spcPts val="3240"/>
                  </a:lnSpc>
                </a:pPr>
                <a:r>
                  <a:rPr lang="en-US" sz="2700" b="true">
                    <a:solidFill>
                      <a:srgbClr val="475569"/>
                    </a:solidFill>
                    <a:latin typeface="Montserrat Bold"/>
                    <a:ea typeface="Montserrat Bold"/>
                    <a:cs typeface="Montserrat Bold"/>
                    <a:sym typeface="Montserrat Bold"/>
                  </a:rPr>
                  <a:t>Kiến trúc Hiện tại</a:t>
                </a:r>
              </a:p>
            </p:txBody>
          </p:sp>
        </p:grpSp>
        <p:grpSp>
          <p:nvGrpSpPr>
            <p:cNvPr name="Group 16" id="16"/>
            <p:cNvGrpSpPr/>
            <p:nvPr/>
          </p:nvGrpSpPr>
          <p:grpSpPr>
            <a:xfrm rot="0">
              <a:off x="12534900" y="762000"/>
              <a:ext cx="8521065" cy="719379"/>
              <a:chOff x="0" y="0"/>
              <a:chExt cx="8521065" cy="719379"/>
            </a:xfrm>
          </p:grpSpPr>
          <p:sp>
            <p:nvSpPr>
              <p:cNvPr name="Freeform 17" id="17"/>
              <p:cNvSpPr/>
              <p:nvPr/>
            </p:nvSpPr>
            <p:spPr>
              <a:xfrm flipH="false" flipV="false" rot="0">
                <a:off x="0" y="0"/>
                <a:ext cx="8521064" cy="719379"/>
              </a:xfrm>
              <a:custGeom>
                <a:avLst/>
                <a:gdLst/>
                <a:ahLst/>
                <a:cxnLst/>
                <a:rect r="r" b="b" t="t" l="l"/>
                <a:pathLst>
                  <a:path h="719379" w="8521064">
                    <a:moveTo>
                      <a:pt x="0" y="0"/>
                    </a:moveTo>
                    <a:lnTo>
                      <a:pt x="8521064" y="0"/>
                    </a:lnTo>
                    <a:lnTo>
                      <a:pt x="8521064" y="719379"/>
                    </a:lnTo>
                    <a:lnTo>
                      <a:pt x="0" y="719379"/>
                    </a:lnTo>
                    <a:close/>
                  </a:path>
                </a:pathLst>
              </a:custGeom>
              <a:blipFill>
                <a:blip r:embed="rId6">
                  <a:alphaModFix amt="0"/>
                </a:blip>
                <a:stretch>
                  <a:fillRect l="0" t="-192403" r="0" b="-169198"/>
                </a:stretch>
              </a:blipFill>
            </p:spPr>
          </p:sp>
          <p:sp>
            <p:nvSpPr>
              <p:cNvPr name="TextBox 18" id="18"/>
              <p:cNvSpPr txBox="true"/>
              <p:nvPr/>
            </p:nvSpPr>
            <p:spPr>
              <a:xfrm>
                <a:off x="0" y="0"/>
                <a:ext cx="8521065" cy="719379"/>
              </a:xfrm>
              <a:prstGeom prst="rect">
                <a:avLst/>
              </a:prstGeom>
            </p:spPr>
            <p:txBody>
              <a:bodyPr anchor="ctr" rtlCol="false" tIns="0" lIns="0" bIns="0" rIns="0"/>
              <a:lstStyle/>
              <a:p>
                <a:pPr algn="l">
                  <a:lnSpc>
                    <a:spcPts val="3240"/>
                  </a:lnSpc>
                </a:pPr>
                <a:r>
                  <a:rPr lang="en-US" sz="2700" b="true">
                    <a:solidFill>
                      <a:srgbClr val="1F70C1"/>
                    </a:solidFill>
                    <a:latin typeface="Montserrat Bold"/>
                    <a:ea typeface="Montserrat Bold"/>
                    <a:cs typeface="Montserrat Bold"/>
                    <a:sym typeface="Montserrat Bold"/>
                  </a:rPr>
                  <a:t>Kiến trúc Mục tiêu </a:t>
                </a:r>
              </a:p>
            </p:txBody>
          </p:sp>
        </p:grpSp>
        <p:grpSp>
          <p:nvGrpSpPr>
            <p:cNvPr name="Group 19" id="19"/>
            <p:cNvGrpSpPr/>
            <p:nvPr/>
          </p:nvGrpSpPr>
          <p:grpSpPr>
            <a:xfrm rot="0">
              <a:off x="685800" y="809625"/>
              <a:ext cx="514350" cy="457200"/>
              <a:chOff x="0" y="0"/>
              <a:chExt cx="514350" cy="457200"/>
            </a:xfrm>
          </p:grpSpPr>
          <p:sp>
            <p:nvSpPr>
              <p:cNvPr name="Freeform 20" id="20" descr="image.png"/>
              <p:cNvSpPr/>
              <p:nvPr/>
            </p:nvSpPr>
            <p:spPr>
              <a:xfrm flipH="false" flipV="false" rot="0">
                <a:off x="0" y="0"/>
                <a:ext cx="514350" cy="457200"/>
              </a:xfrm>
              <a:custGeom>
                <a:avLst/>
                <a:gdLst/>
                <a:ahLst/>
                <a:cxnLst/>
                <a:rect r="r" b="b" t="t" l="l"/>
                <a:pathLst>
                  <a:path h="457200" w="514350">
                    <a:moveTo>
                      <a:pt x="0" y="0"/>
                    </a:moveTo>
                    <a:lnTo>
                      <a:pt x="514350" y="0"/>
                    </a:lnTo>
                    <a:lnTo>
                      <a:pt x="514350" y="457200"/>
                    </a:lnTo>
                    <a:lnTo>
                      <a:pt x="0" y="457200"/>
                    </a:lnTo>
                    <a:lnTo>
                      <a:pt x="0" y="0"/>
                    </a:lnTo>
                    <a:close/>
                  </a:path>
                </a:pathLst>
              </a:custGeom>
              <a:blipFill>
                <a:blip r:embed="rId7"/>
                <a:stretch>
                  <a:fillRect l="0" t="-2083" r="0" b="-2083"/>
                </a:stretch>
              </a:blipFill>
            </p:spPr>
          </p:sp>
        </p:grpSp>
        <p:sp>
          <p:nvSpPr>
            <p:cNvPr name="TextBox 21" id="21"/>
            <p:cNvSpPr txBox="true"/>
            <p:nvPr/>
          </p:nvSpPr>
          <p:spPr>
            <a:xfrm rot="0">
              <a:off x="1162050" y="1638300"/>
              <a:ext cx="8439150" cy="103226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Khối phần mềm nguyên khối:</a:t>
              </a:r>
              <a:r>
                <a:rPr lang="en-US" sz="1800">
                  <a:solidFill>
                    <a:srgbClr val="334155"/>
                  </a:solidFill>
                  <a:latin typeface="Open Sans"/>
                  <a:ea typeface="Open Sans"/>
                  <a:cs typeface="Open Sans"/>
                  <a:sym typeface="Open Sans"/>
                </a:rPr>
                <a:t> Mọi logic (giao diện, bán hàng, tồn kho, DB) đóng gói trong một ứng dụng duy nhất.</a:t>
              </a:r>
            </a:p>
          </p:txBody>
        </p:sp>
        <p:sp>
          <p:nvSpPr>
            <p:cNvPr name="TextBox 22" id="22"/>
            <p:cNvSpPr txBox="true"/>
            <p:nvPr/>
          </p:nvSpPr>
          <p:spPr>
            <a:xfrm rot="0">
              <a:off x="1162050" y="2956319"/>
              <a:ext cx="8439150" cy="103226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Mở rộng kém linh hoạt:</a:t>
              </a:r>
              <a:r>
                <a:rPr lang="en-US" sz="1800">
                  <a:solidFill>
                    <a:srgbClr val="334155"/>
                  </a:solidFill>
                  <a:latin typeface="Open Sans"/>
                  <a:ea typeface="Open Sans"/>
                  <a:cs typeface="Open Sans"/>
                  <a:sym typeface="Open Sans"/>
                </a:rPr>
                <a:t> Chỉ có thể mở rộng theo chiều dọc (tăng cấu hình phần cứng cho toàn bộ hệ thống).</a:t>
              </a:r>
            </a:p>
          </p:txBody>
        </p:sp>
        <p:sp>
          <p:nvSpPr>
            <p:cNvPr name="TextBox 23" id="23"/>
            <p:cNvSpPr txBox="true"/>
            <p:nvPr/>
          </p:nvSpPr>
          <p:spPr>
            <a:xfrm rot="0">
              <a:off x="1162050" y="4274337"/>
              <a:ext cx="8439150" cy="103226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Hạn chế giao tiếp:</a:t>
              </a:r>
              <a:r>
                <a:rPr lang="en-US" sz="1800">
                  <a:solidFill>
                    <a:srgbClr val="334155"/>
                  </a:solidFill>
                  <a:latin typeface="Open Sans"/>
                  <a:ea typeface="Open Sans"/>
                  <a:cs typeface="Open Sans"/>
                  <a:sym typeface="Open Sans"/>
                </a:rPr>
                <a:t> Phần mềm POS và Website hoạt động độc lập, không thể giao tiếp trực tiếp.</a:t>
              </a:r>
            </a:p>
          </p:txBody>
        </p:sp>
        <p:sp>
          <p:nvSpPr>
            <p:cNvPr name="TextBox 24" id="24"/>
            <p:cNvSpPr txBox="true"/>
            <p:nvPr/>
          </p:nvSpPr>
          <p:spPr>
            <a:xfrm rot="0">
              <a:off x="1162050" y="5592369"/>
              <a:ext cx="8439150" cy="103226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Độ trễ cao:</a:t>
              </a:r>
              <a:r>
                <a:rPr lang="en-US" sz="1800">
                  <a:solidFill>
                    <a:srgbClr val="334155"/>
                  </a:solidFill>
                  <a:latin typeface="Open Sans"/>
                  <a:ea typeface="Open Sans"/>
                  <a:cs typeface="Open Sans"/>
                  <a:sym typeface="Open Sans"/>
                </a:rPr>
                <a:t> Đồng bộ dữ liệu thủ công hoặc theo lô, không đáp ứng được yêu cầu thời gian thực.</a:t>
              </a:r>
            </a:p>
          </p:txBody>
        </p:sp>
        <p:grpSp>
          <p:nvGrpSpPr>
            <p:cNvPr name="Group 25" id="25"/>
            <p:cNvGrpSpPr/>
            <p:nvPr/>
          </p:nvGrpSpPr>
          <p:grpSpPr>
            <a:xfrm rot="0">
              <a:off x="11734800" y="809625"/>
              <a:ext cx="571500" cy="457200"/>
              <a:chOff x="0" y="0"/>
              <a:chExt cx="571500" cy="457200"/>
            </a:xfrm>
          </p:grpSpPr>
          <p:sp>
            <p:nvSpPr>
              <p:cNvPr name="Freeform 26" id="26" descr="image.png"/>
              <p:cNvSpPr/>
              <p:nvPr/>
            </p:nvSpPr>
            <p:spPr>
              <a:xfrm flipH="false" flipV="false" rot="0">
                <a:off x="0" y="0"/>
                <a:ext cx="571500" cy="457200"/>
              </a:xfrm>
              <a:custGeom>
                <a:avLst/>
                <a:gdLst/>
                <a:ahLst/>
                <a:cxnLst/>
                <a:rect r="r" b="b" t="t" l="l"/>
                <a:pathLst>
                  <a:path h="457200" w="571500">
                    <a:moveTo>
                      <a:pt x="0" y="0"/>
                    </a:moveTo>
                    <a:lnTo>
                      <a:pt x="571500" y="0"/>
                    </a:lnTo>
                    <a:lnTo>
                      <a:pt x="571500" y="457200"/>
                    </a:lnTo>
                    <a:lnTo>
                      <a:pt x="0" y="457200"/>
                    </a:lnTo>
                    <a:lnTo>
                      <a:pt x="0" y="0"/>
                    </a:lnTo>
                    <a:close/>
                  </a:path>
                </a:pathLst>
              </a:custGeom>
              <a:blipFill>
                <a:blip r:embed="rId8"/>
                <a:stretch>
                  <a:fillRect l="0" t="-2083" r="0" b="-2083"/>
                </a:stretch>
              </a:blipFill>
            </p:spPr>
          </p:sp>
        </p:grpSp>
        <p:sp>
          <p:nvSpPr>
            <p:cNvPr name="TextBox 27" id="27"/>
            <p:cNvSpPr txBox="true"/>
            <p:nvPr/>
          </p:nvSpPr>
          <p:spPr>
            <a:xfrm rot="0">
              <a:off x="12211050" y="1638300"/>
              <a:ext cx="8439150" cy="900430"/>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D</a:t>
              </a:r>
              <a:r>
                <a:rPr lang="en-US" sz="1800" b="true">
                  <a:solidFill>
                    <a:srgbClr val="334155"/>
                  </a:solidFill>
                  <a:latin typeface="Open Sans Bold"/>
                  <a:ea typeface="Open Sans Bold"/>
                  <a:cs typeface="Open Sans Bold"/>
                  <a:sym typeface="Open Sans Bold"/>
                </a:rPr>
                <a:t>ịch vụ độc lập:</a:t>
              </a:r>
              <a:r>
                <a:rPr lang="en-US" sz="1800">
                  <a:solidFill>
                    <a:srgbClr val="334155"/>
                  </a:solidFill>
                  <a:latin typeface="Open Sans"/>
                  <a:ea typeface="Open Sans"/>
                  <a:cs typeface="Open Sans"/>
                  <a:sym typeface="Open Sans"/>
                </a:rPr>
                <a:t> Chia nhỏ ứng dụng thành các dịch vụ riêng biệt (Bán hàng, Tồn kho, CRM).</a:t>
              </a:r>
            </a:p>
          </p:txBody>
        </p:sp>
        <p:sp>
          <p:nvSpPr>
            <p:cNvPr name="TextBox 28" id="28"/>
            <p:cNvSpPr txBox="true"/>
            <p:nvPr/>
          </p:nvSpPr>
          <p:spPr>
            <a:xfrm rot="0">
              <a:off x="12211050" y="2956319"/>
              <a:ext cx="8439150" cy="103226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Mở rộng linh hoạt:</a:t>
              </a:r>
              <a:r>
                <a:rPr lang="en-US" sz="1800">
                  <a:solidFill>
                    <a:srgbClr val="334155"/>
                  </a:solidFill>
                  <a:latin typeface="Open Sans"/>
                  <a:ea typeface="Open Sans"/>
                  <a:cs typeface="Open Sans"/>
                  <a:sym typeface="Open Sans"/>
                </a:rPr>
                <a:t> Chủ động tăng tài nguyên riêng cho dịch vụ Tồn kho/Bán hàng vào mùa cao điểm du lịch.</a:t>
              </a:r>
            </a:p>
          </p:txBody>
        </p:sp>
        <p:sp>
          <p:nvSpPr>
            <p:cNvPr name="TextBox 29" id="29"/>
            <p:cNvSpPr txBox="true"/>
            <p:nvPr/>
          </p:nvSpPr>
          <p:spPr>
            <a:xfrm rot="0">
              <a:off x="12211050" y="4274337"/>
              <a:ext cx="8439150" cy="103226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Triển khai không gián đoạn:</a:t>
              </a:r>
              <a:r>
                <a:rPr lang="en-US" sz="1800">
                  <a:solidFill>
                    <a:srgbClr val="334155"/>
                  </a:solidFill>
                  <a:latin typeface="Open Sans"/>
                  <a:ea typeface="Open Sans"/>
                  <a:cs typeface="Open Sans"/>
                  <a:sym typeface="Open Sans"/>
                </a:rPr>
                <a:t> Cập nhật một chức năng nhỏ không yêu cầu tạm dừng toàn bộ hệ thống.</a:t>
              </a:r>
            </a:p>
          </p:txBody>
        </p:sp>
        <p:sp>
          <p:nvSpPr>
            <p:cNvPr name="TextBox 30" id="30"/>
            <p:cNvSpPr txBox="true"/>
            <p:nvPr/>
          </p:nvSpPr>
          <p:spPr>
            <a:xfrm rot="0">
              <a:off x="12211050" y="5592369"/>
              <a:ext cx="8439150" cy="103226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Giao tiếp API &amp; Sự kiện:</a:t>
              </a:r>
              <a:r>
                <a:rPr lang="en-US" sz="1800">
                  <a:solidFill>
                    <a:srgbClr val="334155"/>
                  </a:solidFill>
                  <a:latin typeface="Open Sans"/>
                  <a:ea typeface="Open Sans"/>
                  <a:cs typeface="Open Sans"/>
                  <a:sym typeface="Open Sans"/>
                </a:rPr>
                <a:t> Giao tiếp qua API và Message Broker đáp ứng yêu cầu xử lý thời gian thực.</a:t>
              </a:r>
            </a:p>
          </p:txBody>
        </p:sp>
        <p:grpSp>
          <p:nvGrpSpPr>
            <p:cNvPr name="Group 31" id="31"/>
            <p:cNvGrpSpPr/>
            <p:nvPr/>
          </p:nvGrpSpPr>
          <p:grpSpPr>
            <a:xfrm rot="0">
              <a:off x="685800" y="1752600"/>
              <a:ext cx="209550" cy="285750"/>
              <a:chOff x="0" y="0"/>
              <a:chExt cx="209550" cy="285750"/>
            </a:xfrm>
          </p:grpSpPr>
          <p:sp>
            <p:nvSpPr>
              <p:cNvPr name="Freeform 32" id="32" descr="image.png"/>
              <p:cNvSpPr/>
              <p:nvPr/>
            </p:nvSpPr>
            <p:spPr>
              <a:xfrm flipH="false" flipV="false" rot="0">
                <a:off x="0" y="0"/>
                <a:ext cx="209550" cy="285750"/>
              </a:xfrm>
              <a:custGeom>
                <a:avLst/>
                <a:gdLst/>
                <a:ahLst/>
                <a:cxnLst/>
                <a:rect r="r" b="b" t="t" l="l"/>
                <a:pathLst>
                  <a:path h="285750" w="209550">
                    <a:moveTo>
                      <a:pt x="0" y="0"/>
                    </a:moveTo>
                    <a:lnTo>
                      <a:pt x="209550" y="0"/>
                    </a:lnTo>
                    <a:lnTo>
                      <a:pt x="209550" y="285750"/>
                    </a:lnTo>
                    <a:lnTo>
                      <a:pt x="0" y="285750"/>
                    </a:lnTo>
                    <a:lnTo>
                      <a:pt x="0" y="0"/>
                    </a:lnTo>
                    <a:close/>
                  </a:path>
                </a:pathLst>
              </a:custGeom>
              <a:blipFill>
                <a:blip r:embed="rId9"/>
                <a:stretch>
                  <a:fillRect l="0" t="0" r="0" b="0"/>
                </a:stretch>
              </a:blipFill>
            </p:spPr>
          </p:sp>
        </p:grpSp>
        <p:grpSp>
          <p:nvGrpSpPr>
            <p:cNvPr name="Group 33" id="33"/>
            <p:cNvGrpSpPr/>
            <p:nvPr/>
          </p:nvGrpSpPr>
          <p:grpSpPr>
            <a:xfrm rot="0">
              <a:off x="685800" y="3070619"/>
              <a:ext cx="209550" cy="285750"/>
              <a:chOff x="0" y="0"/>
              <a:chExt cx="209550" cy="285750"/>
            </a:xfrm>
          </p:grpSpPr>
          <p:sp>
            <p:nvSpPr>
              <p:cNvPr name="Freeform 34" id="34" descr="image.png"/>
              <p:cNvSpPr/>
              <p:nvPr/>
            </p:nvSpPr>
            <p:spPr>
              <a:xfrm flipH="false" flipV="false" rot="0">
                <a:off x="0" y="0"/>
                <a:ext cx="209550" cy="285750"/>
              </a:xfrm>
              <a:custGeom>
                <a:avLst/>
                <a:gdLst/>
                <a:ahLst/>
                <a:cxnLst/>
                <a:rect r="r" b="b" t="t" l="l"/>
                <a:pathLst>
                  <a:path h="285750" w="209550">
                    <a:moveTo>
                      <a:pt x="0" y="0"/>
                    </a:moveTo>
                    <a:lnTo>
                      <a:pt x="209550" y="0"/>
                    </a:lnTo>
                    <a:lnTo>
                      <a:pt x="209550" y="285750"/>
                    </a:lnTo>
                    <a:lnTo>
                      <a:pt x="0" y="285750"/>
                    </a:lnTo>
                    <a:lnTo>
                      <a:pt x="0" y="0"/>
                    </a:lnTo>
                    <a:close/>
                  </a:path>
                </a:pathLst>
              </a:custGeom>
              <a:blipFill>
                <a:blip r:embed="rId9"/>
                <a:stretch>
                  <a:fillRect l="0" t="0" r="0" b="0"/>
                </a:stretch>
              </a:blipFill>
            </p:spPr>
          </p:sp>
        </p:grpSp>
        <p:grpSp>
          <p:nvGrpSpPr>
            <p:cNvPr name="Group 35" id="35"/>
            <p:cNvGrpSpPr/>
            <p:nvPr/>
          </p:nvGrpSpPr>
          <p:grpSpPr>
            <a:xfrm rot="0">
              <a:off x="685800" y="4388637"/>
              <a:ext cx="209550" cy="285750"/>
              <a:chOff x="0" y="0"/>
              <a:chExt cx="209550" cy="285750"/>
            </a:xfrm>
          </p:grpSpPr>
          <p:sp>
            <p:nvSpPr>
              <p:cNvPr name="Freeform 36" id="36" descr="image.png"/>
              <p:cNvSpPr/>
              <p:nvPr/>
            </p:nvSpPr>
            <p:spPr>
              <a:xfrm flipH="false" flipV="false" rot="0">
                <a:off x="0" y="0"/>
                <a:ext cx="209550" cy="285750"/>
              </a:xfrm>
              <a:custGeom>
                <a:avLst/>
                <a:gdLst/>
                <a:ahLst/>
                <a:cxnLst/>
                <a:rect r="r" b="b" t="t" l="l"/>
                <a:pathLst>
                  <a:path h="285750" w="209550">
                    <a:moveTo>
                      <a:pt x="0" y="0"/>
                    </a:moveTo>
                    <a:lnTo>
                      <a:pt x="209550" y="0"/>
                    </a:lnTo>
                    <a:lnTo>
                      <a:pt x="209550" y="285750"/>
                    </a:lnTo>
                    <a:lnTo>
                      <a:pt x="0" y="285750"/>
                    </a:lnTo>
                    <a:lnTo>
                      <a:pt x="0" y="0"/>
                    </a:lnTo>
                    <a:close/>
                  </a:path>
                </a:pathLst>
              </a:custGeom>
              <a:blipFill>
                <a:blip r:embed="rId9"/>
                <a:stretch>
                  <a:fillRect l="0" t="0" r="0" b="0"/>
                </a:stretch>
              </a:blipFill>
            </p:spPr>
          </p:sp>
        </p:grpSp>
        <p:grpSp>
          <p:nvGrpSpPr>
            <p:cNvPr name="Group 37" id="37"/>
            <p:cNvGrpSpPr/>
            <p:nvPr/>
          </p:nvGrpSpPr>
          <p:grpSpPr>
            <a:xfrm rot="0">
              <a:off x="685800" y="5706669"/>
              <a:ext cx="209550" cy="285750"/>
              <a:chOff x="0" y="0"/>
              <a:chExt cx="209550" cy="285750"/>
            </a:xfrm>
          </p:grpSpPr>
          <p:sp>
            <p:nvSpPr>
              <p:cNvPr name="Freeform 38" id="38" descr="image.png"/>
              <p:cNvSpPr/>
              <p:nvPr/>
            </p:nvSpPr>
            <p:spPr>
              <a:xfrm flipH="false" flipV="false" rot="0">
                <a:off x="0" y="0"/>
                <a:ext cx="209550" cy="285750"/>
              </a:xfrm>
              <a:custGeom>
                <a:avLst/>
                <a:gdLst/>
                <a:ahLst/>
                <a:cxnLst/>
                <a:rect r="r" b="b" t="t" l="l"/>
                <a:pathLst>
                  <a:path h="285750" w="209550">
                    <a:moveTo>
                      <a:pt x="0" y="0"/>
                    </a:moveTo>
                    <a:lnTo>
                      <a:pt x="209550" y="0"/>
                    </a:lnTo>
                    <a:lnTo>
                      <a:pt x="209550" y="285750"/>
                    </a:lnTo>
                    <a:lnTo>
                      <a:pt x="0" y="285750"/>
                    </a:lnTo>
                    <a:lnTo>
                      <a:pt x="0" y="0"/>
                    </a:lnTo>
                    <a:close/>
                  </a:path>
                </a:pathLst>
              </a:custGeom>
              <a:blipFill>
                <a:blip r:embed="rId9"/>
                <a:stretch>
                  <a:fillRect l="0" t="0" r="0" b="0"/>
                </a:stretch>
              </a:blipFill>
            </p:spPr>
          </p:sp>
        </p:grpSp>
        <p:grpSp>
          <p:nvGrpSpPr>
            <p:cNvPr name="Group 39" id="39"/>
            <p:cNvGrpSpPr/>
            <p:nvPr/>
          </p:nvGrpSpPr>
          <p:grpSpPr>
            <a:xfrm rot="0">
              <a:off x="11734800" y="1752600"/>
              <a:ext cx="228600" cy="285750"/>
              <a:chOff x="0" y="0"/>
              <a:chExt cx="228600" cy="285750"/>
            </a:xfrm>
          </p:grpSpPr>
          <p:sp>
            <p:nvSpPr>
              <p:cNvPr name="Freeform 40" id="40" descr="image.png"/>
              <p:cNvSpPr/>
              <p:nvPr/>
            </p:nvSpPr>
            <p:spPr>
              <a:xfrm flipH="false" flipV="false" rot="0">
                <a:off x="0" y="0"/>
                <a:ext cx="228600" cy="285750"/>
              </a:xfrm>
              <a:custGeom>
                <a:avLst/>
                <a:gdLst/>
                <a:ahLst/>
                <a:cxnLst/>
                <a:rect r="r" b="b" t="t" l="l"/>
                <a:pathLst>
                  <a:path h="285750" w="228600">
                    <a:moveTo>
                      <a:pt x="0" y="0"/>
                    </a:moveTo>
                    <a:lnTo>
                      <a:pt x="228600" y="0"/>
                    </a:lnTo>
                    <a:lnTo>
                      <a:pt x="228600" y="285750"/>
                    </a:lnTo>
                    <a:lnTo>
                      <a:pt x="0" y="285750"/>
                    </a:lnTo>
                    <a:lnTo>
                      <a:pt x="0" y="0"/>
                    </a:lnTo>
                    <a:close/>
                  </a:path>
                </a:pathLst>
              </a:custGeom>
              <a:blipFill>
                <a:blip r:embed="rId10"/>
                <a:stretch>
                  <a:fillRect l="0" t="0" r="0" b="0"/>
                </a:stretch>
              </a:blipFill>
            </p:spPr>
          </p:sp>
        </p:grpSp>
        <p:grpSp>
          <p:nvGrpSpPr>
            <p:cNvPr name="Group 41" id="41"/>
            <p:cNvGrpSpPr/>
            <p:nvPr/>
          </p:nvGrpSpPr>
          <p:grpSpPr>
            <a:xfrm rot="0">
              <a:off x="11734800" y="3070619"/>
              <a:ext cx="228600" cy="285750"/>
              <a:chOff x="0" y="0"/>
              <a:chExt cx="228600" cy="285750"/>
            </a:xfrm>
          </p:grpSpPr>
          <p:sp>
            <p:nvSpPr>
              <p:cNvPr name="Freeform 42" id="42" descr="image.png"/>
              <p:cNvSpPr/>
              <p:nvPr/>
            </p:nvSpPr>
            <p:spPr>
              <a:xfrm flipH="false" flipV="false" rot="0">
                <a:off x="0" y="0"/>
                <a:ext cx="228600" cy="285750"/>
              </a:xfrm>
              <a:custGeom>
                <a:avLst/>
                <a:gdLst/>
                <a:ahLst/>
                <a:cxnLst/>
                <a:rect r="r" b="b" t="t" l="l"/>
                <a:pathLst>
                  <a:path h="285750" w="228600">
                    <a:moveTo>
                      <a:pt x="0" y="0"/>
                    </a:moveTo>
                    <a:lnTo>
                      <a:pt x="228600" y="0"/>
                    </a:lnTo>
                    <a:lnTo>
                      <a:pt x="228600" y="285750"/>
                    </a:lnTo>
                    <a:lnTo>
                      <a:pt x="0" y="285750"/>
                    </a:lnTo>
                    <a:lnTo>
                      <a:pt x="0" y="0"/>
                    </a:lnTo>
                    <a:close/>
                  </a:path>
                </a:pathLst>
              </a:custGeom>
              <a:blipFill>
                <a:blip r:embed="rId10"/>
                <a:stretch>
                  <a:fillRect l="0" t="0" r="0" b="0"/>
                </a:stretch>
              </a:blipFill>
            </p:spPr>
          </p:sp>
        </p:grpSp>
        <p:grpSp>
          <p:nvGrpSpPr>
            <p:cNvPr name="Group 43" id="43"/>
            <p:cNvGrpSpPr/>
            <p:nvPr/>
          </p:nvGrpSpPr>
          <p:grpSpPr>
            <a:xfrm rot="0">
              <a:off x="11734800" y="4388637"/>
              <a:ext cx="228600" cy="285750"/>
              <a:chOff x="0" y="0"/>
              <a:chExt cx="228600" cy="285750"/>
            </a:xfrm>
          </p:grpSpPr>
          <p:sp>
            <p:nvSpPr>
              <p:cNvPr name="Freeform 44" id="44" descr="image.png"/>
              <p:cNvSpPr/>
              <p:nvPr/>
            </p:nvSpPr>
            <p:spPr>
              <a:xfrm flipH="false" flipV="false" rot="0">
                <a:off x="0" y="0"/>
                <a:ext cx="228600" cy="285750"/>
              </a:xfrm>
              <a:custGeom>
                <a:avLst/>
                <a:gdLst/>
                <a:ahLst/>
                <a:cxnLst/>
                <a:rect r="r" b="b" t="t" l="l"/>
                <a:pathLst>
                  <a:path h="285750" w="228600">
                    <a:moveTo>
                      <a:pt x="0" y="0"/>
                    </a:moveTo>
                    <a:lnTo>
                      <a:pt x="228600" y="0"/>
                    </a:lnTo>
                    <a:lnTo>
                      <a:pt x="228600" y="285750"/>
                    </a:lnTo>
                    <a:lnTo>
                      <a:pt x="0" y="285750"/>
                    </a:lnTo>
                    <a:lnTo>
                      <a:pt x="0" y="0"/>
                    </a:lnTo>
                    <a:close/>
                  </a:path>
                </a:pathLst>
              </a:custGeom>
              <a:blipFill>
                <a:blip r:embed="rId10"/>
                <a:stretch>
                  <a:fillRect l="0" t="0" r="0" b="0"/>
                </a:stretch>
              </a:blipFill>
            </p:spPr>
          </p:sp>
        </p:grpSp>
        <p:grpSp>
          <p:nvGrpSpPr>
            <p:cNvPr name="Group 45" id="45"/>
            <p:cNvGrpSpPr/>
            <p:nvPr/>
          </p:nvGrpSpPr>
          <p:grpSpPr>
            <a:xfrm rot="0">
              <a:off x="11734800" y="5706669"/>
              <a:ext cx="228600" cy="285750"/>
              <a:chOff x="0" y="0"/>
              <a:chExt cx="228600" cy="285750"/>
            </a:xfrm>
          </p:grpSpPr>
          <p:sp>
            <p:nvSpPr>
              <p:cNvPr name="Freeform 46" id="46" descr="image.png"/>
              <p:cNvSpPr/>
              <p:nvPr/>
            </p:nvSpPr>
            <p:spPr>
              <a:xfrm flipH="false" flipV="false" rot="0">
                <a:off x="0" y="0"/>
                <a:ext cx="228600" cy="285750"/>
              </a:xfrm>
              <a:custGeom>
                <a:avLst/>
                <a:gdLst/>
                <a:ahLst/>
                <a:cxnLst/>
                <a:rect r="r" b="b" t="t" l="l"/>
                <a:pathLst>
                  <a:path h="285750" w="228600">
                    <a:moveTo>
                      <a:pt x="0" y="0"/>
                    </a:moveTo>
                    <a:lnTo>
                      <a:pt x="228600" y="0"/>
                    </a:lnTo>
                    <a:lnTo>
                      <a:pt x="228600" y="285750"/>
                    </a:lnTo>
                    <a:lnTo>
                      <a:pt x="0" y="285750"/>
                    </a:lnTo>
                    <a:lnTo>
                      <a:pt x="0" y="0"/>
                    </a:lnTo>
                    <a:close/>
                  </a:path>
                </a:pathLst>
              </a:custGeom>
              <a:blipFill>
                <a:blip r:embed="rId10"/>
                <a:stretch>
                  <a:fillRect l="0" t="0" r="0" b="0"/>
                </a:stretch>
              </a:blipFill>
            </p:spPr>
          </p:sp>
        </p:gr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98" y="1212675"/>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CÁC ỨNG DỤNG LÕI ĐA KÊNH</a:t>
            </a:r>
          </a:p>
        </p:txBody>
      </p:sp>
      <p:grpSp>
        <p:nvGrpSpPr>
          <p:cNvPr name="Group 8" id="8"/>
          <p:cNvGrpSpPr/>
          <p:nvPr/>
        </p:nvGrpSpPr>
        <p:grpSpPr>
          <a:xfrm rot="0">
            <a:off x="1143000" y="2343150"/>
            <a:ext cx="7822406" cy="2771775"/>
            <a:chOff x="0" y="0"/>
            <a:chExt cx="10429875" cy="3695700"/>
          </a:xfrm>
        </p:grpSpPr>
        <p:sp>
          <p:nvSpPr>
            <p:cNvPr name="Freeform 9" id="9" descr="image.png"/>
            <p:cNvSpPr/>
            <p:nvPr/>
          </p:nvSpPr>
          <p:spPr>
            <a:xfrm flipH="false" flipV="false" rot="0">
              <a:off x="0" y="0"/>
              <a:ext cx="10429875" cy="3695700"/>
            </a:xfrm>
            <a:custGeom>
              <a:avLst/>
              <a:gdLst/>
              <a:ahLst/>
              <a:cxnLst/>
              <a:rect r="r" b="b" t="t" l="l"/>
              <a:pathLst>
                <a:path h="3695700" w="10429875">
                  <a:moveTo>
                    <a:pt x="0" y="0"/>
                  </a:moveTo>
                  <a:lnTo>
                    <a:pt x="10429875" y="0"/>
                  </a:lnTo>
                  <a:lnTo>
                    <a:pt x="10429875" y="3695700"/>
                  </a:lnTo>
                  <a:lnTo>
                    <a:pt x="0" y="3695700"/>
                  </a:lnTo>
                  <a:lnTo>
                    <a:pt x="0" y="0"/>
                  </a:lnTo>
                  <a:close/>
                </a:path>
              </a:pathLst>
            </a:custGeom>
            <a:blipFill>
              <a:blip r:embed="rId4"/>
              <a:stretch>
                <a:fillRect l="-45" t="0" r="-45" b="0"/>
              </a:stretch>
            </a:blipFill>
          </p:spPr>
        </p:sp>
      </p:grpSp>
      <p:grpSp>
        <p:nvGrpSpPr>
          <p:cNvPr name="Group 10" id="10"/>
          <p:cNvGrpSpPr/>
          <p:nvPr/>
        </p:nvGrpSpPr>
        <p:grpSpPr>
          <a:xfrm rot="0">
            <a:off x="9322594" y="2343150"/>
            <a:ext cx="7822406" cy="2771775"/>
            <a:chOff x="0" y="0"/>
            <a:chExt cx="10429875" cy="3695700"/>
          </a:xfrm>
        </p:grpSpPr>
        <p:sp>
          <p:nvSpPr>
            <p:cNvPr name="Freeform 11" id="11" descr="image.png"/>
            <p:cNvSpPr/>
            <p:nvPr/>
          </p:nvSpPr>
          <p:spPr>
            <a:xfrm flipH="false" flipV="false" rot="0">
              <a:off x="0" y="0"/>
              <a:ext cx="10429875" cy="3695700"/>
            </a:xfrm>
            <a:custGeom>
              <a:avLst/>
              <a:gdLst/>
              <a:ahLst/>
              <a:cxnLst/>
              <a:rect r="r" b="b" t="t" l="l"/>
              <a:pathLst>
                <a:path h="3695700" w="10429875">
                  <a:moveTo>
                    <a:pt x="0" y="0"/>
                  </a:moveTo>
                  <a:lnTo>
                    <a:pt x="10429875" y="0"/>
                  </a:lnTo>
                  <a:lnTo>
                    <a:pt x="10429875" y="3695700"/>
                  </a:lnTo>
                  <a:lnTo>
                    <a:pt x="0" y="3695700"/>
                  </a:lnTo>
                  <a:lnTo>
                    <a:pt x="0" y="0"/>
                  </a:lnTo>
                  <a:close/>
                </a:path>
              </a:pathLst>
            </a:custGeom>
            <a:blipFill>
              <a:blip r:embed="rId5"/>
              <a:stretch>
                <a:fillRect l="-45" t="0" r="-45" b="0"/>
              </a:stretch>
            </a:blipFill>
          </p:spPr>
        </p:sp>
      </p:grpSp>
      <p:grpSp>
        <p:nvGrpSpPr>
          <p:cNvPr name="Group 12" id="12"/>
          <p:cNvGrpSpPr/>
          <p:nvPr/>
        </p:nvGrpSpPr>
        <p:grpSpPr>
          <a:xfrm rot="0">
            <a:off x="1143000" y="5472112"/>
            <a:ext cx="7822406" cy="2771775"/>
            <a:chOff x="0" y="0"/>
            <a:chExt cx="10429875" cy="3695700"/>
          </a:xfrm>
        </p:grpSpPr>
        <p:sp>
          <p:nvSpPr>
            <p:cNvPr name="Freeform 13" id="13" descr="image.png"/>
            <p:cNvSpPr/>
            <p:nvPr/>
          </p:nvSpPr>
          <p:spPr>
            <a:xfrm flipH="false" flipV="false" rot="0">
              <a:off x="0" y="0"/>
              <a:ext cx="10429875" cy="3695700"/>
            </a:xfrm>
            <a:custGeom>
              <a:avLst/>
              <a:gdLst/>
              <a:ahLst/>
              <a:cxnLst/>
              <a:rect r="r" b="b" t="t" l="l"/>
              <a:pathLst>
                <a:path h="3695700" w="10429875">
                  <a:moveTo>
                    <a:pt x="0" y="0"/>
                  </a:moveTo>
                  <a:lnTo>
                    <a:pt x="10429875" y="0"/>
                  </a:lnTo>
                  <a:lnTo>
                    <a:pt x="10429875" y="3695700"/>
                  </a:lnTo>
                  <a:lnTo>
                    <a:pt x="0" y="3695700"/>
                  </a:lnTo>
                  <a:lnTo>
                    <a:pt x="0" y="0"/>
                  </a:lnTo>
                  <a:close/>
                </a:path>
              </a:pathLst>
            </a:custGeom>
            <a:blipFill>
              <a:blip r:embed="rId6"/>
              <a:stretch>
                <a:fillRect l="-45" t="0" r="-45" b="0"/>
              </a:stretch>
            </a:blipFill>
          </p:spPr>
        </p:sp>
      </p:grpSp>
      <p:grpSp>
        <p:nvGrpSpPr>
          <p:cNvPr name="Group 14" id="14"/>
          <p:cNvGrpSpPr/>
          <p:nvPr/>
        </p:nvGrpSpPr>
        <p:grpSpPr>
          <a:xfrm rot="0">
            <a:off x="9322594" y="5472112"/>
            <a:ext cx="7822406" cy="2771775"/>
            <a:chOff x="0" y="0"/>
            <a:chExt cx="10429875" cy="3695700"/>
          </a:xfrm>
        </p:grpSpPr>
        <p:sp>
          <p:nvSpPr>
            <p:cNvPr name="Freeform 15" id="15" descr="image.png"/>
            <p:cNvSpPr/>
            <p:nvPr/>
          </p:nvSpPr>
          <p:spPr>
            <a:xfrm flipH="false" flipV="false" rot="0">
              <a:off x="0" y="0"/>
              <a:ext cx="10429875" cy="3695700"/>
            </a:xfrm>
            <a:custGeom>
              <a:avLst/>
              <a:gdLst/>
              <a:ahLst/>
              <a:cxnLst/>
              <a:rect r="r" b="b" t="t" l="l"/>
              <a:pathLst>
                <a:path h="3695700" w="10429875">
                  <a:moveTo>
                    <a:pt x="0" y="0"/>
                  </a:moveTo>
                  <a:lnTo>
                    <a:pt x="10429875" y="0"/>
                  </a:lnTo>
                  <a:lnTo>
                    <a:pt x="10429875" y="3695700"/>
                  </a:lnTo>
                  <a:lnTo>
                    <a:pt x="0" y="3695700"/>
                  </a:lnTo>
                  <a:lnTo>
                    <a:pt x="0" y="0"/>
                  </a:lnTo>
                  <a:close/>
                </a:path>
              </a:pathLst>
            </a:custGeom>
            <a:blipFill>
              <a:blip r:embed="rId5"/>
              <a:stretch>
                <a:fillRect l="-45" t="0" r="-45" b="0"/>
              </a:stretch>
            </a:blipFill>
          </p:spPr>
        </p:sp>
      </p:grpSp>
      <p:grpSp>
        <p:nvGrpSpPr>
          <p:cNvPr name="Group 16" id="16"/>
          <p:cNvGrpSpPr/>
          <p:nvPr/>
        </p:nvGrpSpPr>
        <p:grpSpPr>
          <a:xfrm rot="0">
            <a:off x="1585912" y="2857500"/>
            <a:ext cx="714375" cy="714375"/>
            <a:chOff x="0" y="0"/>
            <a:chExt cx="952500" cy="952500"/>
          </a:xfrm>
        </p:grpSpPr>
        <p:sp>
          <p:nvSpPr>
            <p:cNvPr name="Freeform 17" id="17" descr="image.png"/>
            <p:cNvSpPr/>
            <p:nvPr/>
          </p:nvSpPr>
          <p:spPr>
            <a:xfrm flipH="false" flipV="false" rot="0">
              <a:off x="0" y="0"/>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7"/>
              <a:stretch>
                <a:fillRect l="0" t="0" r="0" b="0"/>
              </a:stretch>
            </a:blipFill>
          </p:spPr>
        </p:sp>
      </p:grpSp>
      <p:grpSp>
        <p:nvGrpSpPr>
          <p:cNvPr name="Group 18" id="18"/>
          <p:cNvGrpSpPr/>
          <p:nvPr/>
        </p:nvGrpSpPr>
        <p:grpSpPr>
          <a:xfrm rot="0">
            <a:off x="9765506" y="2857500"/>
            <a:ext cx="714375" cy="714375"/>
            <a:chOff x="0" y="0"/>
            <a:chExt cx="952500" cy="952500"/>
          </a:xfrm>
        </p:grpSpPr>
        <p:sp>
          <p:nvSpPr>
            <p:cNvPr name="Freeform 19" id="19" descr="image.png"/>
            <p:cNvSpPr/>
            <p:nvPr/>
          </p:nvSpPr>
          <p:spPr>
            <a:xfrm flipH="false" flipV="false" rot="0">
              <a:off x="0" y="0"/>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8"/>
              <a:stretch>
                <a:fillRect l="-1000" t="0" r="-1000" b="0"/>
              </a:stretch>
            </a:blipFill>
          </p:spPr>
        </p:sp>
      </p:grpSp>
      <p:grpSp>
        <p:nvGrpSpPr>
          <p:cNvPr name="Group 20" id="20"/>
          <p:cNvGrpSpPr/>
          <p:nvPr/>
        </p:nvGrpSpPr>
        <p:grpSpPr>
          <a:xfrm rot="0">
            <a:off x="1585912" y="5986462"/>
            <a:ext cx="714375" cy="714375"/>
            <a:chOff x="0" y="0"/>
            <a:chExt cx="952500" cy="952500"/>
          </a:xfrm>
        </p:grpSpPr>
        <p:sp>
          <p:nvSpPr>
            <p:cNvPr name="Freeform 21" id="21" descr="image.png"/>
            <p:cNvSpPr/>
            <p:nvPr/>
          </p:nvSpPr>
          <p:spPr>
            <a:xfrm flipH="false" flipV="false" rot="0">
              <a:off x="0" y="0"/>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9"/>
              <a:stretch>
                <a:fillRect l="0" t="0" r="0" b="0"/>
              </a:stretch>
            </a:blipFill>
          </p:spPr>
        </p:sp>
      </p:grpSp>
      <p:grpSp>
        <p:nvGrpSpPr>
          <p:cNvPr name="Group 22" id="22"/>
          <p:cNvGrpSpPr/>
          <p:nvPr/>
        </p:nvGrpSpPr>
        <p:grpSpPr>
          <a:xfrm rot="0">
            <a:off x="9765506" y="5986462"/>
            <a:ext cx="714375" cy="714375"/>
            <a:chOff x="0" y="0"/>
            <a:chExt cx="952500" cy="952500"/>
          </a:xfrm>
        </p:grpSpPr>
        <p:sp>
          <p:nvSpPr>
            <p:cNvPr name="Freeform 23" id="23" descr="image.png"/>
            <p:cNvSpPr/>
            <p:nvPr/>
          </p:nvSpPr>
          <p:spPr>
            <a:xfrm flipH="false" flipV="false" rot="0">
              <a:off x="0" y="0"/>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8"/>
              <a:stretch>
                <a:fillRect l="-1000" t="0" r="-1000" b="0"/>
              </a:stretch>
            </a:blipFill>
          </p:spPr>
        </p:sp>
      </p:grpSp>
      <p:grpSp>
        <p:nvGrpSpPr>
          <p:cNvPr name="Group 24" id="24"/>
          <p:cNvGrpSpPr/>
          <p:nvPr/>
        </p:nvGrpSpPr>
        <p:grpSpPr>
          <a:xfrm rot="0">
            <a:off x="1764506" y="3057525"/>
            <a:ext cx="357188" cy="314325"/>
            <a:chOff x="0" y="0"/>
            <a:chExt cx="476250" cy="419100"/>
          </a:xfrm>
        </p:grpSpPr>
        <p:sp>
          <p:nvSpPr>
            <p:cNvPr name="Freeform 25" id="25" descr="image.png"/>
            <p:cNvSpPr/>
            <p:nvPr/>
          </p:nvSpPr>
          <p:spPr>
            <a:xfrm flipH="false" flipV="false" rot="0">
              <a:off x="0" y="0"/>
              <a:ext cx="476250" cy="419100"/>
            </a:xfrm>
            <a:custGeom>
              <a:avLst/>
              <a:gdLst/>
              <a:ahLst/>
              <a:cxnLst/>
              <a:rect r="r" b="b" t="t" l="l"/>
              <a:pathLst>
                <a:path h="419100" w="476250">
                  <a:moveTo>
                    <a:pt x="0" y="0"/>
                  </a:moveTo>
                  <a:lnTo>
                    <a:pt x="476250" y="0"/>
                  </a:lnTo>
                  <a:lnTo>
                    <a:pt x="476250" y="419100"/>
                  </a:lnTo>
                  <a:lnTo>
                    <a:pt x="0" y="419100"/>
                  </a:lnTo>
                  <a:lnTo>
                    <a:pt x="0" y="0"/>
                  </a:lnTo>
                  <a:close/>
                </a:path>
              </a:pathLst>
            </a:custGeom>
            <a:blipFill>
              <a:blip r:embed="rId10"/>
              <a:stretch>
                <a:fillRect l="-2000" t="0" r="-2000" b="0"/>
              </a:stretch>
            </a:blipFill>
          </p:spPr>
        </p:sp>
      </p:grpSp>
      <p:sp>
        <p:nvSpPr>
          <p:cNvPr name="TextBox 26" id="26"/>
          <p:cNvSpPr txBox="true"/>
          <p:nvPr/>
        </p:nvSpPr>
        <p:spPr>
          <a:xfrm rot="0">
            <a:off x="2586038" y="2757487"/>
            <a:ext cx="4086076" cy="371475"/>
          </a:xfrm>
          <a:prstGeom prst="rect">
            <a:avLst/>
          </a:prstGeom>
        </p:spPr>
        <p:txBody>
          <a:bodyPr anchor="t" rtlCol="false" tIns="0" lIns="0" bIns="0" rIns="0">
            <a:spAutoFit/>
          </a:bodyPr>
          <a:lstStyle/>
          <a:p>
            <a:pPr algn="l">
              <a:lnSpc>
                <a:spcPts val="2925"/>
              </a:lnSpc>
            </a:pPr>
            <a:r>
              <a:rPr lang="en-US" sz="2250" b="true">
                <a:solidFill>
                  <a:srgbClr val="051C2C"/>
                </a:solidFill>
                <a:latin typeface="Montserrat Bold"/>
                <a:ea typeface="Montserrat Bold"/>
                <a:cs typeface="Montserrat Bold"/>
                <a:sym typeface="Montserrat Bold"/>
              </a:rPr>
              <a:t>Ứng dụng Bán hàng (Sales)</a:t>
            </a:r>
          </a:p>
        </p:txBody>
      </p:sp>
      <p:sp>
        <p:nvSpPr>
          <p:cNvPr name="TextBox 27" id="27"/>
          <p:cNvSpPr txBox="true"/>
          <p:nvPr/>
        </p:nvSpPr>
        <p:spPr>
          <a:xfrm rot="0">
            <a:off x="2586038" y="3233737"/>
            <a:ext cx="5936456" cy="1438275"/>
          </a:xfrm>
          <a:prstGeom prst="rect">
            <a:avLst/>
          </a:prstGeom>
        </p:spPr>
        <p:txBody>
          <a:bodyPr anchor="t" rtlCol="false" tIns="0" lIns="0" bIns="0" rIns="0">
            <a:spAutoFit/>
          </a:bodyPr>
          <a:lstStyle/>
          <a:p>
            <a:pPr algn="l">
              <a:lnSpc>
                <a:spcPts val="2700"/>
              </a:lnSpc>
            </a:pPr>
            <a:r>
              <a:rPr lang="en-US" sz="1687">
                <a:solidFill>
                  <a:srgbClr val="475569"/>
                </a:solidFill>
                <a:latin typeface="Open Sans"/>
                <a:ea typeface="Open Sans"/>
                <a:cs typeface="Open Sans"/>
                <a:sym typeface="Open Sans"/>
              </a:rPr>
              <a:t>Tiếp nhận yêu cầu từ Web, App và POS. Tập trung tối ưu tương tác người dùng, quản lý giỏ hàng, tạo đơn tạm. Gửi yêu cầu giữ chỗ qua API sang hệ thống Tồn kho thay vì lưu trữ dữ liệu cục bộ.</a:t>
            </a:r>
          </a:p>
        </p:txBody>
      </p:sp>
      <p:grpSp>
        <p:nvGrpSpPr>
          <p:cNvPr name="Group 28" id="28"/>
          <p:cNvGrpSpPr/>
          <p:nvPr/>
        </p:nvGrpSpPr>
        <p:grpSpPr>
          <a:xfrm rot="0">
            <a:off x="9944100" y="3057525"/>
            <a:ext cx="357188" cy="314325"/>
            <a:chOff x="0" y="0"/>
            <a:chExt cx="476250" cy="419100"/>
          </a:xfrm>
        </p:grpSpPr>
        <p:sp>
          <p:nvSpPr>
            <p:cNvPr name="Freeform 29" id="29" descr="image.png"/>
            <p:cNvSpPr/>
            <p:nvPr/>
          </p:nvSpPr>
          <p:spPr>
            <a:xfrm flipH="false" flipV="false" rot="0">
              <a:off x="0" y="0"/>
              <a:ext cx="476250" cy="419100"/>
            </a:xfrm>
            <a:custGeom>
              <a:avLst/>
              <a:gdLst/>
              <a:ahLst/>
              <a:cxnLst/>
              <a:rect r="r" b="b" t="t" l="l"/>
              <a:pathLst>
                <a:path h="419100" w="476250">
                  <a:moveTo>
                    <a:pt x="0" y="0"/>
                  </a:moveTo>
                  <a:lnTo>
                    <a:pt x="476250" y="0"/>
                  </a:lnTo>
                  <a:lnTo>
                    <a:pt x="476250" y="419100"/>
                  </a:lnTo>
                  <a:lnTo>
                    <a:pt x="0" y="419100"/>
                  </a:lnTo>
                  <a:lnTo>
                    <a:pt x="0" y="0"/>
                  </a:lnTo>
                  <a:close/>
                </a:path>
              </a:pathLst>
            </a:custGeom>
            <a:blipFill>
              <a:blip r:embed="rId11"/>
              <a:stretch>
                <a:fillRect l="0" t="0" r="0" b="0"/>
              </a:stretch>
            </a:blipFill>
          </p:spPr>
        </p:sp>
      </p:grpSp>
      <p:sp>
        <p:nvSpPr>
          <p:cNvPr name="TextBox 30" id="30"/>
          <p:cNvSpPr txBox="true"/>
          <p:nvPr/>
        </p:nvSpPr>
        <p:spPr>
          <a:xfrm rot="0">
            <a:off x="10765631" y="2757487"/>
            <a:ext cx="4525566" cy="371475"/>
          </a:xfrm>
          <a:prstGeom prst="rect">
            <a:avLst/>
          </a:prstGeom>
        </p:spPr>
        <p:txBody>
          <a:bodyPr anchor="t" rtlCol="false" tIns="0" lIns="0" bIns="0" rIns="0">
            <a:spAutoFit/>
          </a:bodyPr>
          <a:lstStyle/>
          <a:p>
            <a:pPr algn="l">
              <a:lnSpc>
                <a:spcPts val="2925"/>
              </a:lnSpc>
            </a:pPr>
            <a:r>
              <a:rPr lang="en-US" sz="2250" b="true">
                <a:solidFill>
                  <a:srgbClr val="051C2C"/>
                </a:solidFill>
                <a:latin typeface="Montserrat Bold"/>
                <a:ea typeface="Montserrat Bold"/>
                <a:cs typeface="Montserrat Bold"/>
                <a:sym typeface="Montserrat Bold"/>
              </a:rPr>
              <a:t>Ứng dụng Tồn kho (Inventory)</a:t>
            </a:r>
          </a:p>
        </p:txBody>
      </p:sp>
      <p:sp>
        <p:nvSpPr>
          <p:cNvPr name="TextBox 31" id="31"/>
          <p:cNvSpPr txBox="true"/>
          <p:nvPr/>
        </p:nvSpPr>
        <p:spPr>
          <a:xfrm rot="0">
            <a:off x="10765631" y="3233737"/>
            <a:ext cx="5936456" cy="1438275"/>
          </a:xfrm>
          <a:prstGeom prst="rect">
            <a:avLst/>
          </a:prstGeom>
        </p:spPr>
        <p:txBody>
          <a:bodyPr anchor="t" rtlCol="false" tIns="0" lIns="0" bIns="0" rIns="0">
            <a:spAutoFit/>
          </a:bodyPr>
          <a:lstStyle/>
          <a:p>
            <a:pPr algn="l">
              <a:lnSpc>
                <a:spcPts val="2700"/>
              </a:lnSpc>
            </a:pPr>
            <a:r>
              <a:rPr lang="en-US" sz="1687">
                <a:solidFill>
                  <a:srgbClr val="475569"/>
                </a:solidFill>
                <a:latin typeface="Open Sans"/>
                <a:ea typeface="Open Sans"/>
                <a:cs typeface="Open Sans"/>
                <a:sym typeface="Open Sans"/>
              </a:rPr>
              <a:t>Kiểm soát khả dụng (vé máy bay, phòng, tour). Vận hành hướng sự kiện: kiểm tra số lượng $\rightarrow$ trừ quỹ chỗ $\rightarrow$ phát thông điệp xác nhận (qua Kafka/RabbitMQ) để cập nhật đồng loạt mọi kênh.</a:t>
            </a:r>
          </a:p>
        </p:txBody>
      </p:sp>
      <p:grpSp>
        <p:nvGrpSpPr>
          <p:cNvPr name="Group 32" id="32"/>
          <p:cNvGrpSpPr/>
          <p:nvPr/>
        </p:nvGrpSpPr>
        <p:grpSpPr>
          <a:xfrm rot="0">
            <a:off x="1743075" y="6186488"/>
            <a:ext cx="400050" cy="314325"/>
            <a:chOff x="0" y="0"/>
            <a:chExt cx="533400" cy="419100"/>
          </a:xfrm>
        </p:grpSpPr>
        <p:sp>
          <p:nvSpPr>
            <p:cNvPr name="Freeform 33" id="33" descr="image.png"/>
            <p:cNvSpPr/>
            <p:nvPr/>
          </p:nvSpPr>
          <p:spPr>
            <a:xfrm flipH="false" flipV="false" rot="0">
              <a:off x="0" y="0"/>
              <a:ext cx="533400" cy="419100"/>
            </a:xfrm>
            <a:custGeom>
              <a:avLst/>
              <a:gdLst/>
              <a:ahLst/>
              <a:cxnLst/>
              <a:rect r="r" b="b" t="t" l="l"/>
              <a:pathLst>
                <a:path h="419100" w="533400">
                  <a:moveTo>
                    <a:pt x="0" y="0"/>
                  </a:moveTo>
                  <a:lnTo>
                    <a:pt x="533400" y="0"/>
                  </a:lnTo>
                  <a:lnTo>
                    <a:pt x="533400" y="419100"/>
                  </a:lnTo>
                  <a:lnTo>
                    <a:pt x="0" y="419100"/>
                  </a:lnTo>
                  <a:lnTo>
                    <a:pt x="0" y="0"/>
                  </a:lnTo>
                  <a:close/>
                </a:path>
              </a:pathLst>
            </a:custGeom>
            <a:blipFill>
              <a:blip r:embed="rId12"/>
              <a:stretch>
                <a:fillRect l="0" t="0" r="0" b="0"/>
              </a:stretch>
            </a:blipFill>
          </p:spPr>
        </p:sp>
      </p:grpSp>
      <p:sp>
        <p:nvSpPr>
          <p:cNvPr name="TextBox 34" id="34"/>
          <p:cNvSpPr txBox="true"/>
          <p:nvPr/>
        </p:nvSpPr>
        <p:spPr>
          <a:xfrm rot="0">
            <a:off x="2586038" y="5886450"/>
            <a:ext cx="2272010" cy="371475"/>
          </a:xfrm>
          <a:prstGeom prst="rect">
            <a:avLst/>
          </a:prstGeom>
        </p:spPr>
        <p:txBody>
          <a:bodyPr anchor="t" rtlCol="false" tIns="0" lIns="0" bIns="0" rIns="0">
            <a:spAutoFit/>
          </a:bodyPr>
          <a:lstStyle/>
          <a:p>
            <a:pPr algn="l">
              <a:lnSpc>
                <a:spcPts val="2925"/>
              </a:lnSpc>
            </a:pPr>
            <a:r>
              <a:rPr lang="en-US" sz="2250" b="true">
                <a:solidFill>
                  <a:srgbClr val="051C2C"/>
                </a:solidFill>
                <a:latin typeface="Montserrat Bold"/>
                <a:ea typeface="Montserrat Bold"/>
                <a:cs typeface="Montserrat Bold"/>
                <a:sym typeface="Montserrat Bold"/>
              </a:rPr>
              <a:t>Ứng dụng CRM</a:t>
            </a:r>
          </a:p>
        </p:txBody>
      </p:sp>
      <p:sp>
        <p:nvSpPr>
          <p:cNvPr name="TextBox 35" id="35"/>
          <p:cNvSpPr txBox="true"/>
          <p:nvPr/>
        </p:nvSpPr>
        <p:spPr>
          <a:xfrm rot="0">
            <a:off x="2586038" y="6362700"/>
            <a:ext cx="5936456" cy="1438275"/>
          </a:xfrm>
          <a:prstGeom prst="rect">
            <a:avLst/>
          </a:prstGeom>
        </p:spPr>
        <p:txBody>
          <a:bodyPr anchor="t" rtlCol="false" tIns="0" lIns="0" bIns="0" rIns="0">
            <a:spAutoFit/>
          </a:bodyPr>
          <a:lstStyle/>
          <a:p>
            <a:pPr algn="l">
              <a:lnSpc>
                <a:spcPts val="2700"/>
              </a:lnSpc>
            </a:pPr>
            <a:r>
              <a:rPr lang="en-US" sz="1687">
                <a:solidFill>
                  <a:srgbClr val="475569"/>
                </a:solidFill>
                <a:latin typeface="Open Sans"/>
                <a:ea typeface="Open Sans"/>
                <a:cs typeface="Open Sans"/>
                <a:sym typeface="Open Sans"/>
              </a:rPr>
              <a:t>Quản lý dữ liệu định danh và lịch sử tương tác. Xác thực người dùng và phân tích hành vi. Trả về kết quả hiển thị (gợi ý tour cá nhân hóa) cho ứng dụng Bán hàng để tăng tỷ lệ chuyển đổi chốt đơn.</a:t>
            </a:r>
          </a:p>
        </p:txBody>
      </p:sp>
      <p:grpSp>
        <p:nvGrpSpPr>
          <p:cNvPr name="Group 36" id="36"/>
          <p:cNvGrpSpPr/>
          <p:nvPr/>
        </p:nvGrpSpPr>
        <p:grpSpPr>
          <a:xfrm rot="0">
            <a:off x="9944100" y="6186488"/>
            <a:ext cx="357188" cy="314325"/>
            <a:chOff x="0" y="0"/>
            <a:chExt cx="476250" cy="419100"/>
          </a:xfrm>
        </p:grpSpPr>
        <p:sp>
          <p:nvSpPr>
            <p:cNvPr name="Freeform 37" id="37" descr="image.png"/>
            <p:cNvSpPr/>
            <p:nvPr/>
          </p:nvSpPr>
          <p:spPr>
            <a:xfrm flipH="false" flipV="false" rot="0">
              <a:off x="0" y="0"/>
              <a:ext cx="476250" cy="419100"/>
            </a:xfrm>
            <a:custGeom>
              <a:avLst/>
              <a:gdLst/>
              <a:ahLst/>
              <a:cxnLst/>
              <a:rect r="r" b="b" t="t" l="l"/>
              <a:pathLst>
                <a:path h="419100" w="476250">
                  <a:moveTo>
                    <a:pt x="0" y="0"/>
                  </a:moveTo>
                  <a:lnTo>
                    <a:pt x="476250" y="0"/>
                  </a:lnTo>
                  <a:lnTo>
                    <a:pt x="476250" y="419100"/>
                  </a:lnTo>
                  <a:lnTo>
                    <a:pt x="0" y="419100"/>
                  </a:lnTo>
                  <a:lnTo>
                    <a:pt x="0" y="0"/>
                  </a:lnTo>
                  <a:close/>
                </a:path>
              </a:pathLst>
            </a:custGeom>
            <a:blipFill>
              <a:blip r:embed="rId13"/>
              <a:stretch>
                <a:fillRect l="0" t="0" r="0" b="0"/>
              </a:stretch>
            </a:blipFill>
          </p:spPr>
        </p:sp>
      </p:grpSp>
      <p:sp>
        <p:nvSpPr>
          <p:cNvPr name="TextBox 38" id="38"/>
          <p:cNvSpPr txBox="true"/>
          <p:nvPr/>
        </p:nvSpPr>
        <p:spPr>
          <a:xfrm rot="0">
            <a:off x="10765631" y="5886450"/>
            <a:ext cx="4934396" cy="371475"/>
          </a:xfrm>
          <a:prstGeom prst="rect">
            <a:avLst/>
          </a:prstGeom>
        </p:spPr>
        <p:txBody>
          <a:bodyPr anchor="t" rtlCol="false" tIns="0" lIns="0" bIns="0" rIns="0">
            <a:spAutoFit/>
          </a:bodyPr>
          <a:lstStyle/>
          <a:p>
            <a:pPr algn="l">
              <a:lnSpc>
                <a:spcPts val="2925"/>
              </a:lnSpc>
            </a:pPr>
            <a:r>
              <a:rPr lang="en-US" sz="2250" b="true">
                <a:solidFill>
                  <a:srgbClr val="051C2C"/>
                </a:solidFill>
                <a:latin typeface="Montserrat Bold"/>
                <a:ea typeface="Montserrat Bold"/>
                <a:cs typeface="Montserrat Bold"/>
                <a:sym typeface="Montserrat Bold"/>
              </a:rPr>
              <a:t>Ứng dụng Thanh toán (Payment)</a:t>
            </a:r>
          </a:p>
        </p:txBody>
      </p:sp>
      <p:sp>
        <p:nvSpPr>
          <p:cNvPr name="TextBox 39" id="39"/>
          <p:cNvSpPr txBox="true"/>
          <p:nvPr/>
        </p:nvSpPr>
        <p:spPr>
          <a:xfrm rot="0">
            <a:off x="10765631" y="6362700"/>
            <a:ext cx="5936456" cy="1438275"/>
          </a:xfrm>
          <a:prstGeom prst="rect">
            <a:avLst/>
          </a:prstGeom>
        </p:spPr>
        <p:txBody>
          <a:bodyPr anchor="t" rtlCol="false" tIns="0" lIns="0" bIns="0" rIns="0">
            <a:spAutoFit/>
          </a:bodyPr>
          <a:lstStyle/>
          <a:p>
            <a:pPr algn="l">
              <a:lnSpc>
                <a:spcPts val="2700"/>
              </a:lnSpc>
            </a:pPr>
            <a:r>
              <a:rPr lang="en-US" sz="1687">
                <a:solidFill>
                  <a:srgbClr val="475569"/>
                </a:solidFill>
                <a:latin typeface="Open Sans"/>
                <a:ea typeface="Open Sans"/>
                <a:cs typeface="Open Sans"/>
                <a:sym typeface="Open Sans"/>
              </a:rPr>
              <a:t>Tích hợp API cổng thanh toán &amp; ngân hàng. Xử lý phiên giao dịch an toàn độc lập. Khi thành công, gửi thông báo hệ thống yêu cầu Tồn kho chuyển trạng thái từ "tạm giữ" sang "đã bán".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98" y="1212675"/>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Freeform 7" id="7"/>
          <p:cNvSpPr/>
          <p:nvPr/>
        </p:nvSpPr>
        <p:spPr>
          <a:xfrm flipH="false" flipV="false" rot="0">
            <a:off x="2056896" y="2268154"/>
            <a:ext cx="14088391" cy="6825169"/>
          </a:xfrm>
          <a:custGeom>
            <a:avLst/>
            <a:gdLst/>
            <a:ahLst/>
            <a:cxnLst/>
            <a:rect r="r" b="b" t="t" l="l"/>
            <a:pathLst>
              <a:path h="6825169" w="14088391">
                <a:moveTo>
                  <a:pt x="0" y="0"/>
                </a:moveTo>
                <a:lnTo>
                  <a:pt x="14088392" y="0"/>
                </a:lnTo>
                <a:lnTo>
                  <a:pt x="14088392" y="6825169"/>
                </a:lnTo>
                <a:lnTo>
                  <a:pt x="0" y="6825169"/>
                </a:lnTo>
                <a:lnTo>
                  <a:pt x="0" y="0"/>
                </a:lnTo>
                <a:close/>
              </a:path>
            </a:pathLst>
          </a:custGeom>
          <a:blipFill>
            <a:blip r:embed="rId4"/>
            <a:stretch>
              <a:fillRect l="0" t="0" r="0" b="0"/>
            </a:stretch>
          </a:blipFill>
        </p:spPr>
      </p:sp>
      <p:sp>
        <p:nvSpPr>
          <p:cNvPr name="TextBox 8" id="8"/>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KIẾN TRÚC ỨNG DỤNG</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000" y="1039667"/>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sz="2182" b="true">
                <a:solidFill>
                  <a:srgbClr val="FAA61A"/>
                </a:solidFill>
                <a:latin typeface="Montserrat Bold"/>
                <a:ea typeface="Montserrat Bold"/>
                <a:cs typeface="Montserrat Bold"/>
                <a:sym typeface="Montserrat Bold"/>
              </a:rPr>
              <a:t>NỘI DUNG THUYẾT TRÌNH</a:t>
            </a:r>
          </a:p>
        </p:txBody>
      </p:sp>
      <p:sp>
        <p:nvSpPr>
          <p:cNvPr name="TextBox 8" id="8"/>
          <p:cNvSpPr txBox="true"/>
          <p:nvPr/>
        </p:nvSpPr>
        <p:spPr>
          <a:xfrm rot="0">
            <a:off x="3547062" y="4345915"/>
            <a:ext cx="12221785" cy="488059"/>
          </a:xfrm>
          <a:prstGeom prst="rect">
            <a:avLst/>
          </a:prstGeom>
        </p:spPr>
        <p:txBody>
          <a:bodyPr anchor="t" rtlCol="false" tIns="0" lIns="0" bIns="0" rIns="0">
            <a:spAutoFit/>
          </a:bodyPr>
          <a:lstStyle/>
          <a:p>
            <a:pPr algn="ctr" marL="0" indent="0" lvl="0">
              <a:lnSpc>
                <a:spcPts val="4041"/>
              </a:lnSpc>
              <a:spcBef>
                <a:spcPct val="0"/>
              </a:spcBef>
            </a:pPr>
            <a:r>
              <a:rPr lang="en-US" b="true" sz="2882">
                <a:solidFill>
                  <a:srgbClr val="FBFBFC"/>
                </a:solidFill>
                <a:latin typeface="Montserrat Bold"/>
                <a:ea typeface="Montserrat Bold"/>
                <a:cs typeface="Montserrat Bold"/>
                <a:sym typeface="Montserrat Bold"/>
              </a:rPr>
              <a:t>Xây</a:t>
            </a:r>
            <a:r>
              <a:rPr lang="en-US" b="true" sz="2882" strike="noStrike" u="none">
                <a:solidFill>
                  <a:srgbClr val="FBFBFC"/>
                </a:solidFill>
                <a:latin typeface="Montserrat Bold"/>
                <a:ea typeface="Montserrat Bold"/>
                <a:cs typeface="Montserrat Bold"/>
                <a:sym typeface="Montserrat Bold"/>
              </a:rPr>
              <a:t> Dựng Kiến Trúc Công Nghệ -  Technolo</a:t>
            </a:r>
            <a:r>
              <a:rPr lang="en-US" b="true" sz="2882" strike="noStrike" u="none">
                <a:solidFill>
                  <a:srgbClr val="FBFBFC"/>
                </a:solidFill>
                <a:latin typeface="Montserrat Bold"/>
                <a:ea typeface="Montserrat Bold"/>
                <a:cs typeface="Montserrat Bold"/>
                <a:sym typeface="Montserrat Bold"/>
              </a:rPr>
              <a:t>gy</a:t>
            </a:r>
            <a:r>
              <a:rPr lang="en-US" b="true" sz="2882" strike="noStrike" u="none">
                <a:solidFill>
                  <a:srgbClr val="FBFBFC"/>
                </a:solidFill>
                <a:latin typeface="Montserrat Bold"/>
                <a:ea typeface="Montserrat Bold"/>
                <a:cs typeface="Montserrat Bold"/>
                <a:sym typeface="Montserrat Bold"/>
              </a:rPr>
              <a:t> Architecture</a:t>
            </a:r>
          </a:p>
        </p:txBody>
      </p:sp>
      <p:grpSp>
        <p:nvGrpSpPr>
          <p:cNvPr name="Group 9" id="9"/>
          <p:cNvGrpSpPr/>
          <p:nvPr/>
        </p:nvGrpSpPr>
        <p:grpSpPr>
          <a:xfrm rot="0">
            <a:off x="8932496" y="3232193"/>
            <a:ext cx="642938" cy="642938"/>
            <a:chOff x="0" y="0"/>
            <a:chExt cx="857250" cy="857250"/>
          </a:xfrm>
        </p:grpSpPr>
        <p:sp>
          <p:nvSpPr>
            <p:cNvPr name="Freeform 10" id="10"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4"/>
              <a:stretch>
                <a:fillRect l="0" t="0" r="0" b="0"/>
              </a:stretch>
            </a:blipFill>
          </p:spPr>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98" y="1521933"/>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KIẾN TRÚC CÔNG NGHỆ: AS-IS VÀ TO-BE</a:t>
            </a:r>
          </a:p>
        </p:txBody>
      </p:sp>
      <p:grpSp>
        <p:nvGrpSpPr>
          <p:cNvPr name="Group 8" id="8"/>
          <p:cNvGrpSpPr/>
          <p:nvPr/>
        </p:nvGrpSpPr>
        <p:grpSpPr>
          <a:xfrm rot="0">
            <a:off x="1143000" y="2200275"/>
            <a:ext cx="7715250" cy="7229475"/>
            <a:chOff x="0" y="0"/>
            <a:chExt cx="10287000" cy="9639300"/>
          </a:xfrm>
        </p:grpSpPr>
        <p:sp>
          <p:nvSpPr>
            <p:cNvPr name="Freeform 9" id="9" descr="image.png"/>
            <p:cNvSpPr/>
            <p:nvPr/>
          </p:nvSpPr>
          <p:spPr>
            <a:xfrm flipH="false" flipV="false" rot="0">
              <a:off x="0" y="0"/>
              <a:ext cx="10287000" cy="9639300"/>
            </a:xfrm>
            <a:custGeom>
              <a:avLst/>
              <a:gdLst/>
              <a:ahLst/>
              <a:cxnLst/>
              <a:rect r="r" b="b" t="t" l="l"/>
              <a:pathLst>
                <a:path h="9639300" w="10287000">
                  <a:moveTo>
                    <a:pt x="0" y="0"/>
                  </a:moveTo>
                  <a:lnTo>
                    <a:pt x="10287000" y="0"/>
                  </a:lnTo>
                  <a:lnTo>
                    <a:pt x="10287000" y="9639300"/>
                  </a:lnTo>
                  <a:lnTo>
                    <a:pt x="0" y="9639300"/>
                  </a:lnTo>
                  <a:lnTo>
                    <a:pt x="0" y="0"/>
                  </a:lnTo>
                  <a:close/>
                </a:path>
              </a:pathLst>
            </a:custGeom>
            <a:blipFill>
              <a:blip r:embed="rId4"/>
              <a:stretch>
                <a:fillRect l="0" t="0" r="0" b="0"/>
              </a:stretch>
            </a:blipFill>
          </p:spPr>
        </p:sp>
      </p:grpSp>
      <p:grpSp>
        <p:nvGrpSpPr>
          <p:cNvPr name="Group 10" id="10"/>
          <p:cNvGrpSpPr/>
          <p:nvPr/>
        </p:nvGrpSpPr>
        <p:grpSpPr>
          <a:xfrm rot="0">
            <a:off x="9429750" y="2200275"/>
            <a:ext cx="7715250" cy="7229475"/>
            <a:chOff x="0" y="0"/>
            <a:chExt cx="10287000" cy="9639300"/>
          </a:xfrm>
        </p:grpSpPr>
        <p:sp>
          <p:nvSpPr>
            <p:cNvPr name="Freeform 11" id="11" descr="image.png"/>
            <p:cNvSpPr/>
            <p:nvPr/>
          </p:nvSpPr>
          <p:spPr>
            <a:xfrm flipH="false" flipV="false" rot="0">
              <a:off x="0" y="0"/>
              <a:ext cx="10287000" cy="9639300"/>
            </a:xfrm>
            <a:custGeom>
              <a:avLst/>
              <a:gdLst/>
              <a:ahLst/>
              <a:cxnLst/>
              <a:rect r="r" b="b" t="t" l="l"/>
              <a:pathLst>
                <a:path h="9639300" w="10287000">
                  <a:moveTo>
                    <a:pt x="0" y="0"/>
                  </a:moveTo>
                  <a:lnTo>
                    <a:pt x="10287000" y="0"/>
                  </a:lnTo>
                  <a:lnTo>
                    <a:pt x="10287000" y="9639300"/>
                  </a:lnTo>
                  <a:lnTo>
                    <a:pt x="0" y="9639300"/>
                  </a:lnTo>
                  <a:lnTo>
                    <a:pt x="0" y="0"/>
                  </a:lnTo>
                  <a:close/>
                </a:path>
              </a:pathLst>
            </a:custGeom>
            <a:blipFill>
              <a:blip r:embed="rId5"/>
              <a:stretch>
                <a:fillRect l="0" t="0" r="0" b="0"/>
              </a:stretch>
            </a:blipFill>
          </p:spPr>
        </p:sp>
      </p:grpSp>
      <p:grpSp>
        <p:nvGrpSpPr>
          <p:cNvPr name="Group 12" id="12"/>
          <p:cNvGrpSpPr/>
          <p:nvPr/>
        </p:nvGrpSpPr>
        <p:grpSpPr>
          <a:xfrm rot="0">
            <a:off x="2171700" y="2771775"/>
            <a:ext cx="6480810" cy="414338"/>
            <a:chOff x="0" y="0"/>
            <a:chExt cx="8641080" cy="552450"/>
          </a:xfrm>
        </p:grpSpPr>
        <p:sp>
          <p:nvSpPr>
            <p:cNvPr name="Freeform 13" id="13"/>
            <p:cNvSpPr/>
            <p:nvPr/>
          </p:nvSpPr>
          <p:spPr>
            <a:xfrm flipH="false" flipV="false" rot="0">
              <a:off x="0" y="0"/>
              <a:ext cx="8641080" cy="552450"/>
            </a:xfrm>
            <a:custGeom>
              <a:avLst/>
              <a:gdLst/>
              <a:ahLst/>
              <a:cxnLst/>
              <a:rect r="r" b="b" t="t" l="l"/>
              <a:pathLst>
                <a:path h="552450" w="8641080">
                  <a:moveTo>
                    <a:pt x="0" y="0"/>
                  </a:moveTo>
                  <a:lnTo>
                    <a:pt x="8641080" y="0"/>
                  </a:lnTo>
                  <a:lnTo>
                    <a:pt x="8641080" y="552450"/>
                  </a:lnTo>
                  <a:lnTo>
                    <a:pt x="0" y="552450"/>
                  </a:lnTo>
                  <a:close/>
                </a:path>
              </a:pathLst>
            </a:custGeom>
            <a:blipFill>
              <a:blip r:embed="rId6">
                <a:alphaModFix amt="0"/>
              </a:blip>
              <a:stretch>
                <a:fillRect l="0" t="-254772" r="0" b="-254772"/>
              </a:stretch>
            </a:blipFill>
          </p:spPr>
        </p:sp>
        <p:sp>
          <p:nvSpPr>
            <p:cNvPr name="TextBox 14" id="14"/>
            <p:cNvSpPr txBox="true"/>
            <p:nvPr/>
          </p:nvSpPr>
          <p:spPr>
            <a:xfrm>
              <a:off x="0" y="0"/>
              <a:ext cx="8641080" cy="552450"/>
            </a:xfrm>
            <a:prstGeom prst="rect">
              <a:avLst/>
            </a:prstGeom>
          </p:spPr>
          <p:txBody>
            <a:bodyPr anchor="ctr" rtlCol="false" tIns="0" lIns="0" bIns="0" rIns="0"/>
            <a:lstStyle/>
            <a:p>
              <a:pPr algn="l">
                <a:lnSpc>
                  <a:spcPts val="3240"/>
                </a:lnSpc>
              </a:pPr>
              <a:r>
                <a:rPr lang="en-US" sz="2700" b="true">
                  <a:solidFill>
                    <a:srgbClr val="475569"/>
                  </a:solidFill>
                  <a:latin typeface="Montserrat Bold"/>
                  <a:ea typeface="Montserrat Bold"/>
                  <a:cs typeface="Montserrat Bold"/>
                  <a:sym typeface="Montserrat Bold"/>
                </a:rPr>
                <a:t>Hạ tầng Hiện tại (Vật lý)</a:t>
              </a:r>
            </a:p>
          </p:txBody>
        </p:sp>
      </p:grpSp>
      <p:grpSp>
        <p:nvGrpSpPr>
          <p:cNvPr name="Group 15" id="15"/>
          <p:cNvGrpSpPr/>
          <p:nvPr/>
        </p:nvGrpSpPr>
        <p:grpSpPr>
          <a:xfrm rot="0">
            <a:off x="10544175" y="2771775"/>
            <a:ext cx="6390799" cy="414338"/>
            <a:chOff x="0" y="0"/>
            <a:chExt cx="8521065" cy="552450"/>
          </a:xfrm>
        </p:grpSpPr>
        <p:sp>
          <p:nvSpPr>
            <p:cNvPr name="Freeform 16" id="16"/>
            <p:cNvSpPr/>
            <p:nvPr/>
          </p:nvSpPr>
          <p:spPr>
            <a:xfrm flipH="false" flipV="false" rot="0">
              <a:off x="0" y="0"/>
              <a:ext cx="8521064" cy="552450"/>
            </a:xfrm>
            <a:custGeom>
              <a:avLst/>
              <a:gdLst/>
              <a:ahLst/>
              <a:cxnLst/>
              <a:rect r="r" b="b" t="t" l="l"/>
              <a:pathLst>
                <a:path h="552450" w="8521064">
                  <a:moveTo>
                    <a:pt x="0" y="0"/>
                  </a:moveTo>
                  <a:lnTo>
                    <a:pt x="8521064" y="0"/>
                  </a:lnTo>
                  <a:lnTo>
                    <a:pt x="8521064" y="552450"/>
                  </a:lnTo>
                  <a:lnTo>
                    <a:pt x="0" y="552450"/>
                  </a:lnTo>
                  <a:close/>
                </a:path>
              </a:pathLst>
            </a:custGeom>
            <a:blipFill>
              <a:blip r:embed="rId6">
                <a:alphaModFix amt="0"/>
              </a:blip>
              <a:stretch>
                <a:fillRect l="0" t="-250539" r="0" b="-250539"/>
              </a:stretch>
            </a:blipFill>
          </p:spPr>
        </p:sp>
        <p:sp>
          <p:nvSpPr>
            <p:cNvPr name="TextBox 17" id="17"/>
            <p:cNvSpPr txBox="true"/>
            <p:nvPr/>
          </p:nvSpPr>
          <p:spPr>
            <a:xfrm>
              <a:off x="0" y="0"/>
              <a:ext cx="8521065" cy="552450"/>
            </a:xfrm>
            <a:prstGeom prst="rect">
              <a:avLst/>
            </a:prstGeom>
          </p:spPr>
          <p:txBody>
            <a:bodyPr anchor="ctr" rtlCol="false" tIns="0" lIns="0" bIns="0" rIns="0"/>
            <a:lstStyle/>
            <a:p>
              <a:pPr algn="l">
                <a:lnSpc>
                  <a:spcPts val="3240"/>
                </a:lnSpc>
              </a:pPr>
              <a:r>
                <a:rPr lang="en-US" sz="2700" b="true">
                  <a:solidFill>
                    <a:srgbClr val="1F70C1"/>
                  </a:solidFill>
                  <a:latin typeface="Montserrat Bold"/>
                  <a:ea typeface="Montserrat Bold"/>
                  <a:cs typeface="Montserrat Bold"/>
                  <a:sym typeface="Montserrat Bold"/>
                </a:rPr>
                <a:t>Kiến trúc Mục tiêu (Ảo hóa)</a:t>
              </a:r>
            </a:p>
          </p:txBody>
        </p:sp>
      </p:grpSp>
      <p:grpSp>
        <p:nvGrpSpPr>
          <p:cNvPr name="Group 18" id="18"/>
          <p:cNvGrpSpPr/>
          <p:nvPr/>
        </p:nvGrpSpPr>
        <p:grpSpPr>
          <a:xfrm rot="0">
            <a:off x="1657350" y="2807494"/>
            <a:ext cx="342900" cy="342900"/>
            <a:chOff x="0" y="0"/>
            <a:chExt cx="457200" cy="457200"/>
          </a:xfrm>
        </p:grpSpPr>
        <p:sp>
          <p:nvSpPr>
            <p:cNvPr name="Freeform 19" id="19" descr="image.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stretch>
                <a:fillRect l="0" t="-2083" r="0" b="-2083"/>
              </a:stretch>
            </a:blipFill>
          </p:spPr>
        </p:sp>
      </p:grpSp>
      <p:sp>
        <p:nvSpPr>
          <p:cNvPr name="TextBox 20" id="20"/>
          <p:cNvSpPr txBox="true"/>
          <p:nvPr/>
        </p:nvSpPr>
        <p:spPr>
          <a:xfrm rot="0">
            <a:off x="2014538" y="3414712"/>
            <a:ext cx="6329362" cy="689610"/>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Máy chủ phân tán:</a:t>
            </a:r>
            <a:r>
              <a:rPr lang="en-US" sz="1800">
                <a:solidFill>
                  <a:srgbClr val="334155"/>
                </a:solidFill>
                <a:latin typeface="Open Sans"/>
                <a:ea typeface="Open Sans"/>
                <a:cs typeface="Open Sans"/>
                <a:sym typeface="Open Sans"/>
              </a:rPr>
              <a:t> Duy trì các máy chủ vật lý tại các văn phòng chi nhánh để chạy POS cục bộ.</a:t>
            </a:r>
          </a:p>
        </p:txBody>
      </p:sp>
      <p:sp>
        <p:nvSpPr>
          <p:cNvPr name="TextBox 21" id="21"/>
          <p:cNvSpPr txBox="true"/>
          <p:nvPr/>
        </p:nvSpPr>
        <p:spPr>
          <a:xfrm rot="0">
            <a:off x="2014538" y="4403227"/>
            <a:ext cx="6329362" cy="78848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Thiếu linh hoạt:</a:t>
            </a:r>
            <a:r>
              <a:rPr lang="en-US" sz="1800">
                <a:solidFill>
                  <a:srgbClr val="334155"/>
                </a:solidFill>
                <a:latin typeface="Open Sans"/>
                <a:ea typeface="Open Sans"/>
                <a:cs typeface="Open Sans"/>
                <a:sym typeface="Open Sans"/>
              </a:rPr>
              <a:t> Cấu hình máy chủ cố định, không thể tự động tăng tài nguyên tính toán vào mùa cao điểm lễ, Tết.</a:t>
            </a:r>
          </a:p>
        </p:txBody>
      </p:sp>
      <p:sp>
        <p:nvSpPr>
          <p:cNvPr name="TextBox 22" id="22"/>
          <p:cNvSpPr txBox="true"/>
          <p:nvPr/>
        </p:nvSpPr>
        <p:spPr>
          <a:xfrm rot="0">
            <a:off x="2014538" y="5391741"/>
            <a:ext cx="6329362" cy="78848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Chi phí bảo trì cao:</a:t>
            </a:r>
            <a:r>
              <a:rPr lang="en-US" sz="1800">
                <a:solidFill>
                  <a:srgbClr val="334155"/>
                </a:solidFill>
                <a:latin typeface="Open Sans"/>
                <a:ea typeface="Open Sans"/>
                <a:cs typeface="Open Sans"/>
                <a:sym typeface="Open Sans"/>
              </a:rPr>
              <a:t> Gây khó khăn lớn cho việc triển khai bản cập nhật phần mềm đồng loạt toàn mạng lưới.</a:t>
            </a:r>
          </a:p>
        </p:txBody>
      </p:sp>
      <p:sp>
        <p:nvSpPr>
          <p:cNvPr name="TextBox 23" id="23"/>
          <p:cNvSpPr txBox="true"/>
          <p:nvPr/>
        </p:nvSpPr>
        <p:spPr>
          <a:xfrm rot="0">
            <a:off x="2014538" y="6380264"/>
            <a:ext cx="6329362" cy="78848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Nguy cơ gián đoạn:</a:t>
            </a:r>
            <a:r>
              <a:rPr lang="en-US" sz="1800">
                <a:solidFill>
                  <a:srgbClr val="334155"/>
                </a:solidFill>
                <a:latin typeface="Open Sans"/>
                <a:ea typeface="Open Sans"/>
                <a:cs typeface="Open Sans"/>
                <a:sym typeface="Open Sans"/>
              </a:rPr>
              <a:t> Lưu lượng truy cập tăng đột biến dễ dẫn đến tình trạng quá tải và gián đoạn dịch vụ.</a:t>
            </a:r>
          </a:p>
        </p:txBody>
      </p:sp>
      <p:grpSp>
        <p:nvGrpSpPr>
          <p:cNvPr name="Group 24" id="24"/>
          <p:cNvGrpSpPr/>
          <p:nvPr/>
        </p:nvGrpSpPr>
        <p:grpSpPr>
          <a:xfrm rot="0">
            <a:off x="9944100" y="2807494"/>
            <a:ext cx="428625" cy="342900"/>
            <a:chOff x="0" y="0"/>
            <a:chExt cx="571500" cy="457200"/>
          </a:xfrm>
        </p:grpSpPr>
        <p:sp>
          <p:nvSpPr>
            <p:cNvPr name="Freeform 25" id="25" descr="image.png"/>
            <p:cNvSpPr/>
            <p:nvPr/>
          </p:nvSpPr>
          <p:spPr>
            <a:xfrm flipH="false" flipV="false" rot="0">
              <a:off x="0" y="0"/>
              <a:ext cx="571500" cy="457200"/>
            </a:xfrm>
            <a:custGeom>
              <a:avLst/>
              <a:gdLst/>
              <a:ahLst/>
              <a:cxnLst/>
              <a:rect r="r" b="b" t="t" l="l"/>
              <a:pathLst>
                <a:path h="457200" w="571500">
                  <a:moveTo>
                    <a:pt x="0" y="0"/>
                  </a:moveTo>
                  <a:lnTo>
                    <a:pt x="571500" y="0"/>
                  </a:lnTo>
                  <a:lnTo>
                    <a:pt x="571500" y="457200"/>
                  </a:lnTo>
                  <a:lnTo>
                    <a:pt x="0" y="457200"/>
                  </a:lnTo>
                  <a:lnTo>
                    <a:pt x="0" y="0"/>
                  </a:lnTo>
                  <a:close/>
                </a:path>
              </a:pathLst>
            </a:custGeom>
            <a:blipFill>
              <a:blip r:embed="rId8"/>
              <a:stretch>
                <a:fillRect l="0" t="-2083" r="0" b="-2083"/>
              </a:stretch>
            </a:blipFill>
          </p:spPr>
        </p:sp>
      </p:grpSp>
      <p:sp>
        <p:nvSpPr>
          <p:cNvPr name="TextBox 26" id="26"/>
          <p:cNvSpPr txBox="true"/>
          <p:nvPr/>
        </p:nvSpPr>
        <p:spPr>
          <a:xfrm rot="0">
            <a:off x="10301288" y="3414712"/>
            <a:ext cx="6329362" cy="78848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Loại bỏ máy chủ chi nhánh:</a:t>
            </a:r>
            <a:r>
              <a:rPr lang="en-US" sz="1800">
                <a:solidFill>
                  <a:srgbClr val="334155"/>
                </a:solidFill>
                <a:latin typeface="Open Sans"/>
                <a:ea typeface="Open Sans"/>
                <a:cs typeface="Open Sans"/>
                <a:sym typeface="Open Sans"/>
              </a:rPr>
              <a:t> Thiết bị tại quầy chuyển thành thiết bị trạm kết nối trực tiếp đến trung tâm.</a:t>
            </a:r>
          </a:p>
        </p:txBody>
      </p:sp>
      <p:sp>
        <p:nvSpPr>
          <p:cNvPr name="TextBox 27" id="27"/>
          <p:cNvSpPr txBox="true"/>
          <p:nvPr/>
        </p:nvSpPr>
        <p:spPr>
          <a:xfrm rot="0">
            <a:off x="10301288" y="4403227"/>
            <a:ext cx="6329362" cy="78848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Điện toán Đám mây:</a:t>
            </a:r>
            <a:r>
              <a:rPr lang="en-US" sz="1800">
                <a:solidFill>
                  <a:srgbClr val="334155"/>
                </a:solidFill>
                <a:latin typeface="Open Sans"/>
                <a:ea typeface="Open Sans"/>
                <a:cs typeface="Open Sans"/>
                <a:sym typeface="Open Sans"/>
              </a:rPr>
              <a:t> Sử dụng cơ sở hạ tầng ảo hóa và nền tảng quản lý bộ chứa (Container).</a:t>
            </a:r>
          </a:p>
        </p:txBody>
      </p:sp>
      <p:sp>
        <p:nvSpPr>
          <p:cNvPr name="TextBox 28" id="28"/>
          <p:cNvSpPr txBox="true"/>
          <p:nvPr/>
        </p:nvSpPr>
        <p:spPr>
          <a:xfrm rot="0">
            <a:off x="10301288" y="5391741"/>
            <a:ext cx="6329362" cy="78848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Auto-Scaling:</a:t>
            </a:r>
            <a:r>
              <a:rPr lang="en-US" sz="1800">
                <a:solidFill>
                  <a:srgbClr val="334155"/>
                </a:solidFill>
                <a:latin typeface="Open Sans"/>
                <a:ea typeface="Open Sans"/>
                <a:cs typeface="Open Sans"/>
                <a:sym typeface="Open Sans"/>
              </a:rPr>
              <a:t> Tự động mở rộng tài nguyên tính toán dựa trên khối lượng giao dịch thực tế.</a:t>
            </a:r>
          </a:p>
        </p:txBody>
      </p:sp>
      <p:sp>
        <p:nvSpPr>
          <p:cNvPr name="TextBox 29" id="29"/>
          <p:cNvSpPr txBox="true"/>
          <p:nvPr/>
        </p:nvSpPr>
        <p:spPr>
          <a:xfrm rot="0">
            <a:off x="10301288" y="6380264"/>
            <a:ext cx="6329362" cy="78848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Đảm bảo hiệu suất:</a:t>
            </a:r>
            <a:r>
              <a:rPr lang="en-US" sz="1800">
                <a:solidFill>
                  <a:srgbClr val="334155"/>
                </a:solidFill>
                <a:latin typeface="Open Sans"/>
                <a:ea typeface="Open Sans"/>
                <a:cs typeface="Open Sans"/>
                <a:sym typeface="Open Sans"/>
              </a:rPr>
              <a:t> Hệ thống duy trì sự ổn định ngay cả khi lưu lượng người dùng tăng cao gấp nhiều lần.</a:t>
            </a:r>
          </a:p>
        </p:txBody>
      </p:sp>
      <p:grpSp>
        <p:nvGrpSpPr>
          <p:cNvPr name="Group 30" id="30"/>
          <p:cNvGrpSpPr/>
          <p:nvPr/>
        </p:nvGrpSpPr>
        <p:grpSpPr>
          <a:xfrm rot="0">
            <a:off x="1657350" y="3514725"/>
            <a:ext cx="157162" cy="214312"/>
            <a:chOff x="0" y="0"/>
            <a:chExt cx="209550" cy="285750"/>
          </a:xfrm>
        </p:grpSpPr>
        <p:sp>
          <p:nvSpPr>
            <p:cNvPr name="Freeform 31" id="31" descr="image.png"/>
            <p:cNvSpPr/>
            <p:nvPr/>
          </p:nvSpPr>
          <p:spPr>
            <a:xfrm flipH="false" flipV="false" rot="0">
              <a:off x="0" y="0"/>
              <a:ext cx="209550" cy="285750"/>
            </a:xfrm>
            <a:custGeom>
              <a:avLst/>
              <a:gdLst/>
              <a:ahLst/>
              <a:cxnLst/>
              <a:rect r="r" b="b" t="t" l="l"/>
              <a:pathLst>
                <a:path h="285750" w="209550">
                  <a:moveTo>
                    <a:pt x="0" y="0"/>
                  </a:moveTo>
                  <a:lnTo>
                    <a:pt x="209550" y="0"/>
                  </a:lnTo>
                  <a:lnTo>
                    <a:pt x="209550" y="285750"/>
                  </a:lnTo>
                  <a:lnTo>
                    <a:pt x="0" y="285750"/>
                  </a:lnTo>
                  <a:lnTo>
                    <a:pt x="0" y="0"/>
                  </a:lnTo>
                  <a:close/>
                </a:path>
              </a:pathLst>
            </a:custGeom>
            <a:blipFill>
              <a:blip r:embed="rId9"/>
              <a:stretch>
                <a:fillRect l="0" t="0" r="0" b="0"/>
              </a:stretch>
            </a:blipFill>
          </p:spPr>
        </p:sp>
      </p:grpSp>
      <p:grpSp>
        <p:nvGrpSpPr>
          <p:cNvPr name="Group 32" id="32"/>
          <p:cNvGrpSpPr/>
          <p:nvPr/>
        </p:nvGrpSpPr>
        <p:grpSpPr>
          <a:xfrm rot="0">
            <a:off x="1657350" y="4503239"/>
            <a:ext cx="157162" cy="214312"/>
            <a:chOff x="0" y="0"/>
            <a:chExt cx="209550" cy="285750"/>
          </a:xfrm>
        </p:grpSpPr>
        <p:sp>
          <p:nvSpPr>
            <p:cNvPr name="Freeform 33" id="33" descr="image.png"/>
            <p:cNvSpPr/>
            <p:nvPr/>
          </p:nvSpPr>
          <p:spPr>
            <a:xfrm flipH="false" flipV="false" rot="0">
              <a:off x="0" y="0"/>
              <a:ext cx="209550" cy="285750"/>
            </a:xfrm>
            <a:custGeom>
              <a:avLst/>
              <a:gdLst/>
              <a:ahLst/>
              <a:cxnLst/>
              <a:rect r="r" b="b" t="t" l="l"/>
              <a:pathLst>
                <a:path h="285750" w="209550">
                  <a:moveTo>
                    <a:pt x="0" y="0"/>
                  </a:moveTo>
                  <a:lnTo>
                    <a:pt x="209550" y="0"/>
                  </a:lnTo>
                  <a:lnTo>
                    <a:pt x="209550" y="285750"/>
                  </a:lnTo>
                  <a:lnTo>
                    <a:pt x="0" y="285750"/>
                  </a:lnTo>
                  <a:lnTo>
                    <a:pt x="0" y="0"/>
                  </a:lnTo>
                  <a:close/>
                </a:path>
              </a:pathLst>
            </a:custGeom>
            <a:blipFill>
              <a:blip r:embed="rId9"/>
              <a:stretch>
                <a:fillRect l="0" t="0" r="0" b="0"/>
              </a:stretch>
            </a:blipFill>
          </p:spPr>
        </p:sp>
      </p:grpSp>
      <p:grpSp>
        <p:nvGrpSpPr>
          <p:cNvPr name="Group 34" id="34"/>
          <p:cNvGrpSpPr/>
          <p:nvPr/>
        </p:nvGrpSpPr>
        <p:grpSpPr>
          <a:xfrm rot="0">
            <a:off x="1657350" y="5491753"/>
            <a:ext cx="157162" cy="214312"/>
            <a:chOff x="0" y="0"/>
            <a:chExt cx="209550" cy="285750"/>
          </a:xfrm>
        </p:grpSpPr>
        <p:sp>
          <p:nvSpPr>
            <p:cNvPr name="Freeform 35" id="35" descr="image.png"/>
            <p:cNvSpPr/>
            <p:nvPr/>
          </p:nvSpPr>
          <p:spPr>
            <a:xfrm flipH="false" flipV="false" rot="0">
              <a:off x="0" y="0"/>
              <a:ext cx="209550" cy="285750"/>
            </a:xfrm>
            <a:custGeom>
              <a:avLst/>
              <a:gdLst/>
              <a:ahLst/>
              <a:cxnLst/>
              <a:rect r="r" b="b" t="t" l="l"/>
              <a:pathLst>
                <a:path h="285750" w="209550">
                  <a:moveTo>
                    <a:pt x="0" y="0"/>
                  </a:moveTo>
                  <a:lnTo>
                    <a:pt x="209550" y="0"/>
                  </a:lnTo>
                  <a:lnTo>
                    <a:pt x="209550" y="285750"/>
                  </a:lnTo>
                  <a:lnTo>
                    <a:pt x="0" y="285750"/>
                  </a:lnTo>
                  <a:lnTo>
                    <a:pt x="0" y="0"/>
                  </a:lnTo>
                  <a:close/>
                </a:path>
              </a:pathLst>
            </a:custGeom>
            <a:blipFill>
              <a:blip r:embed="rId9"/>
              <a:stretch>
                <a:fillRect l="0" t="0" r="0" b="0"/>
              </a:stretch>
            </a:blipFill>
          </p:spPr>
        </p:sp>
      </p:grpSp>
      <p:grpSp>
        <p:nvGrpSpPr>
          <p:cNvPr name="Group 36" id="36"/>
          <p:cNvGrpSpPr/>
          <p:nvPr/>
        </p:nvGrpSpPr>
        <p:grpSpPr>
          <a:xfrm rot="0">
            <a:off x="1657350" y="6480277"/>
            <a:ext cx="157162" cy="214312"/>
            <a:chOff x="0" y="0"/>
            <a:chExt cx="209550" cy="285750"/>
          </a:xfrm>
        </p:grpSpPr>
        <p:sp>
          <p:nvSpPr>
            <p:cNvPr name="Freeform 37" id="37" descr="image.png"/>
            <p:cNvSpPr/>
            <p:nvPr/>
          </p:nvSpPr>
          <p:spPr>
            <a:xfrm flipH="false" flipV="false" rot="0">
              <a:off x="0" y="0"/>
              <a:ext cx="209550" cy="285750"/>
            </a:xfrm>
            <a:custGeom>
              <a:avLst/>
              <a:gdLst/>
              <a:ahLst/>
              <a:cxnLst/>
              <a:rect r="r" b="b" t="t" l="l"/>
              <a:pathLst>
                <a:path h="285750" w="209550">
                  <a:moveTo>
                    <a:pt x="0" y="0"/>
                  </a:moveTo>
                  <a:lnTo>
                    <a:pt x="209550" y="0"/>
                  </a:lnTo>
                  <a:lnTo>
                    <a:pt x="209550" y="285750"/>
                  </a:lnTo>
                  <a:lnTo>
                    <a:pt x="0" y="285750"/>
                  </a:lnTo>
                  <a:lnTo>
                    <a:pt x="0" y="0"/>
                  </a:lnTo>
                  <a:close/>
                </a:path>
              </a:pathLst>
            </a:custGeom>
            <a:blipFill>
              <a:blip r:embed="rId9"/>
              <a:stretch>
                <a:fillRect l="0" t="0" r="0" b="0"/>
              </a:stretch>
            </a:blipFill>
          </p:spPr>
        </p:sp>
      </p:grpSp>
      <p:grpSp>
        <p:nvGrpSpPr>
          <p:cNvPr name="Group 38" id="38"/>
          <p:cNvGrpSpPr/>
          <p:nvPr/>
        </p:nvGrpSpPr>
        <p:grpSpPr>
          <a:xfrm rot="0">
            <a:off x="9944100" y="3514725"/>
            <a:ext cx="171450" cy="214312"/>
            <a:chOff x="0" y="0"/>
            <a:chExt cx="228600" cy="285750"/>
          </a:xfrm>
        </p:grpSpPr>
        <p:sp>
          <p:nvSpPr>
            <p:cNvPr name="Freeform 39" id="39" descr="image.png"/>
            <p:cNvSpPr/>
            <p:nvPr/>
          </p:nvSpPr>
          <p:spPr>
            <a:xfrm flipH="false" flipV="false" rot="0">
              <a:off x="0" y="0"/>
              <a:ext cx="228600" cy="285750"/>
            </a:xfrm>
            <a:custGeom>
              <a:avLst/>
              <a:gdLst/>
              <a:ahLst/>
              <a:cxnLst/>
              <a:rect r="r" b="b" t="t" l="l"/>
              <a:pathLst>
                <a:path h="285750" w="228600">
                  <a:moveTo>
                    <a:pt x="0" y="0"/>
                  </a:moveTo>
                  <a:lnTo>
                    <a:pt x="228600" y="0"/>
                  </a:lnTo>
                  <a:lnTo>
                    <a:pt x="228600" y="285750"/>
                  </a:lnTo>
                  <a:lnTo>
                    <a:pt x="0" y="285750"/>
                  </a:lnTo>
                  <a:lnTo>
                    <a:pt x="0" y="0"/>
                  </a:lnTo>
                  <a:close/>
                </a:path>
              </a:pathLst>
            </a:custGeom>
            <a:blipFill>
              <a:blip r:embed="rId10"/>
              <a:stretch>
                <a:fillRect l="0" t="0" r="0" b="0"/>
              </a:stretch>
            </a:blipFill>
          </p:spPr>
        </p:sp>
      </p:grpSp>
      <p:grpSp>
        <p:nvGrpSpPr>
          <p:cNvPr name="Group 40" id="40"/>
          <p:cNvGrpSpPr/>
          <p:nvPr/>
        </p:nvGrpSpPr>
        <p:grpSpPr>
          <a:xfrm rot="0">
            <a:off x="9944100" y="4503239"/>
            <a:ext cx="171450" cy="214312"/>
            <a:chOff x="0" y="0"/>
            <a:chExt cx="228600" cy="285750"/>
          </a:xfrm>
        </p:grpSpPr>
        <p:sp>
          <p:nvSpPr>
            <p:cNvPr name="Freeform 41" id="41" descr="image.png"/>
            <p:cNvSpPr/>
            <p:nvPr/>
          </p:nvSpPr>
          <p:spPr>
            <a:xfrm flipH="false" flipV="false" rot="0">
              <a:off x="0" y="0"/>
              <a:ext cx="228600" cy="285750"/>
            </a:xfrm>
            <a:custGeom>
              <a:avLst/>
              <a:gdLst/>
              <a:ahLst/>
              <a:cxnLst/>
              <a:rect r="r" b="b" t="t" l="l"/>
              <a:pathLst>
                <a:path h="285750" w="228600">
                  <a:moveTo>
                    <a:pt x="0" y="0"/>
                  </a:moveTo>
                  <a:lnTo>
                    <a:pt x="228600" y="0"/>
                  </a:lnTo>
                  <a:lnTo>
                    <a:pt x="228600" y="285750"/>
                  </a:lnTo>
                  <a:lnTo>
                    <a:pt x="0" y="285750"/>
                  </a:lnTo>
                  <a:lnTo>
                    <a:pt x="0" y="0"/>
                  </a:lnTo>
                  <a:close/>
                </a:path>
              </a:pathLst>
            </a:custGeom>
            <a:blipFill>
              <a:blip r:embed="rId10"/>
              <a:stretch>
                <a:fillRect l="0" t="0" r="0" b="0"/>
              </a:stretch>
            </a:blipFill>
          </p:spPr>
        </p:sp>
      </p:grpSp>
      <p:grpSp>
        <p:nvGrpSpPr>
          <p:cNvPr name="Group 42" id="42"/>
          <p:cNvGrpSpPr/>
          <p:nvPr/>
        </p:nvGrpSpPr>
        <p:grpSpPr>
          <a:xfrm rot="0">
            <a:off x="9944100" y="5491753"/>
            <a:ext cx="171450" cy="214312"/>
            <a:chOff x="0" y="0"/>
            <a:chExt cx="228600" cy="285750"/>
          </a:xfrm>
        </p:grpSpPr>
        <p:sp>
          <p:nvSpPr>
            <p:cNvPr name="Freeform 43" id="43" descr="image.png"/>
            <p:cNvSpPr/>
            <p:nvPr/>
          </p:nvSpPr>
          <p:spPr>
            <a:xfrm flipH="false" flipV="false" rot="0">
              <a:off x="0" y="0"/>
              <a:ext cx="228600" cy="285750"/>
            </a:xfrm>
            <a:custGeom>
              <a:avLst/>
              <a:gdLst/>
              <a:ahLst/>
              <a:cxnLst/>
              <a:rect r="r" b="b" t="t" l="l"/>
              <a:pathLst>
                <a:path h="285750" w="228600">
                  <a:moveTo>
                    <a:pt x="0" y="0"/>
                  </a:moveTo>
                  <a:lnTo>
                    <a:pt x="228600" y="0"/>
                  </a:lnTo>
                  <a:lnTo>
                    <a:pt x="228600" y="285750"/>
                  </a:lnTo>
                  <a:lnTo>
                    <a:pt x="0" y="285750"/>
                  </a:lnTo>
                  <a:lnTo>
                    <a:pt x="0" y="0"/>
                  </a:lnTo>
                  <a:close/>
                </a:path>
              </a:pathLst>
            </a:custGeom>
            <a:blipFill>
              <a:blip r:embed="rId10"/>
              <a:stretch>
                <a:fillRect l="0" t="0" r="0" b="0"/>
              </a:stretch>
            </a:blipFill>
          </p:spPr>
        </p:sp>
      </p:grpSp>
      <p:grpSp>
        <p:nvGrpSpPr>
          <p:cNvPr name="Group 44" id="44"/>
          <p:cNvGrpSpPr/>
          <p:nvPr/>
        </p:nvGrpSpPr>
        <p:grpSpPr>
          <a:xfrm rot="0">
            <a:off x="9944100" y="6480277"/>
            <a:ext cx="171450" cy="214312"/>
            <a:chOff x="0" y="0"/>
            <a:chExt cx="228600" cy="285750"/>
          </a:xfrm>
        </p:grpSpPr>
        <p:sp>
          <p:nvSpPr>
            <p:cNvPr name="Freeform 45" id="45" descr="image.png"/>
            <p:cNvSpPr/>
            <p:nvPr/>
          </p:nvSpPr>
          <p:spPr>
            <a:xfrm flipH="false" flipV="false" rot="0">
              <a:off x="0" y="0"/>
              <a:ext cx="228600" cy="285750"/>
            </a:xfrm>
            <a:custGeom>
              <a:avLst/>
              <a:gdLst/>
              <a:ahLst/>
              <a:cxnLst/>
              <a:rect r="r" b="b" t="t" l="l"/>
              <a:pathLst>
                <a:path h="285750" w="228600">
                  <a:moveTo>
                    <a:pt x="0" y="0"/>
                  </a:moveTo>
                  <a:lnTo>
                    <a:pt x="228600" y="0"/>
                  </a:lnTo>
                  <a:lnTo>
                    <a:pt x="228600" y="285750"/>
                  </a:lnTo>
                  <a:lnTo>
                    <a:pt x="0" y="285750"/>
                  </a:lnTo>
                  <a:lnTo>
                    <a:pt x="0" y="0"/>
                  </a:lnTo>
                  <a:close/>
                </a:path>
              </a:pathLst>
            </a:custGeom>
            <a:blipFill>
              <a:blip r:embed="rId10"/>
              <a:stretch>
                <a:fillRect l="0" t="0" r="0" b="0"/>
              </a:stretch>
            </a:blipFill>
          </p:spPr>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98" y="1521933"/>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MÔ HÌNH TRIỂN KHAI HYBRID CLOUD</a:t>
            </a:r>
          </a:p>
        </p:txBody>
      </p:sp>
      <p:grpSp>
        <p:nvGrpSpPr>
          <p:cNvPr name="Group 8" id="8"/>
          <p:cNvGrpSpPr/>
          <p:nvPr/>
        </p:nvGrpSpPr>
        <p:grpSpPr>
          <a:xfrm rot="0">
            <a:off x="1028700" y="2657475"/>
            <a:ext cx="7878656" cy="2486025"/>
            <a:chOff x="0" y="0"/>
            <a:chExt cx="10504874" cy="3314700"/>
          </a:xfrm>
        </p:grpSpPr>
        <p:grpSp>
          <p:nvGrpSpPr>
            <p:cNvPr name="Group 9" id="9"/>
            <p:cNvGrpSpPr/>
            <p:nvPr/>
          </p:nvGrpSpPr>
          <p:grpSpPr>
            <a:xfrm rot="0">
              <a:off x="0" y="0"/>
              <a:ext cx="10191750" cy="3314700"/>
              <a:chOff x="0" y="0"/>
              <a:chExt cx="10191750" cy="3314700"/>
            </a:xfrm>
          </p:grpSpPr>
          <p:sp>
            <p:nvSpPr>
              <p:cNvPr name="Freeform 10" id="10" descr="image.png"/>
              <p:cNvSpPr/>
              <p:nvPr/>
            </p:nvSpPr>
            <p:spPr>
              <a:xfrm flipH="false" flipV="false" rot="0">
                <a:off x="0" y="0"/>
                <a:ext cx="10191750" cy="3314700"/>
              </a:xfrm>
              <a:custGeom>
                <a:avLst/>
                <a:gdLst/>
                <a:ahLst/>
                <a:cxnLst/>
                <a:rect r="r" b="b" t="t" l="l"/>
                <a:pathLst>
                  <a:path h="3314700" w="10191750">
                    <a:moveTo>
                      <a:pt x="0" y="0"/>
                    </a:moveTo>
                    <a:lnTo>
                      <a:pt x="10191750" y="0"/>
                    </a:lnTo>
                    <a:lnTo>
                      <a:pt x="10191750" y="3314700"/>
                    </a:lnTo>
                    <a:lnTo>
                      <a:pt x="0" y="3314700"/>
                    </a:lnTo>
                    <a:lnTo>
                      <a:pt x="0" y="0"/>
                    </a:lnTo>
                    <a:close/>
                  </a:path>
                </a:pathLst>
              </a:custGeom>
              <a:blipFill>
                <a:blip r:embed="rId4"/>
                <a:stretch>
                  <a:fillRect l="0" t="0" r="0" b="0"/>
                </a:stretch>
              </a:blipFill>
            </p:spPr>
          </p:sp>
        </p:grpSp>
        <p:sp>
          <p:nvSpPr>
            <p:cNvPr name="TextBox 11" id="11"/>
            <p:cNvSpPr txBox="true"/>
            <p:nvPr/>
          </p:nvSpPr>
          <p:spPr>
            <a:xfrm rot="0">
              <a:off x="1137672" y="479425"/>
              <a:ext cx="9367202" cy="466725"/>
            </a:xfrm>
            <a:prstGeom prst="rect">
              <a:avLst/>
            </a:prstGeom>
          </p:spPr>
          <p:txBody>
            <a:bodyPr anchor="t" rtlCol="false" tIns="0" lIns="0" bIns="0" rIns="0">
              <a:spAutoFit/>
            </a:bodyPr>
            <a:lstStyle/>
            <a:p>
              <a:pPr algn="l">
                <a:lnSpc>
                  <a:spcPts val="2700"/>
                </a:lnSpc>
              </a:pPr>
              <a:r>
                <a:rPr lang="en-US" sz="2250" b="true">
                  <a:solidFill>
                    <a:srgbClr val="051C2C"/>
                  </a:solidFill>
                  <a:latin typeface="Montserrat Bold"/>
                  <a:ea typeface="Montserrat Bold"/>
                  <a:cs typeface="Montserrat Bold"/>
                  <a:sym typeface="Montserrat Bold"/>
                </a:rPr>
                <a:t>Private Cloud</a:t>
              </a:r>
            </a:p>
          </p:txBody>
        </p:sp>
        <p:sp>
          <p:nvSpPr>
            <p:cNvPr name="TextBox 12" id="12"/>
            <p:cNvSpPr txBox="true"/>
            <p:nvPr/>
          </p:nvSpPr>
          <p:spPr>
            <a:xfrm rot="0">
              <a:off x="552450" y="1076325"/>
              <a:ext cx="9163050" cy="1762125"/>
            </a:xfrm>
            <a:prstGeom prst="rect">
              <a:avLst/>
            </a:prstGeom>
          </p:spPr>
          <p:txBody>
            <a:bodyPr anchor="t" rtlCol="false" tIns="0" lIns="0" bIns="0" rIns="0">
              <a:spAutoFit/>
            </a:bodyPr>
            <a:lstStyle/>
            <a:p>
              <a:pPr algn="l">
                <a:lnSpc>
                  <a:spcPts val="2530"/>
                </a:lnSpc>
              </a:pPr>
              <a:r>
                <a:rPr lang="en-US" sz="1687">
                  <a:solidFill>
                    <a:srgbClr val="334155"/>
                  </a:solidFill>
                  <a:latin typeface="Open Sans"/>
                  <a:ea typeface="Open Sans"/>
                  <a:cs typeface="Open Sans"/>
                  <a:sym typeface="Open Sans"/>
                </a:rPr>
                <a:t>Ứng dụng CRM và cơ sở dữ liệu chứa thông tin định danh (hộ chiếu, thẻ thanh toán) được đặt tại Private Cloud. Đảm bảo tuân thủ nghiêm ngặt các quy định pháp lý về quyền riêng tư và an toàn dữ liệu, giữ quyền kiểm soát tối đa.</a:t>
              </a:r>
            </a:p>
          </p:txBody>
        </p:sp>
        <p:grpSp>
          <p:nvGrpSpPr>
            <p:cNvPr name="Group 13" id="13"/>
            <p:cNvGrpSpPr/>
            <p:nvPr/>
          </p:nvGrpSpPr>
          <p:grpSpPr>
            <a:xfrm rot="0">
              <a:off x="552450" y="514350"/>
              <a:ext cx="381000" cy="381000"/>
              <a:chOff x="0" y="0"/>
              <a:chExt cx="381000" cy="381000"/>
            </a:xfrm>
          </p:grpSpPr>
          <p:sp>
            <p:nvSpPr>
              <p:cNvPr name="Freeform 14" id="14" descr="image.png"/>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5"/>
                <a:stretch>
                  <a:fillRect l="0" t="0" r="0" b="0"/>
                </a:stretch>
              </a:blipFill>
            </p:spPr>
          </p:sp>
        </p:grpSp>
      </p:grpSp>
      <p:grpSp>
        <p:nvGrpSpPr>
          <p:cNvPr name="Group 15" id="15"/>
          <p:cNvGrpSpPr/>
          <p:nvPr/>
        </p:nvGrpSpPr>
        <p:grpSpPr>
          <a:xfrm rot="0">
            <a:off x="9615488" y="2657475"/>
            <a:ext cx="7877131" cy="2486025"/>
            <a:chOff x="0" y="0"/>
            <a:chExt cx="10502842" cy="3314700"/>
          </a:xfrm>
        </p:grpSpPr>
        <p:grpSp>
          <p:nvGrpSpPr>
            <p:cNvPr name="Group 16" id="16"/>
            <p:cNvGrpSpPr/>
            <p:nvPr/>
          </p:nvGrpSpPr>
          <p:grpSpPr>
            <a:xfrm rot="0">
              <a:off x="0" y="0"/>
              <a:ext cx="10191750" cy="3314700"/>
              <a:chOff x="0" y="0"/>
              <a:chExt cx="10191750" cy="3314700"/>
            </a:xfrm>
          </p:grpSpPr>
          <p:sp>
            <p:nvSpPr>
              <p:cNvPr name="Freeform 17" id="17" descr="image.png"/>
              <p:cNvSpPr/>
              <p:nvPr/>
            </p:nvSpPr>
            <p:spPr>
              <a:xfrm flipH="false" flipV="false" rot="0">
                <a:off x="0" y="0"/>
                <a:ext cx="10191750" cy="3314700"/>
              </a:xfrm>
              <a:custGeom>
                <a:avLst/>
                <a:gdLst/>
                <a:ahLst/>
                <a:cxnLst/>
                <a:rect r="r" b="b" t="t" l="l"/>
                <a:pathLst>
                  <a:path h="3314700" w="10191750">
                    <a:moveTo>
                      <a:pt x="0" y="0"/>
                    </a:moveTo>
                    <a:lnTo>
                      <a:pt x="10191750" y="0"/>
                    </a:lnTo>
                    <a:lnTo>
                      <a:pt x="10191750" y="3314700"/>
                    </a:lnTo>
                    <a:lnTo>
                      <a:pt x="0" y="3314700"/>
                    </a:lnTo>
                    <a:lnTo>
                      <a:pt x="0" y="0"/>
                    </a:lnTo>
                    <a:close/>
                  </a:path>
                </a:pathLst>
              </a:custGeom>
              <a:blipFill>
                <a:blip r:embed="rId4"/>
                <a:stretch>
                  <a:fillRect l="0" t="0" r="0" b="0"/>
                </a:stretch>
              </a:blipFill>
            </p:spPr>
          </p:sp>
        </p:grpSp>
        <p:sp>
          <p:nvSpPr>
            <p:cNvPr name="TextBox 18" id="18"/>
            <p:cNvSpPr txBox="true"/>
            <p:nvPr/>
          </p:nvSpPr>
          <p:spPr>
            <a:xfrm rot="0">
              <a:off x="1135639" y="441325"/>
              <a:ext cx="9367202" cy="466725"/>
            </a:xfrm>
            <a:prstGeom prst="rect">
              <a:avLst/>
            </a:prstGeom>
          </p:spPr>
          <p:txBody>
            <a:bodyPr anchor="t" rtlCol="false" tIns="0" lIns="0" bIns="0" rIns="0">
              <a:spAutoFit/>
            </a:bodyPr>
            <a:lstStyle/>
            <a:p>
              <a:pPr algn="l">
                <a:lnSpc>
                  <a:spcPts val="2700"/>
                </a:lnSpc>
              </a:pPr>
              <a:r>
                <a:rPr lang="en-US" sz="2250" b="true">
                  <a:solidFill>
                    <a:srgbClr val="051C2C"/>
                  </a:solidFill>
                  <a:latin typeface="Montserrat Bold"/>
                  <a:ea typeface="Montserrat Bold"/>
                  <a:cs typeface="Montserrat Bold"/>
                  <a:sym typeface="Montserrat Bold"/>
                </a:rPr>
                <a:t> </a:t>
              </a:r>
              <a:r>
                <a:rPr lang="en-US" sz="2250" b="true">
                  <a:solidFill>
                    <a:srgbClr val="051C2C"/>
                  </a:solidFill>
                  <a:latin typeface="Montserrat Bold"/>
                  <a:ea typeface="Montserrat Bold"/>
                  <a:cs typeface="Montserrat Bold"/>
                  <a:sym typeface="Montserrat Bold"/>
                </a:rPr>
                <a:t>Public Cloud</a:t>
              </a:r>
            </a:p>
          </p:txBody>
        </p:sp>
        <p:sp>
          <p:nvSpPr>
            <p:cNvPr name="TextBox 19" id="19"/>
            <p:cNvSpPr txBox="true"/>
            <p:nvPr/>
          </p:nvSpPr>
          <p:spPr>
            <a:xfrm rot="0">
              <a:off x="552450" y="1076325"/>
              <a:ext cx="9163050" cy="1762125"/>
            </a:xfrm>
            <a:prstGeom prst="rect">
              <a:avLst/>
            </a:prstGeom>
          </p:spPr>
          <p:txBody>
            <a:bodyPr anchor="t" rtlCol="false" tIns="0" lIns="0" bIns="0" rIns="0">
              <a:spAutoFit/>
            </a:bodyPr>
            <a:lstStyle/>
            <a:p>
              <a:pPr algn="l">
                <a:lnSpc>
                  <a:spcPts val="2530"/>
                </a:lnSpc>
              </a:pPr>
              <a:r>
                <a:rPr lang="en-US" sz="1687">
                  <a:solidFill>
                    <a:srgbClr val="334155"/>
                  </a:solidFill>
                  <a:latin typeface="Open Sans"/>
                  <a:ea typeface="Open Sans"/>
                  <a:cs typeface="Open Sans"/>
                  <a:sym typeface="Open Sans"/>
                </a:rPr>
                <a:t>Nền tảng TMĐT, Mobile App và quản lý bán hàng được triển khai trên Public Cloud. Hệ thống tự động cấp phát thêm máy chủ ảo khi lượng truy cập tăng (tính mùa vụ) và thu hồi tài nguyên khi thấp điểm để tối ưu chi phí.</a:t>
              </a:r>
            </a:p>
          </p:txBody>
        </p:sp>
        <p:grpSp>
          <p:nvGrpSpPr>
            <p:cNvPr name="Group 20" id="20"/>
            <p:cNvGrpSpPr/>
            <p:nvPr/>
          </p:nvGrpSpPr>
          <p:grpSpPr>
            <a:xfrm rot="0">
              <a:off x="552450" y="514350"/>
              <a:ext cx="381000" cy="381000"/>
              <a:chOff x="0" y="0"/>
              <a:chExt cx="381000" cy="381000"/>
            </a:xfrm>
          </p:grpSpPr>
          <p:sp>
            <p:nvSpPr>
              <p:cNvPr name="Freeform 21" id="21" descr="image.png"/>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6"/>
                <a:stretch>
                  <a:fillRect l="0" t="0" r="0" b="0"/>
                </a:stretch>
              </a:blipFill>
            </p:spPr>
          </p:sp>
        </p:grpSp>
      </p:grpSp>
      <p:grpSp>
        <p:nvGrpSpPr>
          <p:cNvPr name="Group 22" id="22"/>
          <p:cNvGrpSpPr/>
          <p:nvPr/>
        </p:nvGrpSpPr>
        <p:grpSpPr>
          <a:xfrm rot="0">
            <a:off x="5322094" y="5904467"/>
            <a:ext cx="7806095" cy="2164556"/>
            <a:chOff x="0" y="0"/>
            <a:chExt cx="10408126" cy="2886075"/>
          </a:xfrm>
        </p:grpSpPr>
        <p:grpSp>
          <p:nvGrpSpPr>
            <p:cNvPr name="Group 23" id="23"/>
            <p:cNvGrpSpPr/>
            <p:nvPr/>
          </p:nvGrpSpPr>
          <p:grpSpPr>
            <a:xfrm rot="0">
              <a:off x="0" y="0"/>
              <a:ext cx="10191750" cy="2886075"/>
              <a:chOff x="0" y="0"/>
              <a:chExt cx="10191750" cy="2886075"/>
            </a:xfrm>
          </p:grpSpPr>
          <p:sp>
            <p:nvSpPr>
              <p:cNvPr name="Freeform 24" id="24" descr="image.png"/>
              <p:cNvSpPr/>
              <p:nvPr/>
            </p:nvSpPr>
            <p:spPr>
              <a:xfrm flipH="false" flipV="false" rot="0">
                <a:off x="0" y="0"/>
                <a:ext cx="10191750" cy="2886075"/>
              </a:xfrm>
              <a:custGeom>
                <a:avLst/>
                <a:gdLst/>
                <a:ahLst/>
                <a:cxnLst/>
                <a:rect r="r" b="b" t="t" l="l"/>
                <a:pathLst>
                  <a:path h="2886075" w="10191750">
                    <a:moveTo>
                      <a:pt x="0" y="0"/>
                    </a:moveTo>
                    <a:lnTo>
                      <a:pt x="10191750" y="0"/>
                    </a:lnTo>
                    <a:lnTo>
                      <a:pt x="10191750" y="2886075"/>
                    </a:lnTo>
                    <a:lnTo>
                      <a:pt x="0" y="2886075"/>
                    </a:lnTo>
                    <a:lnTo>
                      <a:pt x="0" y="0"/>
                    </a:lnTo>
                    <a:close/>
                  </a:path>
                </a:pathLst>
              </a:custGeom>
              <a:blipFill>
                <a:blip r:embed="rId7"/>
                <a:stretch>
                  <a:fillRect l="0" t="-165" r="0" b="-165"/>
                </a:stretch>
              </a:blipFill>
            </p:spPr>
          </p:sp>
        </p:grpSp>
        <p:sp>
          <p:nvSpPr>
            <p:cNvPr name="TextBox 25" id="25"/>
            <p:cNvSpPr txBox="true"/>
            <p:nvPr/>
          </p:nvSpPr>
          <p:spPr>
            <a:xfrm rot="0">
              <a:off x="1040924" y="428625"/>
              <a:ext cx="9367202" cy="466725"/>
            </a:xfrm>
            <a:prstGeom prst="rect">
              <a:avLst/>
            </a:prstGeom>
          </p:spPr>
          <p:txBody>
            <a:bodyPr anchor="t" rtlCol="false" tIns="0" lIns="0" bIns="0" rIns="0">
              <a:spAutoFit/>
            </a:bodyPr>
            <a:lstStyle/>
            <a:p>
              <a:pPr algn="l">
                <a:lnSpc>
                  <a:spcPts val="2700"/>
                </a:lnSpc>
              </a:pPr>
              <a:r>
                <a:rPr lang="en-US" sz="2250" b="true">
                  <a:solidFill>
                    <a:srgbClr val="051C2C"/>
                  </a:solidFill>
                  <a:latin typeface="Montserrat Bold"/>
                  <a:ea typeface="Montserrat Bold"/>
                  <a:cs typeface="Montserrat Bold"/>
                  <a:sym typeface="Montserrat Bold"/>
                </a:rPr>
                <a:t>Hạ tầng Phần mềm Hệ thống</a:t>
              </a:r>
            </a:p>
          </p:txBody>
        </p:sp>
        <p:sp>
          <p:nvSpPr>
            <p:cNvPr name="TextBox 26" id="26"/>
            <p:cNvSpPr txBox="true"/>
            <p:nvPr/>
          </p:nvSpPr>
          <p:spPr>
            <a:xfrm rot="0">
              <a:off x="552450" y="1076325"/>
              <a:ext cx="9163050" cy="1333500"/>
            </a:xfrm>
            <a:prstGeom prst="rect">
              <a:avLst/>
            </a:prstGeom>
          </p:spPr>
          <p:txBody>
            <a:bodyPr anchor="t" rtlCol="false" tIns="0" lIns="0" bIns="0" rIns="0">
              <a:spAutoFit/>
            </a:bodyPr>
            <a:lstStyle/>
            <a:p>
              <a:pPr algn="l">
                <a:lnSpc>
                  <a:spcPts val="2530"/>
                </a:lnSpc>
              </a:pPr>
              <a:r>
                <a:rPr lang="en-US" sz="1687">
                  <a:solidFill>
                    <a:srgbClr val="334155"/>
                  </a:solidFill>
                  <a:latin typeface="Open Sans"/>
                  <a:ea typeface="Open Sans"/>
                  <a:cs typeface="Open Sans"/>
                  <a:sym typeface="Open Sans"/>
                </a:rPr>
                <a:t>Sử dụng HĐH mã nguồn mở, nền tảng quản lý bộ chứa (Container) điều phối vi dịch vụ. Bắt buộc tích hợp </a:t>
              </a:r>
              <a:r>
                <a:rPr lang="en-US" sz="1687" b="true">
                  <a:solidFill>
                    <a:srgbClr val="334155"/>
                  </a:solidFill>
                  <a:latin typeface="Open Sans Bold"/>
                  <a:ea typeface="Open Sans Bold"/>
                  <a:cs typeface="Open Sans Bold"/>
                  <a:sym typeface="Open Sans Bold"/>
                </a:rPr>
                <a:t>Message Broker</a:t>
              </a:r>
              <a:r>
                <a:rPr lang="en-US" sz="1687">
                  <a:solidFill>
                    <a:srgbClr val="334155"/>
                  </a:solidFill>
                  <a:latin typeface="Open Sans"/>
                  <a:ea typeface="Open Sans"/>
                  <a:cs typeface="Open Sans"/>
                  <a:sym typeface="Open Sans"/>
                </a:rPr>
                <a:t> để phân phối thông điệp cập nhật tồn kho theo thời gian thực giữa các ứng dụng.</a:t>
              </a:r>
            </a:p>
          </p:txBody>
        </p:sp>
        <p:grpSp>
          <p:nvGrpSpPr>
            <p:cNvPr name="Group 27" id="27"/>
            <p:cNvGrpSpPr/>
            <p:nvPr/>
          </p:nvGrpSpPr>
          <p:grpSpPr>
            <a:xfrm rot="0">
              <a:off x="552450" y="514350"/>
              <a:ext cx="381000" cy="381000"/>
              <a:chOff x="0" y="0"/>
              <a:chExt cx="381000" cy="381000"/>
            </a:xfrm>
          </p:grpSpPr>
          <p:sp>
            <p:nvSpPr>
              <p:cNvPr name="Freeform 28" id="28" descr="image.png"/>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8"/>
                <a:stretch>
                  <a:fillRect l="0" t="0" r="0" b="0"/>
                </a:stretch>
              </a:blipFill>
            </p:spPr>
          </p:sp>
        </p:gr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98" y="1521933"/>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THIẾT KẾ CÁC PHÂN LỚP CÔNG NGHỆ</a:t>
            </a:r>
          </a:p>
        </p:txBody>
      </p:sp>
      <p:grpSp>
        <p:nvGrpSpPr>
          <p:cNvPr name="Group 8" id="8"/>
          <p:cNvGrpSpPr/>
          <p:nvPr/>
        </p:nvGrpSpPr>
        <p:grpSpPr>
          <a:xfrm rot="0">
            <a:off x="1143000" y="2343150"/>
            <a:ext cx="16002000" cy="5807869"/>
            <a:chOff x="0" y="0"/>
            <a:chExt cx="21336000" cy="7743825"/>
          </a:xfrm>
        </p:grpSpPr>
        <p:grpSp>
          <p:nvGrpSpPr>
            <p:cNvPr name="Group 9" id="9"/>
            <p:cNvGrpSpPr/>
            <p:nvPr/>
          </p:nvGrpSpPr>
          <p:grpSpPr>
            <a:xfrm rot="0">
              <a:off x="0" y="0"/>
              <a:ext cx="10429875" cy="3633788"/>
              <a:chOff x="0" y="0"/>
              <a:chExt cx="10429875" cy="3633788"/>
            </a:xfrm>
          </p:grpSpPr>
          <p:sp>
            <p:nvSpPr>
              <p:cNvPr name="Freeform 10" id="10" descr="image.png"/>
              <p:cNvSpPr/>
              <p:nvPr/>
            </p:nvSpPr>
            <p:spPr>
              <a:xfrm flipH="false" flipV="false" rot="0">
                <a:off x="0" y="0"/>
                <a:ext cx="10429875" cy="3633724"/>
              </a:xfrm>
              <a:custGeom>
                <a:avLst/>
                <a:gdLst/>
                <a:ahLst/>
                <a:cxnLst/>
                <a:rect r="r" b="b" t="t" l="l"/>
                <a:pathLst>
                  <a:path h="3633724" w="10429875">
                    <a:moveTo>
                      <a:pt x="0" y="0"/>
                    </a:moveTo>
                    <a:lnTo>
                      <a:pt x="10429875" y="0"/>
                    </a:lnTo>
                    <a:lnTo>
                      <a:pt x="10429875" y="3633724"/>
                    </a:lnTo>
                    <a:lnTo>
                      <a:pt x="0" y="3633724"/>
                    </a:lnTo>
                    <a:lnTo>
                      <a:pt x="0" y="0"/>
                    </a:lnTo>
                    <a:close/>
                  </a:path>
                </a:pathLst>
              </a:custGeom>
              <a:blipFill>
                <a:blip r:embed="rId4"/>
                <a:stretch>
                  <a:fillRect l="0" t="-19" r="0" b="-21"/>
                </a:stretch>
              </a:blipFill>
            </p:spPr>
          </p:sp>
        </p:grpSp>
        <p:grpSp>
          <p:nvGrpSpPr>
            <p:cNvPr name="Group 11" id="11"/>
            <p:cNvGrpSpPr/>
            <p:nvPr/>
          </p:nvGrpSpPr>
          <p:grpSpPr>
            <a:xfrm rot="0">
              <a:off x="10906125" y="0"/>
              <a:ext cx="10429875" cy="3633788"/>
              <a:chOff x="0" y="0"/>
              <a:chExt cx="10429875" cy="3633788"/>
            </a:xfrm>
          </p:grpSpPr>
          <p:sp>
            <p:nvSpPr>
              <p:cNvPr name="Freeform 12" id="12" descr="image.png"/>
              <p:cNvSpPr/>
              <p:nvPr/>
            </p:nvSpPr>
            <p:spPr>
              <a:xfrm flipH="false" flipV="false" rot="0">
                <a:off x="0" y="0"/>
                <a:ext cx="10429875" cy="3633724"/>
              </a:xfrm>
              <a:custGeom>
                <a:avLst/>
                <a:gdLst/>
                <a:ahLst/>
                <a:cxnLst/>
                <a:rect r="r" b="b" t="t" l="l"/>
                <a:pathLst>
                  <a:path h="3633724" w="10429875">
                    <a:moveTo>
                      <a:pt x="0" y="0"/>
                    </a:moveTo>
                    <a:lnTo>
                      <a:pt x="10429875" y="0"/>
                    </a:lnTo>
                    <a:lnTo>
                      <a:pt x="10429875" y="3633724"/>
                    </a:lnTo>
                    <a:lnTo>
                      <a:pt x="0" y="3633724"/>
                    </a:lnTo>
                    <a:lnTo>
                      <a:pt x="0" y="0"/>
                    </a:lnTo>
                    <a:close/>
                  </a:path>
                </a:pathLst>
              </a:custGeom>
              <a:blipFill>
                <a:blip r:embed="rId5"/>
                <a:stretch>
                  <a:fillRect l="0" t="-19" r="0" b="-21"/>
                </a:stretch>
              </a:blipFill>
            </p:spPr>
          </p:sp>
        </p:grpSp>
        <p:grpSp>
          <p:nvGrpSpPr>
            <p:cNvPr name="Group 13" id="13"/>
            <p:cNvGrpSpPr/>
            <p:nvPr/>
          </p:nvGrpSpPr>
          <p:grpSpPr>
            <a:xfrm rot="0">
              <a:off x="0" y="4110038"/>
              <a:ext cx="10429875" cy="3633788"/>
              <a:chOff x="0" y="0"/>
              <a:chExt cx="10429875" cy="3633788"/>
            </a:xfrm>
          </p:grpSpPr>
          <p:sp>
            <p:nvSpPr>
              <p:cNvPr name="Freeform 14" id="14" descr="image.png"/>
              <p:cNvSpPr/>
              <p:nvPr/>
            </p:nvSpPr>
            <p:spPr>
              <a:xfrm flipH="false" flipV="false" rot="0">
                <a:off x="0" y="0"/>
                <a:ext cx="10429875" cy="3633724"/>
              </a:xfrm>
              <a:custGeom>
                <a:avLst/>
                <a:gdLst/>
                <a:ahLst/>
                <a:cxnLst/>
                <a:rect r="r" b="b" t="t" l="l"/>
                <a:pathLst>
                  <a:path h="3633724" w="10429875">
                    <a:moveTo>
                      <a:pt x="0" y="0"/>
                    </a:moveTo>
                    <a:lnTo>
                      <a:pt x="10429875" y="0"/>
                    </a:lnTo>
                    <a:lnTo>
                      <a:pt x="10429875" y="3633724"/>
                    </a:lnTo>
                    <a:lnTo>
                      <a:pt x="0" y="3633724"/>
                    </a:lnTo>
                    <a:lnTo>
                      <a:pt x="0" y="0"/>
                    </a:lnTo>
                    <a:close/>
                  </a:path>
                </a:pathLst>
              </a:custGeom>
              <a:blipFill>
                <a:blip r:embed="rId6"/>
                <a:stretch>
                  <a:fillRect l="0" t="-281" r="0" b="-283"/>
                </a:stretch>
              </a:blipFill>
            </p:spPr>
          </p:sp>
        </p:grpSp>
        <p:grpSp>
          <p:nvGrpSpPr>
            <p:cNvPr name="Group 15" id="15"/>
            <p:cNvGrpSpPr/>
            <p:nvPr/>
          </p:nvGrpSpPr>
          <p:grpSpPr>
            <a:xfrm rot="0">
              <a:off x="10906125" y="4110038"/>
              <a:ext cx="10429875" cy="3633788"/>
              <a:chOff x="0" y="0"/>
              <a:chExt cx="10429875" cy="3633788"/>
            </a:xfrm>
          </p:grpSpPr>
          <p:sp>
            <p:nvSpPr>
              <p:cNvPr name="Freeform 16" id="16" descr="image.png"/>
              <p:cNvSpPr/>
              <p:nvPr/>
            </p:nvSpPr>
            <p:spPr>
              <a:xfrm flipH="false" flipV="false" rot="0">
                <a:off x="0" y="0"/>
                <a:ext cx="10429875" cy="3633724"/>
              </a:xfrm>
              <a:custGeom>
                <a:avLst/>
                <a:gdLst/>
                <a:ahLst/>
                <a:cxnLst/>
                <a:rect r="r" b="b" t="t" l="l"/>
                <a:pathLst>
                  <a:path h="3633724" w="10429875">
                    <a:moveTo>
                      <a:pt x="0" y="0"/>
                    </a:moveTo>
                    <a:lnTo>
                      <a:pt x="10429875" y="0"/>
                    </a:lnTo>
                    <a:lnTo>
                      <a:pt x="10429875" y="3633724"/>
                    </a:lnTo>
                    <a:lnTo>
                      <a:pt x="0" y="3633724"/>
                    </a:lnTo>
                    <a:lnTo>
                      <a:pt x="0" y="0"/>
                    </a:lnTo>
                    <a:close/>
                  </a:path>
                </a:pathLst>
              </a:custGeom>
              <a:blipFill>
                <a:blip r:embed="rId7"/>
                <a:stretch>
                  <a:fillRect l="0" t="-281" r="0" b="-283"/>
                </a:stretch>
              </a:blipFill>
            </p:spPr>
          </p:sp>
        </p:grpSp>
        <p:grpSp>
          <p:nvGrpSpPr>
            <p:cNvPr name="Group 17" id="17"/>
            <p:cNvGrpSpPr/>
            <p:nvPr/>
          </p:nvGrpSpPr>
          <p:grpSpPr>
            <a:xfrm rot="0">
              <a:off x="590550" y="685800"/>
              <a:ext cx="952500" cy="952500"/>
              <a:chOff x="0" y="0"/>
              <a:chExt cx="952500" cy="952500"/>
            </a:xfrm>
          </p:grpSpPr>
          <p:sp>
            <p:nvSpPr>
              <p:cNvPr name="Freeform 18" id="18" descr="image.png"/>
              <p:cNvSpPr/>
              <p:nvPr/>
            </p:nvSpPr>
            <p:spPr>
              <a:xfrm flipH="false" flipV="false" rot="0">
                <a:off x="0" y="0"/>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8"/>
                <a:stretch>
                  <a:fillRect l="0" t="0" r="0" b="0"/>
                </a:stretch>
              </a:blipFill>
            </p:spPr>
          </p:sp>
        </p:grpSp>
        <p:grpSp>
          <p:nvGrpSpPr>
            <p:cNvPr name="Group 19" id="19"/>
            <p:cNvGrpSpPr/>
            <p:nvPr/>
          </p:nvGrpSpPr>
          <p:grpSpPr>
            <a:xfrm rot="0">
              <a:off x="11496675" y="685800"/>
              <a:ext cx="952500" cy="952500"/>
              <a:chOff x="0" y="0"/>
              <a:chExt cx="952500" cy="952500"/>
            </a:xfrm>
          </p:grpSpPr>
          <p:sp>
            <p:nvSpPr>
              <p:cNvPr name="Freeform 20" id="20" descr="image.png"/>
              <p:cNvSpPr/>
              <p:nvPr/>
            </p:nvSpPr>
            <p:spPr>
              <a:xfrm flipH="false" flipV="false" rot="0">
                <a:off x="0" y="0"/>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9"/>
                <a:stretch>
                  <a:fillRect l="-1000" t="0" r="-1000" b="0"/>
                </a:stretch>
              </a:blipFill>
            </p:spPr>
          </p:sp>
        </p:grpSp>
        <p:grpSp>
          <p:nvGrpSpPr>
            <p:cNvPr name="Group 21" id="21"/>
            <p:cNvGrpSpPr/>
            <p:nvPr/>
          </p:nvGrpSpPr>
          <p:grpSpPr>
            <a:xfrm rot="0">
              <a:off x="590550" y="4795838"/>
              <a:ext cx="952500" cy="952500"/>
              <a:chOff x="0" y="0"/>
              <a:chExt cx="952500" cy="952500"/>
            </a:xfrm>
          </p:grpSpPr>
          <p:sp>
            <p:nvSpPr>
              <p:cNvPr name="Freeform 22" id="22" descr="image.png"/>
              <p:cNvSpPr/>
              <p:nvPr/>
            </p:nvSpPr>
            <p:spPr>
              <a:xfrm flipH="false" flipV="false" rot="0">
                <a:off x="0" y="0"/>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10"/>
                <a:stretch>
                  <a:fillRect l="0" t="-1000" r="0" b="-1000"/>
                </a:stretch>
              </a:blipFill>
            </p:spPr>
          </p:sp>
        </p:grpSp>
        <p:grpSp>
          <p:nvGrpSpPr>
            <p:cNvPr name="Group 23" id="23"/>
            <p:cNvGrpSpPr/>
            <p:nvPr/>
          </p:nvGrpSpPr>
          <p:grpSpPr>
            <a:xfrm rot="0">
              <a:off x="11496675" y="4795838"/>
              <a:ext cx="952500" cy="952500"/>
              <a:chOff x="0" y="0"/>
              <a:chExt cx="952500" cy="952500"/>
            </a:xfrm>
          </p:grpSpPr>
          <p:sp>
            <p:nvSpPr>
              <p:cNvPr name="Freeform 24" id="24" descr="image.png"/>
              <p:cNvSpPr/>
              <p:nvPr/>
            </p:nvSpPr>
            <p:spPr>
              <a:xfrm flipH="false" flipV="false" rot="0">
                <a:off x="0" y="0"/>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11"/>
                <a:stretch>
                  <a:fillRect l="0" t="0" r="0" b="0"/>
                </a:stretch>
              </a:blipFill>
            </p:spPr>
          </p:sp>
        </p:grpSp>
        <p:grpSp>
          <p:nvGrpSpPr>
            <p:cNvPr name="Group 25" id="25"/>
            <p:cNvGrpSpPr/>
            <p:nvPr/>
          </p:nvGrpSpPr>
          <p:grpSpPr>
            <a:xfrm rot="0">
              <a:off x="800100" y="952500"/>
              <a:ext cx="533400" cy="419100"/>
              <a:chOff x="0" y="0"/>
              <a:chExt cx="533400" cy="419100"/>
            </a:xfrm>
          </p:grpSpPr>
          <p:sp>
            <p:nvSpPr>
              <p:cNvPr name="Freeform 26" id="26" descr="image.png"/>
              <p:cNvSpPr/>
              <p:nvPr/>
            </p:nvSpPr>
            <p:spPr>
              <a:xfrm flipH="false" flipV="false" rot="0">
                <a:off x="0" y="0"/>
                <a:ext cx="533400" cy="419100"/>
              </a:xfrm>
              <a:custGeom>
                <a:avLst/>
                <a:gdLst/>
                <a:ahLst/>
                <a:cxnLst/>
                <a:rect r="r" b="b" t="t" l="l"/>
                <a:pathLst>
                  <a:path h="419100" w="533400">
                    <a:moveTo>
                      <a:pt x="0" y="0"/>
                    </a:moveTo>
                    <a:lnTo>
                      <a:pt x="533400" y="0"/>
                    </a:lnTo>
                    <a:lnTo>
                      <a:pt x="533400" y="419100"/>
                    </a:lnTo>
                    <a:lnTo>
                      <a:pt x="0" y="419100"/>
                    </a:lnTo>
                    <a:lnTo>
                      <a:pt x="0" y="0"/>
                    </a:lnTo>
                    <a:close/>
                  </a:path>
                </a:pathLst>
              </a:custGeom>
              <a:blipFill>
                <a:blip r:embed="rId12"/>
                <a:stretch>
                  <a:fillRect l="0" t="0" r="0" b="0"/>
                </a:stretch>
              </a:blipFill>
            </p:spPr>
          </p:sp>
        </p:grpSp>
        <p:sp>
          <p:nvSpPr>
            <p:cNvPr name="TextBox 27" id="27"/>
            <p:cNvSpPr txBox="true"/>
            <p:nvPr/>
          </p:nvSpPr>
          <p:spPr>
            <a:xfrm rot="0">
              <a:off x="1924050" y="561975"/>
              <a:ext cx="8311032" cy="523875"/>
            </a:xfrm>
            <a:prstGeom prst="rect">
              <a:avLst/>
            </a:prstGeom>
          </p:spPr>
          <p:txBody>
            <a:bodyPr anchor="t" rtlCol="false" tIns="0" lIns="0" bIns="0" rIns="0">
              <a:spAutoFit/>
            </a:bodyPr>
            <a:lstStyle/>
            <a:p>
              <a:pPr algn="l">
                <a:lnSpc>
                  <a:spcPts val="2925"/>
                </a:lnSpc>
              </a:pPr>
              <a:r>
                <a:rPr lang="en-US" sz="2250" b="true">
                  <a:solidFill>
                    <a:srgbClr val="051C2C"/>
                  </a:solidFill>
                  <a:latin typeface="Montserrat Bold"/>
                  <a:ea typeface="Montserrat Bold"/>
                  <a:cs typeface="Montserrat Bold"/>
                  <a:sym typeface="Montserrat Bold"/>
                </a:rPr>
                <a:t>Lớp Truy Cập &amp; Mạng Giao Tiếp</a:t>
              </a:r>
            </a:p>
          </p:txBody>
        </p:sp>
        <p:sp>
          <p:nvSpPr>
            <p:cNvPr name="TextBox 28" id="28"/>
            <p:cNvSpPr txBox="true"/>
            <p:nvPr/>
          </p:nvSpPr>
          <p:spPr>
            <a:xfrm rot="0">
              <a:off x="1924050" y="1209675"/>
              <a:ext cx="7915275" cy="1833563"/>
            </a:xfrm>
            <a:prstGeom prst="rect">
              <a:avLst/>
            </a:prstGeom>
          </p:spPr>
          <p:txBody>
            <a:bodyPr anchor="t" rtlCol="false" tIns="0" lIns="0" bIns="0" rIns="0">
              <a:spAutoFit/>
            </a:bodyPr>
            <a:lstStyle/>
            <a:p>
              <a:pPr algn="l">
                <a:lnSpc>
                  <a:spcPts val="2608"/>
                </a:lnSpc>
              </a:pPr>
              <a:r>
                <a:rPr lang="en-US" sz="1630">
                  <a:solidFill>
                    <a:srgbClr val="475569"/>
                  </a:solidFill>
                  <a:latin typeface="Open Sans"/>
                  <a:ea typeface="Open Sans"/>
                  <a:cs typeface="Open Sans"/>
                  <a:sym typeface="Open Sans"/>
                </a:rPr>
                <a:t>Kết nối người dùng cuối. Khách hàng sử dụng Internet (qua Load Balancer chống quá tải). Các chi nhánh dùng mạng diện rộng định tuyến bằng phần mềm kết hợp mạng riêng ảo </a:t>
              </a:r>
              <a:r>
                <a:rPr lang="en-US" sz="1630" b="true">
                  <a:solidFill>
                    <a:srgbClr val="475569"/>
                  </a:solidFill>
                  <a:latin typeface="Open Sans Bold"/>
                  <a:ea typeface="Open Sans Bold"/>
                  <a:cs typeface="Open Sans Bold"/>
                  <a:sym typeface="Open Sans Bold"/>
                </a:rPr>
                <a:t>(VPN)</a:t>
              </a:r>
              <a:r>
                <a:rPr lang="en-US" sz="1630">
                  <a:solidFill>
                    <a:srgbClr val="475569"/>
                  </a:solidFill>
                  <a:latin typeface="Open Sans"/>
                  <a:ea typeface="Open Sans"/>
                  <a:cs typeface="Open Sans"/>
                  <a:sym typeface="Open Sans"/>
                </a:rPr>
                <a:t> mã hóa để kết nối an toàn về trung tâm.</a:t>
              </a:r>
            </a:p>
          </p:txBody>
        </p:sp>
        <p:grpSp>
          <p:nvGrpSpPr>
            <p:cNvPr name="Group 29" id="29"/>
            <p:cNvGrpSpPr/>
            <p:nvPr/>
          </p:nvGrpSpPr>
          <p:grpSpPr>
            <a:xfrm rot="0">
              <a:off x="11734800" y="952500"/>
              <a:ext cx="476250" cy="419100"/>
              <a:chOff x="0" y="0"/>
              <a:chExt cx="476250" cy="419100"/>
            </a:xfrm>
          </p:grpSpPr>
          <p:sp>
            <p:nvSpPr>
              <p:cNvPr name="Freeform 30" id="30" descr="image.png"/>
              <p:cNvSpPr/>
              <p:nvPr/>
            </p:nvSpPr>
            <p:spPr>
              <a:xfrm flipH="false" flipV="false" rot="0">
                <a:off x="0" y="0"/>
                <a:ext cx="476250" cy="419100"/>
              </a:xfrm>
              <a:custGeom>
                <a:avLst/>
                <a:gdLst/>
                <a:ahLst/>
                <a:cxnLst/>
                <a:rect r="r" b="b" t="t" l="l"/>
                <a:pathLst>
                  <a:path h="419100" w="476250">
                    <a:moveTo>
                      <a:pt x="0" y="0"/>
                    </a:moveTo>
                    <a:lnTo>
                      <a:pt x="476250" y="0"/>
                    </a:lnTo>
                    <a:lnTo>
                      <a:pt x="476250" y="419100"/>
                    </a:lnTo>
                    <a:lnTo>
                      <a:pt x="0" y="419100"/>
                    </a:lnTo>
                    <a:lnTo>
                      <a:pt x="0" y="0"/>
                    </a:lnTo>
                    <a:close/>
                  </a:path>
                </a:pathLst>
              </a:custGeom>
              <a:blipFill>
                <a:blip r:embed="rId13"/>
                <a:stretch>
                  <a:fillRect l="0" t="0" r="0" b="0"/>
                </a:stretch>
              </a:blipFill>
            </p:spPr>
          </p:sp>
        </p:grpSp>
        <p:sp>
          <p:nvSpPr>
            <p:cNvPr name="TextBox 31" id="31"/>
            <p:cNvSpPr txBox="true"/>
            <p:nvPr/>
          </p:nvSpPr>
          <p:spPr>
            <a:xfrm rot="0">
              <a:off x="12830175" y="561975"/>
              <a:ext cx="8311032" cy="523875"/>
            </a:xfrm>
            <a:prstGeom prst="rect">
              <a:avLst/>
            </a:prstGeom>
          </p:spPr>
          <p:txBody>
            <a:bodyPr anchor="t" rtlCol="false" tIns="0" lIns="0" bIns="0" rIns="0">
              <a:spAutoFit/>
            </a:bodyPr>
            <a:lstStyle/>
            <a:p>
              <a:pPr algn="l">
                <a:lnSpc>
                  <a:spcPts val="2925"/>
                </a:lnSpc>
              </a:pPr>
              <a:r>
                <a:rPr lang="en-US" sz="2250" b="true">
                  <a:solidFill>
                    <a:srgbClr val="051C2C"/>
                  </a:solidFill>
                  <a:latin typeface="Montserrat Bold"/>
                  <a:ea typeface="Montserrat Bold"/>
                  <a:cs typeface="Montserrat Bold"/>
                  <a:sym typeface="Montserrat Bold"/>
                </a:rPr>
                <a:t>Lớp Thực Thi Ứng Dụng</a:t>
              </a:r>
            </a:p>
          </p:txBody>
        </p:sp>
        <p:sp>
          <p:nvSpPr>
            <p:cNvPr name="TextBox 32" id="32"/>
            <p:cNvSpPr txBox="true"/>
            <p:nvPr/>
          </p:nvSpPr>
          <p:spPr>
            <a:xfrm rot="0">
              <a:off x="12830175" y="1209675"/>
              <a:ext cx="7915275" cy="1833563"/>
            </a:xfrm>
            <a:prstGeom prst="rect">
              <a:avLst/>
            </a:prstGeom>
          </p:spPr>
          <p:txBody>
            <a:bodyPr anchor="t" rtlCol="false" tIns="0" lIns="0" bIns="0" rIns="0">
              <a:spAutoFit/>
            </a:bodyPr>
            <a:lstStyle/>
            <a:p>
              <a:pPr algn="l">
                <a:lnSpc>
                  <a:spcPts val="2608"/>
                </a:lnSpc>
              </a:pPr>
              <a:r>
                <a:rPr lang="en-US" sz="1630">
                  <a:solidFill>
                    <a:srgbClr val="475569"/>
                  </a:solidFill>
                  <a:latin typeface="Open Sans"/>
                  <a:ea typeface="Open Sans"/>
                  <a:cs typeface="Open Sans"/>
                  <a:sym typeface="Open Sans"/>
                </a:rPr>
                <a:t>Bao gồm cụm máy chủ ảo hóa chạy nền tảng </a:t>
              </a:r>
              <a:r>
                <a:rPr lang="en-US" sz="1630" b="true">
                  <a:solidFill>
                    <a:srgbClr val="475569"/>
                  </a:solidFill>
                  <a:latin typeface="Open Sans Bold"/>
                  <a:ea typeface="Open Sans Bold"/>
                  <a:cs typeface="Open Sans Bold"/>
                  <a:sym typeface="Open Sans Bold"/>
                </a:rPr>
                <a:t>quản lý bộ chứa</a:t>
              </a:r>
              <a:r>
                <a:rPr lang="en-US" sz="1630">
                  <a:solidFill>
                    <a:srgbClr val="475569"/>
                  </a:solidFill>
                  <a:latin typeface="Open Sans"/>
                  <a:ea typeface="Open Sans"/>
                  <a:cs typeface="Open Sans"/>
                  <a:sym typeface="Open Sans"/>
                </a:rPr>
                <a:t> (điều phối vòng đời Microservices). Nếu dịch vụ tồn kho quá tải, nền tảng tự động khởi tạo thêm bản sao bộ chứa để duy trì thời gian phản hồi dưới 1 mili-giây.</a:t>
              </a:r>
            </a:p>
          </p:txBody>
        </p:sp>
        <p:grpSp>
          <p:nvGrpSpPr>
            <p:cNvPr name="Group 33" id="33"/>
            <p:cNvGrpSpPr/>
            <p:nvPr/>
          </p:nvGrpSpPr>
          <p:grpSpPr>
            <a:xfrm rot="0">
              <a:off x="828675" y="5062538"/>
              <a:ext cx="476250" cy="419100"/>
              <a:chOff x="0" y="0"/>
              <a:chExt cx="476250" cy="419100"/>
            </a:xfrm>
          </p:grpSpPr>
          <p:sp>
            <p:nvSpPr>
              <p:cNvPr name="Freeform 34" id="34" descr="image.png"/>
              <p:cNvSpPr/>
              <p:nvPr/>
            </p:nvSpPr>
            <p:spPr>
              <a:xfrm flipH="false" flipV="false" rot="0">
                <a:off x="0" y="0"/>
                <a:ext cx="476250" cy="419100"/>
              </a:xfrm>
              <a:custGeom>
                <a:avLst/>
                <a:gdLst/>
                <a:ahLst/>
                <a:cxnLst/>
                <a:rect r="r" b="b" t="t" l="l"/>
                <a:pathLst>
                  <a:path h="419100" w="476250">
                    <a:moveTo>
                      <a:pt x="0" y="0"/>
                    </a:moveTo>
                    <a:lnTo>
                      <a:pt x="476250" y="0"/>
                    </a:lnTo>
                    <a:lnTo>
                      <a:pt x="476250" y="419100"/>
                    </a:lnTo>
                    <a:lnTo>
                      <a:pt x="0" y="419100"/>
                    </a:lnTo>
                    <a:lnTo>
                      <a:pt x="0" y="0"/>
                    </a:lnTo>
                    <a:close/>
                  </a:path>
                </a:pathLst>
              </a:custGeom>
              <a:blipFill>
                <a:blip r:embed="rId14"/>
                <a:stretch>
                  <a:fillRect l="0" t="-263" r="0" b="-260"/>
                </a:stretch>
              </a:blipFill>
            </p:spPr>
          </p:sp>
        </p:grpSp>
        <p:sp>
          <p:nvSpPr>
            <p:cNvPr name="TextBox 35" id="35"/>
            <p:cNvSpPr txBox="true"/>
            <p:nvPr/>
          </p:nvSpPr>
          <p:spPr>
            <a:xfrm rot="0">
              <a:off x="1924050" y="4672013"/>
              <a:ext cx="8311032" cy="523875"/>
            </a:xfrm>
            <a:prstGeom prst="rect">
              <a:avLst/>
            </a:prstGeom>
          </p:spPr>
          <p:txBody>
            <a:bodyPr anchor="t" rtlCol="false" tIns="0" lIns="0" bIns="0" rIns="0">
              <a:spAutoFit/>
            </a:bodyPr>
            <a:lstStyle/>
            <a:p>
              <a:pPr algn="l">
                <a:lnSpc>
                  <a:spcPts val="2925"/>
                </a:lnSpc>
              </a:pPr>
              <a:r>
                <a:rPr lang="en-US" sz="2250" b="true">
                  <a:solidFill>
                    <a:srgbClr val="051C2C"/>
                  </a:solidFill>
                  <a:latin typeface="Montserrat Bold"/>
                  <a:ea typeface="Montserrat Bold"/>
                  <a:cs typeface="Montserrat Bold"/>
                  <a:sym typeface="Montserrat Bold"/>
                </a:rPr>
                <a:t>Lớp Tích Hợp &amp; Trung Chuyển</a:t>
              </a:r>
            </a:p>
          </p:txBody>
        </p:sp>
        <p:sp>
          <p:nvSpPr>
            <p:cNvPr name="TextBox 36" id="36"/>
            <p:cNvSpPr txBox="true"/>
            <p:nvPr/>
          </p:nvSpPr>
          <p:spPr>
            <a:xfrm rot="0">
              <a:off x="1924050" y="5319713"/>
              <a:ext cx="7915275" cy="1833563"/>
            </a:xfrm>
            <a:prstGeom prst="rect">
              <a:avLst/>
            </a:prstGeom>
          </p:spPr>
          <p:txBody>
            <a:bodyPr anchor="t" rtlCol="false" tIns="0" lIns="0" bIns="0" rIns="0">
              <a:spAutoFit/>
            </a:bodyPr>
            <a:lstStyle/>
            <a:p>
              <a:pPr algn="l">
                <a:lnSpc>
                  <a:spcPts val="2608"/>
                </a:lnSpc>
              </a:pPr>
              <a:r>
                <a:rPr lang="en-US" sz="1630">
                  <a:solidFill>
                    <a:srgbClr val="475569"/>
                  </a:solidFill>
                  <a:latin typeface="Open Sans"/>
                  <a:ea typeface="Open Sans"/>
                  <a:cs typeface="Open Sans"/>
                  <a:sym typeface="Open Sans"/>
                </a:rPr>
                <a:t>Gồm </a:t>
              </a:r>
              <a:r>
                <a:rPr lang="en-US" sz="1630" b="true">
                  <a:solidFill>
                    <a:srgbClr val="475569"/>
                  </a:solidFill>
                  <a:latin typeface="Open Sans Bold"/>
                  <a:ea typeface="Open Sans Bold"/>
                  <a:cs typeface="Open Sans Bold"/>
                  <a:sym typeface="Open Sans Bold"/>
                </a:rPr>
                <a:t>API Gateway</a:t>
              </a:r>
              <a:r>
                <a:rPr lang="en-US" sz="1630">
                  <a:solidFill>
                    <a:srgbClr val="475569"/>
                  </a:solidFill>
                  <a:latin typeface="Open Sans"/>
                  <a:ea typeface="Open Sans"/>
                  <a:cs typeface="Open Sans"/>
                  <a:sym typeface="Open Sans"/>
                </a:rPr>
                <a:t> để định tuyến, xác thực yêu cầu đến các vi dịch vụ tương ứng. Thành phần cốt lõi là cụm máy chủ quản lý hàng đợi thông điệp hoạt động dự phòng, phân phối sự kiện cập nhật dữ liệu thời gian thực.</a:t>
              </a:r>
            </a:p>
          </p:txBody>
        </p:sp>
        <p:grpSp>
          <p:nvGrpSpPr>
            <p:cNvPr name="Group 37" id="37"/>
            <p:cNvGrpSpPr/>
            <p:nvPr/>
          </p:nvGrpSpPr>
          <p:grpSpPr>
            <a:xfrm rot="0">
              <a:off x="11763375" y="5062538"/>
              <a:ext cx="419100" cy="419100"/>
              <a:chOff x="0" y="0"/>
              <a:chExt cx="419100" cy="419100"/>
            </a:xfrm>
          </p:grpSpPr>
          <p:sp>
            <p:nvSpPr>
              <p:cNvPr name="Freeform 38" id="38" descr="image.png"/>
              <p:cNvSpPr/>
              <p:nvPr/>
            </p:nvSpPr>
            <p:spPr>
              <a:xfrm flipH="false" flipV="false" rot="0">
                <a:off x="0" y="0"/>
                <a:ext cx="419100" cy="419100"/>
              </a:xfrm>
              <a:custGeom>
                <a:avLst/>
                <a:gdLst/>
                <a:ahLst/>
                <a:cxnLst/>
                <a:rect r="r" b="b" t="t" l="l"/>
                <a:pathLst>
                  <a:path h="419100" w="419100">
                    <a:moveTo>
                      <a:pt x="0" y="0"/>
                    </a:moveTo>
                    <a:lnTo>
                      <a:pt x="419100" y="0"/>
                    </a:lnTo>
                    <a:lnTo>
                      <a:pt x="419100" y="419100"/>
                    </a:lnTo>
                    <a:lnTo>
                      <a:pt x="0" y="419100"/>
                    </a:lnTo>
                    <a:lnTo>
                      <a:pt x="0" y="0"/>
                    </a:lnTo>
                    <a:close/>
                  </a:path>
                </a:pathLst>
              </a:custGeom>
              <a:blipFill>
                <a:blip r:embed="rId15"/>
                <a:stretch>
                  <a:fillRect l="0" t="0" r="0" b="0"/>
                </a:stretch>
              </a:blipFill>
            </p:spPr>
          </p:sp>
        </p:grpSp>
        <p:sp>
          <p:nvSpPr>
            <p:cNvPr name="TextBox 39" id="39"/>
            <p:cNvSpPr txBox="true"/>
            <p:nvPr/>
          </p:nvSpPr>
          <p:spPr>
            <a:xfrm rot="0">
              <a:off x="12830175" y="4672013"/>
              <a:ext cx="8311032" cy="523875"/>
            </a:xfrm>
            <a:prstGeom prst="rect">
              <a:avLst/>
            </a:prstGeom>
          </p:spPr>
          <p:txBody>
            <a:bodyPr anchor="t" rtlCol="false" tIns="0" lIns="0" bIns="0" rIns="0">
              <a:spAutoFit/>
            </a:bodyPr>
            <a:lstStyle/>
            <a:p>
              <a:pPr algn="l">
                <a:lnSpc>
                  <a:spcPts val="2925"/>
                </a:lnSpc>
              </a:pPr>
              <a:r>
                <a:rPr lang="en-US" sz="2250" b="true">
                  <a:solidFill>
                    <a:srgbClr val="051C2C"/>
                  </a:solidFill>
                  <a:latin typeface="Montserrat Bold"/>
                  <a:ea typeface="Montserrat Bold"/>
                  <a:cs typeface="Montserrat Bold"/>
                  <a:sym typeface="Montserrat Bold"/>
                </a:rPr>
                <a:t>Lớp Lưu Trữ Dữ Liệu</a:t>
              </a:r>
            </a:p>
          </p:txBody>
        </p:sp>
        <p:sp>
          <p:nvSpPr>
            <p:cNvPr name="TextBox 40" id="40"/>
            <p:cNvSpPr txBox="true"/>
            <p:nvPr/>
          </p:nvSpPr>
          <p:spPr>
            <a:xfrm rot="0">
              <a:off x="12830175" y="5319713"/>
              <a:ext cx="7915275" cy="1833563"/>
            </a:xfrm>
            <a:prstGeom prst="rect">
              <a:avLst/>
            </a:prstGeom>
          </p:spPr>
          <p:txBody>
            <a:bodyPr anchor="t" rtlCol="false" tIns="0" lIns="0" bIns="0" rIns="0">
              <a:spAutoFit/>
            </a:bodyPr>
            <a:lstStyle/>
            <a:p>
              <a:pPr algn="l">
                <a:lnSpc>
                  <a:spcPts val="2608"/>
                </a:lnSpc>
              </a:pPr>
              <a:r>
                <a:rPr lang="en-US" sz="1630">
                  <a:solidFill>
                    <a:srgbClr val="475569"/>
                  </a:solidFill>
                  <a:latin typeface="Open Sans"/>
                  <a:ea typeface="Open Sans"/>
                  <a:cs typeface="Open Sans"/>
                  <a:sym typeface="Open Sans"/>
                </a:rPr>
                <a:t>Cung cấp phân vùng đĩa ảo cho CSDL Quan hệ (kế toán, đơn hàng) và lưu trữ đối tượng cho Data Lake (nhật ký, hành vi). Tích hợp cơ chế </a:t>
              </a:r>
              <a:r>
                <a:rPr lang="en-US" sz="1630" b="true">
                  <a:solidFill>
                    <a:srgbClr val="475569"/>
                  </a:solidFill>
                  <a:latin typeface="Open Sans Bold"/>
                  <a:ea typeface="Open Sans Bold"/>
                  <a:cs typeface="Open Sans Bold"/>
                  <a:sym typeface="Open Sans Bold"/>
                </a:rPr>
                <a:t>đồng bộ liên tục sang trung tâm dự phòng</a:t>
              </a:r>
              <a:r>
                <a:rPr lang="en-US" sz="1630">
                  <a:solidFill>
                    <a:srgbClr val="475569"/>
                  </a:solidFill>
                  <a:latin typeface="Open Sans"/>
                  <a:ea typeface="Open Sans"/>
                  <a:cs typeface="Open Sans"/>
                  <a:sym typeface="Open Sans"/>
                </a:rPr>
                <a:t> để đảm bảo khả năng phục hồi thảm họa.</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98" y="1521933"/>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Freeform 7" id="7"/>
          <p:cNvSpPr/>
          <p:nvPr/>
        </p:nvSpPr>
        <p:spPr>
          <a:xfrm flipH="false" flipV="false" rot="0">
            <a:off x="5566867" y="1835238"/>
            <a:ext cx="7016176" cy="8148641"/>
          </a:xfrm>
          <a:custGeom>
            <a:avLst/>
            <a:gdLst/>
            <a:ahLst/>
            <a:cxnLst/>
            <a:rect r="r" b="b" t="t" l="l"/>
            <a:pathLst>
              <a:path h="8148641" w="7016176">
                <a:moveTo>
                  <a:pt x="0" y="0"/>
                </a:moveTo>
                <a:lnTo>
                  <a:pt x="7016176" y="0"/>
                </a:lnTo>
                <a:lnTo>
                  <a:pt x="7016176" y="8148641"/>
                </a:lnTo>
                <a:lnTo>
                  <a:pt x="0" y="8148641"/>
                </a:lnTo>
                <a:lnTo>
                  <a:pt x="0" y="0"/>
                </a:lnTo>
                <a:close/>
              </a:path>
            </a:pathLst>
          </a:custGeom>
          <a:blipFill>
            <a:blip r:embed="rId4"/>
            <a:stretch>
              <a:fillRect l="0" t="0" r="0" b="0"/>
            </a:stretch>
          </a:blipFill>
        </p:spPr>
      </p:sp>
      <p:sp>
        <p:nvSpPr>
          <p:cNvPr name="TextBox 8" id="8"/>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KIẾN TRÚC CÔNG NGHỆ</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000" y="1039667"/>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sz="2182" b="true">
                <a:solidFill>
                  <a:srgbClr val="FAA61A"/>
                </a:solidFill>
                <a:latin typeface="Montserrat Bold"/>
                <a:ea typeface="Montserrat Bold"/>
                <a:cs typeface="Montserrat Bold"/>
                <a:sym typeface="Montserrat Bold"/>
              </a:rPr>
              <a:t>NỘI DUNG THUYẾT TRÌNH</a:t>
            </a:r>
          </a:p>
        </p:txBody>
      </p:sp>
      <p:sp>
        <p:nvSpPr>
          <p:cNvPr name="TextBox 8" id="8"/>
          <p:cNvSpPr txBox="true"/>
          <p:nvPr/>
        </p:nvSpPr>
        <p:spPr>
          <a:xfrm rot="0">
            <a:off x="3547062" y="4345915"/>
            <a:ext cx="12221785" cy="488059"/>
          </a:xfrm>
          <a:prstGeom prst="rect">
            <a:avLst/>
          </a:prstGeom>
        </p:spPr>
        <p:txBody>
          <a:bodyPr anchor="t" rtlCol="false" tIns="0" lIns="0" bIns="0" rIns="0">
            <a:spAutoFit/>
          </a:bodyPr>
          <a:lstStyle/>
          <a:p>
            <a:pPr algn="ctr" marL="0" indent="0" lvl="0">
              <a:lnSpc>
                <a:spcPts val="4041"/>
              </a:lnSpc>
              <a:spcBef>
                <a:spcPct val="0"/>
              </a:spcBef>
            </a:pPr>
            <a:r>
              <a:rPr lang="en-US" b="true" sz="2882">
                <a:solidFill>
                  <a:srgbClr val="FBFBFC"/>
                </a:solidFill>
                <a:latin typeface="Montserrat Bold"/>
                <a:ea typeface="Montserrat Bold"/>
                <a:cs typeface="Montserrat Bold"/>
                <a:sym typeface="Montserrat Bold"/>
              </a:rPr>
              <a:t>Xây</a:t>
            </a:r>
            <a:r>
              <a:rPr lang="en-US" b="true" sz="2882" strike="noStrike" u="none">
                <a:solidFill>
                  <a:srgbClr val="FBFBFC"/>
                </a:solidFill>
                <a:latin typeface="Montserrat Bold"/>
                <a:ea typeface="Montserrat Bold"/>
                <a:cs typeface="Montserrat Bold"/>
                <a:sym typeface="Montserrat Bold"/>
              </a:rPr>
              <a:t> Dựng Kiến Trúc Bảo Mật Security Architecture</a:t>
            </a:r>
          </a:p>
        </p:txBody>
      </p:sp>
      <p:grpSp>
        <p:nvGrpSpPr>
          <p:cNvPr name="Group 9" id="9"/>
          <p:cNvGrpSpPr/>
          <p:nvPr/>
        </p:nvGrpSpPr>
        <p:grpSpPr>
          <a:xfrm rot="0">
            <a:off x="9336486" y="3174000"/>
            <a:ext cx="642938" cy="642938"/>
            <a:chOff x="0" y="0"/>
            <a:chExt cx="857250" cy="857250"/>
          </a:xfrm>
        </p:grpSpPr>
        <p:sp>
          <p:nvSpPr>
            <p:cNvPr name="Freeform 10" id="10"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4"/>
              <a:stretch>
                <a:fillRect l="0" t="0" r="0" b="0"/>
              </a:stretch>
            </a:blipFill>
          </p:spPr>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000" y="1039667"/>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KIẾN TRÚC BẢO MẬT: AS-IS VÀ TO-BE</a:t>
            </a:r>
          </a:p>
        </p:txBody>
      </p:sp>
      <p:grpSp>
        <p:nvGrpSpPr>
          <p:cNvPr name="Group 8" id="8"/>
          <p:cNvGrpSpPr/>
          <p:nvPr/>
        </p:nvGrpSpPr>
        <p:grpSpPr>
          <a:xfrm rot="0">
            <a:off x="1143000" y="1807463"/>
            <a:ext cx="16002000" cy="7229475"/>
            <a:chOff x="0" y="0"/>
            <a:chExt cx="21336000" cy="9639300"/>
          </a:xfrm>
        </p:grpSpPr>
        <p:grpSp>
          <p:nvGrpSpPr>
            <p:cNvPr name="Group 9" id="9"/>
            <p:cNvGrpSpPr/>
            <p:nvPr/>
          </p:nvGrpSpPr>
          <p:grpSpPr>
            <a:xfrm rot="0">
              <a:off x="0" y="0"/>
              <a:ext cx="10287000" cy="9639300"/>
              <a:chOff x="0" y="0"/>
              <a:chExt cx="10287000" cy="9639300"/>
            </a:xfrm>
          </p:grpSpPr>
          <p:sp>
            <p:nvSpPr>
              <p:cNvPr name="Freeform 10" id="10" descr="image.png"/>
              <p:cNvSpPr/>
              <p:nvPr/>
            </p:nvSpPr>
            <p:spPr>
              <a:xfrm flipH="false" flipV="false" rot="0">
                <a:off x="0" y="0"/>
                <a:ext cx="10287000" cy="9639300"/>
              </a:xfrm>
              <a:custGeom>
                <a:avLst/>
                <a:gdLst/>
                <a:ahLst/>
                <a:cxnLst/>
                <a:rect r="r" b="b" t="t" l="l"/>
                <a:pathLst>
                  <a:path h="9639300" w="10287000">
                    <a:moveTo>
                      <a:pt x="0" y="0"/>
                    </a:moveTo>
                    <a:lnTo>
                      <a:pt x="10287000" y="0"/>
                    </a:lnTo>
                    <a:lnTo>
                      <a:pt x="10287000" y="9639300"/>
                    </a:lnTo>
                    <a:lnTo>
                      <a:pt x="0" y="9639300"/>
                    </a:lnTo>
                    <a:lnTo>
                      <a:pt x="0" y="0"/>
                    </a:lnTo>
                    <a:close/>
                  </a:path>
                </a:pathLst>
              </a:custGeom>
              <a:blipFill>
                <a:blip r:embed="rId4"/>
                <a:stretch>
                  <a:fillRect l="0" t="0" r="0" b="0"/>
                </a:stretch>
              </a:blipFill>
            </p:spPr>
          </p:sp>
        </p:grpSp>
        <p:grpSp>
          <p:nvGrpSpPr>
            <p:cNvPr name="Group 11" id="11"/>
            <p:cNvGrpSpPr/>
            <p:nvPr/>
          </p:nvGrpSpPr>
          <p:grpSpPr>
            <a:xfrm rot="0">
              <a:off x="11049000" y="0"/>
              <a:ext cx="10287000" cy="9639300"/>
              <a:chOff x="0" y="0"/>
              <a:chExt cx="10287000" cy="9639300"/>
            </a:xfrm>
          </p:grpSpPr>
          <p:sp>
            <p:nvSpPr>
              <p:cNvPr name="Freeform 12" id="12" descr="image.png"/>
              <p:cNvSpPr/>
              <p:nvPr/>
            </p:nvSpPr>
            <p:spPr>
              <a:xfrm flipH="false" flipV="false" rot="0">
                <a:off x="0" y="0"/>
                <a:ext cx="10287000" cy="9639300"/>
              </a:xfrm>
              <a:custGeom>
                <a:avLst/>
                <a:gdLst/>
                <a:ahLst/>
                <a:cxnLst/>
                <a:rect r="r" b="b" t="t" l="l"/>
                <a:pathLst>
                  <a:path h="9639300" w="10287000">
                    <a:moveTo>
                      <a:pt x="0" y="0"/>
                    </a:moveTo>
                    <a:lnTo>
                      <a:pt x="10287000" y="0"/>
                    </a:lnTo>
                    <a:lnTo>
                      <a:pt x="10287000" y="9639300"/>
                    </a:lnTo>
                    <a:lnTo>
                      <a:pt x="0" y="9639300"/>
                    </a:lnTo>
                    <a:lnTo>
                      <a:pt x="0" y="0"/>
                    </a:lnTo>
                    <a:close/>
                  </a:path>
                </a:pathLst>
              </a:custGeom>
              <a:blipFill>
                <a:blip r:embed="rId5"/>
                <a:stretch>
                  <a:fillRect l="0" t="0" r="0" b="0"/>
                </a:stretch>
              </a:blipFill>
            </p:spPr>
          </p:sp>
        </p:grpSp>
        <p:grpSp>
          <p:nvGrpSpPr>
            <p:cNvPr name="Group 13" id="13"/>
            <p:cNvGrpSpPr/>
            <p:nvPr/>
          </p:nvGrpSpPr>
          <p:grpSpPr>
            <a:xfrm rot="0">
              <a:off x="1428750" y="762000"/>
              <a:ext cx="8581072" cy="1104900"/>
              <a:chOff x="0" y="0"/>
              <a:chExt cx="8581072" cy="1104900"/>
            </a:xfrm>
          </p:grpSpPr>
          <p:sp>
            <p:nvSpPr>
              <p:cNvPr name="Freeform 14" id="14"/>
              <p:cNvSpPr/>
              <p:nvPr/>
            </p:nvSpPr>
            <p:spPr>
              <a:xfrm flipH="false" flipV="false" rot="0">
                <a:off x="0" y="0"/>
                <a:ext cx="8581072" cy="1104900"/>
              </a:xfrm>
              <a:custGeom>
                <a:avLst/>
                <a:gdLst/>
                <a:ahLst/>
                <a:cxnLst/>
                <a:rect r="r" b="b" t="t" l="l"/>
                <a:pathLst>
                  <a:path h="1104900" w="8581072">
                    <a:moveTo>
                      <a:pt x="0" y="0"/>
                    </a:moveTo>
                    <a:lnTo>
                      <a:pt x="8581072" y="0"/>
                    </a:lnTo>
                    <a:lnTo>
                      <a:pt x="8581072" y="1104900"/>
                    </a:lnTo>
                    <a:lnTo>
                      <a:pt x="0" y="1104900"/>
                    </a:lnTo>
                    <a:close/>
                  </a:path>
                </a:pathLst>
              </a:custGeom>
              <a:blipFill>
                <a:blip r:embed="rId6">
                  <a:alphaModFix amt="0"/>
                </a:blip>
                <a:stretch>
                  <a:fillRect l="0" t="-101328" r="0" b="-101328"/>
                </a:stretch>
              </a:blipFill>
            </p:spPr>
          </p:sp>
          <p:sp>
            <p:nvSpPr>
              <p:cNvPr name="TextBox 15" id="15"/>
              <p:cNvSpPr txBox="true"/>
              <p:nvPr/>
            </p:nvSpPr>
            <p:spPr>
              <a:xfrm>
                <a:off x="0" y="0"/>
                <a:ext cx="8581072" cy="1104900"/>
              </a:xfrm>
              <a:prstGeom prst="rect">
                <a:avLst/>
              </a:prstGeom>
            </p:spPr>
            <p:txBody>
              <a:bodyPr anchor="ctr" rtlCol="false" tIns="0" lIns="0" bIns="0" rIns="0"/>
              <a:lstStyle/>
              <a:p>
                <a:pPr algn="l">
                  <a:lnSpc>
                    <a:spcPts val="3240"/>
                  </a:lnSpc>
                </a:pPr>
                <a:r>
                  <a:rPr lang="en-US" sz="2700" b="true">
                    <a:solidFill>
                      <a:srgbClr val="475569"/>
                    </a:solidFill>
                    <a:latin typeface="Montserrat Bold"/>
                    <a:ea typeface="Montserrat Bold"/>
                    <a:cs typeface="Montserrat Bold"/>
                    <a:sym typeface="Montserrat Bold"/>
                  </a:rPr>
                  <a:t>Kiến trúc Hiện tại )</a:t>
                </a:r>
              </a:p>
            </p:txBody>
          </p:sp>
        </p:grpSp>
        <p:grpSp>
          <p:nvGrpSpPr>
            <p:cNvPr name="Group 16" id="16"/>
            <p:cNvGrpSpPr/>
            <p:nvPr/>
          </p:nvGrpSpPr>
          <p:grpSpPr>
            <a:xfrm rot="0">
              <a:off x="12420600" y="762000"/>
              <a:ext cx="8641080" cy="719379"/>
              <a:chOff x="0" y="0"/>
              <a:chExt cx="8641080" cy="719379"/>
            </a:xfrm>
          </p:grpSpPr>
          <p:sp>
            <p:nvSpPr>
              <p:cNvPr name="Freeform 17" id="17"/>
              <p:cNvSpPr/>
              <p:nvPr/>
            </p:nvSpPr>
            <p:spPr>
              <a:xfrm flipH="false" flipV="false" rot="0">
                <a:off x="0" y="0"/>
                <a:ext cx="8641080" cy="719379"/>
              </a:xfrm>
              <a:custGeom>
                <a:avLst/>
                <a:gdLst/>
                <a:ahLst/>
                <a:cxnLst/>
                <a:rect r="r" b="b" t="t" l="l"/>
                <a:pathLst>
                  <a:path h="719379" w="8641080">
                    <a:moveTo>
                      <a:pt x="0" y="0"/>
                    </a:moveTo>
                    <a:lnTo>
                      <a:pt x="8641080" y="0"/>
                    </a:lnTo>
                    <a:lnTo>
                      <a:pt x="8641080" y="719379"/>
                    </a:lnTo>
                    <a:lnTo>
                      <a:pt x="0" y="719379"/>
                    </a:lnTo>
                    <a:close/>
                  </a:path>
                </a:pathLst>
              </a:custGeom>
              <a:blipFill>
                <a:blip r:embed="rId6">
                  <a:alphaModFix amt="0"/>
                </a:blip>
                <a:stretch>
                  <a:fillRect l="0" t="-195653" r="0" b="-172449"/>
                </a:stretch>
              </a:blipFill>
            </p:spPr>
          </p:sp>
          <p:sp>
            <p:nvSpPr>
              <p:cNvPr name="TextBox 18" id="18"/>
              <p:cNvSpPr txBox="true"/>
              <p:nvPr/>
            </p:nvSpPr>
            <p:spPr>
              <a:xfrm>
                <a:off x="0" y="0"/>
                <a:ext cx="8641080" cy="719379"/>
              </a:xfrm>
              <a:prstGeom prst="rect">
                <a:avLst/>
              </a:prstGeom>
            </p:spPr>
            <p:txBody>
              <a:bodyPr anchor="ctr" rtlCol="false" tIns="0" lIns="0" bIns="0" rIns="0"/>
              <a:lstStyle/>
              <a:p>
                <a:pPr algn="l">
                  <a:lnSpc>
                    <a:spcPts val="3240"/>
                  </a:lnSpc>
                </a:pPr>
                <a:r>
                  <a:rPr lang="en-US" sz="2700" b="true">
                    <a:solidFill>
                      <a:srgbClr val="1F70C1"/>
                    </a:solidFill>
                    <a:latin typeface="Montserrat Bold"/>
                    <a:ea typeface="Montserrat Bold"/>
                    <a:cs typeface="Montserrat Bold"/>
                    <a:sym typeface="Montserrat Bold"/>
                  </a:rPr>
                  <a:t>Kiến trúc Mục tiêu - Zero Trust</a:t>
                </a:r>
              </a:p>
            </p:txBody>
          </p:sp>
        </p:grpSp>
        <p:grpSp>
          <p:nvGrpSpPr>
            <p:cNvPr name="Group 19" id="19"/>
            <p:cNvGrpSpPr/>
            <p:nvPr/>
          </p:nvGrpSpPr>
          <p:grpSpPr>
            <a:xfrm rot="0">
              <a:off x="685800" y="1085850"/>
              <a:ext cx="514350" cy="457200"/>
              <a:chOff x="0" y="0"/>
              <a:chExt cx="514350" cy="457200"/>
            </a:xfrm>
          </p:grpSpPr>
          <p:sp>
            <p:nvSpPr>
              <p:cNvPr name="Freeform 20" id="20" descr="image.png"/>
              <p:cNvSpPr/>
              <p:nvPr/>
            </p:nvSpPr>
            <p:spPr>
              <a:xfrm flipH="false" flipV="false" rot="0">
                <a:off x="0" y="0"/>
                <a:ext cx="514350" cy="457200"/>
              </a:xfrm>
              <a:custGeom>
                <a:avLst/>
                <a:gdLst/>
                <a:ahLst/>
                <a:cxnLst/>
                <a:rect r="r" b="b" t="t" l="l"/>
                <a:pathLst>
                  <a:path h="457200" w="514350">
                    <a:moveTo>
                      <a:pt x="0" y="0"/>
                    </a:moveTo>
                    <a:lnTo>
                      <a:pt x="514350" y="0"/>
                    </a:lnTo>
                    <a:lnTo>
                      <a:pt x="514350" y="457200"/>
                    </a:lnTo>
                    <a:lnTo>
                      <a:pt x="0" y="457200"/>
                    </a:lnTo>
                    <a:lnTo>
                      <a:pt x="0" y="0"/>
                    </a:lnTo>
                    <a:close/>
                  </a:path>
                </a:pathLst>
              </a:custGeom>
              <a:blipFill>
                <a:blip r:embed="rId7"/>
                <a:stretch>
                  <a:fillRect l="0" t="0" r="0" b="0"/>
                </a:stretch>
              </a:blipFill>
            </p:spPr>
          </p:sp>
        </p:grpSp>
        <p:sp>
          <p:nvSpPr>
            <p:cNvPr name="TextBox 21" id="21"/>
            <p:cNvSpPr txBox="true"/>
            <p:nvPr/>
          </p:nvSpPr>
          <p:spPr>
            <a:xfrm rot="0">
              <a:off x="1162050" y="2190750"/>
              <a:ext cx="8439150" cy="103226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Dựa trên vị trí:</a:t>
              </a:r>
              <a:r>
                <a:rPr lang="en-US" sz="1800">
                  <a:solidFill>
                    <a:srgbClr val="334155"/>
                  </a:solidFill>
                  <a:latin typeface="Open Sans"/>
                  <a:ea typeface="Open Sans"/>
                  <a:cs typeface="Open Sans"/>
                  <a:sym typeface="Open Sans"/>
                </a:rPr>
                <a:t> Bảo vệ chủ yếu bằng tường lửa vật lý ở ranh giới mạng nội bộ và mạng Internet.</a:t>
              </a:r>
            </a:p>
          </p:txBody>
        </p:sp>
        <p:sp>
          <p:nvSpPr>
            <p:cNvPr name="TextBox 22" id="22"/>
            <p:cNvSpPr txBox="true"/>
            <p:nvPr/>
          </p:nvSpPr>
          <p:spPr>
            <a:xfrm rot="0">
              <a:off x="1162050" y="3508769"/>
              <a:ext cx="8439150" cy="1519834"/>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Tin tưởng mặc định:</a:t>
              </a:r>
              <a:r>
                <a:rPr lang="en-US" sz="1800">
                  <a:solidFill>
                    <a:srgbClr val="334155"/>
                  </a:solidFill>
                  <a:latin typeface="Open Sans"/>
                  <a:ea typeface="Open Sans"/>
                  <a:cs typeface="Open Sans"/>
                  <a:sym typeface="Open Sans"/>
                </a:rPr>
                <a:t> Khi đã vào được mạng nội bộ, người dùng được cấp quyền truy cập rộng rãi mà không cần xác thực thêm.</a:t>
              </a:r>
            </a:p>
          </p:txBody>
        </p:sp>
        <p:sp>
          <p:nvSpPr>
            <p:cNvPr name="TextBox 23" id="23"/>
            <p:cNvSpPr txBox="true"/>
            <p:nvPr/>
          </p:nvSpPr>
          <p:spPr>
            <a:xfrm rot="0">
              <a:off x="1162050" y="5314353"/>
              <a:ext cx="8439150" cy="103226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Lỗ hổng đa kênh:</a:t>
              </a:r>
              <a:r>
                <a:rPr lang="en-US" sz="1800">
                  <a:solidFill>
                    <a:srgbClr val="334155"/>
                  </a:solidFill>
                  <a:latin typeface="Open Sans"/>
                  <a:ea typeface="Open Sans"/>
                  <a:cs typeface="Open Sans"/>
                  <a:sym typeface="Open Sans"/>
                </a:rPr>
                <a:t> Suy giảm khả năng phòng vệ nếu mã độc xâm nhập qua một điểm chạm yếu.</a:t>
              </a:r>
            </a:p>
          </p:txBody>
        </p:sp>
        <p:sp>
          <p:nvSpPr>
            <p:cNvPr name="TextBox 24" id="24"/>
            <p:cNvSpPr txBox="true"/>
            <p:nvPr/>
          </p:nvSpPr>
          <p:spPr>
            <a:xfrm rot="0">
              <a:off x="1162050" y="6632372"/>
              <a:ext cx="8439150" cy="103226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Quản lý phân tán:</a:t>
              </a:r>
              <a:r>
                <a:rPr lang="en-US" sz="1800">
                  <a:solidFill>
                    <a:srgbClr val="334155"/>
                  </a:solidFill>
                  <a:latin typeface="Open Sans"/>
                  <a:ea typeface="Open Sans"/>
                  <a:cs typeface="Open Sans"/>
                  <a:sym typeface="Open Sans"/>
                </a:rPr>
                <a:t> Cấp phát và thu hồi quyền lợi rời rạc, làm tăng nguy cơ sai sót con người.</a:t>
              </a:r>
            </a:p>
          </p:txBody>
        </p:sp>
        <p:grpSp>
          <p:nvGrpSpPr>
            <p:cNvPr name="Group 25" id="25"/>
            <p:cNvGrpSpPr/>
            <p:nvPr/>
          </p:nvGrpSpPr>
          <p:grpSpPr>
            <a:xfrm rot="0">
              <a:off x="11734800" y="809625"/>
              <a:ext cx="457200" cy="457200"/>
              <a:chOff x="0" y="0"/>
              <a:chExt cx="457200" cy="457200"/>
            </a:xfrm>
          </p:grpSpPr>
          <p:sp>
            <p:nvSpPr>
              <p:cNvPr name="Freeform 26" id="26" descr="image.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8"/>
                <a:stretch>
                  <a:fillRect l="0" t="-2083" r="0" b="-2083"/>
                </a:stretch>
              </a:blipFill>
            </p:spPr>
          </p:sp>
        </p:grpSp>
        <p:sp>
          <p:nvSpPr>
            <p:cNvPr name="TextBox 27" id="27"/>
            <p:cNvSpPr txBox="true"/>
            <p:nvPr/>
          </p:nvSpPr>
          <p:spPr>
            <a:xfrm rot="0">
              <a:off x="12211050" y="1638300"/>
              <a:ext cx="8439150" cy="103226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Không tin tưởng mặc định:</a:t>
              </a:r>
              <a:r>
                <a:rPr lang="en-US" sz="1800">
                  <a:solidFill>
                    <a:srgbClr val="334155"/>
                  </a:solidFill>
                  <a:latin typeface="Open Sans"/>
                  <a:ea typeface="Open Sans"/>
                  <a:cs typeface="Open Sans"/>
                  <a:sym typeface="Open Sans"/>
                </a:rPr>
                <a:t> Yêu cầu xác thực và phân quyền liên tục cho mọi phiên truy cập, từ mọi thiết bị.</a:t>
              </a:r>
            </a:p>
          </p:txBody>
        </p:sp>
        <p:sp>
          <p:nvSpPr>
            <p:cNvPr name="TextBox 28" id="28"/>
            <p:cNvSpPr txBox="true"/>
            <p:nvPr/>
          </p:nvSpPr>
          <p:spPr>
            <a:xfrm rot="0">
              <a:off x="12211050" y="2956319"/>
              <a:ext cx="8439150" cy="103226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Phòng thủ nhiều lớp (Defense in Depth):</a:t>
              </a:r>
              <a:r>
                <a:rPr lang="en-US" sz="1800">
                  <a:solidFill>
                    <a:srgbClr val="334155"/>
                  </a:solidFill>
                  <a:latin typeface="Open Sans"/>
                  <a:ea typeface="Open Sans"/>
                  <a:cs typeface="Open Sans"/>
                  <a:sym typeface="Open Sans"/>
                </a:rPr>
                <a:t> Phân bổ lớp phòng vệ từ hạ tầng mạng, ứng dụng đến dữ liệu.</a:t>
              </a:r>
            </a:p>
          </p:txBody>
        </p:sp>
        <p:sp>
          <p:nvSpPr>
            <p:cNvPr name="TextBox 29" id="29"/>
            <p:cNvSpPr txBox="true"/>
            <p:nvPr/>
          </p:nvSpPr>
          <p:spPr>
            <a:xfrm rot="0">
              <a:off x="12211050" y="4274337"/>
              <a:ext cx="8439150" cy="900430"/>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Kiểm soát độc lập:</a:t>
              </a:r>
              <a:r>
                <a:rPr lang="en-US" sz="1800">
                  <a:solidFill>
                    <a:srgbClr val="334155"/>
                  </a:solidFill>
                  <a:latin typeface="Open Sans"/>
                  <a:ea typeface="Open Sans"/>
                  <a:cs typeface="Open Sans"/>
                  <a:sym typeface="Open Sans"/>
                </a:rPr>
                <a:t> Mỗi dịch vụ là một thực thể tự kiểm soát, giới hạn tối đa phạm vi ảnh hưởng khi bị tấn công.</a:t>
              </a:r>
            </a:p>
          </p:txBody>
        </p:sp>
        <p:sp>
          <p:nvSpPr>
            <p:cNvPr name="TextBox 30" id="30"/>
            <p:cNvSpPr txBox="true"/>
            <p:nvPr/>
          </p:nvSpPr>
          <p:spPr>
            <a:xfrm rot="0">
              <a:off x="12211050" y="5592369"/>
              <a:ext cx="8439150" cy="1032269"/>
            </a:xfrm>
            <a:prstGeom prst="rect">
              <a:avLst/>
            </a:prstGeom>
          </p:spPr>
          <p:txBody>
            <a:bodyPr anchor="t" rtlCol="false" tIns="0" lIns="0" bIns="0" rIns="0">
              <a:spAutoFit/>
            </a:bodyPr>
            <a:lstStyle/>
            <a:p>
              <a:pPr algn="l">
                <a:lnSpc>
                  <a:spcPts val="2880"/>
                </a:lnSpc>
              </a:pPr>
              <a:r>
                <a:rPr lang="en-US" sz="1800" b="true">
                  <a:solidFill>
                    <a:srgbClr val="334155"/>
                  </a:solidFill>
                  <a:latin typeface="Open Sans Bold"/>
                  <a:ea typeface="Open Sans Bold"/>
                  <a:cs typeface="Open Sans Bold"/>
                  <a:sym typeface="Open Sans Bold"/>
                </a:rPr>
                <a:t>Quản lý định danh tập trung (IAM):</a:t>
              </a:r>
              <a:r>
                <a:rPr lang="en-US" sz="1800">
                  <a:solidFill>
                    <a:srgbClr val="334155"/>
                  </a:solidFill>
                  <a:latin typeface="Open Sans"/>
                  <a:ea typeface="Open Sans"/>
                  <a:cs typeface="Open Sans"/>
                  <a:sym typeface="Open Sans"/>
                </a:rPr>
                <a:t> Tự động hóa và đồng bộ hóa quyền truy cập trên toàn mạng lưới.</a:t>
              </a:r>
            </a:p>
          </p:txBody>
        </p:sp>
        <p:grpSp>
          <p:nvGrpSpPr>
            <p:cNvPr name="Group 31" id="31"/>
            <p:cNvGrpSpPr/>
            <p:nvPr/>
          </p:nvGrpSpPr>
          <p:grpSpPr>
            <a:xfrm rot="0">
              <a:off x="685800" y="2305050"/>
              <a:ext cx="209550" cy="285750"/>
              <a:chOff x="0" y="0"/>
              <a:chExt cx="209550" cy="285750"/>
            </a:xfrm>
          </p:grpSpPr>
          <p:sp>
            <p:nvSpPr>
              <p:cNvPr name="Freeform 32" id="32" descr="image.png"/>
              <p:cNvSpPr/>
              <p:nvPr/>
            </p:nvSpPr>
            <p:spPr>
              <a:xfrm flipH="false" flipV="false" rot="0">
                <a:off x="0" y="0"/>
                <a:ext cx="209550" cy="285750"/>
              </a:xfrm>
              <a:custGeom>
                <a:avLst/>
                <a:gdLst/>
                <a:ahLst/>
                <a:cxnLst/>
                <a:rect r="r" b="b" t="t" l="l"/>
                <a:pathLst>
                  <a:path h="285750" w="209550">
                    <a:moveTo>
                      <a:pt x="0" y="0"/>
                    </a:moveTo>
                    <a:lnTo>
                      <a:pt x="209550" y="0"/>
                    </a:lnTo>
                    <a:lnTo>
                      <a:pt x="209550" y="285750"/>
                    </a:lnTo>
                    <a:lnTo>
                      <a:pt x="0" y="285750"/>
                    </a:lnTo>
                    <a:lnTo>
                      <a:pt x="0" y="0"/>
                    </a:lnTo>
                    <a:close/>
                  </a:path>
                </a:pathLst>
              </a:custGeom>
              <a:blipFill>
                <a:blip r:embed="rId9"/>
                <a:stretch>
                  <a:fillRect l="0" t="0" r="0" b="0"/>
                </a:stretch>
              </a:blipFill>
            </p:spPr>
          </p:sp>
        </p:grpSp>
        <p:grpSp>
          <p:nvGrpSpPr>
            <p:cNvPr name="Group 33" id="33"/>
            <p:cNvGrpSpPr/>
            <p:nvPr/>
          </p:nvGrpSpPr>
          <p:grpSpPr>
            <a:xfrm rot="0">
              <a:off x="685800" y="3623069"/>
              <a:ext cx="209550" cy="285750"/>
              <a:chOff x="0" y="0"/>
              <a:chExt cx="209550" cy="285750"/>
            </a:xfrm>
          </p:grpSpPr>
          <p:sp>
            <p:nvSpPr>
              <p:cNvPr name="Freeform 34" id="34" descr="image.png"/>
              <p:cNvSpPr/>
              <p:nvPr/>
            </p:nvSpPr>
            <p:spPr>
              <a:xfrm flipH="false" flipV="false" rot="0">
                <a:off x="0" y="0"/>
                <a:ext cx="209550" cy="285750"/>
              </a:xfrm>
              <a:custGeom>
                <a:avLst/>
                <a:gdLst/>
                <a:ahLst/>
                <a:cxnLst/>
                <a:rect r="r" b="b" t="t" l="l"/>
                <a:pathLst>
                  <a:path h="285750" w="209550">
                    <a:moveTo>
                      <a:pt x="0" y="0"/>
                    </a:moveTo>
                    <a:lnTo>
                      <a:pt x="209550" y="0"/>
                    </a:lnTo>
                    <a:lnTo>
                      <a:pt x="209550" y="285750"/>
                    </a:lnTo>
                    <a:lnTo>
                      <a:pt x="0" y="285750"/>
                    </a:lnTo>
                    <a:lnTo>
                      <a:pt x="0" y="0"/>
                    </a:lnTo>
                    <a:close/>
                  </a:path>
                </a:pathLst>
              </a:custGeom>
              <a:blipFill>
                <a:blip r:embed="rId9"/>
                <a:stretch>
                  <a:fillRect l="0" t="0" r="0" b="0"/>
                </a:stretch>
              </a:blipFill>
            </p:spPr>
          </p:sp>
        </p:grpSp>
        <p:grpSp>
          <p:nvGrpSpPr>
            <p:cNvPr name="Group 35" id="35"/>
            <p:cNvGrpSpPr/>
            <p:nvPr/>
          </p:nvGrpSpPr>
          <p:grpSpPr>
            <a:xfrm rot="0">
              <a:off x="685800" y="5428653"/>
              <a:ext cx="209550" cy="285750"/>
              <a:chOff x="0" y="0"/>
              <a:chExt cx="209550" cy="285750"/>
            </a:xfrm>
          </p:grpSpPr>
          <p:sp>
            <p:nvSpPr>
              <p:cNvPr name="Freeform 36" id="36" descr="image.png"/>
              <p:cNvSpPr/>
              <p:nvPr/>
            </p:nvSpPr>
            <p:spPr>
              <a:xfrm flipH="false" flipV="false" rot="0">
                <a:off x="0" y="0"/>
                <a:ext cx="209550" cy="285750"/>
              </a:xfrm>
              <a:custGeom>
                <a:avLst/>
                <a:gdLst/>
                <a:ahLst/>
                <a:cxnLst/>
                <a:rect r="r" b="b" t="t" l="l"/>
                <a:pathLst>
                  <a:path h="285750" w="209550">
                    <a:moveTo>
                      <a:pt x="0" y="0"/>
                    </a:moveTo>
                    <a:lnTo>
                      <a:pt x="209550" y="0"/>
                    </a:lnTo>
                    <a:lnTo>
                      <a:pt x="209550" y="285750"/>
                    </a:lnTo>
                    <a:lnTo>
                      <a:pt x="0" y="285750"/>
                    </a:lnTo>
                    <a:lnTo>
                      <a:pt x="0" y="0"/>
                    </a:lnTo>
                    <a:close/>
                  </a:path>
                </a:pathLst>
              </a:custGeom>
              <a:blipFill>
                <a:blip r:embed="rId9"/>
                <a:stretch>
                  <a:fillRect l="0" t="0" r="0" b="0"/>
                </a:stretch>
              </a:blipFill>
            </p:spPr>
          </p:sp>
        </p:grpSp>
        <p:grpSp>
          <p:nvGrpSpPr>
            <p:cNvPr name="Group 37" id="37"/>
            <p:cNvGrpSpPr/>
            <p:nvPr/>
          </p:nvGrpSpPr>
          <p:grpSpPr>
            <a:xfrm rot="0">
              <a:off x="685800" y="6746672"/>
              <a:ext cx="209550" cy="285750"/>
              <a:chOff x="0" y="0"/>
              <a:chExt cx="209550" cy="285750"/>
            </a:xfrm>
          </p:grpSpPr>
          <p:sp>
            <p:nvSpPr>
              <p:cNvPr name="Freeform 38" id="38" descr="image.png"/>
              <p:cNvSpPr/>
              <p:nvPr/>
            </p:nvSpPr>
            <p:spPr>
              <a:xfrm flipH="false" flipV="false" rot="0">
                <a:off x="0" y="0"/>
                <a:ext cx="209550" cy="285750"/>
              </a:xfrm>
              <a:custGeom>
                <a:avLst/>
                <a:gdLst/>
                <a:ahLst/>
                <a:cxnLst/>
                <a:rect r="r" b="b" t="t" l="l"/>
                <a:pathLst>
                  <a:path h="285750" w="209550">
                    <a:moveTo>
                      <a:pt x="0" y="0"/>
                    </a:moveTo>
                    <a:lnTo>
                      <a:pt x="209550" y="0"/>
                    </a:lnTo>
                    <a:lnTo>
                      <a:pt x="209550" y="285750"/>
                    </a:lnTo>
                    <a:lnTo>
                      <a:pt x="0" y="285750"/>
                    </a:lnTo>
                    <a:lnTo>
                      <a:pt x="0" y="0"/>
                    </a:lnTo>
                    <a:close/>
                  </a:path>
                </a:pathLst>
              </a:custGeom>
              <a:blipFill>
                <a:blip r:embed="rId9"/>
                <a:stretch>
                  <a:fillRect l="0" t="0" r="0" b="0"/>
                </a:stretch>
              </a:blipFill>
            </p:spPr>
          </p:sp>
        </p:grpSp>
        <p:grpSp>
          <p:nvGrpSpPr>
            <p:cNvPr name="Group 39" id="39"/>
            <p:cNvGrpSpPr/>
            <p:nvPr/>
          </p:nvGrpSpPr>
          <p:grpSpPr>
            <a:xfrm rot="0">
              <a:off x="11734800" y="1752600"/>
              <a:ext cx="228600" cy="285750"/>
              <a:chOff x="0" y="0"/>
              <a:chExt cx="228600" cy="285750"/>
            </a:xfrm>
          </p:grpSpPr>
          <p:sp>
            <p:nvSpPr>
              <p:cNvPr name="Freeform 40" id="40" descr="image.png"/>
              <p:cNvSpPr/>
              <p:nvPr/>
            </p:nvSpPr>
            <p:spPr>
              <a:xfrm flipH="false" flipV="false" rot="0">
                <a:off x="0" y="0"/>
                <a:ext cx="228600" cy="285750"/>
              </a:xfrm>
              <a:custGeom>
                <a:avLst/>
                <a:gdLst/>
                <a:ahLst/>
                <a:cxnLst/>
                <a:rect r="r" b="b" t="t" l="l"/>
                <a:pathLst>
                  <a:path h="285750" w="228600">
                    <a:moveTo>
                      <a:pt x="0" y="0"/>
                    </a:moveTo>
                    <a:lnTo>
                      <a:pt x="228600" y="0"/>
                    </a:lnTo>
                    <a:lnTo>
                      <a:pt x="228600" y="285750"/>
                    </a:lnTo>
                    <a:lnTo>
                      <a:pt x="0" y="285750"/>
                    </a:lnTo>
                    <a:lnTo>
                      <a:pt x="0" y="0"/>
                    </a:lnTo>
                    <a:close/>
                  </a:path>
                </a:pathLst>
              </a:custGeom>
              <a:blipFill>
                <a:blip r:embed="rId10"/>
                <a:stretch>
                  <a:fillRect l="0" t="0" r="0" b="0"/>
                </a:stretch>
              </a:blipFill>
            </p:spPr>
          </p:sp>
        </p:grpSp>
        <p:grpSp>
          <p:nvGrpSpPr>
            <p:cNvPr name="Group 41" id="41"/>
            <p:cNvGrpSpPr/>
            <p:nvPr/>
          </p:nvGrpSpPr>
          <p:grpSpPr>
            <a:xfrm rot="0">
              <a:off x="11734800" y="3070619"/>
              <a:ext cx="228600" cy="285750"/>
              <a:chOff x="0" y="0"/>
              <a:chExt cx="228600" cy="285750"/>
            </a:xfrm>
          </p:grpSpPr>
          <p:sp>
            <p:nvSpPr>
              <p:cNvPr name="Freeform 42" id="42" descr="image.png"/>
              <p:cNvSpPr/>
              <p:nvPr/>
            </p:nvSpPr>
            <p:spPr>
              <a:xfrm flipH="false" flipV="false" rot="0">
                <a:off x="0" y="0"/>
                <a:ext cx="228600" cy="285750"/>
              </a:xfrm>
              <a:custGeom>
                <a:avLst/>
                <a:gdLst/>
                <a:ahLst/>
                <a:cxnLst/>
                <a:rect r="r" b="b" t="t" l="l"/>
                <a:pathLst>
                  <a:path h="285750" w="228600">
                    <a:moveTo>
                      <a:pt x="0" y="0"/>
                    </a:moveTo>
                    <a:lnTo>
                      <a:pt x="228600" y="0"/>
                    </a:lnTo>
                    <a:lnTo>
                      <a:pt x="228600" y="285750"/>
                    </a:lnTo>
                    <a:lnTo>
                      <a:pt x="0" y="285750"/>
                    </a:lnTo>
                    <a:lnTo>
                      <a:pt x="0" y="0"/>
                    </a:lnTo>
                    <a:close/>
                  </a:path>
                </a:pathLst>
              </a:custGeom>
              <a:blipFill>
                <a:blip r:embed="rId10"/>
                <a:stretch>
                  <a:fillRect l="0" t="0" r="0" b="0"/>
                </a:stretch>
              </a:blipFill>
            </p:spPr>
          </p:sp>
        </p:grpSp>
        <p:grpSp>
          <p:nvGrpSpPr>
            <p:cNvPr name="Group 43" id="43"/>
            <p:cNvGrpSpPr/>
            <p:nvPr/>
          </p:nvGrpSpPr>
          <p:grpSpPr>
            <a:xfrm rot="0">
              <a:off x="11734800" y="4388637"/>
              <a:ext cx="228600" cy="285750"/>
              <a:chOff x="0" y="0"/>
              <a:chExt cx="228600" cy="285750"/>
            </a:xfrm>
          </p:grpSpPr>
          <p:sp>
            <p:nvSpPr>
              <p:cNvPr name="Freeform 44" id="44" descr="image.png"/>
              <p:cNvSpPr/>
              <p:nvPr/>
            </p:nvSpPr>
            <p:spPr>
              <a:xfrm flipH="false" flipV="false" rot="0">
                <a:off x="0" y="0"/>
                <a:ext cx="228600" cy="285750"/>
              </a:xfrm>
              <a:custGeom>
                <a:avLst/>
                <a:gdLst/>
                <a:ahLst/>
                <a:cxnLst/>
                <a:rect r="r" b="b" t="t" l="l"/>
                <a:pathLst>
                  <a:path h="285750" w="228600">
                    <a:moveTo>
                      <a:pt x="0" y="0"/>
                    </a:moveTo>
                    <a:lnTo>
                      <a:pt x="228600" y="0"/>
                    </a:lnTo>
                    <a:lnTo>
                      <a:pt x="228600" y="285750"/>
                    </a:lnTo>
                    <a:lnTo>
                      <a:pt x="0" y="285750"/>
                    </a:lnTo>
                    <a:lnTo>
                      <a:pt x="0" y="0"/>
                    </a:lnTo>
                    <a:close/>
                  </a:path>
                </a:pathLst>
              </a:custGeom>
              <a:blipFill>
                <a:blip r:embed="rId10"/>
                <a:stretch>
                  <a:fillRect l="0" t="0" r="0" b="0"/>
                </a:stretch>
              </a:blipFill>
            </p:spPr>
          </p:sp>
        </p:grpSp>
        <p:grpSp>
          <p:nvGrpSpPr>
            <p:cNvPr name="Group 45" id="45"/>
            <p:cNvGrpSpPr/>
            <p:nvPr/>
          </p:nvGrpSpPr>
          <p:grpSpPr>
            <a:xfrm rot="0">
              <a:off x="11734800" y="5706669"/>
              <a:ext cx="228600" cy="285750"/>
              <a:chOff x="0" y="0"/>
              <a:chExt cx="228600" cy="285750"/>
            </a:xfrm>
          </p:grpSpPr>
          <p:sp>
            <p:nvSpPr>
              <p:cNvPr name="Freeform 46" id="46" descr="image.png"/>
              <p:cNvSpPr/>
              <p:nvPr/>
            </p:nvSpPr>
            <p:spPr>
              <a:xfrm flipH="false" flipV="false" rot="0">
                <a:off x="0" y="0"/>
                <a:ext cx="228600" cy="285750"/>
              </a:xfrm>
              <a:custGeom>
                <a:avLst/>
                <a:gdLst/>
                <a:ahLst/>
                <a:cxnLst/>
                <a:rect r="r" b="b" t="t" l="l"/>
                <a:pathLst>
                  <a:path h="285750" w="228600">
                    <a:moveTo>
                      <a:pt x="0" y="0"/>
                    </a:moveTo>
                    <a:lnTo>
                      <a:pt x="228600" y="0"/>
                    </a:lnTo>
                    <a:lnTo>
                      <a:pt x="228600" y="285750"/>
                    </a:lnTo>
                    <a:lnTo>
                      <a:pt x="0" y="285750"/>
                    </a:lnTo>
                    <a:lnTo>
                      <a:pt x="0" y="0"/>
                    </a:lnTo>
                    <a:close/>
                  </a:path>
                </a:pathLst>
              </a:custGeom>
              <a:blipFill>
                <a:blip r:embed="rId10"/>
                <a:stretch>
                  <a:fillRect l="0" t="0" r="0" b="0"/>
                </a:stretch>
              </a:blipFill>
            </p:spPr>
          </p:sp>
        </p:gr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000" y="1039667"/>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8254373"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CÁC RỦI RO BẢO MẬT CỦA HỆ THỐNG BÁN LẺ ĐA KÊNH</a:t>
            </a:r>
          </a:p>
        </p:txBody>
      </p:sp>
      <p:grpSp>
        <p:nvGrpSpPr>
          <p:cNvPr name="Group 8" id="8"/>
          <p:cNvGrpSpPr/>
          <p:nvPr/>
        </p:nvGrpSpPr>
        <p:grpSpPr>
          <a:xfrm rot="0">
            <a:off x="1143000" y="2343150"/>
            <a:ext cx="5048174" cy="5214938"/>
            <a:chOff x="0" y="0"/>
            <a:chExt cx="6730898" cy="6953250"/>
          </a:xfrm>
        </p:grpSpPr>
        <p:sp>
          <p:nvSpPr>
            <p:cNvPr name="Freeform 9" id="9" descr="image.png"/>
            <p:cNvSpPr/>
            <p:nvPr/>
          </p:nvSpPr>
          <p:spPr>
            <a:xfrm flipH="false" flipV="false" rot="0">
              <a:off x="0" y="0"/>
              <a:ext cx="6730873" cy="6953250"/>
            </a:xfrm>
            <a:custGeom>
              <a:avLst/>
              <a:gdLst/>
              <a:ahLst/>
              <a:cxnLst/>
              <a:rect r="r" b="b" t="t" l="l"/>
              <a:pathLst>
                <a:path h="6953250" w="6730873">
                  <a:moveTo>
                    <a:pt x="0" y="0"/>
                  </a:moveTo>
                  <a:lnTo>
                    <a:pt x="6730873" y="0"/>
                  </a:lnTo>
                  <a:lnTo>
                    <a:pt x="6730873" y="6953250"/>
                  </a:lnTo>
                  <a:lnTo>
                    <a:pt x="0" y="6953250"/>
                  </a:lnTo>
                  <a:lnTo>
                    <a:pt x="0" y="0"/>
                  </a:lnTo>
                  <a:close/>
                </a:path>
              </a:pathLst>
            </a:custGeom>
            <a:blipFill>
              <a:blip r:embed="rId4"/>
              <a:stretch>
                <a:fillRect l="-95" t="0" r="-95" b="0"/>
              </a:stretch>
            </a:blipFill>
          </p:spPr>
        </p:sp>
      </p:grpSp>
      <p:grpSp>
        <p:nvGrpSpPr>
          <p:cNvPr name="Group 10" id="10"/>
          <p:cNvGrpSpPr/>
          <p:nvPr/>
        </p:nvGrpSpPr>
        <p:grpSpPr>
          <a:xfrm rot="0">
            <a:off x="6619799" y="2343150"/>
            <a:ext cx="5048174" cy="5214938"/>
            <a:chOff x="0" y="0"/>
            <a:chExt cx="6730898" cy="6953250"/>
          </a:xfrm>
        </p:grpSpPr>
        <p:sp>
          <p:nvSpPr>
            <p:cNvPr name="Freeform 11" id="11" descr="image.png"/>
            <p:cNvSpPr/>
            <p:nvPr/>
          </p:nvSpPr>
          <p:spPr>
            <a:xfrm flipH="false" flipV="false" rot="0">
              <a:off x="0" y="0"/>
              <a:ext cx="6730873" cy="6953250"/>
            </a:xfrm>
            <a:custGeom>
              <a:avLst/>
              <a:gdLst/>
              <a:ahLst/>
              <a:cxnLst/>
              <a:rect r="r" b="b" t="t" l="l"/>
              <a:pathLst>
                <a:path h="6953250" w="6730873">
                  <a:moveTo>
                    <a:pt x="0" y="0"/>
                  </a:moveTo>
                  <a:lnTo>
                    <a:pt x="6730873" y="0"/>
                  </a:lnTo>
                  <a:lnTo>
                    <a:pt x="6730873" y="6953250"/>
                  </a:lnTo>
                  <a:lnTo>
                    <a:pt x="0" y="6953250"/>
                  </a:lnTo>
                  <a:lnTo>
                    <a:pt x="0" y="0"/>
                  </a:lnTo>
                  <a:close/>
                </a:path>
              </a:pathLst>
            </a:custGeom>
            <a:blipFill>
              <a:blip r:embed="rId5"/>
              <a:stretch>
                <a:fillRect l="-95" t="0" r="-95" b="0"/>
              </a:stretch>
            </a:blipFill>
          </p:spPr>
        </p:sp>
      </p:grpSp>
      <p:grpSp>
        <p:nvGrpSpPr>
          <p:cNvPr name="Group 12" id="12"/>
          <p:cNvGrpSpPr/>
          <p:nvPr/>
        </p:nvGrpSpPr>
        <p:grpSpPr>
          <a:xfrm rot="0">
            <a:off x="12096598" y="2343150"/>
            <a:ext cx="5048174" cy="5214938"/>
            <a:chOff x="0" y="0"/>
            <a:chExt cx="6730898" cy="6953250"/>
          </a:xfrm>
        </p:grpSpPr>
        <p:sp>
          <p:nvSpPr>
            <p:cNvPr name="Freeform 13" id="13" descr="image.png"/>
            <p:cNvSpPr/>
            <p:nvPr/>
          </p:nvSpPr>
          <p:spPr>
            <a:xfrm flipH="false" flipV="false" rot="0">
              <a:off x="0" y="0"/>
              <a:ext cx="6730873" cy="6953250"/>
            </a:xfrm>
            <a:custGeom>
              <a:avLst/>
              <a:gdLst/>
              <a:ahLst/>
              <a:cxnLst/>
              <a:rect r="r" b="b" t="t" l="l"/>
              <a:pathLst>
                <a:path h="6953250" w="6730873">
                  <a:moveTo>
                    <a:pt x="0" y="0"/>
                  </a:moveTo>
                  <a:lnTo>
                    <a:pt x="6730873" y="0"/>
                  </a:lnTo>
                  <a:lnTo>
                    <a:pt x="6730873" y="6953250"/>
                  </a:lnTo>
                  <a:lnTo>
                    <a:pt x="0" y="6953250"/>
                  </a:lnTo>
                  <a:lnTo>
                    <a:pt x="0" y="0"/>
                  </a:lnTo>
                  <a:close/>
                </a:path>
              </a:pathLst>
            </a:custGeom>
            <a:blipFill>
              <a:blip r:embed="rId6"/>
              <a:stretch>
                <a:fillRect l="-95" t="0" r="-95" b="0"/>
              </a:stretch>
            </a:blipFill>
          </p:spPr>
        </p:sp>
      </p:grpSp>
      <p:grpSp>
        <p:nvGrpSpPr>
          <p:cNvPr name="Group 14" id="14"/>
          <p:cNvGrpSpPr/>
          <p:nvPr/>
        </p:nvGrpSpPr>
        <p:grpSpPr>
          <a:xfrm rot="0">
            <a:off x="1657350" y="2900362"/>
            <a:ext cx="785812" cy="785812"/>
            <a:chOff x="0" y="0"/>
            <a:chExt cx="1047750" cy="1047750"/>
          </a:xfrm>
        </p:grpSpPr>
        <p:sp>
          <p:nvSpPr>
            <p:cNvPr name="Freeform 15" id="15" descr="image.png"/>
            <p:cNvSpPr/>
            <p:nvPr/>
          </p:nvSpPr>
          <p:spPr>
            <a:xfrm flipH="false" flipV="false" rot="0">
              <a:off x="0" y="0"/>
              <a:ext cx="1047750" cy="1047750"/>
            </a:xfrm>
            <a:custGeom>
              <a:avLst/>
              <a:gdLst/>
              <a:ahLst/>
              <a:cxnLst/>
              <a:rect r="r" b="b" t="t" l="l"/>
              <a:pathLst>
                <a:path h="1047750" w="1047750">
                  <a:moveTo>
                    <a:pt x="0" y="0"/>
                  </a:moveTo>
                  <a:lnTo>
                    <a:pt x="1047750" y="0"/>
                  </a:lnTo>
                  <a:lnTo>
                    <a:pt x="1047750" y="1047750"/>
                  </a:lnTo>
                  <a:lnTo>
                    <a:pt x="0" y="1047750"/>
                  </a:lnTo>
                  <a:lnTo>
                    <a:pt x="0" y="0"/>
                  </a:lnTo>
                  <a:close/>
                </a:path>
              </a:pathLst>
            </a:custGeom>
            <a:blipFill>
              <a:blip r:embed="rId7"/>
              <a:stretch>
                <a:fillRect l="0" t="0" r="0" b="0"/>
              </a:stretch>
            </a:blipFill>
          </p:spPr>
        </p:sp>
      </p:grpSp>
      <p:sp>
        <p:nvSpPr>
          <p:cNvPr name="TextBox 16" id="16"/>
          <p:cNvSpPr txBox="true"/>
          <p:nvPr/>
        </p:nvSpPr>
        <p:spPr>
          <a:xfrm rot="0">
            <a:off x="1657350" y="3924300"/>
            <a:ext cx="4220451" cy="847725"/>
          </a:xfrm>
          <a:prstGeom prst="rect">
            <a:avLst/>
          </a:prstGeom>
        </p:spPr>
        <p:txBody>
          <a:bodyPr anchor="t" rtlCol="false" tIns="0" lIns="0" bIns="0" rIns="0">
            <a:spAutoFit/>
          </a:bodyPr>
          <a:lstStyle/>
          <a:p>
            <a:pPr algn="l">
              <a:lnSpc>
                <a:spcPts val="3149"/>
              </a:lnSpc>
            </a:pPr>
            <a:r>
              <a:rPr lang="en-US" sz="2250" b="true">
                <a:solidFill>
                  <a:srgbClr val="051C2C"/>
                </a:solidFill>
                <a:latin typeface="Montserrat Bold"/>
                <a:ea typeface="Montserrat Bold"/>
                <a:cs typeface="Montserrat Bold"/>
                <a:sym typeface="Montserrat Bold"/>
              </a:rPr>
              <a:t>Tấn công từ chối dịch vụ (DDoS)</a:t>
            </a:r>
          </a:p>
        </p:txBody>
      </p:sp>
      <p:sp>
        <p:nvSpPr>
          <p:cNvPr name="TextBox 17" id="17"/>
          <p:cNvSpPr txBox="true"/>
          <p:nvPr/>
        </p:nvSpPr>
        <p:spPr>
          <a:xfrm rot="0">
            <a:off x="1657350" y="4919663"/>
            <a:ext cx="4019474" cy="2124075"/>
          </a:xfrm>
          <a:prstGeom prst="rect">
            <a:avLst/>
          </a:prstGeom>
        </p:spPr>
        <p:txBody>
          <a:bodyPr anchor="t" rtlCol="false" tIns="0" lIns="0" bIns="0" rIns="0">
            <a:spAutoFit/>
          </a:bodyPr>
          <a:lstStyle/>
          <a:p>
            <a:pPr algn="l">
              <a:lnSpc>
                <a:spcPts val="2700"/>
              </a:lnSpc>
            </a:pPr>
            <a:r>
              <a:rPr lang="en-US" sz="1687">
                <a:solidFill>
                  <a:srgbClr val="475569"/>
                </a:solidFill>
                <a:latin typeface="Open Sans"/>
                <a:ea typeface="Open Sans"/>
                <a:cs typeface="Open Sans"/>
                <a:sym typeface="Open Sans"/>
              </a:rPr>
              <a:t>Sử dụng lượng lớn thiết bị bị kiểm soát để gửi yêu cầu truy cập giả mạo đến trang web và API. Hậu quả làm cạn kiệt tài nguyên xử lý, gây gián đoạn hệ thống và ngăn cản khách hàng hợp lệ thực hiện đặt tour.</a:t>
            </a:r>
          </a:p>
        </p:txBody>
      </p:sp>
      <p:grpSp>
        <p:nvGrpSpPr>
          <p:cNvPr name="Group 18" id="18"/>
          <p:cNvGrpSpPr/>
          <p:nvPr/>
        </p:nvGrpSpPr>
        <p:grpSpPr>
          <a:xfrm rot="0">
            <a:off x="7134149" y="2900362"/>
            <a:ext cx="785812" cy="785812"/>
            <a:chOff x="0" y="0"/>
            <a:chExt cx="1047750" cy="1047750"/>
          </a:xfrm>
        </p:grpSpPr>
        <p:sp>
          <p:nvSpPr>
            <p:cNvPr name="Freeform 19" id="19" descr="image.png"/>
            <p:cNvSpPr/>
            <p:nvPr/>
          </p:nvSpPr>
          <p:spPr>
            <a:xfrm flipH="false" flipV="false" rot="0">
              <a:off x="0" y="0"/>
              <a:ext cx="1047750" cy="1047750"/>
            </a:xfrm>
            <a:custGeom>
              <a:avLst/>
              <a:gdLst/>
              <a:ahLst/>
              <a:cxnLst/>
              <a:rect r="r" b="b" t="t" l="l"/>
              <a:pathLst>
                <a:path h="1047750" w="1047750">
                  <a:moveTo>
                    <a:pt x="0" y="0"/>
                  </a:moveTo>
                  <a:lnTo>
                    <a:pt x="1047750" y="0"/>
                  </a:lnTo>
                  <a:lnTo>
                    <a:pt x="1047750" y="1047750"/>
                  </a:lnTo>
                  <a:lnTo>
                    <a:pt x="0" y="1047750"/>
                  </a:lnTo>
                  <a:lnTo>
                    <a:pt x="0" y="0"/>
                  </a:lnTo>
                  <a:close/>
                </a:path>
              </a:pathLst>
            </a:custGeom>
            <a:blipFill>
              <a:blip r:embed="rId7"/>
              <a:stretch>
                <a:fillRect l="0" t="0" r="0" b="0"/>
              </a:stretch>
            </a:blipFill>
          </p:spPr>
        </p:sp>
      </p:grpSp>
      <p:sp>
        <p:nvSpPr>
          <p:cNvPr name="TextBox 20" id="20"/>
          <p:cNvSpPr txBox="true"/>
          <p:nvPr/>
        </p:nvSpPr>
        <p:spPr>
          <a:xfrm rot="0">
            <a:off x="7134149" y="3924300"/>
            <a:ext cx="4220451" cy="847725"/>
          </a:xfrm>
          <a:prstGeom prst="rect">
            <a:avLst/>
          </a:prstGeom>
        </p:spPr>
        <p:txBody>
          <a:bodyPr anchor="t" rtlCol="false" tIns="0" lIns="0" bIns="0" rIns="0">
            <a:spAutoFit/>
          </a:bodyPr>
          <a:lstStyle/>
          <a:p>
            <a:pPr algn="l">
              <a:lnSpc>
                <a:spcPts val="3149"/>
              </a:lnSpc>
            </a:pPr>
            <a:r>
              <a:rPr lang="en-US" sz="2250" b="true">
                <a:solidFill>
                  <a:srgbClr val="051C2C"/>
                </a:solidFill>
                <a:latin typeface="Montserrat Bold"/>
                <a:ea typeface="Montserrat Bold"/>
                <a:cs typeface="Montserrat Bold"/>
                <a:sym typeface="Montserrat Bold"/>
              </a:rPr>
              <a:t>Giả mạo &amp; Chiếm đoạt tài khoản</a:t>
            </a:r>
          </a:p>
        </p:txBody>
      </p:sp>
      <p:sp>
        <p:nvSpPr>
          <p:cNvPr name="TextBox 21" id="21"/>
          <p:cNvSpPr txBox="true"/>
          <p:nvPr/>
        </p:nvSpPr>
        <p:spPr>
          <a:xfrm rot="0">
            <a:off x="7134149" y="4919663"/>
            <a:ext cx="4019474" cy="2124075"/>
          </a:xfrm>
          <a:prstGeom prst="rect">
            <a:avLst/>
          </a:prstGeom>
        </p:spPr>
        <p:txBody>
          <a:bodyPr anchor="t" rtlCol="false" tIns="0" lIns="0" bIns="0" rIns="0">
            <a:spAutoFit/>
          </a:bodyPr>
          <a:lstStyle/>
          <a:p>
            <a:pPr algn="l">
              <a:lnSpc>
                <a:spcPts val="2700"/>
              </a:lnSpc>
            </a:pPr>
            <a:r>
              <a:rPr lang="en-US" sz="1687">
                <a:solidFill>
                  <a:srgbClr val="475569"/>
                </a:solidFill>
                <a:latin typeface="Open Sans"/>
                <a:ea typeface="Open Sans"/>
                <a:cs typeface="Open Sans"/>
                <a:sym typeface="Open Sans"/>
              </a:rPr>
              <a:t>Sử dụng kỹ thuật "xen giữa" trên wifi công cộng để đánh cắp thông tin đăng nhập. Kẻ gian thực hiện giao dịch trái phép, thay đổi hồ sơ hoặc thanh toán giả mạo, gây thiệt hại tài chính và uy tín doanh nghiệp.</a:t>
            </a:r>
          </a:p>
        </p:txBody>
      </p:sp>
      <p:grpSp>
        <p:nvGrpSpPr>
          <p:cNvPr name="Group 22" id="22"/>
          <p:cNvGrpSpPr/>
          <p:nvPr/>
        </p:nvGrpSpPr>
        <p:grpSpPr>
          <a:xfrm rot="0">
            <a:off x="12610948" y="2900362"/>
            <a:ext cx="785812" cy="785812"/>
            <a:chOff x="0" y="0"/>
            <a:chExt cx="1047750" cy="1047750"/>
          </a:xfrm>
        </p:grpSpPr>
        <p:sp>
          <p:nvSpPr>
            <p:cNvPr name="Freeform 23" id="23" descr="image.png"/>
            <p:cNvSpPr/>
            <p:nvPr/>
          </p:nvSpPr>
          <p:spPr>
            <a:xfrm flipH="false" flipV="false" rot="0">
              <a:off x="0" y="0"/>
              <a:ext cx="1047750" cy="1047750"/>
            </a:xfrm>
            <a:custGeom>
              <a:avLst/>
              <a:gdLst/>
              <a:ahLst/>
              <a:cxnLst/>
              <a:rect r="r" b="b" t="t" l="l"/>
              <a:pathLst>
                <a:path h="1047750" w="1047750">
                  <a:moveTo>
                    <a:pt x="0" y="0"/>
                  </a:moveTo>
                  <a:lnTo>
                    <a:pt x="1047750" y="0"/>
                  </a:lnTo>
                  <a:lnTo>
                    <a:pt x="1047750" y="1047750"/>
                  </a:lnTo>
                  <a:lnTo>
                    <a:pt x="0" y="1047750"/>
                  </a:lnTo>
                  <a:lnTo>
                    <a:pt x="0" y="0"/>
                  </a:lnTo>
                  <a:close/>
                </a:path>
              </a:pathLst>
            </a:custGeom>
            <a:blipFill>
              <a:blip r:embed="rId8"/>
              <a:stretch>
                <a:fillRect l="0" t="0" r="0" b="0"/>
              </a:stretch>
            </a:blipFill>
          </p:spPr>
        </p:sp>
      </p:grpSp>
      <p:sp>
        <p:nvSpPr>
          <p:cNvPr name="TextBox 24" id="24"/>
          <p:cNvSpPr txBox="true"/>
          <p:nvPr/>
        </p:nvSpPr>
        <p:spPr>
          <a:xfrm rot="0">
            <a:off x="12610948" y="3924300"/>
            <a:ext cx="4220451" cy="847725"/>
          </a:xfrm>
          <a:prstGeom prst="rect">
            <a:avLst/>
          </a:prstGeom>
        </p:spPr>
        <p:txBody>
          <a:bodyPr anchor="t" rtlCol="false" tIns="0" lIns="0" bIns="0" rIns="0">
            <a:spAutoFit/>
          </a:bodyPr>
          <a:lstStyle/>
          <a:p>
            <a:pPr algn="l">
              <a:lnSpc>
                <a:spcPts val="3149"/>
              </a:lnSpc>
            </a:pPr>
            <a:r>
              <a:rPr lang="en-US" sz="2250" b="true">
                <a:solidFill>
                  <a:srgbClr val="051C2C"/>
                </a:solidFill>
                <a:latin typeface="Montserrat Bold"/>
                <a:ea typeface="Montserrat Bold"/>
                <a:cs typeface="Montserrat Bold"/>
                <a:sym typeface="Montserrat Bold"/>
              </a:rPr>
              <a:t>Lộ lọt thông tin &amp; Dữ liệu nhạy cảm</a:t>
            </a:r>
          </a:p>
        </p:txBody>
      </p:sp>
      <p:sp>
        <p:nvSpPr>
          <p:cNvPr name="TextBox 25" id="25"/>
          <p:cNvSpPr txBox="true"/>
          <p:nvPr/>
        </p:nvSpPr>
        <p:spPr>
          <a:xfrm rot="0">
            <a:off x="12610948" y="4919663"/>
            <a:ext cx="4019474" cy="2124075"/>
          </a:xfrm>
          <a:prstGeom prst="rect">
            <a:avLst/>
          </a:prstGeom>
        </p:spPr>
        <p:txBody>
          <a:bodyPr anchor="t" rtlCol="false" tIns="0" lIns="0" bIns="0" rIns="0">
            <a:spAutoFit/>
          </a:bodyPr>
          <a:lstStyle/>
          <a:p>
            <a:pPr algn="l">
              <a:lnSpc>
                <a:spcPts val="2700"/>
              </a:lnSpc>
            </a:pPr>
            <a:r>
              <a:rPr lang="en-US" sz="1687">
                <a:solidFill>
                  <a:srgbClr val="475569"/>
                </a:solidFill>
                <a:latin typeface="Open Sans"/>
                <a:ea typeface="Open Sans"/>
                <a:cs typeface="Open Sans"/>
                <a:sym typeface="Open Sans"/>
              </a:rPr>
              <a:t>Lỗ hổng web (như SQL Injection) bị khai thác để trích xuất căn cước, hộ chiếu và thẻ thanh toán. Vi phạm tiêu chuẩn GDPR và PCI DSS, có thể dẫn đến các chế tài pháp lý cực kỳ nghiêm khắc đối với tổ chức.</a:t>
            </a:r>
          </a:p>
        </p:txBody>
      </p:sp>
      <p:grpSp>
        <p:nvGrpSpPr>
          <p:cNvPr name="Group 26" id="26"/>
          <p:cNvGrpSpPr/>
          <p:nvPr/>
        </p:nvGrpSpPr>
        <p:grpSpPr>
          <a:xfrm rot="0">
            <a:off x="1864519" y="3107531"/>
            <a:ext cx="371475" cy="371475"/>
            <a:chOff x="0" y="0"/>
            <a:chExt cx="495300" cy="495300"/>
          </a:xfrm>
        </p:grpSpPr>
        <p:sp>
          <p:nvSpPr>
            <p:cNvPr name="Freeform 27" id="27" descr="image.png"/>
            <p:cNvSpPr/>
            <p:nvPr/>
          </p:nvSpPr>
          <p:spPr>
            <a:xfrm flipH="false" flipV="false" rot="0">
              <a:off x="0" y="0"/>
              <a:ext cx="495300" cy="495300"/>
            </a:xfrm>
            <a:custGeom>
              <a:avLst/>
              <a:gdLst/>
              <a:ahLst/>
              <a:cxnLst/>
              <a:rect r="r" b="b" t="t" l="l"/>
              <a:pathLst>
                <a:path h="495300" w="495300">
                  <a:moveTo>
                    <a:pt x="0" y="0"/>
                  </a:moveTo>
                  <a:lnTo>
                    <a:pt x="495300" y="0"/>
                  </a:lnTo>
                  <a:lnTo>
                    <a:pt x="495300" y="495300"/>
                  </a:lnTo>
                  <a:lnTo>
                    <a:pt x="0" y="495300"/>
                  </a:lnTo>
                  <a:lnTo>
                    <a:pt x="0" y="0"/>
                  </a:lnTo>
                  <a:close/>
                </a:path>
              </a:pathLst>
            </a:custGeom>
            <a:blipFill>
              <a:blip r:embed="rId9"/>
              <a:stretch>
                <a:fillRect l="0" t="0" r="0" b="0"/>
              </a:stretch>
            </a:blipFill>
          </p:spPr>
        </p:sp>
      </p:grpSp>
      <p:grpSp>
        <p:nvGrpSpPr>
          <p:cNvPr name="Group 28" id="28"/>
          <p:cNvGrpSpPr/>
          <p:nvPr/>
        </p:nvGrpSpPr>
        <p:grpSpPr>
          <a:xfrm rot="0">
            <a:off x="7362749" y="3107531"/>
            <a:ext cx="328612" cy="371475"/>
            <a:chOff x="0" y="0"/>
            <a:chExt cx="438150" cy="495300"/>
          </a:xfrm>
        </p:grpSpPr>
        <p:sp>
          <p:nvSpPr>
            <p:cNvPr name="Freeform 29" id="29" descr="image.png"/>
            <p:cNvSpPr/>
            <p:nvPr/>
          </p:nvSpPr>
          <p:spPr>
            <a:xfrm flipH="false" flipV="false" rot="0">
              <a:off x="0" y="0"/>
              <a:ext cx="438150" cy="495300"/>
            </a:xfrm>
            <a:custGeom>
              <a:avLst/>
              <a:gdLst/>
              <a:ahLst/>
              <a:cxnLst/>
              <a:rect r="r" b="b" t="t" l="l"/>
              <a:pathLst>
                <a:path h="495300" w="438150">
                  <a:moveTo>
                    <a:pt x="0" y="0"/>
                  </a:moveTo>
                  <a:lnTo>
                    <a:pt x="438150" y="0"/>
                  </a:lnTo>
                  <a:lnTo>
                    <a:pt x="438150" y="495300"/>
                  </a:lnTo>
                  <a:lnTo>
                    <a:pt x="0" y="495300"/>
                  </a:lnTo>
                  <a:lnTo>
                    <a:pt x="0" y="0"/>
                  </a:lnTo>
                  <a:close/>
                </a:path>
              </a:pathLst>
            </a:custGeom>
            <a:blipFill>
              <a:blip r:embed="rId10"/>
              <a:stretch>
                <a:fillRect l="0" t="-1923" r="0" b="-1923"/>
              </a:stretch>
            </a:blipFill>
          </p:spPr>
        </p:sp>
      </p:grpSp>
      <p:grpSp>
        <p:nvGrpSpPr>
          <p:cNvPr name="Group 30" id="30"/>
          <p:cNvGrpSpPr/>
          <p:nvPr/>
        </p:nvGrpSpPr>
        <p:grpSpPr>
          <a:xfrm rot="0">
            <a:off x="12839548" y="3107531"/>
            <a:ext cx="328612" cy="371475"/>
            <a:chOff x="0" y="0"/>
            <a:chExt cx="438150" cy="495300"/>
          </a:xfrm>
        </p:grpSpPr>
        <p:sp>
          <p:nvSpPr>
            <p:cNvPr name="Freeform 31" id="31" descr="image.png"/>
            <p:cNvSpPr/>
            <p:nvPr/>
          </p:nvSpPr>
          <p:spPr>
            <a:xfrm flipH="false" flipV="false" rot="0">
              <a:off x="0" y="0"/>
              <a:ext cx="438150" cy="495300"/>
            </a:xfrm>
            <a:custGeom>
              <a:avLst/>
              <a:gdLst/>
              <a:ahLst/>
              <a:cxnLst/>
              <a:rect r="r" b="b" t="t" l="l"/>
              <a:pathLst>
                <a:path h="495300" w="438150">
                  <a:moveTo>
                    <a:pt x="0" y="0"/>
                  </a:moveTo>
                  <a:lnTo>
                    <a:pt x="438150" y="0"/>
                  </a:lnTo>
                  <a:lnTo>
                    <a:pt x="438150" y="495300"/>
                  </a:lnTo>
                  <a:lnTo>
                    <a:pt x="0" y="495300"/>
                  </a:lnTo>
                  <a:lnTo>
                    <a:pt x="0" y="0"/>
                  </a:lnTo>
                  <a:close/>
                </a:path>
              </a:pathLst>
            </a:custGeom>
            <a:blipFill>
              <a:blip r:embed="rId11"/>
              <a:stretch>
                <a:fillRect l="0" t="-1923" r="0" b="-1923"/>
              </a:stretch>
            </a:blipFill>
          </p:spPr>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28700"/>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8254373"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MÔ HÌNH BẢO MẬT ZERO TRUST </a:t>
            </a:r>
          </a:p>
        </p:txBody>
      </p:sp>
      <p:grpSp>
        <p:nvGrpSpPr>
          <p:cNvPr name="Group 8" id="8"/>
          <p:cNvGrpSpPr/>
          <p:nvPr/>
        </p:nvGrpSpPr>
        <p:grpSpPr>
          <a:xfrm rot="0">
            <a:off x="1143000" y="2643188"/>
            <a:ext cx="7870525" cy="2486025"/>
            <a:chOff x="0" y="0"/>
            <a:chExt cx="10494034" cy="3314700"/>
          </a:xfrm>
        </p:grpSpPr>
        <p:grpSp>
          <p:nvGrpSpPr>
            <p:cNvPr name="Group 9" id="9"/>
            <p:cNvGrpSpPr/>
            <p:nvPr/>
          </p:nvGrpSpPr>
          <p:grpSpPr>
            <a:xfrm rot="0">
              <a:off x="0" y="0"/>
              <a:ext cx="10191750" cy="3314700"/>
              <a:chOff x="0" y="0"/>
              <a:chExt cx="10191750" cy="3314700"/>
            </a:xfrm>
          </p:grpSpPr>
          <p:sp>
            <p:nvSpPr>
              <p:cNvPr name="Freeform 10" id="10" descr="image.png"/>
              <p:cNvSpPr/>
              <p:nvPr/>
            </p:nvSpPr>
            <p:spPr>
              <a:xfrm flipH="false" flipV="false" rot="0">
                <a:off x="0" y="0"/>
                <a:ext cx="10191750" cy="3314700"/>
              </a:xfrm>
              <a:custGeom>
                <a:avLst/>
                <a:gdLst/>
                <a:ahLst/>
                <a:cxnLst/>
                <a:rect r="r" b="b" t="t" l="l"/>
                <a:pathLst>
                  <a:path h="3314700" w="10191750">
                    <a:moveTo>
                      <a:pt x="0" y="0"/>
                    </a:moveTo>
                    <a:lnTo>
                      <a:pt x="10191750" y="0"/>
                    </a:lnTo>
                    <a:lnTo>
                      <a:pt x="10191750" y="3314700"/>
                    </a:lnTo>
                    <a:lnTo>
                      <a:pt x="0" y="3314700"/>
                    </a:lnTo>
                    <a:lnTo>
                      <a:pt x="0" y="0"/>
                    </a:lnTo>
                    <a:close/>
                  </a:path>
                </a:pathLst>
              </a:custGeom>
              <a:blipFill>
                <a:blip r:embed="rId4"/>
                <a:stretch>
                  <a:fillRect l="0" t="0" r="0" b="0"/>
                </a:stretch>
              </a:blipFill>
            </p:spPr>
          </p:sp>
        </p:grpSp>
        <p:sp>
          <p:nvSpPr>
            <p:cNvPr name="TextBox 11" id="11"/>
            <p:cNvSpPr txBox="true"/>
            <p:nvPr/>
          </p:nvSpPr>
          <p:spPr>
            <a:xfrm rot="0">
              <a:off x="1126831" y="479425"/>
              <a:ext cx="9367202" cy="466725"/>
            </a:xfrm>
            <a:prstGeom prst="rect">
              <a:avLst/>
            </a:prstGeom>
          </p:spPr>
          <p:txBody>
            <a:bodyPr anchor="t" rtlCol="false" tIns="0" lIns="0" bIns="0" rIns="0">
              <a:spAutoFit/>
            </a:bodyPr>
            <a:lstStyle/>
            <a:p>
              <a:pPr algn="l">
                <a:lnSpc>
                  <a:spcPts val="2700"/>
                </a:lnSpc>
              </a:pPr>
              <a:r>
                <a:rPr lang="en-US" sz="2250" b="true">
                  <a:solidFill>
                    <a:srgbClr val="051C2C"/>
                  </a:solidFill>
                  <a:latin typeface="Montserrat Bold"/>
                  <a:ea typeface="Montserrat Bold"/>
                  <a:cs typeface="Montserrat Bold"/>
                  <a:sym typeface="Montserrat Bold"/>
                </a:rPr>
                <a:t>Không tin tưởng mặc định</a:t>
              </a:r>
            </a:p>
          </p:txBody>
        </p:sp>
        <p:sp>
          <p:nvSpPr>
            <p:cNvPr name="TextBox 12" id="12"/>
            <p:cNvSpPr txBox="true"/>
            <p:nvPr/>
          </p:nvSpPr>
          <p:spPr>
            <a:xfrm rot="0">
              <a:off x="552450" y="1076325"/>
              <a:ext cx="9163050" cy="1762125"/>
            </a:xfrm>
            <a:prstGeom prst="rect">
              <a:avLst/>
            </a:prstGeom>
          </p:spPr>
          <p:txBody>
            <a:bodyPr anchor="t" rtlCol="false" tIns="0" lIns="0" bIns="0" rIns="0">
              <a:spAutoFit/>
            </a:bodyPr>
            <a:lstStyle/>
            <a:p>
              <a:pPr algn="l">
                <a:lnSpc>
                  <a:spcPts val="2530"/>
                </a:lnSpc>
              </a:pPr>
              <a:r>
                <a:rPr lang="en-US" sz="1687">
                  <a:solidFill>
                    <a:srgbClr val="334155"/>
                  </a:solidFill>
                  <a:latin typeface="Open Sans"/>
                  <a:ea typeface="Open Sans"/>
                  <a:cs typeface="Open Sans"/>
                  <a:sym typeface="Open Sans"/>
                </a:rPr>
                <a:t>Hệ thống không tự động cấp quyền truy cập cho bất kỳ thực thể nào. Mọi yêu cầu truy cập từ bên ngoài Internet hay bên trong chi nhánh nội bộ đều phải được xác thực danh tính liên tục và kiểm tra an toàn thiết bị trước khi thiết lập phiên làm việc.</a:t>
              </a:r>
            </a:p>
          </p:txBody>
        </p:sp>
        <p:grpSp>
          <p:nvGrpSpPr>
            <p:cNvPr name="Group 13" id="13"/>
            <p:cNvGrpSpPr/>
            <p:nvPr/>
          </p:nvGrpSpPr>
          <p:grpSpPr>
            <a:xfrm rot="0">
              <a:off x="552450" y="514350"/>
              <a:ext cx="381000" cy="381000"/>
              <a:chOff x="0" y="0"/>
              <a:chExt cx="381000" cy="381000"/>
            </a:xfrm>
          </p:grpSpPr>
          <p:sp>
            <p:nvSpPr>
              <p:cNvPr name="Freeform 14" id="14" descr="image.png"/>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5"/>
                <a:stretch>
                  <a:fillRect l="0" t="0" r="0" b="0"/>
                </a:stretch>
              </a:blipFill>
            </p:spPr>
          </p:sp>
        </p:grpSp>
      </p:grpSp>
      <p:grpSp>
        <p:nvGrpSpPr>
          <p:cNvPr name="Group 15" id="15"/>
          <p:cNvGrpSpPr/>
          <p:nvPr/>
        </p:nvGrpSpPr>
        <p:grpSpPr>
          <a:xfrm rot="0">
            <a:off x="9753220" y="2657475"/>
            <a:ext cx="7861974" cy="2486025"/>
            <a:chOff x="0" y="0"/>
            <a:chExt cx="10482632" cy="3314700"/>
          </a:xfrm>
        </p:grpSpPr>
        <p:grpSp>
          <p:nvGrpSpPr>
            <p:cNvPr name="Group 16" id="16"/>
            <p:cNvGrpSpPr/>
            <p:nvPr/>
          </p:nvGrpSpPr>
          <p:grpSpPr>
            <a:xfrm rot="0">
              <a:off x="0" y="0"/>
              <a:ext cx="10191750" cy="3314700"/>
              <a:chOff x="0" y="0"/>
              <a:chExt cx="10191750" cy="3314700"/>
            </a:xfrm>
          </p:grpSpPr>
          <p:sp>
            <p:nvSpPr>
              <p:cNvPr name="Freeform 17" id="17" descr="image.png"/>
              <p:cNvSpPr/>
              <p:nvPr/>
            </p:nvSpPr>
            <p:spPr>
              <a:xfrm flipH="false" flipV="false" rot="0">
                <a:off x="0" y="0"/>
                <a:ext cx="10191750" cy="3314700"/>
              </a:xfrm>
              <a:custGeom>
                <a:avLst/>
                <a:gdLst/>
                <a:ahLst/>
                <a:cxnLst/>
                <a:rect r="r" b="b" t="t" l="l"/>
                <a:pathLst>
                  <a:path h="3314700" w="10191750">
                    <a:moveTo>
                      <a:pt x="0" y="0"/>
                    </a:moveTo>
                    <a:lnTo>
                      <a:pt x="10191750" y="0"/>
                    </a:lnTo>
                    <a:lnTo>
                      <a:pt x="10191750" y="3314700"/>
                    </a:lnTo>
                    <a:lnTo>
                      <a:pt x="0" y="3314700"/>
                    </a:lnTo>
                    <a:lnTo>
                      <a:pt x="0" y="0"/>
                    </a:lnTo>
                    <a:close/>
                  </a:path>
                </a:pathLst>
              </a:custGeom>
              <a:blipFill>
                <a:blip r:embed="rId4"/>
                <a:stretch>
                  <a:fillRect l="0" t="0" r="0" b="0"/>
                </a:stretch>
              </a:blipFill>
            </p:spPr>
          </p:sp>
        </p:grpSp>
        <p:sp>
          <p:nvSpPr>
            <p:cNvPr name="TextBox 18" id="18"/>
            <p:cNvSpPr txBox="true"/>
            <p:nvPr/>
          </p:nvSpPr>
          <p:spPr>
            <a:xfrm rot="0">
              <a:off x="1178929" y="479425"/>
              <a:ext cx="9303702" cy="466725"/>
            </a:xfrm>
            <a:prstGeom prst="rect">
              <a:avLst/>
            </a:prstGeom>
          </p:spPr>
          <p:txBody>
            <a:bodyPr anchor="t" rtlCol="false" tIns="0" lIns="0" bIns="0" rIns="0">
              <a:spAutoFit/>
            </a:bodyPr>
            <a:lstStyle/>
            <a:p>
              <a:pPr algn="l">
                <a:lnSpc>
                  <a:spcPts val="2700"/>
                </a:lnSpc>
              </a:pPr>
              <a:r>
                <a:rPr lang="en-US" sz="2250" b="true">
                  <a:solidFill>
                    <a:srgbClr val="051C2C"/>
                  </a:solidFill>
                  <a:latin typeface="Montserrat Bold"/>
                  <a:ea typeface="Montserrat Bold"/>
                  <a:cs typeface="Montserrat Bold"/>
                  <a:sym typeface="Montserrat Bold"/>
                </a:rPr>
                <a:t>Quyền tối thiểu cần thiết</a:t>
              </a:r>
            </a:p>
          </p:txBody>
        </p:sp>
        <p:sp>
          <p:nvSpPr>
            <p:cNvPr name="TextBox 19" id="19"/>
            <p:cNvSpPr txBox="true"/>
            <p:nvPr/>
          </p:nvSpPr>
          <p:spPr>
            <a:xfrm rot="0">
              <a:off x="552450" y="1076325"/>
              <a:ext cx="9163050" cy="1762125"/>
            </a:xfrm>
            <a:prstGeom prst="rect">
              <a:avLst/>
            </a:prstGeom>
          </p:spPr>
          <p:txBody>
            <a:bodyPr anchor="t" rtlCol="false" tIns="0" lIns="0" bIns="0" rIns="0">
              <a:spAutoFit/>
            </a:bodyPr>
            <a:lstStyle/>
            <a:p>
              <a:pPr algn="l">
                <a:lnSpc>
                  <a:spcPts val="2530"/>
                </a:lnSpc>
              </a:pPr>
              <a:r>
                <a:rPr lang="en-US" sz="1687">
                  <a:solidFill>
                    <a:srgbClr val="334155"/>
                  </a:solidFill>
                  <a:latin typeface="Open Sans"/>
                  <a:ea typeface="Open Sans"/>
                  <a:cs typeface="Open Sans"/>
                  <a:sym typeface="Open Sans"/>
                </a:rPr>
                <a:t>Giới hạn phạm vi truy cập của từng tài khoản một cách nghiêm ngặt. Ví dụ, nhân viên tại chi nhánh POS chỉ được quyền truy xuất các phân hệ quản lý bán hàng và tồn kho cần thiết, không có quyền can thiệp cấu hình hệ thống máy chủ.</a:t>
              </a:r>
            </a:p>
          </p:txBody>
        </p:sp>
        <p:grpSp>
          <p:nvGrpSpPr>
            <p:cNvPr name="Group 20" id="20"/>
            <p:cNvGrpSpPr/>
            <p:nvPr/>
          </p:nvGrpSpPr>
          <p:grpSpPr>
            <a:xfrm rot="0">
              <a:off x="552450" y="514350"/>
              <a:ext cx="476250" cy="381000"/>
              <a:chOff x="0" y="0"/>
              <a:chExt cx="476250" cy="381000"/>
            </a:xfrm>
          </p:grpSpPr>
          <p:sp>
            <p:nvSpPr>
              <p:cNvPr name="Freeform 21" id="21" descr="image.png"/>
              <p:cNvSpPr/>
              <p:nvPr/>
            </p:nvSpPr>
            <p:spPr>
              <a:xfrm flipH="false" flipV="false" rot="0">
                <a:off x="0" y="0"/>
                <a:ext cx="476250" cy="381000"/>
              </a:xfrm>
              <a:custGeom>
                <a:avLst/>
                <a:gdLst/>
                <a:ahLst/>
                <a:cxnLst/>
                <a:rect r="r" b="b" t="t" l="l"/>
                <a:pathLst>
                  <a:path h="381000" w="476250">
                    <a:moveTo>
                      <a:pt x="0" y="0"/>
                    </a:moveTo>
                    <a:lnTo>
                      <a:pt x="476250" y="0"/>
                    </a:lnTo>
                    <a:lnTo>
                      <a:pt x="476250" y="381000"/>
                    </a:lnTo>
                    <a:lnTo>
                      <a:pt x="0" y="381000"/>
                    </a:lnTo>
                    <a:lnTo>
                      <a:pt x="0" y="0"/>
                    </a:lnTo>
                    <a:close/>
                  </a:path>
                </a:pathLst>
              </a:custGeom>
              <a:blipFill>
                <a:blip r:embed="rId6"/>
                <a:stretch>
                  <a:fillRect l="0" t="0" r="0" b="0"/>
                </a:stretch>
              </a:blipFill>
            </p:spPr>
          </p:sp>
        </p:grpSp>
      </p:grpSp>
      <p:grpSp>
        <p:nvGrpSpPr>
          <p:cNvPr name="Group 22" id="22"/>
          <p:cNvGrpSpPr/>
          <p:nvPr/>
        </p:nvGrpSpPr>
        <p:grpSpPr>
          <a:xfrm rot="0">
            <a:off x="5320651" y="6253162"/>
            <a:ext cx="7643812" cy="2164556"/>
            <a:chOff x="0" y="0"/>
            <a:chExt cx="10191750" cy="2886075"/>
          </a:xfrm>
        </p:grpSpPr>
        <p:sp>
          <p:nvSpPr>
            <p:cNvPr name="Freeform 23" id="23" descr="image.png"/>
            <p:cNvSpPr/>
            <p:nvPr/>
          </p:nvSpPr>
          <p:spPr>
            <a:xfrm flipH="false" flipV="false" rot="0">
              <a:off x="0" y="0"/>
              <a:ext cx="10191750" cy="2886075"/>
            </a:xfrm>
            <a:custGeom>
              <a:avLst/>
              <a:gdLst/>
              <a:ahLst/>
              <a:cxnLst/>
              <a:rect r="r" b="b" t="t" l="l"/>
              <a:pathLst>
                <a:path h="2886075" w="10191750">
                  <a:moveTo>
                    <a:pt x="0" y="0"/>
                  </a:moveTo>
                  <a:lnTo>
                    <a:pt x="10191750" y="0"/>
                  </a:lnTo>
                  <a:lnTo>
                    <a:pt x="10191750" y="2886075"/>
                  </a:lnTo>
                  <a:lnTo>
                    <a:pt x="0" y="2886075"/>
                  </a:lnTo>
                  <a:lnTo>
                    <a:pt x="0" y="0"/>
                  </a:lnTo>
                  <a:close/>
                </a:path>
              </a:pathLst>
            </a:custGeom>
            <a:blipFill>
              <a:blip r:embed="rId7"/>
              <a:stretch>
                <a:fillRect l="0" t="-165" r="0" b="-165"/>
              </a:stretch>
            </a:blipFill>
          </p:spPr>
        </p:sp>
      </p:grpSp>
      <p:sp>
        <p:nvSpPr>
          <p:cNvPr name="TextBox 24" id="24"/>
          <p:cNvSpPr txBox="true"/>
          <p:nvPr/>
        </p:nvSpPr>
        <p:spPr>
          <a:xfrm rot="0">
            <a:off x="6230994" y="6629400"/>
            <a:ext cx="6503809" cy="352425"/>
          </a:xfrm>
          <a:prstGeom prst="rect">
            <a:avLst/>
          </a:prstGeom>
        </p:spPr>
        <p:txBody>
          <a:bodyPr anchor="t" rtlCol="false" tIns="0" lIns="0" bIns="0" rIns="0">
            <a:spAutoFit/>
          </a:bodyPr>
          <a:lstStyle/>
          <a:p>
            <a:pPr algn="l">
              <a:lnSpc>
                <a:spcPts val="2700"/>
              </a:lnSpc>
            </a:pPr>
            <a:r>
              <a:rPr lang="en-US" sz="2250" b="true">
                <a:solidFill>
                  <a:srgbClr val="051C2C"/>
                </a:solidFill>
                <a:latin typeface="Montserrat Bold"/>
                <a:ea typeface="Montserrat Bold"/>
                <a:cs typeface="Montserrat Bold"/>
                <a:sym typeface="Montserrat Bold"/>
              </a:rPr>
              <a:t>Mã hóa toàn diện (Encryption Everywhere)</a:t>
            </a:r>
          </a:p>
        </p:txBody>
      </p:sp>
      <p:sp>
        <p:nvSpPr>
          <p:cNvPr name="TextBox 25" id="25"/>
          <p:cNvSpPr txBox="true"/>
          <p:nvPr/>
        </p:nvSpPr>
        <p:spPr>
          <a:xfrm rot="0">
            <a:off x="5734988" y="7048500"/>
            <a:ext cx="6872288" cy="1012031"/>
          </a:xfrm>
          <a:prstGeom prst="rect">
            <a:avLst/>
          </a:prstGeom>
        </p:spPr>
        <p:txBody>
          <a:bodyPr anchor="t" rtlCol="false" tIns="0" lIns="0" bIns="0" rIns="0">
            <a:spAutoFit/>
          </a:bodyPr>
          <a:lstStyle/>
          <a:p>
            <a:pPr algn="l">
              <a:lnSpc>
                <a:spcPts val="2530"/>
              </a:lnSpc>
            </a:pPr>
            <a:r>
              <a:rPr lang="en-US" sz="1687">
                <a:solidFill>
                  <a:srgbClr val="334155"/>
                </a:solidFill>
                <a:latin typeface="Open Sans"/>
                <a:ea typeface="Open Sans"/>
                <a:cs typeface="Open Sans"/>
                <a:sym typeface="Open Sans"/>
              </a:rPr>
              <a:t>Bắt buộc mã hóa bằng thuật toán tiêu chuẩn cao cho toàn bộ luồng dữ liệu truyền tải giữa các vi dịch vụ, giữa thiết bị người dùng và máy chủ, cũng như dữ liệu được lưu trữ tĩnh trong cơ sở dữ liệu.</a:t>
            </a:r>
          </a:p>
        </p:txBody>
      </p:sp>
      <p:grpSp>
        <p:nvGrpSpPr>
          <p:cNvPr name="Group 26" id="26"/>
          <p:cNvGrpSpPr/>
          <p:nvPr/>
        </p:nvGrpSpPr>
        <p:grpSpPr>
          <a:xfrm rot="0">
            <a:off x="5734988" y="6638925"/>
            <a:ext cx="257175" cy="285750"/>
            <a:chOff x="0" y="0"/>
            <a:chExt cx="342900" cy="381000"/>
          </a:xfrm>
        </p:grpSpPr>
        <p:sp>
          <p:nvSpPr>
            <p:cNvPr name="Freeform 27" id="27" descr="image.png"/>
            <p:cNvSpPr/>
            <p:nvPr/>
          </p:nvSpPr>
          <p:spPr>
            <a:xfrm flipH="false" flipV="false" rot="0">
              <a:off x="0" y="0"/>
              <a:ext cx="342900" cy="381000"/>
            </a:xfrm>
            <a:custGeom>
              <a:avLst/>
              <a:gdLst/>
              <a:ahLst/>
              <a:cxnLst/>
              <a:rect r="r" b="b" t="t" l="l"/>
              <a:pathLst>
                <a:path h="381000" w="342900">
                  <a:moveTo>
                    <a:pt x="0" y="0"/>
                  </a:moveTo>
                  <a:lnTo>
                    <a:pt x="342900" y="0"/>
                  </a:lnTo>
                  <a:lnTo>
                    <a:pt x="342900" y="381000"/>
                  </a:lnTo>
                  <a:lnTo>
                    <a:pt x="0" y="381000"/>
                  </a:lnTo>
                  <a:lnTo>
                    <a:pt x="0" y="0"/>
                  </a:lnTo>
                  <a:close/>
                </a:path>
              </a:pathLst>
            </a:custGeom>
            <a:blipFill>
              <a:blip r:embed="rId8"/>
              <a:stretch>
                <a:fillRect l="0" t="0" r="0" b="0"/>
              </a:stretch>
            </a:blipFill>
          </p:spPr>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28700"/>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8254373"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THIẾT KẾ CÁC LỚP KIẾN TRÚC BẢO MẬT</a:t>
            </a:r>
          </a:p>
        </p:txBody>
      </p:sp>
      <p:grpSp>
        <p:nvGrpSpPr>
          <p:cNvPr name="Group 8" id="8"/>
          <p:cNvGrpSpPr/>
          <p:nvPr/>
        </p:nvGrpSpPr>
        <p:grpSpPr>
          <a:xfrm rot="0">
            <a:off x="1143000" y="2343150"/>
            <a:ext cx="16002000" cy="5393531"/>
            <a:chOff x="0" y="0"/>
            <a:chExt cx="21336000" cy="7191375"/>
          </a:xfrm>
        </p:grpSpPr>
        <p:grpSp>
          <p:nvGrpSpPr>
            <p:cNvPr name="Group 9" id="9"/>
            <p:cNvGrpSpPr/>
            <p:nvPr/>
          </p:nvGrpSpPr>
          <p:grpSpPr>
            <a:xfrm rot="0">
              <a:off x="0" y="0"/>
              <a:ext cx="10429875" cy="3357562"/>
              <a:chOff x="0" y="0"/>
              <a:chExt cx="10429875" cy="3357562"/>
            </a:xfrm>
          </p:grpSpPr>
          <p:sp>
            <p:nvSpPr>
              <p:cNvPr name="Freeform 10" id="10" descr="image.png"/>
              <p:cNvSpPr/>
              <p:nvPr/>
            </p:nvSpPr>
            <p:spPr>
              <a:xfrm flipH="false" flipV="false" rot="0">
                <a:off x="0" y="0"/>
                <a:ext cx="10429875" cy="3357499"/>
              </a:xfrm>
              <a:custGeom>
                <a:avLst/>
                <a:gdLst/>
                <a:ahLst/>
                <a:cxnLst/>
                <a:rect r="r" b="b" t="t" l="l"/>
                <a:pathLst>
                  <a:path h="3357499" w="10429875">
                    <a:moveTo>
                      <a:pt x="0" y="0"/>
                    </a:moveTo>
                    <a:lnTo>
                      <a:pt x="10429875" y="0"/>
                    </a:lnTo>
                    <a:lnTo>
                      <a:pt x="10429875" y="3357499"/>
                    </a:lnTo>
                    <a:lnTo>
                      <a:pt x="0" y="3357499"/>
                    </a:lnTo>
                    <a:lnTo>
                      <a:pt x="0" y="0"/>
                    </a:lnTo>
                    <a:close/>
                  </a:path>
                </a:pathLst>
              </a:custGeom>
              <a:blipFill>
                <a:blip r:embed="rId4"/>
                <a:stretch>
                  <a:fillRect l="0" t="-166" r="0" b="-169"/>
                </a:stretch>
              </a:blipFill>
            </p:spPr>
          </p:sp>
        </p:grpSp>
        <p:grpSp>
          <p:nvGrpSpPr>
            <p:cNvPr name="Group 11" id="11"/>
            <p:cNvGrpSpPr/>
            <p:nvPr/>
          </p:nvGrpSpPr>
          <p:grpSpPr>
            <a:xfrm rot="0">
              <a:off x="10906125" y="0"/>
              <a:ext cx="10429875" cy="3357562"/>
              <a:chOff x="0" y="0"/>
              <a:chExt cx="10429875" cy="3357562"/>
            </a:xfrm>
          </p:grpSpPr>
          <p:sp>
            <p:nvSpPr>
              <p:cNvPr name="Freeform 12" id="12" descr="image.png"/>
              <p:cNvSpPr/>
              <p:nvPr/>
            </p:nvSpPr>
            <p:spPr>
              <a:xfrm flipH="false" flipV="false" rot="0">
                <a:off x="0" y="0"/>
                <a:ext cx="10429875" cy="3357499"/>
              </a:xfrm>
              <a:custGeom>
                <a:avLst/>
                <a:gdLst/>
                <a:ahLst/>
                <a:cxnLst/>
                <a:rect r="r" b="b" t="t" l="l"/>
                <a:pathLst>
                  <a:path h="3357499" w="10429875">
                    <a:moveTo>
                      <a:pt x="0" y="0"/>
                    </a:moveTo>
                    <a:lnTo>
                      <a:pt x="10429875" y="0"/>
                    </a:lnTo>
                    <a:lnTo>
                      <a:pt x="10429875" y="3357499"/>
                    </a:lnTo>
                    <a:lnTo>
                      <a:pt x="0" y="3357499"/>
                    </a:lnTo>
                    <a:lnTo>
                      <a:pt x="0" y="0"/>
                    </a:lnTo>
                    <a:close/>
                  </a:path>
                </a:pathLst>
              </a:custGeom>
              <a:blipFill>
                <a:blip r:embed="rId5"/>
                <a:stretch>
                  <a:fillRect l="0" t="-166" r="0" b="-169"/>
                </a:stretch>
              </a:blipFill>
            </p:spPr>
          </p:sp>
        </p:grpSp>
        <p:grpSp>
          <p:nvGrpSpPr>
            <p:cNvPr name="Group 13" id="13"/>
            <p:cNvGrpSpPr/>
            <p:nvPr/>
          </p:nvGrpSpPr>
          <p:grpSpPr>
            <a:xfrm rot="0">
              <a:off x="0" y="3833812"/>
              <a:ext cx="10429875" cy="3357562"/>
              <a:chOff x="0" y="0"/>
              <a:chExt cx="10429875" cy="3357562"/>
            </a:xfrm>
          </p:grpSpPr>
          <p:sp>
            <p:nvSpPr>
              <p:cNvPr name="Freeform 14" id="14" descr="image.png"/>
              <p:cNvSpPr/>
              <p:nvPr/>
            </p:nvSpPr>
            <p:spPr>
              <a:xfrm flipH="false" flipV="false" rot="0">
                <a:off x="0" y="0"/>
                <a:ext cx="10429875" cy="3357499"/>
              </a:xfrm>
              <a:custGeom>
                <a:avLst/>
                <a:gdLst/>
                <a:ahLst/>
                <a:cxnLst/>
                <a:rect r="r" b="b" t="t" l="l"/>
                <a:pathLst>
                  <a:path h="3357499" w="10429875">
                    <a:moveTo>
                      <a:pt x="0" y="0"/>
                    </a:moveTo>
                    <a:lnTo>
                      <a:pt x="10429875" y="0"/>
                    </a:lnTo>
                    <a:lnTo>
                      <a:pt x="10429875" y="3357499"/>
                    </a:lnTo>
                    <a:lnTo>
                      <a:pt x="0" y="3357499"/>
                    </a:lnTo>
                    <a:lnTo>
                      <a:pt x="0" y="0"/>
                    </a:lnTo>
                    <a:close/>
                  </a:path>
                </a:pathLst>
              </a:custGeom>
              <a:blipFill>
                <a:blip r:embed="rId6"/>
                <a:stretch>
                  <a:fillRect l="0" t="-166" r="0" b="-169"/>
                </a:stretch>
              </a:blipFill>
            </p:spPr>
          </p:sp>
        </p:grpSp>
        <p:grpSp>
          <p:nvGrpSpPr>
            <p:cNvPr name="Group 15" id="15"/>
            <p:cNvGrpSpPr/>
            <p:nvPr/>
          </p:nvGrpSpPr>
          <p:grpSpPr>
            <a:xfrm rot="0">
              <a:off x="10906125" y="3833812"/>
              <a:ext cx="10429875" cy="3357562"/>
              <a:chOff x="0" y="0"/>
              <a:chExt cx="10429875" cy="3357562"/>
            </a:xfrm>
          </p:grpSpPr>
          <p:sp>
            <p:nvSpPr>
              <p:cNvPr name="Freeform 16" id="16" descr="image.png"/>
              <p:cNvSpPr/>
              <p:nvPr/>
            </p:nvSpPr>
            <p:spPr>
              <a:xfrm flipH="false" flipV="false" rot="0">
                <a:off x="0" y="0"/>
                <a:ext cx="10429875" cy="3357499"/>
              </a:xfrm>
              <a:custGeom>
                <a:avLst/>
                <a:gdLst/>
                <a:ahLst/>
                <a:cxnLst/>
                <a:rect r="r" b="b" t="t" l="l"/>
                <a:pathLst>
                  <a:path h="3357499" w="10429875">
                    <a:moveTo>
                      <a:pt x="0" y="0"/>
                    </a:moveTo>
                    <a:lnTo>
                      <a:pt x="10429875" y="0"/>
                    </a:lnTo>
                    <a:lnTo>
                      <a:pt x="10429875" y="3357499"/>
                    </a:lnTo>
                    <a:lnTo>
                      <a:pt x="0" y="3357499"/>
                    </a:lnTo>
                    <a:lnTo>
                      <a:pt x="0" y="0"/>
                    </a:lnTo>
                    <a:close/>
                  </a:path>
                </a:pathLst>
              </a:custGeom>
              <a:blipFill>
                <a:blip r:embed="rId7"/>
                <a:stretch>
                  <a:fillRect l="0" t="-166" r="0" b="-169"/>
                </a:stretch>
              </a:blipFill>
            </p:spPr>
          </p:sp>
        </p:grpSp>
        <p:grpSp>
          <p:nvGrpSpPr>
            <p:cNvPr name="Group 17" id="17"/>
            <p:cNvGrpSpPr/>
            <p:nvPr/>
          </p:nvGrpSpPr>
          <p:grpSpPr>
            <a:xfrm rot="0">
              <a:off x="590550" y="590550"/>
              <a:ext cx="857250" cy="857250"/>
              <a:chOff x="0" y="0"/>
              <a:chExt cx="857250" cy="857250"/>
            </a:xfrm>
          </p:grpSpPr>
          <p:sp>
            <p:nvSpPr>
              <p:cNvPr name="Freeform 18" id="18"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8"/>
                <a:stretch>
                  <a:fillRect l="0" t="0" r="0" b="0"/>
                </a:stretch>
              </a:blipFill>
            </p:spPr>
          </p:sp>
        </p:grpSp>
        <p:grpSp>
          <p:nvGrpSpPr>
            <p:cNvPr name="Group 19" id="19"/>
            <p:cNvGrpSpPr/>
            <p:nvPr/>
          </p:nvGrpSpPr>
          <p:grpSpPr>
            <a:xfrm rot="0">
              <a:off x="11496675" y="590550"/>
              <a:ext cx="857250" cy="857250"/>
              <a:chOff x="0" y="0"/>
              <a:chExt cx="857250" cy="857250"/>
            </a:xfrm>
          </p:grpSpPr>
          <p:sp>
            <p:nvSpPr>
              <p:cNvPr name="Freeform 20" id="20"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9"/>
                <a:stretch>
                  <a:fillRect l="-1111" t="0" r="-1111" b="0"/>
                </a:stretch>
              </a:blipFill>
            </p:spPr>
          </p:sp>
        </p:grpSp>
        <p:grpSp>
          <p:nvGrpSpPr>
            <p:cNvPr name="Group 21" id="21"/>
            <p:cNvGrpSpPr/>
            <p:nvPr/>
          </p:nvGrpSpPr>
          <p:grpSpPr>
            <a:xfrm rot="0">
              <a:off x="590550" y="4424362"/>
              <a:ext cx="857250" cy="857250"/>
              <a:chOff x="0" y="0"/>
              <a:chExt cx="857250" cy="857250"/>
            </a:xfrm>
          </p:grpSpPr>
          <p:sp>
            <p:nvSpPr>
              <p:cNvPr name="Freeform 22" id="22"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10"/>
                <a:stretch>
                  <a:fillRect l="0" t="-1111" r="0" b="-1111"/>
                </a:stretch>
              </a:blipFill>
            </p:spPr>
          </p:sp>
        </p:grpSp>
        <p:grpSp>
          <p:nvGrpSpPr>
            <p:cNvPr name="Group 23" id="23"/>
            <p:cNvGrpSpPr/>
            <p:nvPr/>
          </p:nvGrpSpPr>
          <p:grpSpPr>
            <a:xfrm rot="0">
              <a:off x="11496675" y="4424362"/>
              <a:ext cx="857250" cy="857250"/>
              <a:chOff x="0" y="0"/>
              <a:chExt cx="857250" cy="857250"/>
            </a:xfrm>
          </p:grpSpPr>
          <p:sp>
            <p:nvSpPr>
              <p:cNvPr name="Freeform 24" id="24"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11"/>
                <a:stretch>
                  <a:fillRect l="0" t="0" r="0" b="0"/>
                </a:stretch>
              </a:blipFill>
            </p:spPr>
          </p:sp>
        </p:grpSp>
        <p:grpSp>
          <p:nvGrpSpPr>
            <p:cNvPr name="Group 25" id="25"/>
            <p:cNvGrpSpPr/>
            <p:nvPr/>
          </p:nvGrpSpPr>
          <p:grpSpPr>
            <a:xfrm rot="0">
              <a:off x="781050" y="828675"/>
              <a:ext cx="476250" cy="381000"/>
              <a:chOff x="0" y="0"/>
              <a:chExt cx="476250" cy="381000"/>
            </a:xfrm>
          </p:grpSpPr>
          <p:sp>
            <p:nvSpPr>
              <p:cNvPr name="Freeform 26" id="26" descr="image.png"/>
              <p:cNvSpPr/>
              <p:nvPr/>
            </p:nvSpPr>
            <p:spPr>
              <a:xfrm flipH="false" flipV="false" rot="0">
                <a:off x="0" y="0"/>
                <a:ext cx="476250" cy="381000"/>
              </a:xfrm>
              <a:custGeom>
                <a:avLst/>
                <a:gdLst/>
                <a:ahLst/>
                <a:cxnLst/>
                <a:rect r="r" b="b" t="t" l="l"/>
                <a:pathLst>
                  <a:path h="381000" w="476250">
                    <a:moveTo>
                      <a:pt x="0" y="0"/>
                    </a:moveTo>
                    <a:lnTo>
                      <a:pt x="476250" y="0"/>
                    </a:lnTo>
                    <a:lnTo>
                      <a:pt x="476250" y="381000"/>
                    </a:lnTo>
                    <a:lnTo>
                      <a:pt x="0" y="381000"/>
                    </a:lnTo>
                    <a:lnTo>
                      <a:pt x="0" y="0"/>
                    </a:lnTo>
                    <a:close/>
                  </a:path>
                </a:pathLst>
              </a:custGeom>
              <a:blipFill>
                <a:blip r:embed="rId12"/>
                <a:stretch>
                  <a:fillRect l="0" t="-2500" r="0" b="-2500"/>
                </a:stretch>
              </a:blipFill>
            </p:spPr>
          </p:sp>
        </p:grpSp>
        <p:sp>
          <p:nvSpPr>
            <p:cNvPr name="TextBox 27" id="27"/>
            <p:cNvSpPr txBox="true"/>
            <p:nvPr/>
          </p:nvSpPr>
          <p:spPr>
            <a:xfrm rot="0">
              <a:off x="1828800" y="476250"/>
              <a:ext cx="8411045" cy="489344"/>
            </a:xfrm>
            <a:prstGeom prst="rect">
              <a:avLst/>
            </a:prstGeom>
          </p:spPr>
          <p:txBody>
            <a:bodyPr anchor="t" rtlCol="false" tIns="0" lIns="0" bIns="0" rIns="0">
              <a:spAutoFit/>
            </a:bodyPr>
            <a:lstStyle/>
            <a:p>
              <a:pPr algn="l">
                <a:lnSpc>
                  <a:spcPts val="2778"/>
                </a:lnSpc>
              </a:pPr>
              <a:r>
                <a:rPr lang="en-US" sz="2137" b="true">
                  <a:solidFill>
                    <a:srgbClr val="051C2C"/>
                  </a:solidFill>
                  <a:latin typeface="Montserrat Bold"/>
                  <a:ea typeface="Montserrat Bold"/>
                  <a:cs typeface="Montserrat Bold"/>
                  <a:sym typeface="Montserrat Bold"/>
                </a:rPr>
                <a:t>Bảo Mật Hạ Tầng &amp; Mạng</a:t>
              </a:r>
            </a:p>
          </p:txBody>
        </p:sp>
        <p:sp>
          <p:nvSpPr>
            <p:cNvPr name="TextBox 28" id="28"/>
            <p:cNvSpPr txBox="true"/>
            <p:nvPr/>
          </p:nvSpPr>
          <p:spPr>
            <a:xfrm rot="0">
              <a:off x="1828800" y="1089419"/>
              <a:ext cx="8010525" cy="1772844"/>
            </a:xfrm>
            <a:prstGeom prst="rect">
              <a:avLst/>
            </a:prstGeom>
          </p:spPr>
          <p:txBody>
            <a:bodyPr anchor="t" rtlCol="false" tIns="0" lIns="0" bIns="0" rIns="0">
              <a:spAutoFit/>
            </a:bodyPr>
            <a:lstStyle/>
            <a:p>
              <a:pPr algn="l">
                <a:lnSpc>
                  <a:spcPts val="2518"/>
                </a:lnSpc>
              </a:pPr>
              <a:r>
                <a:rPr lang="en-US" sz="1575">
                  <a:solidFill>
                    <a:srgbClr val="475569"/>
                  </a:solidFill>
                  <a:latin typeface="Open Sans"/>
                  <a:ea typeface="Open Sans"/>
                  <a:cs typeface="Open Sans"/>
                  <a:sym typeface="Open Sans"/>
                </a:rPr>
                <a:t>Triển khai Tường lửa và phân tách mạng thành các vùng biệt lập. Vận hành hệ thống CRM và Tồn kho tại phân vùng an ninh cao nhất. Sử dụng IDS/IPS để liên tục phân tích gói dữ liệu, tự động chặn lưu lượng vi phạm.</a:t>
              </a:r>
            </a:p>
          </p:txBody>
        </p:sp>
        <p:grpSp>
          <p:nvGrpSpPr>
            <p:cNvPr name="Group 29" id="29"/>
            <p:cNvGrpSpPr/>
            <p:nvPr/>
          </p:nvGrpSpPr>
          <p:grpSpPr>
            <a:xfrm rot="0">
              <a:off x="11687175" y="828675"/>
              <a:ext cx="476250" cy="381000"/>
              <a:chOff x="0" y="0"/>
              <a:chExt cx="476250" cy="381000"/>
            </a:xfrm>
          </p:grpSpPr>
          <p:sp>
            <p:nvSpPr>
              <p:cNvPr name="Freeform 30" id="30" descr="image.png"/>
              <p:cNvSpPr/>
              <p:nvPr/>
            </p:nvSpPr>
            <p:spPr>
              <a:xfrm flipH="false" flipV="false" rot="0">
                <a:off x="0" y="0"/>
                <a:ext cx="476250" cy="381000"/>
              </a:xfrm>
              <a:custGeom>
                <a:avLst/>
                <a:gdLst/>
                <a:ahLst/>
                <a:cxnLst/>
                <a:rect r="r" b="b" t="t" l="l"/>
                <a:pathLst>
                  <a:path h="381000" w="476250">
                    <a:moveTo>
                      <a:pt x="0" y="0"/>
                    </a:moveTo>
                    <a:lnTo>
                      <a:pt x="476250" y="0"/>
                    </a:lnTo>
                    <a:lnTo>
                      <a:pt x="476250" y="381000"/>
                    </a:lnTo>
                    <a:lnTo>
                      <a:pt x="0" y="381000"/>
                    </a:lnTo>
                    <a:lnTo>
                      <a:pt x="0" y="0"/>
                    </a:lnTo>
                    <a:close/>
                  </a:path>
                </a:pathLst>
              </a:custGeom>
              <a:blipFill>
                <a:blip r:embed="rId13"/>
                <a:stretch>
                  <a:fillRect l="0" t="-479" r="0" b="-480"/>
                </a:stretch>
              </a:blipFill>
            </p:spPr>
          </p:sp>
        </p:grpSp>
        <p:sp>
          <p:nvSpPr>
            <p:cNvPr name="TextBox 31" id="31"/>
            <p:cNvSpPr txBox="true"/>
            <p:nvPr/>
          </p:nvSpPr>
          <p:spPr>
            <a:xfrm rot="0">
              <a:off x="12734925" y="476250"/>
              <a:ext cx="8411045" cy="489344"/>
            </a:xfrm>
            <a:prstGeom prst="rect">
              <a:avLst/>
            </a:prstGeom>
          </p:spPr>
          <p:txBody>
            <a:bodyPr anchor="t" rtlCol="false" tIns="0" lIns="0" bIns="0" rIns="0">
              <a:spAutoFit/>
            </a:bodyPr>
            <a:lstStyle/>
            <a:p>
              <a:pPr algn="l">
                <a:lnSpc>
                  <a:spcPts val="2778"/>
                </a:lnSpc>
              </a:pPr>
              <a:r>
                <a:rPr lang="en-US" sz="2137" b="true">
                  <a:solidFill>
                    <a:srgbClr val="051C2C"/>
                  </a:solidFill>
                  <a:latin typeface="Montserrat Bold"/>
                  <a:ea typeface="Montserrat Bold"/>
                  <a:cs typeface="Montserrat Bold"/>
                  <a:sym typeface="Montserrat Bold"/>
                </a:rPr>
                <a:t>Bảo Mật Ứng Dụng &amp; API</a:t>
              </a:r>
            </a:p>
          </p:txBody>
        </p:sp>
        <p:sp>
          <p:nvSpPr>
            <p:cNvPr name="TextBox 32" id="32"/>
            <p:cNvSpPr txBox="true"/>
            <p:nvPr/>
          </p:nvSpPr>
          <p:spPr>
            <a:xfrm rot="0">
              <a:off x="12734925" y="1089419"/>
              <a:ext cx="8010525" cy="1772844"/>
            </a:xfrm>
            <a:prstGeom prst="rect">
              <a:avLst/>
            </a:prstGeom>
          </p:spPr>
          <p:txBody>
            <a:bodyPr anchor="t" rtlCol="false" tIns="0" lIns="0" bIns="0" rIns="0">
              <a:spAutoFit/>
            </a:bodyPr>
            <a:lstStyle/>
            <a:p>
              <a:pPr algn="l">
                <a:lnSpc>
                  <a:spcPts val="2518"/>
                </a:lnSpc>
              </a:pPr>
              <a:r>
                <a:rPr lang="en-US" sz="1575">
                  <a:solidFill>
                    <a:srgbClr val="475569"/>
                  </a:solidFill>
                  <a:latin typeface="Open Sans"/>
                  <a:ea typeface="Open Sans"/>
                  <a:cs typeface="Open Sans"/>
                  <a:sym typeface="Open Sans"/>
                </a:rPr>
                <a:t>Sử dụng Tường lửa Ứng dụng Web (WAF) chống SQL Injection/XSS. Phân hệ API Security bắt buộc sử dụng mã thông báo xác thực cho mọi giao dịch. Tích hợp đánh giá mã nguồn (Code Review) vào vòng đời phát triển phần mềm.</a:t>
              </a:r>
            </a:p>
          </p:txBody>
        </p:sp>
        <p:grpSp>
          <p:nvGrpSpPr>
            <p:cNvPr name="Group 33" id="33"/>
            <p:cNvGrpSpPr/>
            <p:nvPr/>
          </p:nvGrpSpPr>
          <p:grpSpPr>
            <a:xfrm rot="0">
              <a:off x="828675" y="4662488"/>
              <a:ext cx="381000" cy="381000"/>
              <a:chOff x="0" y="0"/>
              <a:chExt cx="381000" cy="381000"/>
            </a:xfrm>
          </p:grpSpPr>
          <p:sp>
            <p:nvSpPr>
              <p:cNvPr name="Freeform 34" id="34" descr="image.png"/>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14"/>
                <a:stretch>
                  <a:fillRect l="0" t="0" r="0" b="0"/>
                </a:stretch>
              </a:blipFill>
            </p:spPr>
          </p:sp>
        </p:grpSp>
        <p:sp>
          <p:nvSpPr>
            <p:cNvPr name="TextBox 35" id="35"/>
            <p:cNvSpPr txBox="true"/>
            <p:nvPr/>
          </p:nvSpPr>
          <p:spPr>
            <a:xfrm rot="0">
              <a:off x="1828800" y="4310062"/>
              <a:ext cx="8411045" cy="489344"/>
            </a:xfrm>
            <a:prstGeom prst="rect">
              <a:avLst/>
            </a:prstGeom>
          </p:spPr>
          <p:txBody>
            <a:bodyPr anchor="t" rtlCol="false" tIns="0" lIns="0" bIns="0" rIns="0">
              <a:spAutoFit/>
            </a:bodyPr>
            <a:lstStyle/>
            <a:p>
              <a:pPr algn="l">
                <a:lnSpc>
                  <a:spcPts val="2778"/>
                </a:lnSpc>
              </a:pPr>
              <a:r>
                <a:rPr lang="en-US" sz="2137" b="true">
                  <a:solidFill>
                    <a:srgbClr val="051C2C"/>
                  </a:solidFill>
                  <a:latin typeface="Montserrat Bold"/>
                  <a:ea typeface="Montserrat Bold"/>
                  <a:cs typeface="Montserrat Bold"/>
                  <a:sym typeface="Montserrat Bold"/>
                </a:rPr>
                <a:t>Bảo Mật Dữ Liệu</a:t>
              </a:r>
            </a:p>
          </p:txBody>
        </p:sp>
        <p:sp>
          <p:nvSpPr>
            <p:cNvPr name="TextBox 36" id="36"/>
            <p:cNvSpPr txBox="true"/>
            <p:nvPr/>
          </p:nvSpPr>
          <p:spPr>
            <a:xfrm rot="0">
              <a:off x="1828800" y="4923231"/>
              <a:ext cx="8010525" cy="1772844"/>
            </a:xfrm>
            <a:prstGeom prst="rect">
              <a:avLst/>
            </a:prstGeom>
          </p:spPr>
          <p:txBody>
            <a:bodyPr anchor="t" rtlCol="false" tIns="0" lIns="0" bIns="0" rIns="0">
              <a:spAutoFit/>
            </a:bodyPr>
            <a:lstStyle/>
            <a:p>
              <a:pPr algn="l">
                <a:lnSpc>
                  <a:spcPts val="2518"/>
                </a:lnSpc>
              </a:pPr>
              <a:r>
                <a:rPr lang="en-US" sz="1575">
                  <a:solidFill>
                    <a:srgbClr val="475569"/>
                  </a:solidFill>
                  <a:latin typeface="Open Sans"/>
                  <a:ea typeface="Open Sans"/>
                  <a:cs typeface="Open Sans"/>
                  <a:sym typeface="Open Sans"/>
                </a:rPr>
                <a:t>Mã hóa dữ liệu đầu cuối cho thanh toán. Tích hợp cơ chế Phòng chống thất thoát dữ liệu (DLP) nhằm từ chối hành vi sao chép trái phép. Thiết lập quy trình Sao lưu và Khôi phục thảm họa (Disaster Recovery) tự động.</a:t>
              </a:r>
            </a:p>
          </p:txBody>
        </p:sp>
        <p:grpSp>
          <p:nvGrpSpPr>
            <p:cNvPr name="Group 37" id="37"/>
            <p:cNvGrpSpPr/>
            <p:nvPr/>
          </p:nvGrpSpPr>
          <p:grpSpPr>
            <a:xfrm rot="0">
              <a:off x="11706225" y="4662488"/>
              <a:ext cx="438150" cy="381000"/>
              <a:chOff x="0" y="0"/>
              <a:chExt cx="438150" cy="381000"/>
            </a:xfrm>
          </p:grpSpPr>
          <p:sp>
            <p:nvSpPr>
              <p:cNvPr name="Freeform 38" id="38" descr="image.png"/>
              <p:cNvSpPr/>
              <p:nvPr/>
            </p:nvSpPr>
            <p:spPr>
              <a:xfrm flipH="false" flipV="false" rot="0">
                <a:off x="0" y="0"/>
                <a:ext cx="438150" cy="381000"/>
              </a:xfrm>
              <a:custGeom>
                <a:avLst/>
                <a:gdLst/>
                <a:ahLst/>
                <a:cxnLst/>
                <a:rect r="r" b="b" t="t" l="l"/>
                <a:pathLst>
                  <a:path h="381000" w="438150">
                    <a:moveTo>
                      <a:pt x="0" y="0"/>
                    </a:moveTo>
                    <a:lnTo>
                      <a:pt x="438150" y="0"/>
                    </a:lnTo>
                    <a:lnTo>
                      <a:pt x="438150" y="381000"/>
                    </a:lnTo>
                    <a:lnTo>
                      <a:pt x="0" y="381000"/>
                    </a:lnTo>
                    <a:lnTo>
                      <a:pt x="0" y="0"/>
                    </a:lnTo>
                    <a:close/>
                  </a:path>
                </a:pathLst>
              </a:custGeom>
              <a:blipFill>
                <a:blip r:embed="rId15"/>
                <a:stretch>
                  <a:fillRect l="0" t="-313" r="0" b="-313"/>
                </a:stretch>
              </a:blipFill>
            </p:spPr>
          </p:sp>
        </p:grpSp>
        <p:sp>
          <p:nvSpPr>
            <p:cNvPr name="TextBox 39" id="39"/>
            <p:cNvSpPr txBox="true"/>
            <p:nvPr/>
          </p:nvSpPr>
          <p:spPr>
            <a:xfrm rot="0">
              <a:off x="12734925" y="4310062"/>
              <a:ext cx="8411045" cy="489344"/>
            </a:xfrm>
            <a:prstGeom prst="rect">
              <a:avLst/>
            </a:prstGeom>
          </p:spPr>
          <p:txBody>
            <a:bodyPr anchor="t" rtlCol="false" tIns="0" lIns="0" bIns="0" rIns="0">
              <a:spAutoFit/>
            </a:bodyPr>
            <a:lstStyle/>
            <a:p>
              <a:pPr algn="l">
                <a:lnSpc>
                  <a:spcPts val="2778"/>
                </a:lnSpc>
              </a:pPr>
              <a:r>
                <a:rPr lang="en-US" sz="2137" b="true">
                  <a:solidFill>
                    <a:srgbClr val="051C2C"/>
                  </a:solidFill>
                  <a:latin typeface="Montserrat Bold"/>
                  <a:ea typeface="Montserrat Bold"/>
                  <a:cs typeface="Montserrat Bold"/>
                  <a:sym typeface="Montserrat Bold"/>
                </a:rPr>
                <a:t>Quản Lý IAM &amp; Giám Sát SIEM</a:t>
              </a:r>
            </a:p>
          </p:txBody>
        </p:sp>
        <p:sp>
          <p:nvSpPr>
            <p:cNvPr name="TextBox 40" id="40"/>
            <p:cNvSpPr txBox="true"/>
            <p:nvPr/>
          </p:nvSpPr>
          <p:spPr>
            <a:xfrm rot="0">
              <a:off x="12734925" y="4923231"/>
              <a:ext cx="8010525" cy="1772844"/>
            </a:xfrm>
            <a:prstGeom prst="rect">
              <a:avLst/>
            </a:prstGeom>
          </p:spPr>
          <p:txBody>
            <a:bodyPr anchor="t" rtlCol="false" tIns="0" lIns="0" bIns="0" rIns="0">
              <a:spAutoFit/>
            </a:bodyPr>
            <a:lstStyle/>
            <a:p>
              <a:pPr algn="l">
                <a:lnSpc>
                  <a:spcPts val="2518"/>
                </a:lnSpc>
              </a:pPr>
              <a:r>
                <a:rPr lang="en-US" sz="1575">
                  <a:solidFill>
                    <a:srgbClr val="475569"/>
                  </a:solidFill>
                  <a:latin typeface="Open Sans"/>
                  <a:ea typeface="Open Sans"/>
                  <a:cs typeface="Open Sans"/>
                  <a:sym typeface="Open Sans"/>
                </a:rPr>
                <a:t>Bắt buộc Xác thực đa yếu tố (MFA) cho giao dịch nhạy cảm. Áp dụng Kiểm soát quyền theo vai trò (RBAC) tập trung. Hệ thống SIEM thu thập nhật ký hoạt động, dùng Big Data phát hiện và cảnh báo hành vi bất thường ngay lập tức.</a:t>
              </a:r>
            </a:p>
          </p:txBody>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28700"/>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Freeform 7" id="7"/>
          <p:cNvSpPr/>
          <p:nvPr/>
        </p:nvSpPr>
        <p:spPr>
          <a:xfrm flipH="false" flipV="false" rot="0">
            <a:off x="1229934" y="2408201"/>
            <a:ext cx="16029366" cy="5540149"/>
          </a:xfrm>
          <a:custGeom>
            <a:avLst/>
            <a:gdLst/>
            <a:ahLst/>
            <a:cxnLst/>
            <a:rect r="r" b="b" t="t" l="l"/>
            <a:pathLst>
              <a:path h="5540149" w="16029366">
                <a:moveTo>
                  <a:pt x="0" y="0"/>
                </a:moveTo>
                <a:lnTo>
                  <a:pt x="16029366" y="0"/>
                </a:lnTo>
                <a:lnTo>
                  <a:pt x="16029366" y="5540150"/>
                </a:lnTo>
                <a:lnTo>
                  <a:pt x="0" y="5540150"/>
                </a:lnTo>
                <a:lnTo>
                  <a:pt x="0" y="0"/>
                </a:lnTo>
                <a:close/>
              </a:path>
            </a:pathLst>
          </a:custGeom>
          <a:blipFill>
            <a:blip r:embed="rId4"/>
            <a:stretch>
              <a:fillRect l="0" t="0" r="0" b="0"/>
            </a:stretch>
          </a:blipFill>
        </p:spPr>
      </p:sp>
      <p:sp>
        <p:nvSpPr>
          <p:cNvPr name="TextBox 8" id="8"/>
          <p:cNvSpPr txBox="true"/>
          <p:nvPr/>
        </p:nvSpPr>
        <p:spPr>
          <a:xfrm rot="0">
            <a:off x="3547062" y="498662"/>
            <a:ext cx="8254373"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 KIẾN TRÚC BẢO MẬT</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000" y="1039667"/>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sz="2182" b="true">
                <a:solidFill>
                  <a:srgbClr val="FAA61A"/>
                </a:solidFill>
                <a:latin typeface="Montserrat Bold"/>
                <a:ea typeface="Montserrat Bold"/>
                <a:cs typeface="Montserrat Bold"/>
                <a:sym typeface="Montserrat Bold"/>
              </a:rPr>
              <a:t>NỘI DUNG THUYẾT TRÌNH</a:t>
            </a:r>
          </a:p>
        </p:txBody>
      </p:sp>
      <p:sp>
        <p:nvSpPr>
          <p:cNvPr name="TextBox 8" id="8"/>
          <p:cNvSpPr txBox="true"/>
          <p:nvPr/>
        </p:nvSpPr>
        <p:spPr>
          <a:xfrm rot="0">
            <a:off x="3547062" y="4345915"/>
            <a:ext cx="12221785" cy="488059"/>
          </a:xfrm>
          <a:prstGeom prst="rect">
            <a:avLst/>
          </a:prstGeom>
        </p:spPr>
        <p:txBody>
          <a:bodyPr anchor="t" rtlCol="false" tIns="0" lIns="0" bIns="0" rIns="0">
            <a:spAutoFit/>
          </a:bodyPr>
          <a:lstStyle/>
          <a:p>
            <a:pPr algn="ctr" marL="0" indent="0" lvl="0">
              <a:lnSpc>
                <a:spcPts val="4041"/>
              </a:lnSpc>
              <a:spcBef>
                <a:spcPct val="0"/>
              </a:spcBef>
            </a:pPr>
            <a:r>
              <a:rPr lang="en-US" b="true" sz="2882">
                <a:solidFill>
                  <a:srgbClr val="FBFBFC"/>
                </a:solidFill>
                <a:latin typeface="Montserrat Bold"/>
                <a:ea typeface="Montserrat Bold"/>
                <a:cs typeface="Montserrat Bold"/>
                <a:sym typeface="Montserrat Bold"/>
              </a:rPr>
              <a:t>Đề Xuất</a:t>
            </a:r>
            <a:r>
              <a:rPr lang="en-US" b="true" sz="2882" strike="noStrike" u="none">
                <a:solidFill>
                  <a:srgbClr val="FBFBFC"/>
                </a:solidFill>
                <a:latin typeface="Montserrat Bold"/>
                <a:ea typeface="Montserrat Bold"/>
                <a:cs typeface="Montserrat Bold"/>
                <a:sym typeface="Montserrat Bold"/>
              </a:rPr>
              <a:t> Lộ Trình Triển Khai</a:t>
            </a:r>
          </a:p>
        </p:txBody>
      </p:sp>
      <p:grpSp>
        <p:nvGrpSpPr>
          <p:cNvPr name="Group 9" id="9"/>
          <p:cNvGrpSpPr/>
          <p:nvPr/>
        </p:nvGrpSpPr>
        <p:grpSpPr>
          <a:xfrm rot="0">
            <a:off x="9512554" y="3462524"/>
            <a:ext cx="642938" cy="642938"/>
            <a:chOff x="0" y="0"/>
            <a:chExt cx="857250" cy="857250"/>
          </a:xfrm>
        </p:grpSpPr>
        <p:sp>
          <p:nvSpPr>
            <p:cNvPr name="Freeform 10" id="10"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4"/>
              <a:stretch>
                <a:fillRect l="0" t="0" r="0" b="0"/>
              </a:stretch>
            </a:blipFill>
          </p:spPr>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000" y="1039667"/>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573563"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LỘ TRÌNH TRIỂN KHAI KIẾN TRÚC THEO GIAI ĐOẠN</a:t>
            </a:r>
          </a:p>
        </p:txBody>
      </p:sp>
      <p:grpSp>
        <p:nvGrpSpPr>
          <p:cNvPr name="Group 8" id="8"/>
          <p:cNvGrpSpPr/>
          <p:nvPr/>
        </p:nvGrpSpPr>
        <p:grpSpPr>
          <a:xfrm rot="0">
            <a:off x="1078106" y="5336476"/>
            <a:ext cx="16002000" cy="85725"/>
            <a:chOff x="0" y="0"/>
            <a:chExt cx="21336000" cy="114300"/>
          </a:xfrm>
        </p:grpSpPr>
        <p:sp>
          <p:nvSpPr>
            <p:cNvPr name="Freeform 9" id="9"/>
            <p:cNvSpPr/>
            <p:nvPr/>
          </p:nvSpPr>
          <p:spPr>
            <a:xfrm flipH="false" flipV="false" rot="0">
              <a:off x="0" y="0"/>
              <a:ext cx="21336000" cy="114300"/>
            </a:xfrm>
            <a:custGeom>
              <a:avLst/>
              <a:gdLst/>
              <a:ahLst/>
              <a:cxnLst/>
              <a:rect r="r" b="b" t="t" l="l"/>
              <a:pathLst>
                <a:path h="114300" w="21336000">
                  <a:moveTo>
                    <a:pt x="0" y="0"/>
                  </a:moveTo>
                  <a:lnTo>
                    <a:pt x="21336000" y="0"/>
                  </a:lnTo>
                  <a:lnTo>
                    <a:pt x="21336000" y="114300"/>
                  </a:lnTo>
                  <a:lnTo>
                    <a:pt x="0" y="114300"/>
                  </a:lnTo>
                  <a:close/>
                </a:path>
              </a:pathLst>
            </a:custGeom>
            <a:solidFill>
              <a:srgbClr val="E2E8F0"/>
            </a:solidFill>
          </p:spPr>
        </p:sp>
      </p:grpSp>
      <p:grpSp>
        <p:nvGrpSpPr>
          <p:cNvPr name="Group 10" id="10"/>
          <p:cNvGrpSpPr/>
          <p:nvPr/>
        </p:nvGrpSpPr>
        <p:grpSpPr>
          <a:xfrm rot="0">
            <a:off x="1879058" y="1852172"/>
            <a:ext cx="3927403" cy="3964876"/>
            <a:chOff x="0" y="0"/>
            <a:chExt cx="5236537" cy="5286501"/>
          </a:xfrm>
        </p:grpSpPr>
        <p:grpSp>
          <p:nvGrpSpPr>
            <p:cNvPr name="Group 11" id="11"/>
            <p:cNvGrpSpPr/>
            <p:nvPr/>
          </p:nvGrpSpPr>
          <p:grpSpPr>
            <a:xfrm rot="0">
              <a:off x="0" y="0"/>
              <a:ext cx="5236537" cy="4539905"/>
              <a:chOff x="0" y="0"/>
              <a:chExt cx="6613919" cy="5734050"/>
            </a:xfrm>
          </p:grpSpPr>
          <p:sp>
            <p:nvSpPr>
              <p:cNvPr name="Freeform 12" id="12" descr="image.png"/>
              <p:cNvSpPr/>
              <p:nvPr/>
            </p:nvSpPr>
            <p:spPr>
              <a:xfrm flipH="false" flipV="false" rot="0">
                <a:off x="0" y="0"/>
                <a:ext cx="6613906" cy="5734050"/>
              </a:xfrm>
              <a:custGeom>
                <a:avLst/>
                <a:gdLst/>
                <a:ahLst/>
                <a:cxnLst/>
                <a:rect r="r" b="b" t="t" l="l"/>
                <a:pathLst>
                  <a:path h="5734050" w="6613906">
                    <a:moveTo>
                      <a:pt x="0" y="0"/>
                    </a:moveTo>
                    <a:lnTo>
                      <a:pt x="6613906" y="0"/>
                    </a:lnTo>
                    <a:lnTo>
                      <a:pt x="6613906" y="5734050"/>
                    </a:lnTo>
                    <a:lnTo>
                      <a:pt x="0" y="5734050"/>
                    </a:lnTo>
                    <a:lnTo>
                      <a:pt x="0" y="0"/>
                    </a:lnTo>
                    <a:close/>
                  </a:path>
                </a:pathLst>
              </a:custGeom>
              <a:blipFill>
                <a:blip r:embed="rId4"/>
                <a:stretch>
                  <a:fillRect l="-116" t="0" r="-117" b="0"/>
                </a:stretch>
              </a:blipFill>
            </p:spPr>
          </p:sp>
        </p:grpSp>
        <p:grpSp>
          <p:nvGrpSpPr>
            <p:cNvPr name="Group 13" id="13"/>
            <p:cNvGrpSpPr/>
            <p:nvPr/>
          </p:nvGrpSpPr>
          <p:grpSpPr>
            <a:xfrm rot="0">
              <a:off x="982259" y="392151"/>
              <a:ext cx="3272010" cy="361986"/>
              <a:chOff x="0" y="0"/>
              <a:chExt cx="4132656" cy="457200"/>
            </a:xfrm>
          </p:grpSpPr>
          <p:sp>
            <p:nvSpPr>
              <p:cNvPr name="Freeform 14" id="14" descr="image.png"/>
              <p:cNvSpPr/>
              <p:nvPr/>
            </p:nvSpPr>
            <p:spPr>
              <a:xfrm flipH="false" flipV="false" rot="0">
                <a:off x="0" y="0"/>
                <a:ext cx="4132707" cy="457200"/>
              </a:xfrm>
              <a:custGeom>
                <a:avLst/>
                <a:gdLst/>
                <a:ahLst/>
                <a:cxnLst/>
                <a:rect r="r" b="b" t="t" l="l"/>
                <a:pathLst>
                  <a:path h="457200" w="4132707">
                    <a:moveTo>
                      <a:pt x="0" y="0"/>
                    </a:moveTo>
                    <a:lnTo>
                      <a:pt x="4132707" y="0"/>
                    </a:lnTo>
                    <a:lnTo>
                      <a:pt x="4132707" y="457200"/>
                    </a:lnTo>
                    <a:lnTo>
                      <a:pt x="0" y="457200"/>
                    </a:lnTo>
                    <a:lnTo>
                      <a:pt x="0" y="0"/>
                    </a:lnTo>
                    <a:close/>
                  </a:path>
                </a:pathLst>
              </a:custGeom>
              <a:blipFill>
                <a:blip r:embed="rId5"/>
                <a:stretch>
                  <a:fillRect l="-244" t="0" r="-243" b="0"/>
                </a:stretch>
              </a:blipFill>
            </p:spPr>
          </p:sp>
        </p:grpSp>
        <p:sp>
          <p:nvSpPr>
            <p:cNvPr name="TextBox 15" id="15"/>
            <p:cNvSpPr txBox="true"/>
            <p:nvPr/>
          </p:nvSpPr>
          <p:spPr>
            <a:xfrm rot="0">
              <a:off x="280841" y="935130"/>
              <a:ext cx="4674845" cy="361986"/>
            </a:xfrm>
            <a:prstGeom prst="rect">
              <a:avLst/>
            </a:prstGeom>
          </p:spPr>
          <p:txBody>
            <a:bodyPr anchor="t" rtlCol="false" tIns="0" lIns="0" bIns="0" rIns="0">
              <a:spAutoFit/>
            </a:bodyPr>
            <a:lstStyle/>
            <a:p>
              <a:pPr algn="ctr">
                <a:lnSpc>
                  <a:spcPts val="2137"/>
                </a:lnSpc>
              </a:pPr>
              <a:r>
                <a:rPr lang="en-US" sz="1781" b="true">
                  <a:solidFill>
                    <a:srgbClr val="1F70C1"/>
                  </a:solidFill>
                  <a:latin typeface="Montserrat Bold"/>
                  <a:ea typeface="Montserrat Bold"/>
                  <a:cs typeface="Montserrat Bold"/>
                  <a:sym typeface="Montserrat Bold"/>
                </a:rPr>
                <a:t>Đồng bộ Dữ liệu Tồn kho</a:t>
              </a:r>
            </a:p>
          </p:txBody>
        </p:sp>
        <p:sp>
          <p:nvSpPr>
            <p:cNvPr name="TextBox 16" id="16"/>
            <p:cNvSpPr txBox="true"/>
            <p:nvPr/>
          </p:nvSpPr>
          <p:spPr>
            <a:xfrm rot="0">
              <a:off x="392151" y="1430484"/>
              <a:ext cx="4452234" cy="2672022"/>
            </a:xfrm>
            <a:prstGeom prst="rect">
              <a:avLst/>
            </a:prstGeom>
          </p:spPr>
          <p:txBody>
            <a:bodyPr anchor="t" rtlCol="false" tIns="0" lIns="0" bIns="0" rIns="0">
              <a:spAutoFit/>
            </a:bodyPr>
            <a:lstStyle/>
            <a:p>
              <a:pPr algn="l">
                <a:lnSpc>
                  <a:spcPts val="1937"/>
                </a:lnSpc>
              </a:pPr>
              <a:r>
                <a:rPr lang="en-US" sz="1290" b="true">
                  <a:solidFill>
                    <a:srgbClr val="475569"/>
                  </a:solidFill>
                  <a:latin typeface="Open Sans Bold"/>
                  <a:ea typeface="Open Sans Bold"/>
                  <a:cs typeface="Open Sans Bold"/>
                  <a:sym typeface="Open Sans Bold"/>
                </a:rPr>
                <a:t>Mục tiêu:</a:t>
              </a:r>
              <a:r>
                <a:rPr lang="en-US" sz="1290">
                  <a:solidFill>
                    <a:srgbClr val="475569"/>
                  </a:solidFill>
                  <a:latin typeface="Open Sans"/>
                  <a:ea typeface="Open Sans"/>
                  <a:cs typeface="Open Sans"/>
                  <a:sym typeface="Open Sans"/>
                </a:rPr>
                <a:t> Giải quyết triệt để lỗi cấp phát trùng (Overbooking).</a:t>
              </a:r>
            </a:p>
            <a:p>
              <a:pPr algn="l">
                <a:lnSpc>
                  <a:spcPts val="1937"/>
                </a:lnSpc>
              </a:pPr>
            </a:p>
            <a:p>
              <a:pPr algn="l">
                <a:lnSpc>
                  <a:spcPts val="1937"/>
                </a:lnSpc>
              </a:pPr>
              <a:r>
                <a:rPr lang="en-US" sz="1290" b="true">
                  <a:solidFill>
                    <a:srgbClr val="475569"/>
                  </a:solidFill>
                  <a:latin typeface="Open Sans Bold"/>
                  <a:ea typeface="Open Sans Bold"/>
                  <a:cs typeface="Open Sans Bold"/>
                  <a:sym typeface="Open Sans Bold"/>
                </a:rPr>
                <a:t>Công việc:</a:t>
              </a:r>
              <a:r>
                <a:rPr lang="en-US" sz="1290">
                  <a:solidFill>
                    <a:srgbClr val="475569"/>
                  </a:solidFill>
                  <a:latin typeface="Open Sans"/>
                  <a:ea typeface="Open Sans"/>
                  <a:cs typeface="Open Sans"/>
                  <a:sym typeface="Open Sans"/>
                </a:rPr>
                <a:t> Thiết lập Message Broker và API Gateway. Chuyển đổi CSDL tồn kho sang xử lý hướng sự kiện. Kết nối ứng dụng đặt Tour và phần mềm POS vào mạng lưới dữ liệu thời gian thực.</a:t>
              </a:r>
            </a:p>
          </p:txBody>
        </p:sp>
        <p:grpSp>
          <p:nvGrpSpPr>
            <p:cNvPr name="Group 17" id="17"/>
            <p:cNvGrpSpPr/>
            <p:nvPr/>
          </p:nvGrpSpPr>
          <p:grpSpPr>
            <a:xfrm rot="0">
              <a:off x="2399574" y="4849101"/>
              <a:ext cx="437400" cy="437400"/>
              <a:chOff x="0" y="0"/>
              <a:chExt cx="552450" cy="552450"/>
            </a:xfrm>
          </p:grpSpPr>
          <p:sp>
            <p:nvSpPr>
              <p:cNvPr name="Freeform 18" id="18"/>
              <p:cNvSpPr/>
              <p:nvPr/>
            </p:nvSpPr>
            <p:spPr>
              <a:xfrm flipH="false" flipV="false" rot="0">
                <a:off x="0" y="0"/>
                <a:ext cx="552450" cy="552450"/>
              </a:xfrm>
              <a:custGeom>
                <a:avLst/>
                <a:gdLst/>
                <a:ahLst/>
                <a:cxnLst/>
                <a:rect r="r" b="b" t="t" l="l"/>
                <a:pathLst>
                  <a:path h="552450" w="552450">
                    <a:moveTo>
                      <a:pt x="0" y="276225"/>
                    </a:moveTo>
                    <a:cubicBezTo>
                      <a:pt x="0" y="123698"/>
                      <a:pt x="123698" y="0"/>
                      <a:pt x="276225" y="0"/>
                    </a:cubicBezTo>
                    <a:cubicBezTo>
                      <a:pt x="428752" y="0"/>
                      <a:pt x="552450" y="123698"/>
                      <a:pt x="552450" y="276225"/>
                    </a:cubicBezTo>
                    <a:cubicBezTo>
                      <a:pt x="552450" y="428752"/>
                      <a:pt x="428752" y="552450"/>
                      <a:pt x="276225" y="552450"/>
                    </a:cubicBezTo>
                    <a:cubicBezTo>
                      <a:pt x="123698" y="552450"/>
                      <a:pt x="0" y="428752"/>
                      <a:pt x="0" y="276225"/>
                    </a:cubicBezTo>
                    <a:close/>
                  </a:path>
                </a:pathLst>
              </a:custGeom>
              <a:solidFill>
                <a:srgbClr val="FFFFFF"/>
              </a:solidFill>
              <a:ln w="71438" cap="sq">
                <a:solidFill>
                  <a:srgbClr val="1F70C1"/>
                </a:solidFill>
                <a:prstDash val="solid"/>
                <a:miter/>
              </a:ln>
            </p:spPr>
          </p:sp>
        </p:grpSp>
      </p:grpSp>
      <p:grpSp>
        <p:nvGrpSpPr>
          <p:cNvPr name="Group 19" id="19"/>
          <p:cNvGrpSpPr/>
          <p:nvPr/>
        </p:nvGrpSpPr>
        <p:grpSpPr>
          <a:xfrm rot="0">
            <a:off x="6913587" y="4968661"/>
            <a:ext cx="3932639" cy="4242014"/>
            <a:chOff x="0" y="0"/>
            <a:chExt cx="5243519" cy="5656018"/>
          </a:xfrm>
        </p:grpSpPr>
        <p:grpSp>
          <p:nvGrpSpPr>
            <p:cNvPr name="Group 20" id="20"/>
            <p:cNvGrpSpPr/>
            <p:nvPr/>
          </p:nvGrpSpPr>
          <p:grpSpPr>
            <a:xfrm rot="0">
              <a:off x="0" y="747591"/>
              <a:ext cx="5243519" cy="4908427"/>
              <a:chOff x="0" y="0"/>
              <a:chExt cx="6613919" cy="6191250"/>
            </a:xfrm>
          </p:grpSpPr>
          <p:sp>
            <p:nvSpPr>
              <p:cNvPr name="Freeform 21" id="21" descr="image.png"/>
              <p:cNvSpPr/>
              <p:nvPr/>
            </p:nvSpPr>
            <p:spPr>
              <a:xfrm flipH="false" flipV="false" rot="0">
                <a:off x="0" y="0"/>
                <a:ext cx="6613906" cy="6191250"/>
              </a:xfrm>
              <a:custGeom>
                <a:avLst/>
                <a:gdLst/>
                <a:ahLst/>
                <a:cxnLst/>
                <a:rect r="r" b="b" t="t" l="l"/>
                <a:pathLst>
                  <a:path h="6191250" w="6613906">
                    <a:moveTo>
                      <a:pt x="0" y="0"/>
                    </a:moveTo>
                    <a:lnTo>
                      <a:pt x="6613906" y="0"/>
                    </a:lnTo>
                    <a:lnTo>
                      <a:pt x="6613906" y="6191250"/>
                    </a:lnTo>
                    <a:lnTo>
                      <a:pt x="0" y="6191250"/>
                    </a:lnTo>
                    <a:lnTo>
                      <a:pt x="0" y="0"/>
                    </a:lnTo>
                    <a:close/>
                  </a:path>
                </a:pathLst>
              </a:custGeom>
              <a:blipFill>
                <a:blip r:embed="rId6"/>
                <a:stretch>
                  <a:fillRect l="-116" t="0" r="-117" b="0"/>
                </a:stretch>
              </a:blipFill>
            </p:spPr>
          </p:sp>
        </p:grpSp>
        <p:grpSp>
          <p:nvGrpSpPr>
            <p:cNvPr name="Group 22" id="22"/>
            <p:cNvGrpSpPr/>
            <p:nvPr/>
          </p:nvGrpSpPr>
          <p:grpSpPr>
            <a:xfrm rot="0">
              <a:off x="688368" y="1185574"/>
              <a:ext cx="3866562" cy="362468"/>
              <a:chOff x="0" y="0"/>
              <a:chExt cx="4877092" cy="457200"/>
            </a:xfrm>
          </p:grpSpPr>
          <p:sp>
            <p:nvSpPr>
              <p:cNvPr name="Freeform 23" id="23" descr="image.png"/>
              <p:cNvSpPr/>
              <p:nvPr/>
            </p:nvSpPr>
            <p:spPr>
              <a:xfrm flipH="false" flipV="false" rot="0">
                <a:off x="0" y="0"/>
                <a:ext cx="4877054" cy="457200"/>
              </a:xfrm>
              <a:custGeom>
                <a:avLst/>
                <a:gdLst/>
                <a:ahLst/>
                <a:cxnLst/>
                <a:rect r="r" b="b" t="t" l="l"/>
                <a:pathLst>
                  <a:path h="457200" w="4877054">
                    <a:moveTo>
                      <a:pt x="0" y="0"/>
                    </a:moveTo>
                    <a:lnTo>
                      <a:pt x="4877054" y="0"/>
                    </a:lnTo>
                    <a:lnTo>
                      <a:pt x="4877054" y="457200"/>
                    </a:lnTo>
                    <a:lnTo>
                      <a:pt x="0" y="457200"/>
                    </a:lnTo>
                    <a:lnTo>
                      <a:pt x="0" y="0"/>
                    </a:lnTo>
                    <a:close/>
                  </a:path>
                </a:pathLst>
              </a:custGeom>
              <a:blipFill>
                <a:blip r:embed="rId7"/>
                <a:stretch>
                  <a:fillRect l="-192" t="0" r="-193" b="0"/>
                </a:stretch>
              </a:blipFill>
            </p:spPr>
          </p:sp>
        </p:grpSp>
        <p:sp>
          <p:nvSpPr>
            <p:cNvPr name="TextBox 24" id="24"/>
            <p:cNvSpPr txBox="true"/>
            <p:nvPr/>
          </p:nvSpPr>
          <p:spPr>
            <a:xfrm rot="0">
              <a:off x="281225" y="1729277"/>
              <a:ext cx="4681079" cy="724937"/>
            </a:xfrm>
            <a:prstGeom prst="rect">
              <a:avLst/>
            </a:prstGeom>
          </p:spPr>
          <p:txBody>
            <a:bodyPr anchor="t" rtlCol="false" tIns="0" lIns="0" bIns="0" rIns="0">
              <a:spAutoFit/>
            </a:bodyPr>
            <a:lstStyle/>
            <a:p>
              <a:pPr algn="ctr">
                <a:lnSpc>
                  <a:spcPts val="2140"/>
                </a:lnSpc>
              </a:pPr>
              <a:r>
                <a:rPr lang="en-US" sz="1783" b="true">
                  <a:solidFill>
                    <a:srgbClr val="1F70C1"/>
                  </a:solidFill>
                  <a:latin typeface="Montserrat Bold"/>
                  <a:ea typeface="Montserrat Bold"/>
                  <a:cs typeface="Montserrat Bold"/>
                  <a:sym typeface="Montserrat Bold"/>
                </a:rPr>
                <a:t>Chuyển đổi Ứng dụng &amp; Bảo mật</a:t>
              </a:r>
            </a:p>
          </p:txBody>
        </p:sp>
        <p:sp>
          <p:nvSpPr>
            <p:cNvPr name="TextBox 25" id="25"/>
            <p:cNvSpPr txBox="true"/>
            <p:nvPr/>
          </p:nvSpPr>
          <p:spPr>
            <a:xfrm rot="0">
              <a:off x="392674" y="2587823"/>
              <a:ext cx="4458171" cy="1980790"/>
            </a:xfrm>
            <a:prstGeom prst="rect">
              <a:avLst/>
            </a:prstGeom>
          </p:spPr>
          <p:txBody>
            <a:bodyPr anchor="t" rtlCol="false" tIns="0" lIns="0" bIns="0" rIns="0">
              <a:spAutoFit/>
            </a:bodyPr>
            <a:lstStyle/>
            <a:p>
              <a:pPr algn="l">
                <a:lnSpc>
                  <a:spcPts val="1939"/>
                </a:lnSpc>
              </a:pPr>
              <a:r>
                <a:rPr lang="en-US" sz="1292" b="true">
                  <a:solidFill>
                    <a:srgbClr val="475569"/>
                  </a:solidFill>
                  <a:latin typeface="Open Sans Bold"/>
                  <a:ea typeface="Open Sans Bold"/>
                  <a:cs typeface="Open Sans Bold"/>
                  <a:sym typeface="Open Sans Bold"/>
                </a:rPr>
                <a:t>Mục tiêu:</a:t>
              </a:r>
              <a:r>
                <a:rPr lang="en-US" sz="1292">
                  <a:solidFill>
                    <a:srgbClr val="475569"/>
                  </a:solidFill>
                  <a:latin typeface="Open Sans"/>
                  <a:ea typeface="Open Sans"/>
                  <a:cs typeface="Open Sans"/>
                  <a:sym typeface="Open Sans"/>
                </a:rPr>
                <a:t> Nâng cao tính linh hoạt và an toàn hệ thống.</a:t>
              </a:r>
            </a:p>
            <a:p>
              <a:pPr algn="l">
                <a:lnSpc>
                  <a:spcPts val="1939"/>
                </a:lnSpc>
              </a:pPr>
            </a:p>
            <a:p>
              <a:pPr algn="l">
                <a:lnSpc>
                  <a:spcPts val="1939"/>
                </a:lnSpc>
              </a:pPr>
              <a:r>
                <a:rPr lang="en-US" sz="1292" b="true">
                  <a:solidFill>
                    <a:srgbClr val="475569"/>
                  </a:solidFill>
                  <a:latin typeface="Open Sans Bold"/>
                  <a:ea typeface="Open Sans Bold"/>
                  <a:cs typeface="Open Sans Bold"/>
                  <a:sym typeface="Open Sans Bold"/>
                </a:rPr>
                <a:t>Công việc:</a:t>
              </a:r>
              <a:r>
                <a:rPr lang="en-US" sz="1292">
                  <a:solidFill>
                    <a:srgbClr val="475569"/>
                  </a:solidFill>
                  <a:latin typeface="Open Sans"/>
                  <a:ea typeface="Open Sans"/>
                  <a:cs typeface="Open Sans"/>
                  <a:sym typeface="Open Sans"/>
                </a:rPr>
                <a:t> Bóc tách kiến trúc nguyên khối thành Microservices (Bán hàng, Thanh toán, CRM). Đẩy lên Public Cloud để tự động mở rộng tài nguyên. Bắt buộc áp dụng Zero Trust và MFA.</a:t>
              </a:r>
            </a:p>
          </p:txBody>
        </p:sp>
        <p:grpSp>
          <p:nvGrpSpPr>
            <p:cNvPr name="Group 26" id="26"/>
            <p:cNvGrpSpPr/>
            <p:nvPr/>
          </p:nvGrpSpPr>
          <p:grpSpPr>
            <a:xfrm rot="0">
              <a:off x="2402773" y="0"/>
              <a:ext cx="437983" cy="437983"/>
              <a:chOff x="0" y="0"/>
              <a:chExt cx="552450" cy="552450"/>
            </a:xfrm>
          </p:grpSpPr>
          <p:sp>
            <p:nvSpPr>
              <p:cNvPr name="Freeform 27" id="27"/>
              <p:cNvSpPr/>
              <p:nvPr/>
            </p:nvSpPr>
            <p:spPr>
              <a:xfrm flipH="false" flipV="false" rot="0">
                <a:off x="0" y="0"/>
                <a:ext cx="552450" cy="552450"/>
              </a:xfrm>
              <a:custGeom>
                <a:avLst/>
                <a:gdLst/>
                <a:ahLst/>
                <a:cxnLst/>
                <a:rect r="r" b="b" t="t" l="l"/>
                <a:pathLst>
                  <a:path h="552450" w="552450">
                    <a:moveTo>
                      <a:pt x="0" y="276225"/>
                    </a:moveTo>
                    <a:cubicBezTo>
                      <a:pt x="0" y="123698"/>
                      <a:pt x="123698" y="0"/>
                      <a:pt x="276225" y="0"/>
                    </a:cubicBezTo>
                    <a:cubicBezTo>
                      <a:pt x="428752" y="0"/>
                      <a:pt x="552450" y="123698"/>
                      <a:pt x="552450" y="276225"/>
                    </a:cubicBezTo>
                    <a:cubicBezTo>
                      <a:pt x="552450" y="428752"/>
                      <a:pt x="428752" y="552450"/>
                      <a:pt x="276225" y="552450"/>
                    </a:cubicBezTo>
                    <a:cubicBezTo>
                      <a:pt x="123698" y="552450"/>
                      <a:pt x="0" y="428752"/>
                      <a:pt x="0" y="276225"/>
                    </a:cubicBezTo>
                    <a:close/>
                  </a:path>
                </a:pathLst>
              </a:custGeom>
              <a:solidFill>
                <a:srgbClr val="FFFFFF"/>
              </a:solidFill>
              <a:ln w="71438" cap="sq">
                <a:solidFill>
                  <a:srgbClr val="1F70C1"/>
                </a:solidFill>
                <a:prstDash val="solid"/>
                <a:miter/>
              </a:ln>
            </p:spPr>
          </p:sp>
        </p:grpSp>
      </p:grpSp>
      <p:grpSp>
        <p:nvGrpSpPr>
          <p:cNvPr name="Group 28" id="28"/>
          <p:cNvGrpSpPr/>
          <p:nvPr/>
        </p:nvGrpSpPr>
        <p:grpSpPr>
          <a:xfrm rot="0">
            <a:off x="12386561" y="1852172"/>
            <a:ext cx="3932639" cy="3970163"/>
            <a:chOff x="0" y="0"/>
            <a:chExt cx="5243519" cy="5293550"/>
          </a:xfrm>
        </p:grpSpPr>
        <p:grpSp>
          <p:nvGrpSpPr>
            <p:cNvPr name="Group 29" id="29"/>
            <p:cNvGrpSpPr/>
            <p:nvPr/>
          </p:nvGrpSpPr>
          <p:grpSpPr>
            <a:xfrm rot="0">
              <a:off x="0" y="0"/>
              <a:ext cx="5243519" cy="4545959"/>
              <a:chOff x="0" y="0"/>
              <a:chExt cx="6613919" cy="5734050"/>
            </a:xfrm>
          </p:grpSpPr>
          <p:sp>
            <p:nvSpPr>
              <p:cNvPr name="Freeform 30" id="30" descr="image.png"/>
              <p:cNvSpPr/>
              <p:nvPr/>
            </p:nvSpPr>
            <p:spPr>
              <a:xfrm flipH="false" flipV="false" rot="0">
                <a:off x="0" y="0"/>
                <a:ext cx="6613906" cy="5734050"/>
              </a:xfrm>
              <a:custGeom>
                <a:avLst/>
                <a:gdLst/>
                <a:ahLst/>
                <a:cxnLst/>
                <a:rect r="r" b="b" t="t" l="l"/>
                <a:pathLst>
                  <a:path h="5734050" w="6613906">
                    <a:moveTo>
                      <a:pt x="0" y="0"/>
                    </a:moveTo>
                    <a:lnTo>
                      <a:pt x="6613906" y="0"/>
                    </a:lnTo>
                    <a:lnTo>
                      <a:pt x="6613906" y="5734050"/>
                    </a:lnTo>
                    <a:lnTo>
                      <a:pt x="0" y="5734050"/>
                    </a:lnTo>
                    <a:lnTo>
                      <a:pt x="0" y="0"/>
                    </a:lnTo>
                    <a:close/>
                  </a:path>
                </a:pathLst>
              </a:custGeom>
              <a:blipFill>
                <a:blip r:embed="rId8"/>
                <a:stretch>
                  <a:fillRect l="-116" t="0" r="-117" b="0"/>
                </a:stretch>
              </a:blipFill>
            </p:spPr>
          </p:sp>
        </p:grpSp>
        <p:grpSp>
          <p:nvGrpSpPr>
            <p:cNvPr name="Group 31" id="31"/>
            <p:cNvGrpSpPr/>
            <p:nvPr/>
          </p:nvGrpSpPr>
          <p:grpSpPr>
            <a:xfrm rot="0">
              <a:off x="1255420" y="392674"/>
              <a:ext cx="2732670" cy="362468"/>
              <a:chOff x="0" y="0"/>
              <a:chExt cx="3446856" cy="457200"/>
            </a:xfrm>
          </p:grpSpPr>
          <p:sp>
            <p:nvSpPr>
              <p:cNvPr name="Freeform 32" id="32" descr="image.png"/>
              <p:cNvSpPr/>
              <p:nvPr/>
            </p:nvSpPr>
            <p:spPr>
              <a:xfrm flipH="false" flipV="false" rot="0">
                <a:off x="0" y="0"/>
                <a:ext cx="3446907" cy="457200"/>
              </a:xfrm>
              <a:custGeom>
                <a:avLst/>
                <a:gdLst/>
                <a:ahLst/>
                <a:cxnLst/>
                <a:rect r="r" b="b" t="t" l="l"/>
                <a:pathLst>
                  <a:path h="457200" w="3446907">
                    <a:moveTo>
                      <a:pt x="0" y="0"/>
                    </a:moveTo>
                    <a:lnTo>
                      <a:pt x="3446907" y="0"/>
                    </a:lnTo>
                    <a:lnTo>
                      <a:pt x="3446907" y="457200"/>
                    </a:lnTo>
                    <a:lnTo>
                      <a:pt x="0" y="457200"/>
                    </a:lnTo>
                    <a:lnTo>
                      <a:pt x="0" y="0"/>
                    </a:lnTo>
                    <a:close/>
                  </a:path>
                </a:pathLst>
              </a:custGeom>
              <a:blipFill>
                <a:blip r:embed="rId9"/>
                <a:stretch>
                  <a:fillRect l="-293" t="0" r="-292" b="0"/>
                </a:stretch>
              </a:blipFill>
            </p:spPr>
          </p:sp>
        </p:grpSp>
        <p:sp>
          <p:nvSpPr>
            <p:cNvPr name="TextBox 33" id="33"/>
            <p:cNvSpPr txBox="true"/>
            <p:nvPr/>
          </p:nvSpPr>
          <p:spPr>
            <a:xfrm rot="0">
              <a:off x="281215" y="936377"/>
              <a:ext cx="4681079" cy="362468"/>
            </a:xfrm>
            <a:prstGeom prst="rect">
              <a:avLst/>
            </a:prstGeom>
          </p:spPr>
          <p:txBody>
            <a:bodyPr anchor="t" rtlCol="false" tIns="0" lIns="0" bIns="0" rIns="0">
              <a:spAutoFit/>
            </a:bodyPr>
            <a:lstStyle/>
            <a:p>
              <a:pPr algn="ctr">
                <a:lnSpc>
                  <a:spcPts val="2140"/>
                </a:lnSpc>
              </a:pPr>
              <a:r>
                <a:rPr lang="en-US" sz="1783" b="true">
                  <a:solidFill>
                    <a:srgbClr val="10B981"/>
                  </a:solidFill>
                  <a:latin typeface="Montserrat Bold"/>
                  <a:ea typeface="Montserrat Bold"/>
                  <a:cs typeface="Montserrat Bold"/>
                  <a:sym typeface="Montserrat Bold"/>
                </a:rPr>
                <a:t>Khai thác Dữ liệu Lớn &amp; AI</a:t>
              </a:r>
            </a:p>
          </p:txBody>
        </p:sp>
        <p:sp>
          <p:nvSpPr>
            <p:cNvPr name="TextBox 34" id="34"/>
            <p:cNvSpPr txBox="true"/>
            <p:nvPr/>
          </p:nvSpPr>
          <p:spPr>
            <a:xfrm rot="0">
              <a:off x="392674" y="1432455"/>
              <a:ext cx="4458171" cy="2675521"/>
            </a:xfrm>
            <a:prstGeom prst="rect">
              <a:avLst/>
            </a:prstGeom>
          </p:spPr>
          <p:txBody>
            <a:bodyPr anchor="t" rtlCol="false" tIns="0" lIns="0" bIns="0" rIns="0">
              <a:spAutoFit/>
            </a:bodyPr>
            <a:lstStyle/>
            <a:p>
              <a:pPr algn="l">
                <a:lnSpc>
                  <a:spcPts val="1939"/>
                </a:lnSpc>
              </a:pPr>
              <a:r>
                <a:rPr lang="en-US" sz="1292" b="true">
                  <a:solidFill>
                    <a:srgbClr val="475569"/>
                  </a:solidFill>
                  <a:latin typeface="Open Sans Bold"/>
                  <a:ea typeface="Open Sans Bold"/>
                  <a:cs typeface="Open Sans Bold"/>
                  <a:sym typeface="Open Sans Bold"/>
                </a:rPr>
                <a:t>Mục tiêu:</a:t>
              </a:r>
              <a:r>
                <a:rPr lang="en-US" sz="1292">
                  <a:solidFill>
                    <a:srgbClr val="475569"/>
                  </a:solidFill>
                  <a:latin typeface="Open Sans"/>
                  <a:ea typeface="Open Sans"/>
                  <a:cs typeface="Open Sans"/>
                  <a:sym typeface="Open Sans"/>
                </a:rPr>
                <a:t> Tối đa hóa giá trị dữ liệu và trải nghiệm khách hàng.</a:t>
              </a:r>
            </a:p>
            <a:p>
              <a:pPr algn="l">
                <a:lnSpc>
                  <a:spcPts val="1939"/>
                </a:lnSpc>
              </a:pPr>
            </a:p>
            <a:p>
              <a:pPr algn="l">
                <a:lnSpc>
                  <a:spcPts val="1939"/>
                </a:lnSpc>
              </a:pPr>
              <a:r>
                <a:rPr lang="en-US" sz="1292" b="true">
                  <a:solidFill>
                    <a:srgbClr val="475569"/>
                  </a:solidFill>
                  <a:latin typeface="Open Sans Bold"/>
                  <a:ea typeface="Open Sans Bold"/>
                  <a:cs typeface="Open Sans Bold"/>
                  <a:sym typeface="Open Sans Bold"/>
                </a:rPr>
                <a:t>Công việc:</a:t>
              </a:r>
              <a:r>
                <a:rPr lang="en-US" sz="1292">
                  <a:solidFill>
                    <a:srgbClr val="475569"/>
                  </a:solidFill>
                  <a:latin typeface="Open Sans"/>
                  <a:ea typeface="Open Sans"/>
                  <a:cs typeface="Open Sans"/>
                  <a:sym typeface="Open Sans"/>
                </a:rPr>
                <a:t> Vận hành chính thức Data Lake. Tích hợp Machine Learning để phân tích hành vi và đề xuất sản phẩm cá nhân hóa tự động. Ứng dụng công cụ làm sạch dữ liệu tự động.</a:t>
              </a:r>
            </a:p>
          </p:txBody>
        </p:sp>
        <p:grpSp>
          <p:nvGrpSpPr>
            <p:cNvPr name="Group 35" id="35"/>
            <p:cNvGrpSpPr/>
            <p:nvPr/>
          </p:nvGrpSpPr>
          <p:grpSpPr>
            <a:xfrm rot="0">
              <a:off x="2402763" y="4855567"/>
              <a:ext cx="437983" cy="437983"/>
              <a:chOff x="0" y="0"/>
              <a:chExt cx="552450" cy="552450"/>
            </a:xfrm>
          </p:grpSpPr>
          <p:sp>
            <p:nvSpPr>
              <p:cNvPr name="Freeform 36" id="36"/>
              <p:cNvSpPr/>
              <p:nvPr/>
            </p:nvSpPr>
            <p:spPr>
              <a:xfrm flipH="false" flipV="false" rot="0">
                <a:off x="0" y="0"/>
                <a:ext cx="552450" cy="552450"/>
              </a:xfrm>
              <a:custGeom>
                <a:avLst/>
                <a:gdLst/>
                <a:ahLst/>
                <a:cxnLst/>
                <a:rect r="r" b="b" t="t" l="l"/>
                <a:pathLst>
                  <a:path h="552450" w="552450">
                    <a:moveTo>
                      <a:pt x="0" y="276225"/>
                    </a:moveTo>
                    <a:cubicBezTo>
                      <a:pt x="0" y="123698"/>
                      <a:pt x="123698" y="0"/>
                      <a:pt x="276225" y="0"/>
                    </a:cubicBezTo>
                    <a:cubicBezTo>
                      <a:pt x="428752" y="0"/>
                      <a:pt x="552450" y="123698"/>
                      <a:pt x="552450" y="276225"/>
                    </a:cubicBezTo>
                    <a:cubicBezTo>
                      <a:pt x="552450" y="428752"/>
                      <a:pt x="428752" y="552450"/>
                      <a:pt x="276225" y="552450"/>
                    </a:cubicBezTo>
                    <a:cubicBezTo>
                      <a:pt x="123698" y="552450"/>
                      <a:pt x="0" y="428752"/>
                      <a:pt x="0" y="276225"/>
                    </a:cubicBezTo>
                    <a:close/>
                  </a:path>
                </a:pathLst>
              </a:custGeom>
              <a:solidFill>
                <a:srgbClr val="FFFFFF"/>
              </a:solidFill>
              <a:ln w="71438" cap="sq">
                <a:solidFill>
                  <a:srgbClr val="10B981"/>
                </a:solidFill>
                <a:prstDash val="solid"/>
                <a:miter/>
              </a:ln>
            </p:spPr>
          </p:sp>
        </p:grpSp>
      </p:gr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000" y="1039667"/>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573563"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XÁC ĐỊNH CÁC NGUỒN LỰC TRIỂN KHAI KIẾN TRÚC</a:t>
            </a:r>
          </a:p>
        </p:txBody>
      </p:sp>
      <p:grpSp>
        <p:nvGrpSpPr>
          <p:cNvPr name="Group 8" id="8"/>
          <p:cNvGrpSpPr/>
          <p:nvPr/>
        </p:nvGrpSpPr>
        <p:grpSpPr>
          <a:xfrm rot="0">
            <a:off x="1143000" y="2486025"/>
            <a:ext cx="16001771" cy="5643562"/>
            <a:chOff x="0" y="0"/>
            <a:chExt cx="21335695" cy="7524750"/>
          </a:xfrm>
        </p:grpSpPr>
        <p:grpSp>
          <p:nvGrpSpPr>
            <p:cNvPr name="Group 9" id="9"/>
            <p:cNvGrpSpPr/>
            <p:nvPr/>
          </p:nvGrpSpPr>
          <p:grpSpPr>
            <a:xfrm rot="0">
              <a:off x="0" y="0"/>
              <a:ext cx="6794297" cy="7524750"/>
              <a:chOff x="0" y="0"/>
              <a:chExt cx="6794297" cy="7524750"/>
            </a:xfrm>
          </p:grpSpPr>
          <p:sp>
            <p:nvSpPr>
              <p:cNvPr name="Freeform 10" id="10" descr="image.png"/>
              <p:cNvSpPr/>
              <p:nvPr/>
            </p:nvSpPr>
            <p:spPr>
              <a:xfrm flipH="false" flipV="false" rot="0">
                <a:off x="0" y="0"/>
                <a:ext cx="6794246" cy="7524750"/>
              </a:xfrm>
              <a:custGeom>
                <a:avLst/>
                <a:gdLst/>
                <a:ahLst/>
                <a:cxnLst/>
                <a:rect r="r" b="b" t="t" l="l"/>
                <a:pathLst>
                  <a:path h="7524750" w="6794246">
                    <a:moveTo>
                      <a:pt x="0" y="0"/>
                    </a:moveTo>
                    <a:lnTo>
                      <a:pt x="6794246" y="0"/>
                    </a:lnTo>
                    <a:lnTo>
                      <a:pt x="6794246" y="7524750"/>
                    </a:lnTo>
                    <a:lnTo>
                      <a:pt x="0" y="7524750"/>
                    </a:lnTo>
                    <a:lnTo>
                      <a:pt x="0" y="0"/>
                    </a:lnTo>
                    <a:close/>
                  </a:path>
                </a:pathLst>
              </a:custGeom>
              <a:blipFill>
                <a:blip r:embed="rId4"/>
                <a:stretch>
                  <a:fillRect l="-48" t="0" r="-48" b="0"/>
                </a:stretch>
              </a:blipFill>
            </p:spPr>
          </p:sp>
        </p:grpSp>
        <p:grpSp>
          <p:nvGrpSpPr>
            <p:cNvPr name="Group 11" id="11"/>
            <p:cNvGrpSpPr/>
            <p:nvPr/>
          </p:nvGrpSpPr>
          <p:grpSpPr>
            <a:xfrm rot="0">
              <a:off x="7270547" y="0"/>
              <a:ext cx="6794602" cy="7524750"/>
              <a:chOff x="0" y="0"/>
              <a:chExt cx="6794602" cy="7524750"/>
            </a:xfrm>
          </p:grpSpPr>
          <p:sp>
            <p:nvSpPr>
              <p:cNvPr name="Freeform 12" id="12" descr="image.png"/>
              <p:cNvSpPr/>
              <p:nvPr/>
            </p:nvSpPr>
            <p:spPr>
              <a:xfrm flipH="false" flipV="false" rot="0">
                <a:off x="0" y="0"/>
                <a:ext cx="6794627" cy="7524750"/>
              </a:xfrm>
              <a:custGeom>
                <a:avLst/>
                <a:gdLst/>
                <a:ahLst/>
                <a:cxnLst/>
                <a:rect r="r" b="b" t="t" l="l"/>
                <a:pathLst>
                  <a:path h="7524750" w="6794627">
                    <a:moveTo>
                      <a:pt x="0" y="0"/>
                    </a:moveTo>
                    <a:lnTo>
                      <a:pt x="6794627" y="0"/>
                    </a:lnTo>
                    <a:lnTo>
                      <a:pt x="6794627" y="7524750"/>
                    </a:lnTo>
                    <a:lnTo>
                      <a:pt x="0" y="7524750"/>
                    </a:lnTo>
                    <a:lnTo>
                      <a:pt x="0" y="0"/>
                    </a:lnTo>
                    <a:close/>
                  </a:path>
                </a:pathLst>
              </a:custGeom>
              <a:blipFill>
                <a:blip r:embed="rId5"/>
                <a:stretch>
                  <a:fillRect l="-186" t="0" r="-185" b="0"/>
                </a:stretch>
              </a:blipFill>
            </p:spPr>
          </p:sp>
        </p:grpSp>
        <p:grpSp>
          <p:nvGrpSpPr>
            <p:cNvPr name="Group 13" id="13"/>
            <p:cNvGrpSpPr/>
            <p:nvPr/>
          </p:nvGrpSpPr>
          <p:grpSpPr>
            <a:xfrm rot="0">
              <a:off x="14541398" y="0"/>
              <a:ext cx="6794297" cy="7524750"/>
              <a:chOff x="0" y="0"/>
              <a:chExt cx="6794297" cy="7524750"/>
            </a:xfrm>
          </p:grpSpPr>
          <p:sp>
            <p:nvSpPr>
              <p:cNvPr name="Freeform 14" id="14" descr="image.png"/>
              <p:cNvSpPr/>
              <p:nvPr/>
            </p:nvSpPr>
            <p:spPr>
              <a:xfrm flipH="false" flipV="false" rot="0">
                <a:off x="0" y="0"/>
                <a:ext cx="6794246" cy="7524750"/>
              </a:xfrm>
              <a:custGeom>
                <a:avLst/>
                <a:gdLst/>
                <a:ahLst/>
                <a:cxnLst/>
                <a:rect r="r" b="b" t="t" l="l"/>
                <a:pathLst>
                  <a:path h="7524750" w="6794246">
                    <a:moveTo>
                      <a:pt x="0" y="0"/>
                    </a:moveTo>
                    <a:lnTo>
                      <a:pt x="6794246" y="0"/>
                    </a:lnTo>
                    <a:lnTo>
                      <a:pt x="6794246" y="7524750"/>
                    </a:lnTo>
                    <a:lnTo>
                      <a:pt x="0" y="7524750"/>
                    </a:lnTo>
                    <a:lnTo>
                      <a:pt x="0" y="0"/>
                    </a:lnTo>
                    <a:close/>
                  </a:path>
                </a:pathLst>
              </a:custGeom>
              <a:blipFill>
                <a:blip r:embed="rId6"/>
                <a:stretch>
                  <a:fillRect l="-48" t="0" r="-48" b="0"/>
                </a:stretch>
              </a:blipFill>
            </p:spPr>
          </p:sp>
        </p:grpSp>
        <p:grpSp>
          <p:nvGrpSpPr>
            <p:cNvPr name="Group 15" id="15"/>
            <p:cNvGrpSpPr/>
            <p:nvPr/>
          </p:nvGrpSpPr>
          <p:grpSpPr>
            <a:xfrm rot="0">
              <a:off x="2778023" y="742950"/>
              <a:ext cx="1238250" cy="1238250"/>
              <a:chOff x="0" y="0"/>
              <a:chExt cx="1238250" cy="1238250"/>
            </a:xfrm>
          </p:grpSpPr>
          <p:sp>
            <p:nvSpPr>
              <p:cNvPr name="Freeform 16" id="16" descr="image.png"/>
              <p:cNvSpPr/>
              <p:nvPr/>
            </p:nvSpPr>
            <p:spPr>
              <a:xfrm flipH="false" flipV="false" rot="0">
                <a:off x="0" y="0"/>
                <a:ext cx="1238250" cy="1238250"/>
              </a:xfrm>
              <a:custGeom>
                <a:avLst/>
                <a:gdLst/>
                <a:ahLst/>
                <a:cxnLst/>
                <a:rect r="r" b="b" t="t" l="l"/>
                <a:pathLst>
                  <a:path h="1238250" w="1238250">
                    <a:moveTo>
                      <a:pt x="0" y="0"/>
                    </a:moveTo>
                    <a:lnTo>
                      <a:pt x="1238250" y="0"/>
                    </a:lnTo>
                    <a:lnTo>
                      <a:pt x="1238250" y="1238250"/>
                    </a:lnTo>
                    <a:lnTo>
                      <a:pt x="0" y="1238250"/>
                    </a:lnTo>
                    <a:lnTo>
                      <a:pt x="0" y="0"/>
                    </a:lnTo>
                    <a:close/>
                  </a:path>
                </a:pathLst>
              </a:custGeom>
              <a:blipFill>
                <a:blip r:embed="rId7"/>
                <a:stretch>
                  <a:fillRect l="-769" t="0" r="-769" b="0"/>
                </a:stretch>
              </a:blipFill>
            </p:spPr>
          </p:sp>
        </p:grpSp>
        <p:sp>
          <p:nvSpPr>
            <p:cNvPr name="TextBox 17" id="17"/>
            <p:cNvSpPr txBox="true"/>
            <p:nvPr/>
          </p:nvSpPr>
          <p:spPr>
            <a:xfrm rot="0">
              <a:off x="350202" y="2333625"/>
              <a:ext cx="6093892" cy="981075"/>
            </a:xfrm>
            <a:prstGeom prst="rect">
              <a:avLst/>
            </a:prstGeom>
          </p:spPr>
          <p:txBody>
            <a:bodyPr anchor="t" rtlCol="false" tIns="0" lIns="0" bIns="0" rIns="0">
              <a:spAutoFit/>
            </a:bodyPr>
            <a:lstStyle/>
            <a:p>
              <a:pPr algn="ctr">
                <a:lnSpc>
                  <a:spcPts val="2925"/>
                </a:lnSpc>
              </a:pPr>
              <a:r>
                <a:rPr lang="en-US" sz="2250" b="true">
                  <a:solidFill>
                    <a:srgbClr val="051C2C"/>
                  </a:solidFill>
                  <a:latin typeface="Montserrat Bold"/>
                  <a:ea typeface="Montserrat Bold"/>
                  <a:cs typeface="Montserrat Bold"/>
                  <a:sym typeface="Montserrat Bold"/>
                </a:rPr>
                <a:t>Nguồn Lực Nhân Sự &amp; Tổ Chức</a:t>
              </a:r>
            </a:p>
          </p:txBody>
        </p:sp>
        <p:sp>
          <p:nvSpPr>
            <p:cNvPr name="TextBox 18" id="18"/>
            <p:cNvSpPr txBox="true"/>
            <p:nvPr/>
          </p:nvSpPr>
          <p:spPr>
            <a:xfrm rot="0">
              <a:off x="495300" y="3571875"/>
              <a:ext cx="5803697" cy="3267075"/>
            </a:xfrm>
            <a:prstGeom prst="rect">
              <a:avLst/>
            </a:prstGeom>
          </p:spPr>
          <p:txBody>
            <a:bodyPr anchor="t" rtlCol="false" tIns="0" lIns="0" bIns="0" rIns="0">
              <a:spAutoFit/>
            </a:bodyPr>
            <a:lstStyle/>
            <a:p>
              <a:pPr algn="l">
                <a:lnSpc>
                  <a:spcPts val="2700"/>
                </a:lnSpc>
              </a:pPr>
              <a:r>
                <a:rPr lang="en-US" sz="1687">
                  <a:solidFill>
                    <a:srgbClr val="475569"/>
                  </a:solidFill>
                  <a:latin typeface="Open Sans"/>
                  <a:ea typeface="Open Sans"/>
                  <a:cs typeface="Open Sans"/>
                  <a:sym typeface="Open Sans"/>
                </a:rPr>
                <a:t>Thành lập </a:t>
              </a:r>
              <a:r>
                <a:rPr lang="en-US" sz="1687" b="true">
                  <a:solidFill>
                    <a:srgbClr val="475569"/>
                  </a:solidFill>
                  <a:latin typeface="Open Sans Bold"/>
                  <a:ea typeface="Open Sans Bold"/>
                  <a:cs typeface="Open Sans Bold"/>
                  <a:sym typeface="Open Sans Bold"/>
                </a:rPr>
                <a:t>Hội đồng quản trị kiến trúc</a:t>
              </a:r>
              <a:r>
                <a:rPr lang="en-US" sz="1687">
                  <a:solidFill>
                    <a:srgbClr val="475569"/>
                  </a:solidFill>
                  <a:latin typeface="Open Sans"/>
                  <a:ea typeface="Open Sans"/>
                  <a:cs typeface="Open Sans"/>
                  <a:sym typeface="Open Sans"/>
                </a:rPr>
                <a:t> (Ban giám đốc, Giám đốc IT). Yêu cầu đội ngũ kỹ thuật trình độ cao: Kiến trúc sư giải pháp, Kỹ sư dữ liệu và Chuyên gia bảo mật. Đồng thời, tổ chức đào tạo nghiệp vụ vận hành POS và CRM mới cho toàn bộ nhân viên chi nhánh.</a:t>
              </a:r>
            </a:p>
          </p:txBody>
        </p:sp>
        <p:grpSp>
          <p:nvGrpSpPr>
            <p:cNvPr name="Group 19" id="19"/>
            <p:cNvGrpSpPr/>
            <p:nvPr/>
          </p:nvGrpSpPr>
          <p:grpSpPr>
            <a:xfrm rot="0">
              <a:off x="10048570" y="742950"/>
              <a:ext cx="1238250" cy="1238250"/>
              <a:chOff x="0" y="0"/>
              <a:chExt cx="1238250" cy="1238250"/>
            </a:xfrm>
          </p:grpSpPr>
          <p:sp>
            <p:nvSpPr>
              <p:cNvPr name="Freeform 20" id="20" descr="image.png"/>
              <p:cNvSpPr/>
              <p:nvPr/>
            </p:nvSpPr>
            <p:spPr>
              <a:xfrm flipH="false" flipV="false" rot="0">
                <a:off x="0" y="0"/>
                <a:ext cx="1238250" cy="1238250"/>
              </a:xfrm>
              <a:custGeom>
                <a:avLst/>
                <a:gdLst/>
                <a:ahLst/>
                <a:cxnLst/>
                <a:rect r="r" b="b" t="t" l="l"/>
                <a:pathLst>
                  <a:path h="1238250" w="1238250">
                    <a:moveTo>
                      <a:pt x="0" y="0"/>
                    </a:moveTo>
                    <a:lnTo>
                      <a:pt x="1238250" y="0"/>
                    </a:lnTo>
                    <a:lnTo>
                      <a:pt x="1238250" y="1238250"/>
                    </a:lnTo>
                    <a:lnTo>
                      <a:pt x="0" y="1238250"/>
                    </a:lnTo>
                    <a:lnTo>
                      <a:pt x="0" y="0"/>
                    </a:lnTo>
                    <a:close/>
                  </a:path>
                </a:pathLst>
              </a:custGeom>
              <a:blipFill>
                <a:blip r:embed="rId8"/>
                <a:stretch>
                  <a:fillRect l="-769" t="0" r="-769" b="0"/>
                </a:stretch>
              </a:blipFill>
            </p:spPr>
          </p:sp>
        </p:grpSp>
        <p:sp>
          <p:nvSpPr>
            <p:cNvPr name="TextBox 21" id="21"/>
            <p:cNvSpPr txBox="true"/>
            <p:nvPr/>
          </p:nvSpPr>
          <p:spPr>
            <a:xfrm rot="0">
              <a:off x="7620749" y="2333625"/>
              <a:ext cx="6094197" cy="981075"/>
            </a:xfrm>
            <a:prstGeom prst="rect">
              <a:avLst/>
            </a:prstGeom>
          </p:spPr>
          <p:txBody>
            <a:bodyPr anchor="t" rtlCol="false" tIns="0" lIns="0" bIns="0" rIns="0">
              <a:spAutoFit/>
            </a:bodyPr>
            <a:lstStyle/>
            <a:p>
              <a:pPr algn="ctr">
                <a:lnSpc>
                  <a:spcPts val="2925"/>
                </a:lnSpc>
              </a:pPr>
              <a:r>
                <a:rPr lang="en-US" sz="2250" b="true">
                  <a:solidFill>
                    <a:srgbClr val="051C2C"/>
                  </a:solidFill>
                  <a:latin typeface="Montserrat Bold"/>
                  <a:ea typeface="Montserrat Bold"/>
                  <a:cs typeface="Montserrat Bold"/>
                  <a:sym typeface="Montserrat Bold"/>
                </a:rPr>
                <a:t> Nguồn Lực Tài Chính &amp; Ngân Sách</a:t>
              </a:r>
            </a:p>
          </p:txBody>
        </p:sp>
        <p:sp>
          <p:nvSpPr>
            <p:cNvPr name="TextBox 22" id="22"/>
            <p:cNvSpPr txBox="true"/>
            <p:nvPr/>
          </p:nvSpPr>
          <p:spPr>
            <a:xfrm rot="0">
              <a:off x="7765847" y="3571875"/>
              <a:ext cx="5804002" cy="3267075"/>
            </a:xfrm>
            <a:prstGeom prst="rect">
              <a:avLst/>
            </a:prstGeom>
          </p:spPr>
          <p:txBody>
            <a:bodyPr anchor="t" rtlCol="false" tIns="0" lIns="0" bIns="0" rIns="0">
              <a:spAutoFit/>
            </a:bodyPr>
            <a:lstStyle/>
            <a:p>
              <a:pPr algn="l">
                <a:lnSpc>
                  <a:spcPts val="2700"/>
                </a:lnSpc>
              </a:pPr>
              <a:r>
                <a:rPr lang="en-US" sz="1687">
                  <a:solidFill>
                    <a:srgbClr val="475569"/>
                  </a:solidFill>
                  <a:latin typeface="Open Sans"/>
                  <a:ea typeface="Open Sans"/>
                  <a:cs typeface="Open Sans"/>
                  <a:sym typeface="Open Sans"/>
                </a:rPr>
                <a:t>Dịch chuyển cấu trúc từ chi phí cố định sang </a:t>
              </a:r>
              <a:r>
                <a:rPr lang="en-US" sz="1687" b="true">
                  <a:solidFill>
                    <a:srgbClr val="475569"/>
                  </a:solidFill>
                  <a:latin typeface="Open Sans Bold"/>
                  <a:ea typeface="Open Sans Bold"/>
                  <a:cs typeface="Open Sans Bold"/>
                  <a:sym typeface="Open Sans Bold"/>
                </a:rPr>
                <a:t>chi phí vận hành (OPEX)</a:t>
              </a:r>
              <a:r>
                <a:rPr lang="en-US" sz="1687">
                  <a:solidFill>
                    <a:srgbClr val="475569"/>
                  </a:solidFill>
                  <a:latin typeface="Open Sans"/>
                  <a:ea typeface="Open Sans"/>
                  <a:cs typeface="Open Sans"/>
                  <a:sym typeface="Open Sans"/>
                </a:rPr>
                <a:t> thông qua điện toán đám mây. Chi phí đầu tư (CAPEX) ưu tiên mua sắm phần mềm trung gian và API Gateway. Doanh nghiệp áp dụng cơ chế đánh giá hoàn vốn (ROI) sau mỗi giai đoạn để cấp hạn mức mới.</a:t>
              </a:r>
            </a:p>
          </p:txBody>
        </p:sp>
        <p:grpSp>
          <p:nvGrpSpPr>
            <p:cNvPr name="Group 23" id="23"/>
            <p:cNvGrpSpPr/>
            <p:nvPr/>
          </p:nvGrpSpPr>
          <p:grpSpPr>
            <a:xfrm rot="0">
              <a:off x="17319422" y="742950"/>
              <a:ext cx="1238250" cy="1238250"/>
              <a:chOff x="0" y="0"/>
              <a:chExt cx="1238250" cy="1238250"/>
            </a:xfrm>
          </p:grpSpPr>
          <p:sp>
            <p:nvSpPr>
              <p:cNvPr name="Freeform 24" id="24" descr="image.png"/>
              <p:cNvSpPr/>
              <p:nvPr/>
            </p:nvSpPr>
            <p:spPr>
              <a:xfrm flipH="false" flipV="false" rot="0">
                <a:off x="0" y="0"/>
                <a:ext cx="1238250" cy="1238250"/>
              </a:xfrm>
              <a:custGeom>
                <a:avLst/>
                <a:gdLst/>
                <a:ahLst/>
                <a:cxnLst/>
                <a:rect r="r" b="b" t="t" l="l"/>
                <a:pathLst>
                  <a:path h="1238250" w="1238250">
                    <a:moveTo>
                      <a:pt x="0" y="0"/>
                    </a:moveTo>
                    <a:lnTo>
                      <a:pt x="1238250" y="0"/>
                    </a:lnTo>
                    <a:lnTo>
                      <a:pt x="1238250" y="1238250"/>
                    </a:lnTo>
                    <a:lnTo>
                      <a:pt x="0" y="1238250"/>
                    </a:lnTo>
                    <a:lnTo>
                      <a:pt x="0" y="0"/>
                    </a:lnTo>
                    <a:close/>
                  </a:path>
                </a:pathLst>
              </a:custGeom>
              <a:blipFill>
                <a:blip r:embed="rId9"/>
                <a:stretch>
                  <a:fillRect l="-769" t="0" r="-769" b="0"/>
                </a:stretch>
              </a:blipFill>
            </p:spPr>
          </p:sp>
        </p:grpSp>
        <p:sp>
          <p:nvSpPr>
            <p:cNvPr name="TextBox 25" id="25"/>
            <p:cNvSpPr txBox="true"/>
            <p:nvPr/>
          </p:nvSpPr>
          <p:spPr>
            <a:xfrm rot="0">
              <a:off x="14968182" y="2333625"/>
              <a:ext cx="5940742" cy="485775"/>
            </a:xfrm>
            <a:prstGeom prst="rect">
              <a:avLst/>
            </a:prstGeom>
          </p:spPr>
          <p:txBody>
            <a:bodyPr anchor="t" rtlCol="false" tIns="0" lIns="0" bIns="0" rIns="0">
              <a:spAutoFit/>
            </a:bodyPr>
            <a:lstStyle/>
            <a:p>
              <a:pPr algn="ctr">
                <a:lnSpc>
                  <a:spcPts val="2925"/>
                </a:lnSpc>
              </a:pPr>
              <a:r>
                <a:rPr lang="en-US" sz="2250" b="true">
                  <a:solidFill>
                    <a:srgbClr val="051C2C"/>
                  </a:solidFill>
                  <a:latin typeface="Montserrat Bold"/>
                  <a:ea typeface="Montserrat Bold"/>
                  <a:cs typeface="Montserrat Bold"/>
                  <a:sym typeface="Montserrat Bold"/>
                </a:rPr>
                <a:t>Nguồn Lực Công Nghệ</a:t>
              </a:r>
            </a:p>
          </p:txBody>
        </p:sp>
        <p:sp>
          <p:nvSpPr>
            <p:cNvPr name="TextBox 26" id="26"/>
            <p:cNvSpPr txBox="true"/>
            <p:nvPr/>
          </p:nvSpPr>
          <p:spPr>
            <a:xfrm rot="0">
              <a:off x="15036698" y="3076575"/>
              <a:ext cx="5803697" cy="3267075"/>
            </a:xfrm>
            <a:prstGeom prst="rect">
              <a:avLst/>
            </a:prstGeom>
          </p:spPr>
          <p:txBody>
            <a:bodyPr anchor="t" rtlCol="false" tIns="0" lIns="0" bIns="0" rIns="0">
              <a:spAutoFit/>
            </a:bodyPr>
            <a:lstStyle/>
            <a:p>
              <a:pPr algn="l">
                <a:lnSpc>
                  <a:spcPts val="2700"/>
                </a:lnSpc>
              </a:pPr>
              <a:r>
                <a:rPr lang="en-US" sz="1687">
                  <a:solidFill>
                    <a:srgbClr val="475569"/>
                  </a:solidFill>
                  <a:latin typeface="Open Sans"/>
                  <a:ea typeface="Open Sans"/>
                  <a:cs typeface="Open Sans"/>
                  <a:sym typeface="Open Sans"/>
                </a:rPr>
                <a:t>Yêu cầu cấp phát máy chủ ảo hóa chạy nền tảng </a:t>
              </a:r>
              <a:r>
                <a:rPr lang="en-US" sz="1687" b="true">
                  <a:solidFill>
                    <a:srgbClr val="475569"/>
                  </a:solidFill>
                  <a:latin typeface="Open Sans Bold"/>
                  <a:ea typeface="Open Sans Bold"/>
                  <a:cs typeface="Open Sans Bold"/>
                  <a:sym typeface="Open Sans Bold"/>
                </a:rPr>
                <a:t>Container Orchestration</a:t>
              </a:r>
              <a:r>
                <a:rPr lang="en-US" sz="1687">
                  <a:solidFill>
                    <a:srgbClr val="475569"/>
                  </a:solidFill>
                  <a:latin typeface="Open Sans"/>
                  <a:ea typeface="Open Sans"/>
                  <a:cs typeface="Open Sans"/>
                  <a:sym typeface="Open Sans"/>
                </a:rPr>
                <a:t>. Triển khai các bộ công cụ CI/CD để tự động hóa quá trình vận hành mã nguồn. Cần thiết lập mới các hệ quản trị CSDL quan hệ (tài chính) và phi quan hệ (nhật ký truy cập) kèm công cụ giám sát hiệu năng toàn mạng lưới.</a:t>
              </a:r>
            </a:p>
          </p:txBody>
        </p:sp>
        <p:grpSp>
          <p:nvGrpSpPr>
            <p:cNvPr name="Group 27" id="27"/>
            <p:cNvGrpSpPr/>
            <p:nvPr/>
          </p:nvGrpSpPr>
          <p:grpSpPr>
            <a:xfrm rot="0">
              <a:off x="3063773" y="1095375"/>
              <a:ext cx="666750" cy="533400"/>
              <a:chOff x="0" y="0"/>
              <a:chExt cx="666750" cy="533400"/>
            </a:xfrm>
          </p:grpSpPr>
          <p:sp>
            <p:nvSpPr>
              <p:cNvPr name="Freeform 28" id="28" descr="image.png"/>
              <p:cNvSpPr/>
              <p:nvPr/>
            </p:nvSpPr>
            <p:spPr>
              <a:xfrm flipH="false" flipV="false" rot="0">
                <a:off x="0" y="0"/>
                <a:ext cx="666750" cy="533400"/>
              </a:xfrm>
              <a:custGeom>
                <a:avLst/>
                <a:gdLst/>
                <a:ahLst/>
                <a:cxnLst/>
                <a:rect r="r" b="b" t="t" l="l"/>
                <a:pathLst>
                  <a:path h="533400" w="666750">
                    <a:moveTo>
                      <a:pt x="0" y="0"/>
                    </a:moveTo>
                    <a:lnTo>
                      <a:pt x="666750" y="0"/>
                    </a:lnTo>
                    <a:lnTo>
                      <a:pt x="666750" y="533400"/>
                    </a:lnTo>
                    <a:lnTo>
                      <a:pt x="0" y="533400"/>
                    </a:lnTo>
                    <a:lnTo>
                      <a:pt x="0" y="0"/>
                    </a:lnTo>
                    <a:close/>
                  </a:path>
                </a:pathLst>
              </a:custGeom>
              <a:blipFill>
                <a:blip r:embed="rId10"/>
                <a:stretch>
                  <a:fillRect l="0" t="-347" r="0" b="-347"/>
                </a:stretch>
              </a:blipFill>
            </p:spPr>
          </p:sp>
        </p:grpSp>
        <p:grpSp>
          <p:nvGrpSpPr>
            <p:cNvPr name="Group 29" id="29"/>
            <p:cNvGrpSpPr/>
            <p:nvPr/>
          </p:nvGrpSpPr>
          <p:grpSpPr>
            <a:xfrm rot="0">
              <a:off x="10401008" y="1095375"/>
              <a:ext cx="533400" cy="533400"/>
              <a:chOff x="0" y="0"/>
              <a:chExt cx="533400" cy="533400"/>
            </a:xfrm>
          </p:grpSpPr>
          <p:sp>
            <p:nvSpPr>
              <p:cNvPr name="Freeform 30" id="30" descr="image.png"/>
              <p:cNvSpPr/>
              <p:nvPr/>
            </p:nvSpPr>
            <p:spPr>
              <a:xfrm flipH="false" flipV="false" rot="0">
                <a:off x="0" y="0"/>
                <a:ext cx="533400" cy="533400"/>
              </a:xfrm>
              <a:custGeom>
                <a:avLst/>
                <a:gdLst/>
                <a:ahLst/>
                <a:cxnLst/>
                <a:rect r="r" b="b" t="t" l="l"/>
                <a:pathLst>
                  <a:path h="533400" w="533400">
                    <a:moveTo>
                      <a:pt x="0" y="0"/>
                    </a:moveTo>
                    <a:lnTo>
                      <a:pt x="533400" y="0"/>
                    </a:lnTo>
                    <a:lnTo>
                      <a:pt x="533400" y="533400"/>
                    </a:lnTo>
                    <a:lnTo>
                      <a:pt x="0" y="533400"/>
                    </a:lnTo>
                    <a:lnTo>
                      <a:pt x="0" y="0"/>
                    </a:lnTo>
                    <a:close/>
                  </a:path>
                </a:pathLst>
              </a:custGeom>
              <a:blipFill>
                <a:blip r:embed="rId11"/>
                <a:stretch>
                  <a:fillRect l="0" t="0" r="0" b="0"/>
                </a:stretch>
              </a:blipFill>
            </p:spPr>
          </p:sp>
        </p:grpSp>
        <p:grpSp>
          <p:nvGrpSpPr>
            <p:cNvPr name="Group 31" id="31"/>
            <p:cNvGrpSpPr/>
            <p:nvPr/>
          </p:nvGrpSpPr>
          <p:grpSpPr>
            <a:xfrm rot="0">
              <a:off x="17671847" y="1095375"/>
              <a:ext cx="533400" cy="533400"/>
              <a:chOff x="0" y="0"/>
              <a:chExt cx="533400" cy="533400"/>
            </a:xfrm>
          </p:grpSpPr>
          <p:sp>
            <p:nvSpPr>
              <p:cNvPr name="Freeform 32" id="32" descr="image.png"/>
              <p:cNvSpPr/>
              <p:nvPr/>
            </p:nvSpPr>
            <p:spPr>
              <a:xfrm flipH="false" flipV="false" rot="0">
                <a:off x="0" y="0"/>
                <a:ext cx="533400" cy="533400"/>
              </a:xfrm>
              <a:custGeom>
                <a:avLst/>
                <a:gdLst/>
                <a:ahLst/>
                <a:cxnLst/>
                <a:rect r="r" b="b" t="t" l="l"/>
                <a:pathLst>
                  <a:path h="533400" w="533400">
                    <a:moveTo>
                      <a:pt x="0" y="0"/>
                    </a:moveTo>
                    <a:lnTo>
                      <a:pt x="533400" y="0"/>
                    </a:lnTo>
                    <a:lnTo>
                      <a:pt x="533400" y="533400"/>
                    </a:lnTo>
                    <a:lnTo>
                      <a:pt x="0" y="533400"/>
                    </a:lnTo>
                    <a:lnTo>
                      <a:pt x="0" y="0"/>
                    </a:lnTo>
                    <a:close/>
                  </a:path>
                </a:pathLst>
              </a:custGeom>
              <a:blipFill>
                <a:blip r:embed="rId12"/>
                <a:stretch>
                  <a:fillRect l="0" t="0" r="0" b="0"/>
                </a:stretch>
              </a:blipFill>
            </p:spPr>
          </p:sp>
        </p:grpSp>
      </p:gr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000" y="1039667"/>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8955206"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THIẾT LẬP HỆ THỐNG CHỈ SỐ ĐO LƯỜNG HIỆU QUẢ (KPI)</a:t>
            </a:r>
          </a:p>
        </p:txBody>
      </p:sp>
      <p:grpSp>
        <p:nvGrpSpPr>
          <p:cNvPr name="Group 8" id="8"/>
          <p:cNvGrpSpPr/>
          <p:nvPr/>
        </p:nvGrpSpPr>
        <p:grpSpPr>
          <a:xfrm rot="0">
            <a:off x="1143000" y="2486025"/>
            <a:ext cx="16001771" cy="6397228"/>
            <a:chOff x="0" y="0"/>
            <a:chExt cx="21335695" cy="8529638"/>
          </a:xfrm>
        </p:grpSpPr>
        <p:grpSp>
          <p:nvGrpSpPr>
            <p:cNvPr name="Group 9" id="9"/>
            <p:cNvGrpSpPr/>
            <p:nvPr/>
          </p:nvGrpSpPr>
          <p:grpSpPr>
            <a:xfrm rot="0">
              <a:off x="0" y="0"/>
              <a:ext cx="6794297" cy="8529638"/>
              <a:chOff x="0" y="0"/>
              <a:chExt cx="6794297" cy="8529638"/>
            </a:xfrm>
          </p:grpSpPr>
          <p:sp>
            <p:nvSpPr>
              <p:cNvPr name="Freeform 10" id="10" descr="image.png"/>
              <p:cNvSpPr/>
              <p:nvPr/>
            </p:nvSpPr>
            <p:spPr>
              <a:xfrm flipH="false" flipV="false" rot="0">
                <a:off x="0" y="0"/>
                <a:ext cx="6794246" cy="8529574"/>
              </a:xfrm>
              <a:custGeom>
                <a:avLst/>
                <a:gdLst/>
                <a:ahLst/>
                <a:cxnLst/>
                <a:rect r="r" b="b" t="t" l="l"/>
                <a:pathLst>
                  <a:path h="8529574" w="6794246">
                    <a:moveTo>
                      <a:pt x="0" y="0"/>
                    </a:moveTo>
                    <a:lnTo>
                      <a:pt x="6794246" y="0"/>
                    </a:lnTo>
                    <a:lnTo>
                      <a:pt x="6794246" y="8529574"/>
                    </a:lnTo>
                    <a:lnTo>
                      <a:pt x="0" y="8529574"/>
                    </a:lnTo>
                    <a:lnTo>
                      <a:pt x="0" y="0"/>
                    </a:lnTo>
                    <a:close/>
                  </a:path>
                </a:pathLst>
              </a:custGeom>
              <a:blipFill>
                <a:blip r:embed="rId4"/>
                <a:stretch>
                  <a:fillRect l="-20" t="0" r="-21" b="0"/>
                </a:stretch>
              </a:blipFill>
            </p:spPr>
          </p:sp>
        </p:grpSp>
        <p:grpSp>
          <p:nvGrpSpPr>
            <p:cNvPr name="Group 11" id="11"/>
            <p:cNvGrpSpPr/>
            <p:nvPr/>
          </p:nvGrpSpPr>
          <p:grpSpPr>
            <a:xfrm rot="0">
              <a:off x="7270547" y="0"/>
              <a:ext cx="6794602" cy="8529638"/>
              <a:chOff x="0" y="0"/>
              <a:chExt cx="6794602" cy="8529638"/>
            </a:xfrm>
          </p:grpSpPr>
          <p:sp>
            <p:nvSpPr>
              <p:cNvPr name="Freeform 12" id="12" descr="image.png"/>
              <p:cNvSpPr/>
              <p:nvPr/>
            </p:nvSpPr>
            <p:spPr>
              <a:xfrm flipH="false" flipV="false" rot="0">
                <a:off x="0" y="0"/>
                <a:ext cx="6794627" cy="8529574"/>
              </a:xfrm>
              <a:custGeom>
                <a:avLst/>
                <a:gdLst/>
                <a:ahLst/>
                <a:cxnLst/>
                <a:rect r="r" b="b" t="t" l="l"/>
                <a:pathLst>
                  <a:path h="8529574" w="6794627">
                    <a:moveTo>
                      <a:pt x="0" y="0"/>
                    </a:moveTo>
                    <a:lnTo>
                      <a:pt x="6794627" y="0"/>
                    </a:lnTo>
                    <a:lnTo>
                      <a:pt x="6794627" y="8529574"/>
                    </a:lnTo>
                    <a:lnTo>
                      <a:pt x="0" y="8529574"/>
                    </a:lnTo>
                    <a:lnTo>
                      <a:pt x="0" y="0"/>
                    </a:lnTo>
                    <a:close/>
                  </a:path>
                </a:pathLst>
              </a:custGeom>
              <a:blipFill>
                <a:blip r:embed="rId5"/>
                <a:stretch>
                  <a:fillRect l="-158" t="0" r="-157" b="0"/>
                </a:stretch>
              </a:blipFill>
            </p:spPr>
          </p:sp>
        </p:grpSp>
        <p:grpSp>
          <p:nvGrpSpPr>
            <p:cNvPr name="Group 13" id="13"/>
            <p:cNvGrpSpPr/>
            <p:nvPr/>
          </p:nvGrpSpPr>
          <p:grpSpPr>
            <a:xfrm rot="0">
              <a:off x="14541398" y="0"/>
              <a:ext cx="6794297" cy="8529638"/>
              <a:chOff x="0" y="0"/>
              <a:chExt cx="6794297" cy="8529638"/>
            </a:xfrm>
          </p:grpSpPr>
          <p:sp>
            <p:nvSpPr>
              <p:cNvPr name="Freeform 14" id="14" descr="image.png"/>
              <p:cNvSpPr/>
              <p:nvPr/>
            </p:nvSpPr>
            <p:spPr>
              <a:xfrm flipH="false" flipV="false" rot="0">
                <a:off x="0" y="0"/>
                <a:ext cx="6794246" cy="8529574"/>
              </a:xfrm>
              <a:custGeom>
                <a:avLst/>
                <a:gdLst/>
                <a:ahLst/>
                <a:cxnLst/>
                <a:rect r="r" b="b" t="t" l="l"/>
                <a:pathLst>
                  <a:path h="8529574" w="6794246">
                    <a:moveTo>
                      <a:pt x="0" y="0"/>
                    </a:moveTo>
                    <a:lnTo>
                      <a:pt x="6794246" y="0"/>
                    </a:lnTo>
                    <a:lnTo>
                      <a:pt x="6794246" y="8529574"/>
                    </a:lnTo>
                    <a:lnTo>
                      <a:pt x="0" y="8529574"/>
                    </a:lnTo>
                    <a:lnTo>
                      <a:pt x="0" y="0"/>
                    </a:lnTo>
                    <a:close/>
                  </a:path>
                </a:pathLst>
              </a:custGeom>
              <a:blipFill>
                <a:blip r:embed="rId6"/>
                <a:stretch>
                  <a:fillRect l="-20" t="0" r="-21" b="0"/>
                </a:stretch>
              </a:blipFill>
            </p:spPr>
          </p:sp>
        </p:grpSp>
        <p:grpSp>
          <p:nvGrpSpPr>
            <p:cNvPr name="Group 15" id="15"/>
            <p:cNvGrpSpPr/>
            <p:nvPr/>
          </p:nvGrpSpPr>
          <p:grpSpPr>
            <a:xfrm rot="0">
              <a:off x="2778023" y="742950"/>
              <a:ext cx="1238250" cy="1238250"/>
              <a:chOff x="0" y="0"/>
              <a:chExt cx="1238250" cy="1238250"/>
            </a:xfrm>
          </p:grpSpPr>
          <p:sp>
            <p:nvSpPr>
              <p:cNvPr name="Freeform 16" id="16" descr="image.png"/>
              <p:cNvSpPr/>
              <p:nvPr/>
            </p:nvSpPr>
            <p:spPr>
              <a:xfrm flipH="false" flipV="false" rot="0">
                <a:off x="0" y="0"/>
                <a:ext cx="1238250" cy="1238250"/>
              </a:xfrm>
              <a:custGeom>
                <a:avLst/>
                <a:gdLst/>
                <a:ahLst/>
                <a:cxnLst/>
                <a:rect r="r" b="b" t="t" l="l"/>
                <a:pathLst>
                  <a:path h="1238250" w="1238250">
                    <a:moveTo>
                      <a:pt x="0" y="0"/>
                    </a:moveTo>
                    <a:lnTo>
                      <a:pt x="1238250" y="0"/>
                    </a:lnTo>
                    <a:lnTo>
                      <a:pt x="1238250" y="1238250"/>
                    </a:lnTo>
                    <a:lnTo>
                      <a:pt x="0" y="1238250"/>
                    </a:lnTo>
                    <a:lnTo>
                      <a:pt x="0" y="0"/>
                    </a:lnTo>
                    <a:close/>
                  </a:path>
                </a:pathLst>
              </a:custGeom>
              <a:blipFill>
                <a:blip r:embed="rId7"/>
                <a:stretch>
                  <a:fillRect l="-769" t="0" r="-769" b="0"/>
                </a:stretch>
              </a:blipFill>
            </p:spPr>
          </p:sp>
        </p:grpSp>
        <p:sp>
          <p:nvSpPr>
            <p:cNvPr name="TextBox 17" id="17"/>
            <p:cNvSpPr txBox="true"/>
            <p:nvPr/>
          </p:nvSpPr>
          <p:spPr>
            <a:xfrm rot="0">
              <a:off x="826833" y="2333625"/>
              <a:ext cx="5140642" cy="485775"/>
            </a:xfrm>
            <a:prstGeom prst="rect">
              <a:avLst/>
            </a:prstGeom>
          </p:spPr>
          <p:txBody>
            <a:bodyPr anchor="t" rtlCol="false" tIns="0" lIns="0" bIns="0" rIns="0">
              <a:spAutoFit/>
            </a:bodyPr>
            <a:lstStyle/>
            <a:p>
              <a:pPr algn="ctr">
                <a:lnSpc>
                  <a:spcPts val="2925"/>
                </a:lnSpc>
              </a:pPr>
              <a:r>
                <a:rPr lang="en-US" sz="2250" b="true">
                  <a:solidFill>
                    <a:srgbClr val="051C2C"/>
                  </a:solidFill>
                  <a:latin typeface="Montserrat Bold"/>
                  <a:ea typeface="Montserrat Bold"/>
                  <a:cs typeface="Montserrat Bold"/>
                  <a:sym typeface="Montserrat Bold"/>
                </a:rPr>
                <a:t>Hiệu Suất Kỹ Thuật</a:t>
              </a:r>
            </a:p>
          </p:txBody>
        </p:sp>
        <p:grpSp>
          <p:nvGrpSpPr>
            <p:cNvPr name="Group 18" id="18"/>
            <p:cNvGrpSpPr/>
            <p:nvPr/>
          </p:nvGrpSpPr>
          <p:grpSpPr>
            <a:xfrm rot="0">
              <a:off x="10048570" y="742950"/>
              <a:ext cx="1238250" cy="1238250"/>
              <a:chOff x="0" y="0"/>
              <a:chExt cx="1238250" cy="1238250"/>
            </a:xfrm>
          </p:grpSpPr>
          <p:sp>
            <p:nvSpPr>
              <p:cNvPr name="Freeform 19" id="19" descr="image.png"/>
              <p:cNvSpPr/>
              <p:nvPr/>
            </p:nvSpPr>
            <p:spPr>
              <a:xfrm flipH="false" flipV="false" rot="0">
                <a:off x="0" y="0"/>
                <a:ext cx="1238250" cy="1238250"/>
              </a:xfrm>
              <a:custGeom>
                <a:avLst/>
                <a:gdLst/>
                <a:ahLst/>
                <a:cxnLst/>
                <a:rect r="r" b="b" t="t" l="l"/>
                <a:pathLst>
                  <a:path h="1238250" w="1238250">
                    <a:moveTo>
                      <a:pt x="0" y="0"/>
                    </a:moveTo>
                    <a:lnTo>
                      <a:pt x="1238250" y="0"/>
                    </a:lnTo>
                    <a:lnTo>
                      <a:pt x="1238250" y="1238250"/>
                    </a:lnTo>
                    <a:lnTo>
                      <a:pt x="0" y="1238250"/>
                    </a:lnTo>
                    <a:lnTo>
                      <a:pt x="0" y="0"/>
                    </a:lnTo>
                    <a:close/>
                  </a:path>
                </a:pathLst>
              </a:custGeom>
              <a:blipFill>
                <a:blip r:embed="rId8"/>
                <a:stretch>
                  <a:fillRect l="-769" t="0" r="-769" b="0"/>
                </a:stretch>
              </a:blipFill>
            </p:spPr>
          </p:sp>
        </p:grpSp>
        <p:sp>
          <p:nvSpPr>
            <p:cNvPr name="TextBox 20" id="20"/>
            <p:cNvSpPr txBox="true"/>
            <p:nvPr/>
          </p:nvSpPr>
          <p:spPr>
            <a:xfrm rot="0">
              <a:off x="7797343" y="2333625"/>
              <a:ext cx="5740718" cy="485775"/>
            </a:xfrm>
            <a:prstGeom prst="rect">
              <a:avLst/>
            </a:prstGeom>
          </p:spPr>
          <p:txBody>
            <a:bodyPr anchor="t" rtlCol="false" tIns="0" lIns="0" bIns="0" rIns="0">
              <a:spAutoFit/>
            </a:bodyPr>
            <a:lstStyle/>
            <a:p>
              <a:pPr algn="ctr">
                <a:lnSpc>
                  <a:spcPts val="2925"/>
                </a:lnSpc>
              </a:pPr>
              <a:r>
                <a:rPr lang="en-US" sz="2250" b="true">
                  <a:solidFill>
                    <a:srgbClr val="051C2C"/>
                  </a:solidFill>
                  <a:latin typeface="Montserrat Bold"/>
                  <a:ea typeface="Montserrat Bold"/>
                  <a:cs typeface="Montserrat Bold"/>
                  <a:sym typeface="Montserrat Bold"/>
                </a:rPr>
                <a:t>Hiệu Quả Kinh Doanh</a:t>
              </a:r>
            </a:p>
          </p:txBody>
        </p:sp>
        <p:grpSp>
          <p:nvGrpSpPr>
            <p:cNvPr name="Group 21" id="21"/>
            <p:cNvGrpSpPr/>
            <p:nvPr/>
          </p:nvGrpSpPr>
          <p:grpSpPr>
            <a:xfrm rot="0">
              <a:off x="17319422" y="742950"/>
              <a:ext cx="1238250" cy="1238250"/>
              <a:chOff x="0" y="0"/>
              <a:chExt cx="1238250" cy="1238250"/>
            </a:xfrm>
          </p:grpSpPr>
          <p:sp>
            <p:nvSpPr>
              <p:cNvPr name="Freeform 22" id="22" descr="image.png"/>
              <p:cNvSpPr/>
              <p:nvPr/>
            </p:nvSpPr>
            <p:spPr>
              <a:xfrm flipH="false" flipV="false" rot="0">
                <a:off x="0" y="0"/>
                <a:ext cx="1238250" cy="1238250"/>
              </a:xfrm>
              <a:custGeom>
                <a:avLst/>
                <a:gdLst/>
                <a:ahLst/>
                <a:cxnLst/>
                <a:rect r="r" b="b" t="t" l="l"/>
                <a:pathLst>
                  <a:path h="1238250" w="1238250">
                    <a:moveTo>
                      <a:pt x="0" y="0"/>
                    </a:moveTo>
                    <a:lnTo>
                      <a:pt x="1238250" y="0"/>
                    </a:lnTo>
                    <a:lnTo>
                      <a:pt x="1238250" y="1238250"/>
                    </a:lnTo>
                    <a:lnTo>
                      <a:pt x="0" y="1238250"/>
                    </a:lnTo>
                    <a:lnTo>
                      <a:pt x="0" y="0"/>
                    </a:lnTo>
                    <a:close/>
                  </a:path>
                </a:pathLst>
              </a:custGeom>
              <a:blipFill>
                <a:blip r:embed="rId9"/>
                <a:stretch>
                  <a:fillRect l="-769" t="0" r="-769" b="0"/>
                </a:stretch>
              </a:blipFill>
            </p:spPr>
          </p:sp>
        </p:grpSp>
        <p:sp>
          <p:nvSpPr>
            <p:cNvPr name="TextBox 23" id="23"/>
            <p:cNvSpPr txBox="true"/>
            <p:nvPr/>
          </p:nvSpPr>
          <p:spPr>
            <a:xfrm rot="0">
              <a:off x="15248217" y="2333625"/>
              <a:ext cx="5380672" cy="485775"/>
            </a:xfrm>
            <a:prstGeom prst="rect">
              <a:avLst/>
            </a:prstGeom>
          </p:spPr>
          <p:txBody>
            <a:bodyPr anchor="t" rtlCol="false" tIns="0" lIns="0" bIns="0" rIns="0">
              <a:spAutoFit/>
            </a:bodyPr>
            <a:lstStyle/>
            <a:p>
              <a:pPr algn="ctr">
                <a:lnSpc>
                  <a:spcPts val="2925"/>
                </a:lnSpc>
              </a:pPr>
              <a:r>
                <a:rPr lang="en-US" sz="2250" b="true">
                  <a:solidFill>
                    <a:srgbClr val="051C2C"/>
                  </a:solidFill>
                  <a:latin typeface="Montserrat Bold"/>
                  <a:ea typeface="Montserrat Bold"/>
                  <a:cs typeface="Montserrat Bold"/>
                  <a:sym typeface="Montserrat Bold"/>
                </a:rPr>
                <a:t>Bảo Mật &amp; Tuân Thủ</a:t>
              </a:r>
            </a:p>
          </p:txBody>
        </p:sp>
        <p:grpSp>
          <p:nvGrpSpPr>
            <p:cNvPr name="Group 24" id="24"/>
            <p:cNvGrpSpPr/>
            <p:nvPr/>
          </p:nvGrpSpPr>
          <p:grpSpPr>
            <a:xfrm rot="0">
              <a:off x="3130448" y="1095375"/>
              <a:ext cx="533400" cy="533400"/>
              <a:chOff x="0" y="0"/>
              <a:chExt cx="533400" cy="533400"/>
            </a:xfrm>
          </p:grpSpPr>
          <p:sp>
            <p:nvSpPr>
              <p:cNvPr name="Freeform 25" id="25" descr="image.png"/>
              <p:cNvSpPr/>
              <p:nvPr/>
            </p:nvSpPr>
            <p:spPr>
              <a:xfrm flipH="false" flipV="false" rot="0">
                <a:off x="0" y="0"/>
                <a:ext cx="533400" cy="533400"/>
              </a:xfrm>
              <a:custGeom>
                <a:avLst/>
                <a:gdLst/>
                <a:ahLst/>
                <a:cxnLst/>
                <a:rect r="r" b="b" t="t" l="l"/>
                <a:pathLst>
                  <a:path h="533400" w="533400">
                    <a:moveTo>
                      <a:pt x="0" y="0"/>
                    </a:moveTo>
                    <a:lnTo>
                      <a:pt x="533400" y="0"/>
                    </a:lnTo>
                    <a:lnTo>
                      <a:pt x="533400" y="533400"/>
                    </a:lnTo>
                    <a:lnTo>
                      <a:pt x="0" y="533400"/>
                    </a:lnTo>
                    <a:lnTo>
                      <a:pt x="0" y="0"/>
                    </a:lnTo>
                    <a:close/>
                  </a:path>
                </a:pathLst>
              </a:custGeom>
              <a:blipFill>
                <a:blip r:embed="rId10"/>
                <a:stretch>
                  <a:fillRect l="0" t="0" r="0" b="0"/>
                </a:stretch>
              </a:blipFill>
            </p:spPr>
          </p:sp>
        </p:grpSp>
        <p:sp>
          <p:nvSpPr>
            <p:cNvPr name="TextBox 26" id="26"/>
            <p:cNvSpPr txBox="true"/>
            <p:nvPr/>
          </p:nvSpPr>
          <p:spPr>
            <a:xfrm rot="0">
              <a:off x="952500" y="3095625"/>
              <a:ext cx="5346497" cy="1328737"/>
            </a:xfrm>
            <a:prstGeom prst="rect">
              <a:avLst/>
            </a:prstGeom>
          </p:spPr>
          <p:txBody>
            <a:bodyPr anchor="t" rtlCol="false" tIns="0" lIns="0" bIns="0" rIns="0">
              <a:spAutoFit/>
            </a:bodyPr>
            <a:lstStyle/>
            <a:p>
              <a:pPr algn="l">
                <a:lnSpc>
                  <a:spcPts val="2446"/>
                </a:lnSpc>
              </a:pPr>
              <a:r>
                <a:rPr lang="en-US" sz="1630" b="true">
                  <a:solidFill>
                    <a:srgbClr val="051C2C"/>
                  </a:solidFill>
                  <a:latin typeface="Open Sans Bold"/>
                  <a:ea typeface="Open Sans Bold"/>
                  <a:cs typeface="Open Sans Bold"/>
                  <a:sym typeface="Open Sans Bold"/>
                </a:rPr>
                <a:t>Tỷ lệ thời gian hoạt động:</a:t>
              </a:r>
              <a:r>
                <a:rPr lang="en-US" sz="1630">
                  <a:solidFill>
                    <a:srgbClr val="475569"/>
                  </a:solidFill>
                  <a:latin typeface="Open Sans"/>
                  <a:ea typeface="Open Sans"/>
                  <a:cs typeface="Open Sans"/>
                  <a:sym typeface="Open Sans"/>
                </a:rPr>
                <a:t> Đạt mục tiêu 99.9%, không bị gián đoạn dịch vụ trong các kỳ nghỉ lễ.</a:t>
              </a:r>
            </a:p>
          </p:txBody>
        </p:sp>
        <p:sp>
          <p:nvSpPr>
            <p:cNvPr name="TextBox 27" id="27"/>
            <p:cNvSpPr txBox="true"/>
            <p:nvPr/>
          </p:nvSpPr>
          <p:spPr>
            <a:xfrm rot="0">
              <a:off x="952500" y="4662487"/>
              <a:ext cx="5346497" cy="1328737"/>
            </a:xfrm>
            <a:prstGeom prst="rect">
              <a:avLst/>
            </a:prstGeom>
          </p:spPr>
          <p:txBody>
            <a:bodyPr anchor="t" rtlCol="false" tIns="0" lIns="0" bIns="0" rIns="0">
              <a:spAutoFit/>
            </a:bodyPr>
            <a:lstStyle/>
            <a:p>
              <a:pPr algn="l">
                <a:lnSpc>
                  <a:spcPts val="2446"/>
                </a:lnSpc>
              </a:pPr>
              <a:r>
                <a:rPr lang="en-US" sz="1630" b="true">
                  <a:solidFill>
                    <a:srgbClr val="051C2C"/>
                  </a:solidFill>
                  <a:latin typeface="Open Sans Bold"/>
                  <a:ea typeface="Open Sans Bold"/>
                  <a:cs typeface="Open Sans Bold"/>
                  <a:sym typeface="Open Sans Bold"/>
                </a:rPr>
                <a:t>Thời gian phản hồi trung bình:</a:t>
              </a:r>
              <a:r>
                <a:rPr lang="en-US" sz="1630">
                  <a:solidFill>
                    <a:srgbClr val="475569"/>
                  </a:solidFill>
                  <a:latin typeface="Open Sans"/>
                  <a:ea typeface="Open Sans"/>
                  <a:cs typeface="Open Sans"/>
                  <a:sym typeface="Open Sans"/>
                </a:rPr>
                <a:t> Độ trễ cực thấp từ khi tra cứu đến khi trả về dữ liệu tồn kho.</a:t>
              </a:r>
            </a:p>
          </p:txBody>
        </p:sp>
        <p:sp>
          <p:nvSpPr>
            <p:cNvPr name="TextBox 28" id="28"/>
            <p:cNvSpPr txBox="true"/>
            <p:nvPr/>
          </p:nvSpPr>
          <p:spPr>
            <a:xfrm rot="0">
              <a:off x="952500" y="6229350"/>
              <a:ext cx="5346497" cy="1328737"/>
            </a:xfrm>
            <a:prstGeom prst="rect">
              <a:avLst/>
            </a:prstGeom>
          </p:spPr>
          <p:txBody>
            <a:bodyPr anchor="t" rtlCol="false" tIns="0" lIns="0" bIns="0" rIns="0">
              <a:spAutoFit/>
            </a:bodyPr>
            <a:lstStyle/>
            <a:p>
              <a:pPr algn="l">
                <a:lnSpc>
                  <a:spcPts val="2446"/>
                </a:lnSpc>
              </a:pPr>
              <a:r>
                <a:rPr lang="en-US" sz="1630" b="true">
                  <a:solidFill>
                    <a:srgbClr val="051C2C"/>
                  </a:solidFill>
                  <a:latin typeface="Open Sans Bold"/>
                  <a:ea typeface="Open Sans Bold"/>
                  <a:cs typeface="Open Sans Bold"/>
                  <a:sym typeface="Open Sans Bold"/>
                </a:rPr>
                <a:t>Thông lượng giao dịch:</a:t>
              </a:r>
              <a:r>
                <a:rPr lang="en-US" sz="1630">
                  <a:solidFill>
                    <a:srgbClr val="475569"/>
                  </a:solidFill>
                  <a:latin typeface="Open Sans"/>
                  <a:ea typeface="Open Sans"/>
                  <a:cs typeface="Open Sans"/>
                  <a:sym typeface="Open Sans"/>
                </a:rPr>
                <a:t> Số đơn hàng xử lý song song mỗi giây mà không xảy ra lỗi đồng bộ.</a:t>
              </a:r>
            </a:p>
          </p:txBody>
        </p:sp>
        <p:grpSp>
          <p:nvGrpSpPr>
            <p:cNvPr name="Group 29" id="29"/>
            <p:cNvGrpSpPr/>
            <p:nvPr/>
          </p:nvGrpSpPr>
          <p:grpSpPr>
            <a:xfrm rot="0">
              <a:off x="10401008" y="1095375"/>
              <a:ext cx="533400" cy="533400"/>
              <a:chOff x="0" y="0"/>
              <a:chExt cx="533400" cy="533400"/>
            </a:xfrm>
          </p:grpSpPr>
          <p:sp>
            <p:nvSpPr>
              <p:cNvPr name="Freeform 30" id="30" descr="image.png"/>
              <p:cNvSpPr/>
              <p:nvPr/>
            </p:nvSpPr>
            <p:spPr>
              <a:xfrm flipH="false" flipV="false" rot="0">
                <a:off x="0" y="0"/>
                <a:ext cx="533400" cy="533400"/>
              </a:xfrm>
              <a:custGeom>
                <a:avLst/>
                <a:gdLst/>
                <a:ahLst/>
                <a:cxnLst/>
                <a:rect r="r" b="b" t="t" l="l"/>
                <a:pathLst>
                  <a:path h="533400" w="533400">
                    <a:moveTo>
                      <a:pt x="0" y="0"/>
                    </a:moveTo>
                    <a:lnTo>
                      <a:pt x="533400" y="0"/>
                    </a:lnTo>
                    <a:lnTo>
                      <a:pt x="533400" y="533400"/>
                    </a:lnTo>
                    <a:lnTo>
                      <a:pt x="0" y="533400"/>
                    </a:lnTo>
                    <a:lnTo>
                      <a:pt x="0" y="0"/>
                    </a:lnTo>
                    <a:close/>
                  </a:path>
                </a:pathLst>
              </a:custGeom>
              <a:blipFill>
                <a:blip r:embed="rId11"/>
                <a:stretch>
                  <a:fillRect l="0" t="0" r="0" b="0"/>
                </a:stretch>
              </a:blipFill>
            </p:spPr>
          </p:sp>
        </p:grpSp>
        <p:sp>
          <p:nvSpPr>
            <p:cNvPr name="TextBox 31" id="31"/>
            <p:cNvSpPr txBox="true"/>
            <p:nvPr/>
          </p:nvSpPr>
          <p:spPr>
            <a:xfrm rot="0">
              <a:off x="8223047" y="3095625"/>
              <a:ext cx="5346802" cy="1328737"/>
            </a:xfrm>
            <a:prstGeom prst="rect">
              <a:avLst/>
            </a:prstGeom>
          </p:spPr>
          <p:txBody>
            <a:bodyPr anchor="t" rtlCol="false" tIns="0" lIns="0" bIns="0" rIns="0">
              <a:spAutoFit/>
            </a:bodyPr>
            <a:lstStyle/>
            <a:p>
              <a:pPr algn="l">
                <a:lnSpc>
                  <a:spcPts val="2446"/>
                </a:lnSpc>
              </a:pPr>
              <a:r>
                <a:rPr lang="en-US" sz="1630" b="true">
                  <a:solidFill>
                    <a:srgbClr val="051C2C"/>
                  </a:solidFill>
                  <a:latin typeface="Open Sans Bold"/>
                  <a:ea typeface="Open Sans Bold"/>
                  <a:cs typeface="Open Sans Bold"/>
                  <a:sym typeface="Open Sans Bold"/>
                </a:rPr>
                <a:t>Tỷ lệ lỗi Overbooking:</a:t>
              </a:r>
              <a:r>
                <a:rPr lang="en-US" sz="1630">
                  <a:solidFill>
                    <a:srgbClr val="475569"/>
                  </a:solidFill>
                  <a:latin typeface="Open Sans"/>
                  <a:ea typeface="Open Sans"/>
                  <a:cs typeface="Open Sans"/>
                  <a:sym typeface="Open Sans"/>
                </a:rPr>
                <a:t> Sụt giảm về 0, minh chứng cho thành công của luồng đồng bộ thời gian thực.</a:t>
              </a:r>
            </a:p>
          </p:txBody>
        </p:sp>
        <p:sp>
          <p:nvSpPr>
            <p:cNvPr name="TextBox 32" id="32"/>
            <p:cNvSpPr txBox="true"/>
            <p:nvPr/>
          </p:nvSpPr>
          <p:spPr>
            <a:xfrm rot="0">
              <a:off x="8223047" y="4662487"/>
              <a:ext cx="5346802" cy="1328737"/>
            </a:xfrm>
            <a:prstGeom prst="rect">
              <a:avLst/>
            </a:prstGeom>
          </p:spPr>
          <p:txBody>
            <a:bodyPr anchor="t" rtlCol="false" tIns="0" lIns="0" bIns="0" rIns="0">
              <a:spAutoFit/>
            </a:bodyPr>
            <a:lstStyle/>
            <a:p>
              <a:pPr algn="l">
                <a:lnSpc>
                  <a:spcPts val="2446"/>
                </a:lnSpc>
              </a:pPr>
              <a:r>
                <a:rPr lang="en-US" sz="1630" b="true">
                  <a:solidFill>
                    <a:srgbClr val="051C2C"/>
                  </a:solidFill>
                  <a:latin typeface="Open Sans Bold"/>
                  <a:ea typeface="Open Sans Bold"/>
                  <a:cs typeface="Open Sans Bold"/>
                  <a:sym typeface="Open Sans Bold"/>
                </a:rPr>
                <a:t>Tỷ lệ chuyển đổi bán chéo:</a:t>
              </a:r>
              <a:r>
                <a:rPr lang="en-US" sz="1630">
                  <a:solidFill>
                    <a:srgbClr val="475569"/>
                  </a:solidFill>
                  <a:latin typeface="Open Sans"/>
                  <a:ea typeface="Open Sans"/>
                  <a:cs typeface="Open Sans"/>
                  <a:sym typeface="Open Sans"/>
                </a:rPr>
                <a:t> Khách mua thêm dịch vụ (bảo hiểm, xe) sau khi được phân tích CRM đề xuất.</a:t>
              </a:r>
            </a:p>
          </p:txBody>
        </p:sp>
        <p:sp>
          <p:nvSpPr>
            <p:cNvPr name="TextBox 33" id="33"/>
            <p:cNvSpPr txBox="true"/>
            <p:nvPr/>
          </p:nvSpPr>
          <p:spPr>
            <a:xfrm rot="0">
              <a:off x="8223047" y="6229350"/>
              <a:ext cx="5346802" cy="1328737"/>
            </a:xfrm>
            <a:prstGeom prst="rect">
              <a:avLst/>
            </a:prstGeom>
          </p:spPr>
          <p:txBody>
            <a:bodyPr anchor="t" rtlCol="false" tIns="0" lIns="0" bIns="0" rIns="0">
              <a:spAutoFit/>
            </a:bodyPr>
            <a:lstStyle/>
            <a:p>
              <a:pPr algn="l">
                <a:lnSpc>
                  <a:spcPts val="2446"/>
                </a:lnSpc>
              </a:pPr>
              <a:r>
                <a:rPr lang="en-US" sz="1630" b="true">
                  <a:solidFill>
                    <a:srgbClr val="051C2C"/>
                  </a:solidFill>
                  <a:latin typeface="Open Sans Bold"/>
                  <a:ea typeface="Open Sans Bold"/>
                  <a:cs typeface="Open Sans Bold"/>
                  <a:sym typeface="Open Sans Bold"/>
                </a:rPr>
                <a:t>Tổng chi phí sở hữu (TCO):</a:t>
              </a:r>
              <a:r>
                <a:rPr lang="en-US" sz="1630">
                  <a:solidFill>
                    <a:srgbClr val="475569"/>
                  </a:solidFill>
                  <a:latin typeface="Open Sans"/>
                  <a:ea typeface="Open Sans"/>
                  <a:cs typeface="Open Sans"/>
                  <a:sym typeface="Open Sans"/>
                </a:rPr>
                <a:t> Giảm thiểu chi phí quản lý máy chủ vật lý khi lên điện toán đám mây.</a:t>
              </a:r>
            </a:p>
          </p:txBody>
        </p:sp>
        <p:grpSp>
          <p:nvGrpSpPr>
            <p:cNvPr name="Group 34" id="34"/>
            <p:cNvGrpSpPr/>
            <p:nvPr/>
          </p:nvGrpSpPr>
          <p:grpSpPr>
            <a:xfrm rot="0">
              <a:off x="17671847" y="1095375"/>
              <a:ext cx="533400" cy="533400"/>
              <a:chOff x="0" y="0"/>
              <a:chExt cx="533400" cy="533400"/>
            </a:xfrm>
          </p:grpSpPr>
          <p:sp>
            <p:nvSpPr>
              <p:cNvPr name="Freeform 35" id="35" descr="image.png"/>
              <p:cNvSpPr/>
              <p:nvPr/>
            </p:nvSpPr>
            <p:spPr>
              <a:xfrm flipH="false" flipV="false" rot="0">
                <a:off x="0" y="0"/>
                <a:ext cx="533400" cy="533400"/>
              </a:xfrm>
              <a:custGeom>
                <a:avLst/>
                <a:gdLst/>
                <a:ahLst/>
                <a:cxnLst/>
                <a:rect r="r" b="b" t="t" l="l"/>
                <a:pathLst>
                  <a:path h="533400" w="533400">
                    <a:moveTo>
                      <a:pt x="0" y="0"/>
                    </a:moveTo>
                    <a:lnTo>
                      <a:pt x="533400" y="0"/>
                    </a:lnTo>
                    <a:lnTo>
                      <a:pt x="533400" y="533400"/>
                    </a:lnTo>
                    <a:lnTo>
                      <a:pt x="0" y="533400"/>
                    </a:lnTo>
                    <a:lnTo>
                      <a:pt x="0" y="0"/>
                    </a:lnTo>
                    <a:close/>
                  </a:path>
                </a:pathLst>
              </a:custGeom>
              <a:blipFill>
                <a:blip r:embed="rId12"/>
                <a:stretch>
                  <a:fillRect l="0" t="0" r="0" b="0"/>
                </a:stretch>
              </a:blipFill>
            </p:spPr>
          </p:sp>
        </p:grpSp>
        <p:sp>
          <p:nvSpPr>
            <p:cNvPr name="TextBox 36" id="36"/>
            <p:cNvSpPr txBox="true"/>
            <p:nvPr/>
          </p:nvSpPr>
          <p:spPr>
            <a:xfrm rot="0">
              <a:off x="15493898" y="3095625"/>
              <a:ext cx="5346497" cy="1328737"/>
            </a:xfrm>
            <a:prstGeom prst="rect">
              <a:avLst/>
            </a:prstGeom>
          </p:spPr>
          <p:txBody>
            <a:bodyPr anchor="t" rtlCol="false" tIns="0" lIns="0" bIns="0" rIns="0">
              <a:spAutoFit/>
            </a:bodyPr>
            <a:lstStyle/>
            <a:p>
              <a:pPr algn="l">
                <a:lnSpc>
                  <a:spcPts val="2446"/>
                </a:lnSpc>
              </a:pPr>
              <a:r>
                <a:rPr lang="en-US" sz="1630" b="true">
                  <a:solidFill>
                    <a:srgbClr val="051C2C"/>
                  </a:solidFill>
                  <a:latin typeface="Open Sans Bold"/>
                  <a:ea typeface="Open Sans Bold"/>
                  <a:cs typeface="Open Sans Bold"/>
                  <a:sym typeface="Open Sans Bold"/>
                </a:rPr>
                <a:t>Số lượng sự kiện bảo mật:</a:t>
              </a:r>
              <a:r>
                <a:rPr lang="en-US" sz="1630">
                  <a:solidFill>
                    <a:srgbClr val="475569"/>
                  </a:solidFill>
                  <a:latin typeface="Open Sans"/>
                  <a:ea typeface="Open Sans"/>
                  <a:cs typeface="Open Sans"/>
                  <a:sym typeface="Open Sans"/>
                </a:rPr>
                <a:t> Phát hiện kịp thời truy cập bất hợp pháp hoặc nỗ lực tiêm mã độc.</a:t>
              </a:r>
            </a:p>
          </p:txBody>
        </p:sp>
        <p:sp>
          <p:nvSpPr>
            <p:cNvPr name="TextBox 37" id="37"/>
            <p:cNvSpPr txBox="true"/>
            <p:nvPr/>
          </p:nvSpPr>
          <p:spPr>
            <a:xfrm rot="0">
              <a:off x="15493898" y="4662487"/>
              <a:ext cx="5346497" cy="1328737"/>
            </a:xfrm>
            <a:prstGeom prst="rect">
              <a:avLst/>
            </a:prstGeom>
          </p:spPr>
          <p:txBody>
            <a:bodyPr anchor="t" rtlCol="false" tIns="0" lIns="0" bIns="0" rIns="0">
              <a:spAutoFit/>
            </a:bodyPr>
            <a:lstStyle/>
            <a:p>
              <a:pPr algn="l">
                <a:lnSpc>
                  <a:spcPts val="2446"/>
                </a:lnSpc>
              </a:pPr>
              <a:r>
                <a:rPr lang="en-US" sz="1630" b="true">
                  <a:solidFill>
                    <a:srgbClr val="051C2C"/>
                  </a:solidFill>
                  <a:latin typeface="Open Sans Bold"/>
                  <a:ea typeface="Open Sans Bold"/>
                  <a:cs typeface="Open Sans Bold"/>
                  <a:sym typeface="Open Sans Bold"/>
                </a:rPr>
                <a:t>Thời gian khắc phục sự cố (MTTR):</a:t>
              </a:r>
              <a:r>
                <a:rPr lang="en-US" sz="1630">
                  <a:solidFill>
                    <a:srgbClr val="475569"/>
                  </a:solidFill>
                  <a:latin typeface="Open Sans"/>
                  <a:ea typeface="Open Sans"/>
                  <a:cs typeface="Open Sans"/>
                  <a:sym typeface="Open Sans"/>
                </a:rPr>
                <a:t> Tốc độ vô hiệu hóa DDoS và khôi phục hoạt động bình thường.</a:t>
              </a:r>
            </a:p>
          </p:txBody>
        </p:sp>
        <p:sp>
          <p:nvSpPr>
            <p:cNvPr name="TextBox 38" id="38"/>
            <p:cNvSpPr txBox="true"/>
            <p:nvPr/>
          </p:nvSpPr>
          <p:spPr>
            <a:xfrm rot="0">
              <a:off x="15493898" y="6229350"/>
              <a:ext cx="5346497" cy="1328737"/>
            </a:xfrm>
            <a:prstGeom prst="rect">
              <a:avLst/>
            </a:prstGeom>
          </p:spPr>
          <p:txBody>
            <a:bodyPr anchor="t" rtlCol="false" tIns="0" lIns="0" bIns="0" rIns="0">
              <a:spAutoFit/>
            </a:bodyPr>
            <a:lstStyle/>
            <a:p>
              <a:pPr algn="l">
                <a:lnSpc>
                  <a:spcPts val="2446"/>
                </a:lnSpc>
              </a:pPr>
              <a:r>
                <a:rPr lang="en-US" sz="1630" b="true">
                  <a:solidFill>
                    <a:srgbClr val="051C2C"/>
                  </a:solidFill>
                  <a:latin typeface="Open Sans Bold"/>
                  <a:ea typeface="Open Sans Bold"/>
                  <a:cs typeface="Open Sans Bold"/>
                  <a:sym typeface="Open Sans Bold"/>
                </a:rPr>
                <a:t>Tỷ lệ tuân thủ tiêu chuẩn:</a:t>
              </a:r>
              <a:r>
                <a:rPr lang="en-US" sz="1630">
                  <a:solidFill>
                    <a:srgbClr val="475569"/>
                  </a:solidFill>
                  <a:latin typeface="Open Sans"/>
                  <a:ea typeface="Open Sans"/>
                  <a:cs typeface="Open Sans"/>
                  <a:sym typeface="Open Sans"/>
                </a:rPr>
                <a:t> Đảm bảo 100% máy POS và cơ sở dữ liệu vượt qua kiểm tra PCI DSS.</a:t>
              </a:r>
            </a:p>
          </p:txBody>
        </p:sp>
        <p:grpSp>
          <p:nvGrpSpPr>
            <p:cNvPr name="Group 39" id="39"/>
            <p:cNvGrpSpPr/>
            <p:nvPr/>
          </p:nvGrpSpPr>
          <p:grpSpPr>
            <a:xfrm rot="0">
              <a:off x="495300" y="3181350"/>
              <a:ext cx="266700" cy="285750"/>
              <a:chOff x="0" y="0"/>
              <a:chExt cx="266700" cy="285750"/>
            </a:xfrm>
          </p:grpSpPr>
          <p:sp>
            <p:nvSpPr>
              <p:cNvPr name="Freeform 40" id="40" descr="image.png"/>
              <p:cNvSpPr/>
              <p:nvPr/>
            </p:nvSpPr>
            <p:spPr>
              <a:xfrm flipH="false" flipV="false" rot="0">
                <a:off x="0" y="0"/>
                <a:ext cx="266700" cy="285750"/>
              </a:xfrm>
              <a:custGeom>
                <a:avLst/>
                <a:gdLst/>
                <a:ahLst/>
                <a:cxnLst/>
                <a:rect r="r" b="b" t="t" l="l"/>
                <a:pathLst>
                  <a:path h="285750" w="266700">
                    <a:moveTo>
                      <a:pt x="0" y="0"/>
                    </a:moveTo>
                    <a:lnTo>
                      <a:pt x="266700" y="0"/>
                    </a:lnTo>
                    <a:lnTo>
                      <a:pt x="266700" y="285750"/>
                    </a:lnTo>
                    <a:lnTo>
                      <a:pt x="0" y="285750"/>
                    </a:lnTo>
                    <a:lnTo>
                      <a:pt x="0" y="0"/>
                    </a:lnTo>
                    <a:close/>
                  </a:path>
                </a:pathLst>
              </a:custGeom>
              <a:blipFill>
                <a:blip r:embed="rId13"/>
                <a:stretch>
                  <a:fillRect l="0" t="0" r="0" b="0"/>
                </a:stretch>
              </a:blipFill>
            </p:spPr>
          </p:sp>
        </p:grpSp>
        <p:grpSp>
          <p:nvGrpSpPr>
            <p:cNvPr name="Group 41" id="41"/>
            <p:cNvGrpSpPr/>
            <p:nvPr/>
          </p:nvGrpSpPr>
          <p:grpSpPr>
            <a:xfrm rot="0">
              <a:off x="495300" y="4748212"/>
              <a:ext cx="266700" cy="285750"/>
              <a:chOff x="0" y="0"/>
              <a:chExt cx="266700" cy="285750"/>
            </a:xfrm>
          </p:grpSpPr>
          <p:sp>
            <p:nvSpPr>
              <p:cNvPr name="Freeform 42" id="42" descr="image.png"/>
              <p:cNvSpPr/>
              <p:nvPr/>
            </p:nvSpPr>
            <p:spPr>
              <a:xfrm flipH="false" flipV="false" rot="0">
                <a:off x="0" y="0"/>
                <a:ext cx="266700" cy="285750"/>
              </a:xfrm>
              <a:custGeom>
                <a:avLst/>
                <a:gdLst/>
                <a:ahLst/>
                <a:cxnLst/>
                <a:rect r="r" b="b" t="t" l="l"/>
                <a:pathLst>
                  <a:path h="285750" w="266700">
                    <a:moveTo>
                      <a:pt x="0" y="0"/>
                    </a:moveTo>
                    <a:lnTo>
                      <a:pt x="266700" y="0"/>
                    </a:lnTo>
                    <a:lnTo>
                      <a:pt x="266700" y="285750"/>
                    </a:lnTo>
                    <a:lnTo>
                      <a:pt x="0" y="285750"/>
                    </a:lnTo>
                    <a:lnTo>
                      <a:pt x="0" y="0"/>
                    </a:lnTo>
                    <a:close/>
                  </a:path>
                </a:pathLst>
              </a:custGeom>
              <a:blipFill>
                <a:blip r:embed="rId13"/>
                <a:stretch>
                  <a:fillRect l="0" t="0" r="0" b="0"/>
                </a:stretch>
              </a:blipFill>
            </p:spPr>
          </p:sp>
        </p:grpSp>
        <p:grpSp>
          <p:nvGrpSpPr>
            <p:cNvPr name="Group 43" id="43"/>
            <p:cNvGrpSpPr/>
            <p:nvPr/>
          </p:nvGrpSpPr>
          <p:grpSpPr>
            <a:xfrm rot="0">
              <a:off x="495300" y="6315075"/>
              <a:ext cx="266700" cy="285750"/>
              <a:chOff x="0" y="0"/>
              <a:chExt cx="266700" cy="285750"/>
            </a:xfrm>
          </p:grpSpPr>
          <p:sp>
            <p:nvSpPr>
              <p:cNvPr name="Freeform 44" id="44" descr="image.png"/>
              <p:cNvSpPr/>
              <p:nvPr/>
            </p:nvSpPr>
            <p:spPr>
              <a:xfrm flipH="false" flipV="false" rot="0">
                <a:off x="0" y="0"/>
                <a:ext cx="266700" cy="285750"/>
              </a:xfrm>
              <a:custGeom>
                <a:avLst/>
                <a:gdLst/>
                <a:ahLst/>
                <a:cxnLst/>
                <a:rect r="r" b="b" t="t" l="l"/>
                <a:pathLst>
                  <a:path h="285750" w="266700">
                    <a:moveTo>
                      <a:pt x="0" y="0"/>
                    </a:moveTo>
                    <a:lnTo>
                      <a:pt x="266700" y="0"/>
                    </a:lnTo>
                    <a:lnTo>
                      <a:pt x="266700" y="285750"/>
                    </a:lnTo>
                    <a:lnTo>
                      <a:pt x="0" y="285750"/>
                    </a:lnTo>
                    <a:lnTo>
                      <a:pt x="0" y="0"/>
                    </a:lnTo>
                    <a:close/>
                  </a:path>
                </a:pathLst>
              </a:custGeom>
              <a:blipFill>
                <a:blip r:embed="rId13"/>
                <a:stretch>
                  <a:fillRect l="0" t="0" r="0" b="0"/>
                </a:stretch>
              </a:blipFill>
            </p:spPr>
          </p:sp>
        </p:grpSp>
        <p:grpSp>
          <p:nvGrpSpPr>
            <p:cNvPr name="Group 45" id="45"/>
            <p:cNvGrpSpPr/>
            <p:nvPr/>
          </p:nvGrpSpPr>
          <p:grpSpPr>
            <a:xfrm rot="0">
              <a:off x="7765847" y="3181350"/>
              <a:ext cx="266700" cy="285750"/>
              <a:chOff x="0" y="0"/>
              <a:chExt cx="266700" cy="285750"/>
            </a:xfrm>
          </p:grpSpPr>
          <p:sp>
            <p:nvSpPr>
              <p:cNvPr name="Freeform 46" id="46" descr="image.png"/>
              <p:cNvSpPr/>
              <p:nvPr/>
            </p:nvSpPr>
            <p:spPr>
              <a:xfrm flipH="false" flipV="false" rot="0">
                <a:off x="0" y="0"/>
                <a:ext cx="266700" cy="285750"/>
              </a:xfrm>
              <a:custGeom>
                <a:avLst/>
                <a:gdLst/>
                <a:ahLst/>
                <a:cxnLst/>
                <a:rect r="r" b="b" t="t" l="l"/>
                <a:pathLst>
                  <a:path h="285750" w="266700">
                    <a:moveTo>
                      <a:pt x="0" y="0"/>
                    </a:moveTo>
                    <a:lnTo>
                      <a:pt x="266700" y="0"/>
                    </a:lnTo>
                    <a:lnTo>
                      <a:pt x="266700" y="285750"/>
                    </a:lnTo>
                    <a:lnTo>
                      <a:pt x="0" y="285750"/>
                    </a:lnTo>
                    <a:lnTo>
                      <a:pt x="0" y="0"/>
                    </a:lnTo>
                    <a:close/>
                  </a:path>
                </a:pathLst>
              </a:custGeom>
              <a:blipFill>
                <a:blip r:embed="rId14"/>
                <a:stretch>
                  <a:fillRect l="0" t="0" r="0" b="0"/>
                </a:stretch>
              </a:blipFill>
            </p:spPr>
          </p:sp>
        </p:grpSp>
        <p:grpSp>
          <p:nvGrpSpPr>
            <p:cNvPr name="Group 47" id="47"/>
            <p:cNvGrpSpPr/>
            <p:nvPr/>
          </p:nvGrpSpPr>
          <p:grpSpPr>
            <a:xfrm rot="0">
              <a:off x="7765847" y="4748212"/>
              <a:ext cx="266700" cy="285750"/>
              <a:chOff x="0" y="0"/>
              <a:chExt cx="266700" cy="285750"/>
            </a:xfrm>
          </p:grpSpPr>
          <p:sp>
            <p:nvSpPr>
              <p:cNvPr name="Freeform 48" id="48" descr="image.png"/>
              <p:cNvSpPr/>
              <p:nvPr/>
            </p:nvSpPr>
            <p:spPr>
              <a:xfrm flipH="false" flipV="false" rot="0">
                <a:off x="0" y="0"/>
                <a:ext cx="266700" cy="285750"/>
              </a:xfrm>
              <a:custGeom>
                <a:avLst/>
                <a:gdLst/>
                <a:ahLst/>
                <a:cxnLst/>
                <a:rect r="r" b="b" t="t" l="l"/>
                <a:pathLst>
                  <a:path h="285750" w="266700">
                    <a:moveTo>
                      <a:pt x="0" y="0"/>
                    </a:moveTo>
                    <a:lnTo>
                      <a:pt x="266700" y="0"/>
                    </a:lnTo>
                    <a:lnTo>
                      <a:pt x="266700" y="285750"/>
                    </a:lnTo>
                    <a:lnTo>
                      <a:pt x="0" y="285750"/>
                    </a:lnTo>
                    <a:lnTo>
                      <a:pt x="0" y="0"/>
                    </a:lnTo>
                    <a:close/>
                  </a:path>
                </a:pathLst>
              </a:custGeom>
              <a:blipFill>
                <a:blip r:embed="rId14"/>
                <a:stretch>
                  <a:fillRect l="0" t="0" r="0" b="0"/>
                </a:stretch>
              </a:blipFill>
            </p:spPr>
          </p:sp>
        </p:grpSp>
        <p:grpSp>
          <p:nvGrpSpPr>
            <p:cNvPr name="Group 49" id="49"/>
            <p:cNvGrpSpPr/>
            <p:nvPr/>
          </p:nvGrpSpPr>
          <p:grpSpPr>
            <a:xfrm rot="0">
              <a:off x="7765847" y="6315075"/>
              <a:ext cx="266700" cy="285750"/>
              <a:chOff x="0" y="0"/>
              <a:chExt cx="266700" cy="285750"/>
            </a:xfrm>
          </p:grpSpPr>
          <p:sp>
            <p:nvSpPr>
              <p:cNvPr name="Freeform 50" id="50" descr="image.png"/>
              <p:cNvSpPr/>
              <p:nvPr/>
            </p:nvSpPr>
            <p:spPr>
              <a:xfrm flipH="false" flipV="false" rot="0">
                <a:off x="0" y="0"/>
                <a:ext cx="266700" cy="285750"/>
              </a:xfrm>
              <a:custGeom>
                <a:avLst/>
                <a:gdLst/>
                <a:ahLst/>
                <a:cxnLst/>
                <a:rect r="r" b="b" t="t" l="l"/>
                <a:pathLst>
                  <a:path h="285750" w="266700">
                    <a:moveTo>
                      <a:pt x="0" y="0"/>
                    </a:moveTo>
                    <a:lnTo>
                      <a:pt x="266700" y="0"/>
                    </a:lnTo>
                    <a:lnTo>
                      <a:pt x="266700" y="285750"/>
                    </a:lnTo>
                    <a:lnTo>
                      <a:pt x="0" y="285750"/>
                    </a:lnTo>
                    <a:lnTo>
                      <a:pt x="0" y="0"/>
                    </a:lnTo>
                    <a:close/>
                  </a:path>
                </a:pathLst>
              </a:custGeom>
              <a:blipFill>
                <a:blip r:embed="rId14"/>
                <a:stretch>
                  <a:fillRect l="0" t="0" r="0" b="0"/>
                </a:stretch>
              </a:blipFill>
            </p:spPr>
          </p:sp>
        </p:grpSp>
        <p:grpSp>
          <p:nvGrpSpPr>
            <p:cNvPr name="Group 51" id="51"/>
            <p:cNvGrpSpPr/>
            <p:nvPr/>
          </p:nvGrpSpPr>
          <p:grpSpPr>
            <a:xfrm rot="0">
              <a:off x="15036698" y="3181350"/>
              <a:ext cx="266700" cy="285750"/>
              <a:chOff x="0" y="0"/>
              <a:chExt cx="266700" cy="285750"/>
            </a:xfrm>
          </p:grpSpPr>
          <p:sp>
            <p:nvSpPr>
              <p:cNvPr name="Freeform 52" id="52" descr="image.png"/>
              <p:cNvSpPr/>
              <p:nvPr/>
            </p:nvSpPr>
            <p:spPr>
              <a:xfrm flipH="false" flipV="false" rot="0">
                <a:off x="0" y="0"/>
                <a:ext cx="266700" cy="285750"/>
              </a:xfrm>
              <a:custGeom>
                <a:avLst/>
                <a:gdLst/>
                <a:ahLst/>
                <a:cxnLst/>
                <a:rect r="r" b="b" t="t" l="l"/>
                <a:pathLst>
                  <a:path h="285750" w="266700">
                    <a:moveTo>
                      <a:pt x="0" y="0"/>
                    </a:moveTo>
                    <a:lnTo>
                      <a:pt x="266700" y="0"/>
                    </a:lnTo>
                    <a:lnTo>
                      <a:pt x="266700" y="285750"/>
                    </a:lnTo>
                    <a:lnTo>
                      <a:pt x="0" y="285750"/>
                    </a:lnTo>
                    <a:lnTo>
                      <a:pt x="0" y="0"/>
                    </a:lnTo>
                    <a:close/>
                  </a:path>
                </a:pathLst>
              </a:custGeom>
              <a:blipFill>
                <a:blip r:embed="rId15"/>
                <a:stretch>
                  <a:fillRect l="0" t="0" r="0" b="0"/>
                </a:stretch>
              </a:blipFill>
            </p:spPr>
          </p:sp>
        </p:grpSp>
        <p:grpSp>
          <p:nvGrpSpPr>
            <p:cNvPr name="Group 53" id="53"/>
            <p:cNvGrpSpPr/>
            <p:nvPr/>
          </p:nvGrpSpPr>
          <p:grpSpPr>
            <a:xfrm rot="0">
              <a:off x="15036698" y="4748212"/>
              <a:ext cx="266700" cy="285750"/>
              <a:chOff x="0" y="0"/>
              <a:chExt cx="266700" cy="285750"/>
            </a:xfrm>
          </p:grpSpPr>
          <p:sp>
            <p:nvSpPr>
              <p:cNvPr name="Freeform 54" id="54" descr="image.png"/>
              <p:cNvSpPr/>
              <p:nvPr/>
            </p:nvSpPr>
            <p:spPr>
              <a:xfrm flipH="false" flipV="false" rot="0">
                <a:off x="0" y="0"/>
                <a:ext cx="266700" cy="285750"/>
              </a:xfrm>
              <a:custGeom>
                <a:avLst/>
                <a:gdLst/>
                <a:ahLst/>
                <a:cxnLst/>
                <a:rect r="r" b="b" t="t" l="l"/>
                <a:pathLst>
                  <a:path h="285750" w="266700">
                    <a:moveTo>
                      <a:pt x="0" y="0"/>
                    </a:moveTo>
                    <a:lnTo>
                      <a:pt x="266700" y="0"/>
                    </a:lnTo>
                    <a:lnTo>
                      <a:pt x="266700" y="285750"/>
                    </a:lnTo>
                    <a:lnTo>
                      <a:pt x="0" y="285750"/>
                    </a:lnTo>
                    <a:lnTo>
                      <a:pt x="0" y="0"/>
                    </a:lnTo>
                    <a:close/>
                  </a:path>
                </a:pathLst>
              </a:custGeom>
              <a:blipFill>
                <a:blip r:embed="rId15"/>
                <a:stretch>
                  <a:fillRect l="0" t="0" r="0" b="0"/>
                </a:stretch>
              </a:blipFill>
            </p:spPr>
          </p:sp>
        </p:grpSp>
        <p:grpSp>
          <p:nvGrpSpPr>
            <p:cNvPr name="Group 55" id="55"/>
            <p:cNvGrpSpPr/>
            <p:nvPr/>
          </p:nvGrpSpPr>
          <p:grpSpPr>
            <a:xfrm rot="0">
              <a:off x="15036698" y="6315075"/>
              <a:ext cx="266700" cy="285750"/>
              <a:chOff x="0" y="0"/>
              <a:chExt cx="266700" cy="285750"/>
            </a:xfrm>
          </p:grpSpPr>
          <p:sp>
            <p:nvSpPr>
              <p:cNvPr name="Freeform 56" id="56" descr="image.png"/>
              <p:cNvSpPr/>
              <p:nvPr/>
            </p:nvSpPr>
            <p:spPr>
              <a:xfrm flipH="false" flipV="false" rot="0">
                <a:off x="0" y="0"/>
                <a:ext cx="266700" cy="285750"/>
              </a:xfrm>
              <a:custGeom>
                <a:avLst/>
                <a:gdLst/>
                <a:ahLst/>
                <a:cxnLst/>
                <a:rect r="r" b="b" t="t" l="l"/>
                <a:pathLst>
                  <a:path h="285750" w="266700">
                    <a:moveTo>
                      <a:pt x="0" y="0"/>
                    </a:moveTo>
                    <a:lnTo>
                      <a:pt x="266700" y="0"/>
                    </a:lnTo>
                    <a:lnTo>
                      <a:pt x="266700" y="285750"/>
                    </a:lnTo>
                    <a:lnTo>
                      <a:pt x="0" y="285750"/>
                    </a:lnTo>
                    <a:lnTo>
                      <a:pt x="0" y="0"/>
                    </a:lnTo>
                    <a:close/>
                  </a:path>
                </a:pathLst>
              </a:custGeom>
              <a:blipFill>
                <a:blip r:embed="rId15"/>
                <a:stretch>
                  <a:fillRect l="0" t="0" r="0" b="0"/>
                </a:stretch>
              </a:blipFill>
            </p:spPr>
          </p:sp>
        </p:grpSp>
      </p:gr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000" y="1039667"/>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sz="2182" b="true">
                <a:solidFill>
                  <a:srgbClr val="FAA61A"/>
                </a:solidFill>
                <a:latin typeface="Montserrat Bold"/>
                <a:ea typeface="Montserrat Bold"/>
                <a:cs typeface="Montserrat Bold"/>
                <a:sym typeface="Montserrat Bold"/>
              </a:rPr>
              <a:t>NỘI DUNG THUYẾT TRÌNH</a:t>
            </a:r>
          </a:p>
        </p:txBody>
      </p:sp>
      <p:grpSp>
        <p:nvGrpSpPr>
          <p:cNvPr name="Group 8" id="8"/>
          <p:cNvGrpSpPr/>
          <p:nvPr/>
        </p:nvGrpSpPr>
        <p:grpSpPr>
          <a:xfrm rot="0">
            <a:off x="9336486" y="3463847"/>
            <a:ext cx="642938" cy="642938"/>
            <a:chOff x="0" y="0"/>
            <a:chExt cx="857250" cy="857250"/>
          </a:xfrm>
        </p:grpSpPr>
        <p:sp>
          <p:nvSpPr>
            <p:cNvPr name="Freeform 9" id="9"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4"/>
              <a:stretch>
                <a:fillRect l="0" t="0" r="0" b="0"/>
              </a:stretch>
            </a:blipFill>
          </p:spPr>
        </p:sp>
      </p:grpSp>
      <p:sp>
        <p:nvSpPr>
          <p:cNvPr name="TextBox 10" id="10"/>
          <p:cNvSpPr txBox="true"/>
          <p:nvPr/>
        </p:nvSpPr>
        <p:spPr>
          <a:xfrm rot="0">
            <a:off x="3547062" y="4345915"/>
            <a:ext cx="12221785" cy="993047"/>
          </a:xfrm>
          <a:prstGeom prst="rect">
            <a:avLst/>
          </a:prstGeom>
        </p:spPr>
        <p:txBody>
          <a:bodyPr anchor="t" rtlCol="false" tIns="0" lIns="0" bIns="0" rIns="0">
            <a:spAutoFit/>
          </a:bodyPr>
          <a:lstStyle/>
          <a:p>
            <a:pPr algn="ctr" marL="0" indent="0" lvl="0">
              <a:lnSpc>
                <a:spcPts val="4038"/>
              </a:lnSpc>
              <a:spcBef>
                <a:spcPct val="0"/>
              </a:spcBef>
            </a:pPr>
            <a:r>
              <a:rPr lang="en-US" b="true" sz="2882">
                <a:solidFill>
                  <a:srgbClr val="FBFBFC"/>
                </a:solidFill>
                <a:latin typeface="Montserrat Bold"/>
                <a:ea typeface="Montserrat Bold"/>
                <a:cs typeface="Montserrat Bold"/>
                <a:sym typeface="Montserrat Bold"/>
              </a:rPr>
              <a:t>Đánh Giá và Quản</a:t>
            </a:r>
            <a:r>
              <a:rPr lang="en-US" b="true" sz="2882" strike="noStrike" u="none">
                <a:solidFill>
                  <a:srgbClr val="FBFBFC"/>
                </a:solidFill>
                <a:latin typeface="Montserrat Bold"/>
                <a:ea typeface="Montserrat Bold"/>
                <a:cs typeface="Montserrat Bold"/>
                <a:sym typeface="Montserrat Bold"/>
              </a:rPr>
              <a:t> Trị Rủi Ro</a:t>
            </a:r>
          </a:p>
          <a:p>
            <a:pPr algn="ctr" marL="0" indent="0" lvl="0">
              <a:lnSpc>
                <a:spcPts val="4041"/>
              </a:lnSpc>
              <a:spcBef>
                <a:spcPct val="0"/>
              </a:spcBef>
            </a:pPr>
            <a:r>
              <a:rPr lang="en-US" b="true" sz="2882" strike="noStrike" u="none">
                <a:solidFill>
                  <a:srgbClr val="FBFBFC"/>
                </a:solidFill>
                <a:latin typeface="Montserrat Bold"/>
                <a:ea typeface="Montserrat Bold"/>
                <a:cs typeface="Montserrat Bold"/>
                <a:sym typeface="Montserrat Bold"/>
              </a:rPr>
              <a:t> Hệ Thống Thông Tin Bán Lẻ Đa Kênh</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000" y="1039667"/>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092991"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PHÂN TÍCH SWOT HỆ THỐNG KIẾN TRÚC MỚ</a:t>
            </a:r>
          </a:p>
        </p:txBody>
      </p:sp>
      <p:grpSp>
        <p:nvGrpSpPr>
          <p:cNvPr name="Group 8" id="8"/>
          <p:cNvGrpSpPr/>
          <p:nvPr/>
        </p:nvGrpSpPr>
        <p:grpSpPr>
          <a:xfrm rot="0">
            <a:off x="1143000" y="2343150"/>
            <a:ext cx="16002000" cy="5563191"/>
            <a:chOff x="0" y="0"/>
            <a:chExt cx="21336000" cy="7417587"/>
          </a:xfrm>
        </p:grpSpPr>
        <p:grpSp>
          <p:nvGrpSpPr>
            <p:cNvPr name="Group 9" id="9"/>
            <p:cNvGrpSpPr/>
            <p:nvPr/>
          </p:nvGrpSpPr>
          <p:grpSpPr>
            <a:xfrm rot="0">
              <a:off x="0" y="0"/>
              <a:ext cx="10429875" cy="3670694"/>
              <a:chOff x="0" y="0"/>
              <a:chExt cx="10429875" cy="3670694"/>
            </a:xfrm>
          </p:grpSpPr>
          <p:sp>
            <p:nvSpPr>
              <p:cNvPr name="Freeform 10" id="10" descr="image.png"/>
              <p:cNvSpPr/>
              <p:nvPr/>
            </p:nvSpPr>
            <p:spPr>
              <a:xfrm flipH="false" flipV="false" rot="0">
                <a:off x="0" y="0"/>
                <a:ext cx="10429875" cy="3670681"/>
              </a:xfrm>
              <a:custGeom>
                <a:avLst/>
                <a:gdLst/>
                <a:ahLst/>
                <a:cxnLst/>
                <a:rect r="r" b="b" t="t" l="l"/>
                <a:pathLst>
                  <a:path h="3670681" w="10429875">
                    <a:moveTo>
                      <a:pt x="0" y="0"/>
                    </a:moveTo>
                    <a:lnTo>
                      <a:pt x="10429875" y="0"/>
                    </a:lnTo>
                    <a:lnTo>
                      <a:pt x="10429875" y="3670681"/>
                    </a:lnTo>
                    <a:lnTo>
                      <a:pt x="0" y="3670681"/>
                    </a:lnTo>
                    <a:lnTo>
                      <a:pt x="0" y="0"/>
                    </a:lnTo>
                    <a:close/>
                  </a:path>
                </a:pathLst>
              </a:custGeom>
              <a:blipFill>
                <a:blip r:embed="rId4"/>
                <a:stretch>
                  <a:fillRect l="0" t="-35" r="0" b="-35"/>
                </a:stretch>
              </a:blipFill>
            </p:spPr>
          </p:sp>
        </p:grpSp>
        <p:grpSp>
          <p:nvGrpSpPr>
            <p:cNvPr name="Group 11" id="11"/>
            <p:cNvGrpSpPr/>
            <p:nvPr/>
          </p:nvGrpSpPr>
          <p:grpSpPr>
            <a:xfrm rot="0">
              <a:off x="10906125" y="0"/>
              <a:ext cx="10429875" cy="3670694"/>
              <a:chOff x="0" y="0"/>
              <a:chExt cx="10429875" cy="3670694"/>
            </a:xfrm>
          </p:grpSpPr>
          <p:sp>
            <p:nvSpPr>
              <p:cNvPr name="Freeform 12" id="12" descr="image.png"/>
              <p:cNvSpPr/>
              <p:nvPr/>
            </p:nvSpPr>
            <p:spPr>
              <a:xfrm flipH="false" flipV="false" rot="0">
                <a:off x="0" y="0"/>
                <a:ext cx="10429875" cy="3670681"/>
              </a:xfrm>
              <a:custGeom>
                <a:avLst/>
                <a:gdLst/>
                <a:ahLst/>
                <a:cxnLst/>
                <a:rect r="r" b="b" t="t" l="l"/>
                <a:pathLst>
                  <a:path h="3670681" w="10429875">
                    <a:moveTo>
                      <a:pt x="0" y="0"/>
                    </a:moveTo>
                    <a:lnTo>
                      <a:pt x="10429875" y="0"/>
                    </a:lnTo>
                    <a:lnTo>
                      <a:pt x="10429875" y="3670681"/>
                    </a:lnTo>
                    <a:lnTo>
                      <a:pt x="0" y="3670681"/>
                    </a:lnTo>
                    <a:lnTo>
                      <a:pt x="0" y="0"/>
                    </a:lnTo>
                    <a:close/>
                  </a:path>
                </a:pathLst>
              </a:custGeom>
              <a:blipFill>
                <a:blip r:embed="rId5"/>
                <a:stretch>
                  <a:fillRect l="0" t="-35" r="0" b="-35"/>
                </a:stretch>
              </a:blipFill>
            </p:spPr>
          </p:sp>
        </p:grpSp>
        <p:grpSp>
          <p:nvGrpSpPr>
            <p:cNvPr name="Group 13" id="13"/>
            <p:cNvGrpSpPr/>
            <p:nvPr/>
          </p:nvGrpSpPr>
          <p:grpSpPr>
            <a:xfrm rot="0">
              <a:off x="0" y="4146944"/>
              <a:ext cx="10429875" cy="3270644"/>
              <a:chOff x="0" y="0"/>
              <a:chExt cx="10429875" cy="3270644"/>
            </a:xfrm>
          </p:grpSpPr>
          <p:sp>
            <p:nvSpPr>
              <p:cNvPr name="Freeform 14" id="14" descr="image.png"/>
              <p:cNvSpPr/>
              <p:nvPr/>
            </p:nvSpPr>
            <p:spPr>
              <a:xfrm flipH="false" flipV="false" rot="0">
                <a:off x="0" y="0"/>
                <a:ext cx="10429875" cy="3270631"/>
              </a:xfrm>
              <a:custGeom>
                <a:avLst/>
                <a:gdLst/>
                <a:ahLst/>
                <a:cxnLst/>
                <a:rect r="r" b="b" t="t" l="l"/>
                <a:pathLst>
                  <a:path h="3270631" w="10429875">
                    <a:moveTo>
                      <a:pt x="0" y="0"/>
                    </a:moveTo>
                    <a:lnTo>
                      <a:pt x="10429875" y="0"/>
                    </a:lnTo>
                    <a:lnTo>
                      <a:pt x="10429875" y="3270631"/>
                    </a:lnTo>
                    <a:lnTo>
                      <a:pt x="0" y="3270631"/>
                    </a:lnTo>
                    <a:lnTo>
                      <a:pt x="0" y="0"/>
                    </a:lnTo>
                    <a:close/>
                  </a:path>
                </a:pathLst>
              </a:custGeom>
              <a:blipFill>
                <a:blip r:embed="rId6"/>
                <a:stretch>
                  <a:fillRect l="0" t="-336" r="0" b="-336"/>
                </a:stretch>
              </a:blipFill>
            </p:spPr>
          </p:sp>
        </p:grpSp>
        <p:grpSp>
          <p:nvGrpSpPr>
            <p:cNvPr name="Group 15" id="15"/>
            <p:cNvGrpSpPr/>
            <p:nvPr/>
          </p:nvGrpSpPr>
          <p:grpSpPr>
            <a:xfrm rot="0">
              <a:off x="10906125" y="4146944"/>
              <a:ext cx="10429875" cy="3270644"/>
              <a:chOff x="0" y="0"/>
              <a:chExt cx="10429875" cy="3270644"/>
            </a:xfrm>
          </p:grpSpPr>
          <p:sp>
            <p:nvSpPr>
              <p:cNvPr name="Freeform 16" id="16" descr="image.png"/>
              <p:cNvSpPr/>
              <p:nvPr/>
            </p:nvSpPr>
            <p:spPr>
              <a:xfrm flipH="false" flipV="false" rot="0">
                <a:off x="0" y="0"/>
                <a:ext cx="10429875" cy="3270631"/>
              </a:xfrm>
              <a:custGeom>
                <a:avLst/>
                <a:gdLst/>
                <a:ahLst/>
                <a:cxnLst/>
                <a:rect r="r" b="b" t="t" l="l"/>
                <a:pathLst>
                  <a:path h="3270631" w="10429875">
                    <a:moveTo>
                      <a:pt x="0" y="0"/>
                    </a:moveTo>
                    <a:lnTo>
                      <a:pt x="10429875" y="0"/>
                    </a:lnTo>
                    <a:lnTo>
                      <a:pt x="10429875" y="3270631"/>
                    </a:lnTo>
                    <a:lnTo>
                      <a:pt x="0" y="3270631"/>
                    </a:lnTo>
                    <a:lnTo>
                      <a:pt x="0" y="0"/>
                    </a:lnTo>
                    <a:close/>
                  </a:path>
                </a:pathLst>
              </a:custGeom>
              <a:blipFill>
                <a:blip r:embed="rId7"/>
                <a:stretch>
                  <a:fillRect l="0" t="-336" r="0" b="-336"/>
                </a:stretch>
              </a:blipFill>
            </p:spPr>
          </p:sp>
        </p:grpSp>
        <p:grpSp>
          <p:nvGrpSpPr>
            <p:cNvPr name="Group 17" id="17"/>
            <p:cNvGrpSpPr/>
            <p:nvPr/>
          </p:nvGrpSpPr>
          <p:grpSpPr>
            <a:xfrm rot="0">
              <a:off x="590550" y="609600"/>
              <a:ext cx="857250" cy="857250"/>
              <a:chOff x="0" y="0"/>
              <a:chExt cx="857250" cy="857250"/>
            </a:xfrm>
          </p:grpSpPr>
          <p:sp>
            <p:nvSpPr>
              <p:cNvPr name="Freeform 18" id="18"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8"/>
                <a:stretch>
                  <a:fillRect l="0" t="0" r="0" b="0"/>
                </a:stretch>
              </a:blipFill>
            </p:spPr>
          </p:sp>
        </p:grpSp>
        <p:grpSp>
          <p:nvGrpSpPr>
            <p:cNvPr name="Group 19" id="19"/>
            <p:cNvGrpSpPr/>
            <p:nvPr/>
          </p:nvGrpSpPr>
          <p:grpSpPr>
            <a:xfrm rot="0">
              <a:off x="11496675" y="609600"/>
              <a:ext cx="857250" cy="857250"/>
              <a:chOff x="0" y="0"/>
              <a:chExt cx="857250" cy="857250"/>
            </a:xfrm>
          </p:grpSpPr>
          <p:sp>
            <p:nvSpPr>
              <p:cNvPr name="Freeform 20" id="20"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9"/>
                <a:stretch>
                  <a:fillRect l="-1111" t="0" r="-1111" b="0"/>
                </a:stretch>
              </a:blipFill>
            </p:spPr>
          </p:sp>
        </p:grpSp>
        <p:grpSp>
          <p:nvGrpSpPr>
            <p:cNvPr name="Group 21" id="21"/>
            <p:cNvGrpSpPr/>
            <p:nvPr/>
          </p:nvGrpSpPr>
          <p:grpSpPr>
            <a:xfrm rot="0">
              <a:off x="590550" y="4756544"/>
              <a:ext cx="857250" cy="857250"/>
              <a:chOff x="0" y="0"/>
              <a:chExt cx="857250" cy="857250"/>
            </a:xfrm>
          </p:grpSpPr>
          <p:sp>
            <p:nvSpPr>
              <p:cNvPr name="Freeform 22" id="22"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10"/>
                <a:stretch>
                  <a:fillRect l="0" t="-1111" r="0" b="-1111"/>
                </a:stretch>
              </a:blipFill>
            </p:spPr>
          </p:sp>
        </p:grpSp>
        <p:grpSp>
          <p:nvGrpSpPr>
            <p:cNvPr name="Group 23" id="23"/>
            <p:cNvGrpSpPr/>
            <p:nvPr/>
          </p:nvGrpSpPr>
          <p:grpSpPr>
            <a:xfrm rot="0">
              <a:off x="11496675" y="4756544"/>
              <a:ext cx="857250" cy="857250"/>
              <a:chOff x="0" y="0"/>
              <a:chExt cx="857250" cy="857250"/>
            </a:xfrm>
          </p:grpSpPr>
          <p:sp>
            <p:nvSpPr>
              <p:cNvPr name="Freeform 24" id="24" descr="image.png"/>
              <p:cNvSpPr/>
              <p:nvPr/>
            </p:nvSpPr>
            <p:spPr>
              <a:xfrm flipH="false" flipV="false" rot="0">
                <a:off x="0" y="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11"/>
                <a:stretch>
                  <a:fillRect l="0" t="0" r="0" b="0"/>
                </a:stretch>
              </a:blipFill>
            </p:spPr>
          </p:sp>
        </p:grpSp>
        <p:grpSp>
          <p:nvGrpSpPr>
            <p:cNvPr name="Group 25" id="25"/>
            <p:cNvGrpSpPr/>
            <p:nvPr/>
          </p:nvGrpSpPr>
          <p:grpSpPr>
            <a:xfrm rot="0">
              <a:off x="847725" y="847725"/>
              <a:ext cx="342900" cy="381000"/>
              <a:chOff x="0" y="0"/>
              <a:chExt cx="342900" cy="381000"/>
            </a:xfrm>
          </p:grpSpPr>
          <p:sp>
            <p:nvSpPr>
              <p:cNvPr name="Freeform 26" id="26" descr="image.png"/>
              <p:cNvSpPr/>
              <p:nvPr/>
            </p:nvSpPr>
            <p:spPr>
              <a:xfrm flipH="false" flipV="false" rot="0">
                <a:off x="0" y="0"/>
                <a:ext cx="342900" cy="381000"/>
              </a:xfrm>
              <a:custGeom>
                <a:avLst/>
                <a:gdLst/>
                <a:ahLst/>
                <a:cxnLst/>
                <a:rect r="r" b="b" t="t" l="l"/>
                <a:pathLst>
                  <a:path h="381000" w="342900">
                    <a:moveTo>
                      <a:pt x="0" y="0"/>
                    </a:moveTo>
                    <a:lnTo>
                      <a:pt x="342900" y="0"/>
                    </a:lnTo>
                    <a:lnTo>
                      <a:pt x="342900" y="381000"/>
                    </a:lnTo>
                    <a:lnTo>
                      <a:pt x="0" y="381000"/>
                    </a:lnTo>
                    <a:lnTo>
                      <a:pt x="0" y="0"/>
                    </a:lnTo>
                    <a:close/>
                  </a:path>
                </a:pathLst>
              </a:custGeom>
              <a:blipFill>
                <a:blip r:embed="rId12"/>
                <a:stretch>
                  <a:fillRect l="-262" t="0" r="-266" b="0"/>
                </a:stretch>
              </a:blipFill>
            </p:spPr>
          </p:sp>
        </p:grpSp>
        <p:sp>
          <p:nvSpPr>
            <p:cNvPr name="TextBox 27" id="27"/>
            <p:cNvSpPr txBox="true"/>
            <p:nvPr/>
          </p:nvSpPr>
          <p:spPr>
            <a:xfrm rot="0">
              <a:off x="1828800" y="533400"/>
              <a:ext cx="8411045" cy="489344"/>
            </a:xfrm>
            <a:prstGeom prst="rect">
              <a:avLst/>
            </a:prstGeom>
          </p:spPr>
          <p:txBody>
            <a:bodyPr anchor="t" rtlCol="false" tIns="0" lIns="0" bIns="0" rIns="0">
              <a:spAutoFit/>
            </a:bodyPr>
            <a:lstStyle/>
            <a:p>
              <a:pPr algn="l">
                <a:lnSpc>
                  <a:spcPts val="2778"/>
                </a:lnSpc>
              </a:pPr>
              <a:r>
                <a:rPr lang="en-US" sz="2137" b="true">
                  <a:solidFill>
                    <a:srgbClr val="051C2C"/>
                  </a:solidFill>
                  <a:latin typeface="Montserrat Bold"/>
                  <a:ea typeface="Montserrat Bold"/>
                  <a:cs typeface="Montserrat Bold"/>
                  <a:sym typeface="Montserrat Bold"/>
                </a:rPr>
                <a:t>Điểm mạnh (Strengths)</a:t>
              </a:r>
            </a:p>
          </p:txBody>
        </p:sp>
        <p:sp>
          <p:nvSpPr>
            <p:cNvPr name="TextBox 28" id="28"/>
            <p:cNvSpPr txBox="true"/>
            <p:nvPr/>
          </p:nvSpPr>
          <p:spPr>
            <a:xfrm rot="0">
              <a:off x="1828800" y="1127519"/>
              <a:ext cx="8010525" cy="1647825"/>
            </a:xfrm>
            <a:prstGeom prst="rect">
              <a:avLst/>
            </a:prstGeom>
          </p:spPr>
          <p:txBody>
            <a:bodyPr anchor="t" rtlCol="false" tIns="0" lIns="0" bIns="0" rIns="0">
              <a:spAutoFit/>
            </a:bodyPr>
            <a:lstStyle/>
            <a:p>
              <a:pPr algn="l">
                <a:lnSpc>
                  <a:spcPts val="2362"/>
                </a:lnSpc>
              </a:pPr>
              <a:r>
                <a:rPr lang="en-US" sz="1575">
                  <a:solidFill>
                    <a:srgbClr val="475569"/>
                  </a:solidFill>
                  <a:latin typeface="Open Sans"/>
                  <a:ea typeface="Open Sans"/>
                  <a:cs typeface="Open Sans"/>
                  <a:sym typeface="Open Sans"/>
                </a:rPr>
                <a:t>Giải quyết triệt để vấn đề đồng bộ tồn kho thời gian thực nhờ hướng sự kiện. Xác lập nguồn dữ liệu duy nhất qua Quản lý Dữ liệu Chủ (MDM), loại bỏ phân lập POS và Website. Vi dịch vụ giúp tự động mở rộng tài nguyên hiệu năng ổn định.</a:t>
              </a:r>
            </a:p>
          </p:txBody>
        </p:sp>
        <p:grpSp>
          <p:nvGrpSpPr>
            <p:cNvPr name="Group 29" id="29"/>
            <p:cNvGrpSpPr/>
            <p:nvPr/>
          </p:nvGrpSpPr>
          <p:grpSpPr>
            <a:xfrm rot="0">
              <a:off x="11734800" y="847725"/>
              <a:ext cx="381000" cy="381000"/>
              <a:chOff x="0" y="0"/>
              <a:chExt cx="381000" cy="381000"/>
            </a:xfrm>
          </p:grpSpPr>
          <p:sp>
            <p:nvSpPr>
              <p:cNvPr name="Freeform 30" id="30" descr="image.png"/>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13"/>
                <a:stretch>
                  <a:fillRect l="0" t="-2500" r="0" b="-2500"/>
                </a:stretch>
              </a:blipFill>
            </p:spPr>
          </p:sp>
        </p:grpSp>
        <p:sp>
          <p:nvSpPr>
            <p:cNvPr name="TextBox 31" id="31"/>
            <p:cNvSpPr txBox="true"/>
            <p:nvPr/>
          </p:nvSpPr>
          <p:spPr>
            <a:xfrm rot="0">
              <a:off x="12734925" y="533400"/>
              <a:ext cx="8411045" cy="489344"/>
            </a:xfrm>
            <a:prstGeom prst="rect">
              <a:avLst/>
            </a:prstGeom>
          </p:spPr>
          <p:txBody>
            <a:bodyPr anchor="t" rtlCol="false" tIns="0" lIns="0" bIns="0" rIns="0">
              <a:spAutoFit/>
            </a:bodyPr>
            <a:lstStyle/>
            <a:p>
              <a:pPr algn="l">
                <a:lnSpc>
                  <a:spcPts val="2778"/>
                </a:lnSpc>
              </a:pPr>
              <a:r>
                <a:rPr lang="en-US" sz="2137" b="true">
                  <a:solidFill>
                    <a:srgbClr val="051C2C"/>
                  </a:solidFill>
                  <a:latin typeface="Montserrat Bold"/>
                  <a:ea typeface="Montserrat Bold"/>
                  <a:cs typeface="Montserrat Bold"/>
                  <a:sym typeface="Montserrat Bold"/>
                </a:rPr>
                <a:t>Điểm yếu (Weaknesses)</a:t>
              </a:r>
            </a:p>
          </p:txBody>
        </p:sp>
        <p:sp>
          <p:nvSpPr>
            <p:cNvPr name="TextBox 32" id="32"/>
            <p:cNvSpPr txBox="true"/>
            <p:nvPr/>
          </p:nvSpPr>
          <p:spPr>
            <a:xfrm rot="0">
              <a:off x="12734925" y="1127519"/>
              <a:ext cx="8010525" cy="2047875"/>
            </a:xfrm>
            <a:prstGeom prst="rect">
              <a:avLst/>
            </a:prstGeom>
          </p:spPr>
          <p:txBody>
            <a:bodyPr anchor="t" rtlCol="false" tIns="0" lIns="0" bIns="0" rIns="0">
              <a:spAutoFit/>
            </a:bodyPr>
            <a:lstStyle/>
            <a:p>
              <a:pPr algn="l">
                <a:lnSpc>
                  <a:spcPts val="2362"/>
                </a:lnSpc>
              </a:pPr>
              <a:r>
                <a:rPr lang="en-US" sz="1575">
                  <a:solidFill>
                    <a:srgbClr val="475569"/>
                  </a:solidFill>
                  <a:latin typeface="Open Sans"/>
                  <a:ea typeface="Open Sans"/>
                  <a:cs typeface="Open Sans"/>
                  <a:sym typeface="Open Sans"/>
                </a:rPr>
                <a:t>Chi phí đầu tư cơ bản ban đầu lớn khi chuyển đổi sang Cloud và Microservices. Cấu trúc phân tán làm tăng độ phức tạp trong quản trị mạng và khắc phục sự cố. Đòi hỏi đội ngũ IT phải được đào tạo chuyên sâu để vận hành bộ chứa (Container).</a:t>
              </a:r>
            </a:p>
          </p:txBody>
        </p:sp>
        <p:grpSp>
          <p:nvGrpSpPr>
            <p:cNvPr name="Group 33" id="33"/>
            <p:cNvGrpSpPr/>
            <p:nvPr/>
          </p:nvGrpSpPr>
          <p:grpSpPr>
            <a:xfrm rot="0">
              <a:off x="828675" y="4994669"/>
              <a:ext cx="381000" cy="381000"/>
              <a:chOff x="0" y="0"/>
              <a:chExt cx="381000" cy="381000"/>
            </a:xfrm>
          </p:grpSpPr>
          <p:sp>
            <p:nvSpPr>
              <p:cNvPr name="Freeform 34" id="34" descr="image.png"/>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14"/>
                <a:stretch>
                  <a:fillRect l="0" t="0" r="0" b="0"/>
                </a:stretch>
              </a:blipFill>
            </p:spPr>
          </p:sp>
        </p:grpSp>
        <p:sp>
          <p:nvSpPr>
            <p:cNvPr name="TextBox 35" id="35"/>
            <p:cNvSpPr txBox="true"/>
            <p:nvPr/>
          </p:nvSpPr>
          <p:spPr>
            <a:xfrm rot="0">
              <a:off x="1828800" y="4680344"/>
              <a:ext cx="8411045" cy="489344"/>
            </a:xfrm>
            <a:prstGeom prst="rect">
              <a:avLst/>
            </a:prstGeom>
          </p:spPr>
          <p:txBody>
            <a:bodyPr anchor="t" rtlCol="false" tIns="0" lIns="0" bIns="0" rIns="0">
              <a:spAutoFit/>
            </a:bodyPr>
            <a:lstStyle/>
            <a:p>
              <a:pPr algn="l">
                <a:lnSpc>
                  <a:spcPts val="2778"/>
                </a:lnSpc>
              </a:pPr>
              <a:r>
                <a:rPr lang="en-US" sz="2137" b="true">
                  <a:solidFill>
                    <a:srgbClr val="051C2C"/>
                  </a:solidFill>
                  <a:latin typeface="Montserrat Bold"/>
                  <a:ea typeface="Montserrat Bold"/>
                  <a:cs typeface="Montserrat Bold"/>
                  <a:sym typeface="Montserrat Bold"/>
                </a:rPr>
                <a:t>Cơ hội (Opportunities)</a:t>
              </a:r>
            </a:p>
          </p:txBody>
        </p:sp>
        <p:sp>
          <p:nvSpPr>
            <p:cNvPr name="TextBox 36" id="36"/>
            <p:cNvSpPr txBox="true"/>
            <p:nvPr/>
          </p:nvSpPr>
          <p:spPr>
            <a:xfrm rot="0">
              <a:off x="1828800" y="5274462"/>
              <a:ext cx="8010525" cy="1647825"/>
            </a:xfrm>
            <a:prstGeom prst="rect">
              <a:avLst/>
            </a:prstGeom>
          </p:spPr>
          <p:txBody>
            <a:bodyPr anchor="t" rtlCol="false" tIns="0" lIns="0" bIns="0" rIns="0">
              <a:spAutoFit/>
            </a:bodyPr>
            <a:lstStyle/>
            <a:p>
              <a:pPr algn="l">
                <a:lnSpc>
                  <a:spcPts val="2362"/>
                </a:lnSpc>
              </a:pPr>
              <a:r>
                <a:rPr lang="en-US" sz="1575">
                  <a:solidFill>
                    <a:srgbClr val="475569"/>
                  </a:solidFill>
                  <a:latin typeface="Open Sans"/>
                  <a:ea typeface="Open Sans"/>
                  <a:cs typeface="Open Sans"/>
                  <a:sym typeface="Open Sans"/>
                </a:rPr>
                <a:t>Nâng cao năng lực cá nhân hóa trải nghiệm thông qua CRM và CEM tích hợp. Khai thác dữ liệu lịch sử để tự động gợi ý sản phẩm, tăng tỷ lệ chuyển đổi và bán chéo. Mở rộng thị phần nhờ trải nghiệm mua sắm đồng nhất, liên tục đa kênh.</a:t>
              </a:r>
            </a:p>
          </p:txBody>
        </p:sp>
        <p:grpSp>
          <p:nvGrpSpPr>
            <p:cNvPr name="Group 37" id="37"/>
            <p:cNvGrpSpPr/>
            <p:nvPr/>
          </p:nvGrpSpPr>
          <p:grpSpPr>
            <a:xfrm rot="0">
              <a:off x="11734800" y="4994669"/>
              <a:ext cx="381000" cy="381000"/>
              <a:chOff x="0" y="0"/>
              <a:chExt cx="381000" cy="381000"/>
            </a:xfrm>
          </p:grpSpPr>
          <p:sp>
            <p:nvSpPr>
              <p:cNvPr name="Freeform 38" id="38" descr="image.png"/>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15"/>
                <a:stretch>
                  <a:fillRect l="0" t="-2500" r="0" b="-2500"/>
                </a:stretch>
              </a:blipFill>
            </p:spPr>
          </p:sp>
        </p:grpSp>
        <p:sp>
          <p:nvSpPr>
            <p:cNvPr name="TextBox 39" id="39"/>
            <p:cNvSpPr txBox="true"/>
            <p:nvPr/>
          </p:nvSpPr>
          <p:spPr>
            <a:xfrm rot="0">
              <a:off x="12734925" y="4680344"/>
              <a:ext cx="8411045" cy="489344"/>
            </a:xfrm>
            <a:prstGeom prst="rect">
              <a:avLst/>
            </a:prstGeom>
          </p:spPr>
          <p:txBody>
            <a:bodyPr anchor="t" rtlCol="false" tIns="0" lIns="0" bIns="0" rIns="0">
              <a:spAutoFit/>
            </a:bodyPr>
            <a:lstStyle/>
            <a:p>
              <a:pPr algn="l">
                <a:lnSpc>
                  <a:spcPts val="2778"/>
                </a:lnSpc>
              </a:pPr>
              <a:r>
                <a:rPr lang="en-US" sz="2137" b="true">
                  <a:solidFill>
                    <a:srgbClr val="051C2C"/>
                  </a:solidFill>
                  <a:latin typeface="Montserrat Bold"/>
                  <a:ea typeface="Montserrat Bold"/>
                  <a:cs typeface="Montserrat Bold"/>
                  <a:sym typeface="Montserrat Bold"/>
                </a:rPr>
                <a:t>Thách thức (Threats)</a:t>
              </a:r>
            </a:p>
          </p:txBody>
        </p:sp>
        <p:sp>
          <p:nvSpPr>
            <p:cNvPr name="TextBox 40" id="40"/>
            <p:cNvSpPr txBox="true"/>
            <p:nvPr/>
          </p:nvSpPr>
          <p:spPr>
            <a:xfrm rot="0">
              <a:off x="12734925" y="5274462"/>
              <a:ext cx="8010525" cy="1647825"/>
            </a:xfrm>
            <a:prstGeom prst="rect">
              <a:avLst/>
            </a:prstGeom>
          </p:spPr>
          <p:txBody>
            <a:bodyPr anchor="t" rtlCol="false" tIns="0" lIns="0" bIns="0" rIns="0">
              <a:spAutoFit/>
            </a:bodyPr>
            <a:lstStyle/>
            <a:p>
              <a:pPr algn="l">
                <a:lnSpc>
                  <a:spcPts val="2362"/>
                </a:lnSpc>
              </a:pPr>
              <a:r>
                <a:rPr lang="en-US" sz="1575">
                  <a:solidFill>
                    <a:srgbClr val="475569"/>
                  </a:solidFill>
                  <a:latin typeface="Open Sans"/>
                  <a:ea typeface="Open Sans"/>
                  <a:cs typeface="Open Sans"/>
                  <a:sym typeface="Open Sans"/>
                </a:rPr>
                <a:t>Gia tăng diện tích tiếp xúc với Internet, dễ phơi nhiễm trước các cuộc tấn công DDoS hoặc đánh cắp dữ liệu. Áp lực tuân thủ các quy định pháp lý về bảo mật cá nhân và tiêu chuẩn PCI DSS làm gia tăng chi phí vận hành thường xuyên.</a:t>
              </a:r>
            </a:p>
          </p:txBody>
        </p:sp>
      </p:gr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000" y="1039667"/>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653658"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XÁC ĐỊNH CÁC RỦI RO CHÍNH TRONG TRIỂN KHAI</a:t>
            </a:r>
          </a:p>
        </p:txBody>
      </p:sp>
      <p:grpSp>
        <p:nvGrpSpPr>
          <p:cNvPr name="Group 8" id="8"/>
          <p:cNvGrpSpPr/>
          <p:nvPr/>
        </p:nvGrpSpPr>
        <p:grpSpPr>
          <a:xfrm rot="0">
            <a:off x="1143000" y="2563412"/>
            <a:ext cx="16001771" cy="4486723"/>
            <a:chOff x="0" y="0"/>
            <a:chExt cx="21335695" cy="5982297"/>
          </a:xfrm>
        </p:grpSpPr>
        <p:grpSp>
          <p:nvGrpSpPr>
            <p:cNvPr name="Group 9" id="9"/>
            <p:cNvGrpSpPr/>
            <p:nvPr/>
          </p:nvGrpSpPr>
          <p:grpSpPr>
            <a:xfrm rot="0">
              <a:off x="0" y="0"/>
              <a:ext cx="6794297" cy="5982297"/>
              <a:chOff x="0" y="0"/>
              <a:chExt cx="6794297" cy="5982297"/>
            </a:xfrm>
          </p:grpSpPr>
          <p:sp>
            <p:nvSpPr>
              <p:cNvPr name="Freeform 10" id="10" descr="image.png"/>
              <p:cNvSpPr/>
              <p:nvPr/>
            </p:nvSpPr>
            <p:spPr>
              <a:xfrm flipH="false" flipV="false" rot="0">
                <a:off x="0" y="0"/>
                <a:ext cx="6794246" cy="5982335"/>
              </a:xfrm>
              <a:custGeom>
                <a:avLst/>
                <a:gdLst/>
                <a:ahLst/>
                <a:cxnLst/>
                <a:rect r="r" b="b" t="t" l="l"/>
                <a:pathLst>
                  <a:path h="5982335" w="6794246">
                    <a:moveTo>
                      <a:pt x="0" y="0"/>
                    </a:moveTo>
                    <a:lnTo>
                      <a:pt x="6794246" y="0"/>
                    </a:lnTo>
                    <a:lnTo>
                      <a:pt x="6794246" y="5982335"/>
                    </a:lnTo>
                    <a:lnTo>
                      <a:pt x="0" y="5982335"/>
                    </a:lnTo>
                    <a:lnTo>
                      <a:pt x="0" y="0"/>
                    </a:lnTo>
                    <a:close/>
                  </a:path>
                </a:pathLst>
              </a:custGeom>
              <a:blipFill>
                <a:blip r:embed="rId4"/>
                <a:stretch>
                  <a:fillRect l="0" t="-105" r="0" b="-105"/>
                </a:stretch>
              </a:blipFill>
            </p:spPr>
          </p:sp>
        </p:grpSp>
        <p:grpSp>
          <p:nvGrpSpPr>
            <p:cNvPr name="Group 11" id="11"/>
            <p:cNvGrpSpPr/>
            <p:nvPr/>
          </p:nvGrpSpPr>
          <p:grpSpPr>
            <a:xfrm rot="0">
              <a:off x="7270547" y="0"/>
              <a:ext cx="6794602" cy="5982297"/>
              <a:chOff x="0" y="0"/>
              <a:chExt cx="6794602" cy="5982297"/>
            </a:xfrm>
          </p:grpSpPr>
          <p:sp>
            <p:nvSpPr>
              <p:cNvPr name="Freeform 12" id="12" descr="image.png"/>
              <p:cNvSpPr/>
              <p:nvPr/>
            </p:nvSpPr>
            <p:spPr>
              <a:xfrm flipH="false" flipV="false" rot="0">
                <a:off x="0" y="0"/>
                <a:ext cx="6794627" cy="5982335"/>
              </a:xfrm>
              <a:custGeom>
                <a:avLst/>
                <a:gdLst/>
                <a:ahLst/>
                <a:cxnLst/>
                <a:rect r="r" b="b" t="t" l="l"/>
                <a:pathLst>
                  <a:path h="5982335" w="6794627">
                    <a:moveTo>
                      <a:pt x="0" y="0"/>
                    </a:moveTo>
                    <a:lnTo>
                      <a:pt x="6794627" y="0"/>
                    </a:lnTo>
                    <a:lnTo>
                      <a:pt x="6794627" y="5982335"/>
                    </a:lnTo>
                    <a:lnTo>
                      <a:pt x="0" y="5982335"/>
                    </a:lnTo>
                    <a:lnTo>
                      <a:pt x="0" y="0"/>
                    </a:lnTo>
                    <a:close/>
                  </a:path>
                </a:pathLst>
              </a:custGeom>
              <a:blipFill>
                <a:blip r:embed="rId5"/>
                <a:stretch>
                  <a:fillRect l="-31" t="0" r="-31" b="0"/>
                </a:stretch>
              </a:blipFill>
            </p:spPr>
          </p:sp>
        </p:grpSp>
        <p:grpSp>
          <p:nvGrpSpPr>
            <p:cNvPr name="Group 13" id="13"/>
            <p:cNvGrpSpPr/>
            <p:nvPr/>
          </p:nvGrpSpPr>
          <p:grpSpPr>
            <a:xfrm rot="0">
              <a:off x="14541398" y="0"/>
              <a:ext cx="6794297" cy="5982297"/>
              <a:chOff x="0" y="0"/>
              <a:chExt cx="6794297" cy="5982297"/>
            </a:xfrm>
          </p:grpSpPr>
          <p:sp>
            <p:nvSpPr>
              <p:cNvPr name="Freeform 14" id="14" descr="image.png"/>
              <p:cNvSpPr/>
              <p:nvPr/>
            </p:nvSpPr>
            <p:spPr>
              <a:xfrm flipH="false" flipV="false" rot="0">
                <a:off x="0" y="0"/>
                <a:ext cx="6794246" cy="5982335"/>
              </a:xfrm>
              <a:custGeom>
                <a:avLst/>
                <a:gdLst/>
                <a:ahLst/>
                <a:cxnLst/>
                <a:rect r="r" b="b" t="t" l="l"/>
                <a:pathLst>
                  <a:path h="5982335" w="6794246">
                    <a:moveTo>
                      <a:pt x="0" y="0"/>
                    </a:moveTo>
                    <a:lnTo>
                      <a:pt x="6794246" y="0"/>
                    </a:lnTo>
                    <a:lnTo>
                      <a:pt x="6794246" y="5982335"/>
                    </a:lnTo>
                    <a:lnTo>
                      <a:pt x="0" y="5982335"/>
                    </a:lnTo>
                    <a:lnTo>
                      <a:pt x="0" y="0"/>
                    </a:lnTo>
                    <a:close/>
                  </a:path>
                </a:pathLst>
              </a:custGeom>
              <a:blipFill>
                <a:blip r:embed="rId6"/>
                <a:stretch>
                  <a:fillRect l="0" t="-105" r="0" b="-105"/>
                </a:stretch>
              </a:blipFill>
            </p:spPr>
          </p:sp>
        </p:grpSp>
        <p:grpSp>
          <p:nvGrpSpPr>
            <p:cNvPr name="Group 15" id="15"/>
            <p:cNvGrpSpPr/>
            <p:nvPr/>
          </p:nvGrpSpPr>
          <p:grpSpPr>
            <a:xfrm rot="0">
              <a:off x="2825648" y="647700"/>
              <a:ext cx="1143000" cy="1143000"/>
              <a:chOff x="0" y="0"/>
              <a:chExt cx="1143000" cy="1143000"/>
            </a:xfrm>
          </p:grpSpPr>
          <p:sp>
            <p:nvSpPr>
              <p:cNvPr name="Freeform 16" id="16" descr="image.png"/>
              <p:cNvSpPr/>
              <p:nvPr/>
            </p:nvSpPr>
            <p:spPr>
              <a:xfrm flipH="false" flipV="false" rot="0">
                <a:off x="0" y="0"/>
                <a:ext cx="1143000" cy="1143000"/>
              </a:xfrm>
              <a:custGeom>
                <a:avLst/>
                <a:gdLst/>
                <a:ahLst/>
                <a:cxnLst/>
                <a:rect r="r" b="b" t="t" l="l"/>
                <a:pathLst>
                  <a:path h="1143000" w="1143000">
                    <a:moveTo>
                      <a:pt x="0" y="0"/>
                    </a:moveTo>
                    <a:lnTo>
                      <a:pt x="1143000" y="0"/>
                    </a:lnTo>
                    <a:lnTo>
                      <a:pt x="1143000" y="1143000"/>
                    </a:lnTo>
                    <a:lnTo>
                      <a:pt x="0" y="1143000"/>
                    </a:lnTo>
                    <a:lnTo>
                      <a:pt x="0" y="0"/>
                    </a:lnTo>
                    <a:close/>
                  </a:path>
                </a:pathLst>
              </a:custGeom>
              <a:blipFill>
                <a:blip r:embed="rId7"/>
                <a:stretch>
                  <a:fillRect l="-833" t="0" r="-833" b="0"/>
                </a:stretch>
              </a:blipFill>
            </p:spPr>
          </p:sp>
        </p:grpSp>
        <p:sp>
          <p:nvSpPr>
            <p:cNvPr name="TextBox 17" id="17"/>
            <p:cNvSpPr txBox="true"/>
            <p:nvPr/>
          </p:nvSpPr>
          <p:spPr>
            <a:xfrm rot="0">
              <a:off x="1826959" y="2114550"/>
              <a:ext cx="3140392" cy="489344"/>
            </a:xfrm>
            <a:prstGeom prst="rect">
              <a:avLst/>
            </a:prstGeom>
          </p:spPr>
          <p:txBody>
            <a:bodyPr anchor="t" rtlCol="false" tIns="0" lIns="0" bIns="0" rIns="0">
              <a:spAutoFit/>
            </a:bodyPr>
            <a:lstStyle/>
            <a:p>
              <a:pPr algn="ctr">
                <a:lnSpc>
                  <a:spcPts val="2778"/>
                </a:lnSpc>
              </a:pPr>
              <a:r>
                <a:rPr lang="en-US" sz="2137" b="true">
                  <a:solidFill>
                    <a:srgbClr val="051C2C"/>
                  </a:solidFill>
                  <a:latin typeface="Montserrat Bold"/>
                  <a:ea typeface="Montserrat Bold"/>
                  <a:cs typeface="Montserrat Bold"/>
                  <a:sym typeface="Montserrat Bold"/>
                </a:rPr>
                <a:t>Rủi Ro Kỹ Thuật</a:t>
              </a:r>
            </a:p>
          </p:txBody>
        </p:sp>
        <p:sp>
          <p:nvSpPr>
            <p:cNvPr name="TextBox 18" id="18"/>
            <p:cNvSpPr txBox="true"/>
            <p:nvPr/>
          </p:nvSpPr>
          <p:spPr>
            <a:xfrm rot="0">
              <a:off x="495300" y="2765819"/>
              <a:ext cx="5803697" cy="2625928"/>
            </a:xfrm>
            <a:prstGeom prst="rect">
              <a:avLst/>
            </a:prstGeom>
          </p:spPr>
          <p:txBody>
            <a:bodyPr anchor="t" rtlCol="false" tIns="0" lIns="0" bIns="0" rIns="0">
              <a:spAutoFit/>
            </a:bodyPr>
            <a:lstStyle/>
            <a:p>
              <a:pPr algn="l">
                <a:lnSpc>
                  <a:spcPts val="2518"/>
                </a:lnSpc>
              </a:pPr>
              <a:r>
                <a:rPr lang="en-US" sz="1575">
                  <a:solidFill>
                    <a:srgbClr val="475569"/>
                  </a:solidFill>
                  <a:latin typeface="Open Sans"/>
                  <a:ea typeface="Open Sans"/>
                  <a:cs typeface="Open Sans"/>
                  <a:sym typeface="Open Sans"/>
                </a:rPr>
                <a:t>Nguy cơ thất thoát hoặc sai lệch dữ liệu trong quá trình di chuyển từ cơ sở dữ liệu POS cục bộ lên Cloud. Sự gián đoạn dịch vụ có thể xảy ra khi tích hợp API với các hệ thống thanh toán và đối tác bên thứ ba nếu thiếu kiểm thử đồng bộ.</a:t>
              </a:r>
            </a:p>
          </p:txBody>
        </p:sp>
        <p:grpSp>
          <p:nvGrpSpPr>
            <p:cNvPr name="Group 19" id="19"/>
            <p:cNvGrpSpPr/>
            <p:nvPr/>
          </p:nvGrpSpPr>
          <p:grpSpPr>
            <a:xfrm rot="0">
              <a:off x="10096208" y="647700"/>
              <a:ext cx="1143000" cy="1143000"/>
              <a:chOff x="0" y="0"/>
              <a:chExt cx="1143000" cy="1143000"/>
            </a:xfrm>
          </p:grpSpPr>
          <p:sp>
            <p:nvSpPr>
              <p:cNvPr name="Freeform 20" id="20" descr="image.png"/>
              <p:cNvSpPr/>
              <p:nvPr/>
            </p:nvSpPr>
            <p:spPr>
              <a:xfrm flipH="false" flipV="false" rot="0">
                <a:off x="0" y="0"/>
                <a:ext cx="1143000" cy="1143000"/>
              </a:xfrm>
              <a:custGeom>
                <a:avLst/>
                <a:gdLst/>
                <a:ahLst/>
                <a:cxnLst/>
                <a:rect r="r" b="b" t="t" l="l"/>
                <a:pathLst>
                  <a:path h="1143000" w="1143000">
                    <a:moveTo>
                      <a:pt x="0" y="0"/>
                    </a:moveTo>
                    <a:lnTo>
                      <a:pt x="1143000" y="0"/>
                    </a:lnTo>
                    <a:lnTo>
                      <a:pt x="1143000" y="1143000"/>
                    </a:lnTo>
                    <a:lnTo>
                      <a:pt x="0" y="1143000"/>
                    </a:lnTo>
                    <a:lnTo>
                      <a:pt x="0" y="0"/>
                    </a:lnTo>
                    <a:close/>
                  </a:path>
                </a:pathLst>
              </a:custGeom>
              <a:blipFill>
                <a:blip r:embed="rId8"/>
                <a:stretch>
                  <a:fillRect l="-833" t="0" r="-833" b="0"/>
                </a:stretch>
              </a:blipFill>
            </p:spPr>
          </p:sp>
        </p:grpSp>
        <p:sp>
          <p:nvSpPr>
            <p:cNvPr name="TextBox 21" id="21"/>
            <p:cNvSpPr txBox="true"/>
            <p:nvPr/>
          </p:nvSpPr>
          <p:spPr>
            <a:xfrm rot="0">
              <a:off x="9177515" y="2114550"/>
              <a:ext cx="2980372" cy="489344"/>
            </a:xfrm>
            <a:prstGeom prst="rect">
              <a:avLst/>
            </a:prstGeom>
          </p:spPr>
          <p:txBody>
            <a:bodyPr anchor="t" rtlCol="false" tIns="0" lIns="0" bIns="0" rIns="0">
              <a:spAutoFit/>
            </a:bodyPr>
            <a:lstStyle/>
            <a:p>
              <a:pPr algn="ctr">
                <a:lnSpc>
                  <a:spcPts val="2778"/>
                </a:lnSpc>
              </a:pPr>
              <a:r>
                <a:rPr lang="en-US" sz="2137" b="true">
                  <a:solidFill>
                    <a:srgbClr val="051C2C"/>
                  </a:solidFill>
                  <a:latin typeface="Montserrat Bold"/>
                  <a:ea typeface="Montserrat Bold"/>
                  <a:cs typeface="Montserrat Bold"/>
                  <a:sym typeface="Montserrat Bold"/>
                </a:rPr>
                <a:t>Rủi Ro Tổ Chức</a:t>
              </a:r>
            </a:p>
          </p:txBody>
        </p:sp>
        <p:sp>
          <p:nvSpPr>
            <p:cNvPr name="TextBox 22" id="22"/>
            <p:cNvSpPr txBox="true"/>
            <p:nvPr/>
          </p:nvSpPr>
          <p:spPr>
            <a:xfrm rot="0">
              <a:off x="7765847" y="2765819"/>
              <a:ext cx="5804002" cy="2625928"/>
            </a:xfrm>
            <a:prstGeom prst="rect">
              <a:avLst/>
            </a:prstGeom>
          </p:spPr>
          <p:txBody>
            <a:bodyPr anchor="t" rtlCol="false" tIns="0" lIns="0" bIns="0" rIns="0">
              <a:spAutoFit/>
            </a:bodyPr>
            <a:lstStyle/>
            <a:p>
              <a:pPr algn="l">
                <a:lnSpc>
                  <a:spcPts val="2518"/>
                </a:lnSpc>
              </a:pPr>
              <a:r>
                <a:rPr lang="en-US" sz="1575">
                  <a:solidFill>
                    <a:srgbClr val="475569"/>
                  </a:solidFill>
                  <a:latin typeface="Open Sans"/>
                  <a:ea typeface="Open Sans"/>
                  <a:cs typeface="Open Sans"/>
                  <a:sym typeface="Open Sans"/>
                </a:rPr>
                <a:t>Sự kháng cự từ đội ngũ nhân viên quen với quy trình cũ, dẫn đến thao tác sai quy trình và làm giảm chất lượng dữ liệu đầu vào. Sự thiếu hụt kỹ năng vận hành Microservices tạo rủi ro suy giảm hiệu năng khi hệ thống đi vào hoạt động.</a:t>
              </a:r>
            </a:p>
          </p:txBody>
        </p:sp>
        <p:grpSp>
          <p:nvGrpSpPr>
            <p:cNvPr name="Group 23" id="23"/>
            <p:cNvGrpSpPr/>
            <p:nvPr/>
          </p:nvGrpSpPr>
          <p:grpSpPr>
            <a:xfrm rot="0">
              <a:off x="17367047" y="647700"/>
              <a:ext cx="1143000" cy="1143000"/>
              <a:chOff x="0" y="0"/>
              <a:chExt cx="1143000" cy="1143000"/>
            </a:xfrm>
          </p:grpSpPr>
          <p:sp>
            <p:nvSpPr>
              <p:cNvPr name="Freeform 24" id="24" descr="image.png"/>
              <p:cNvSpPr/>
              <p:nvPr/>
            </p:nvSpPr>
            <p:spPr>
              <a:xfrm flipH="false" flipV="false" rot="0">
                <a:off x="0" y="0"/>
                <a:ext cx="1143000" cy="1143000"/>
              </a:xfrm>
              <a:custGeom>
                <a:avLst/>
                <a:gdLst/>
                <a:ahLst/>
                <a:cxnLst/>
                <a:rect r="r" b="b" t="t" l="l"/>
                <a:pathLst>
                  <a:path h="1143000" w="1143000">
                    <a:moveTo>
                      <a:pt x="0" y="0"/>
                    </a:moveTo>
                    <a:lnTo>
                      <a:pt x="1143000" y="0"/>
                    </a:lnTo>
                    <a:lnTo>
                      <a:pt x="1143000" y="1143000"/>
                    </a:lnTo>
                    <a:lnTo>
                      <a:pt x="0" y="1143000"/>
                    </a:lnTo>
                    <a:lnTo>
                      <a:pt x="0" y="0"/>
                    </a:lnTo>
                    <a:close/>
                  </a:path>
                </a:pathLst>
              </a:custGeom>
              <a:blipFill>
                <a:blip r:embed="rId9"/>
                <a:stretch>
                  <a:fillRect l="-833" t="0" r="-833" b="0"/>
                </a:stretch>
              </a:blipFill>
            </p:spPr>
          </p:sp>
        </p:grpSp>
        <p:sp>
          <p:nvSpPr>
            <p:cNvPr name="TextBox 25" id="25"/>
            <p:cNvSpPr txBox="true"/>
            <p:nvPr/>
          </p:nvSpPr>
          <p:spPr>
            <a:xfrm rot="0">
              <a:off x="16428364" y="2114550"/>
              <a:ext cx="3020378" cy="489344"/>
            </a:xfrm>
            <a:prstGeom prst="rect">
              <a:avLst/>
            </a:prstGeom>
          </p:spPr>
          <p:txBody>
            <a:bodyPr anchor="t" rtlCol="false" tIns="0" lIns="0" bIns="0" rIns="0">
              <a:spAutoFit/>
            </a:bodyPr>
            <a:lstStyle/>
            <a:p>
              <a:pPr algn="ctr">
                <a:lnSpc>
                  <a:spcPts val="2778"/>
                </a:lnSpc>
              </a:pPr>
              <a:r>
                <a:rPr lang="en-US" sz="2137" b="true">
                  <a:solidFill>
                    <a:srgbClr val="051C2C"/>
                  </a:solidFill>
                  <a:latin typeface="Montserrat Bold"/>
                  <a:ea typeface="Montserrat Bold"/>
                  <a:cs typeface="Montserrat Bold"/>
                  <a:sym typeface="Montserrat Bold"/>
                </a:rPr>
                <a:t>Rủi Ro Bảo Mật</a:t>
              </a:r>
            </a:p>
          </p:txBody>
        </p:sp>
        <p:sp>
          <p:nvSpPr>
            <p:cNvPr name="TextBox 26" id="26"/>
            <p:cNvSpPr txBox="true"/>
            <p:nvPr/>
          </p:nvSpPr>
          <p:spPr>
            <a:xfrm rot="0">
              <a:off x="15036698" y="2765819"/>
              <a:ext cx="5803697" cy="2625928"/>
            </a:xfrm>
            <a:prstGeom prst="rect">
              <a:avLst/>
            </a:prstGeom>
          </p:spPr>
          <p:txBody>
            <a:bodyPr anchor="t" rtlCol="false" tIns="0" lIns="0" bIns="0" rIns="0">
              <a:spAutoFit/>
            </a:bodyPr>
            <a:lstStyle/>
            <a:p>
              <a:pPr algn="l">
                <a:lnSpc>
                  <a:spcPts val="2518"/>
                </a:lnSpc>
              </a:pPr>
              <a:r>
                <a:rPr lang="en-US" sz="1575">
                  <a:solidFill>
                    <a:srgbClr val="475569"/>
                  </a:solidFill>
                  <a:latin typeface="Open Sans"/>
                  <a:ea typeface="Open Sans"/>
                  <a:cs typeface="Open Sans"/>
                  <a:sym typeface="Open Sans"/>
                </a:rPr>
                <a:t>Khoảng trống an ninh trong giai đoạn chuyển tiếp khi hệ thống cũ và mới vận hành song song. Cấu hình tường lửa phức tạp tạo ra các điểm yếu tạm thời, làm tăng xác suất bị xâm nhập hoặc đánh cắp thông tin thẻ trước khi Zero Trust hoàn thiện.</a:t>
              </a:r>
            </a:p>
          </p:txBody>
        </p:sp>
        <p:grpSp>
          <p:nvGrpSpPr>
            <p:cNvPr name="Group 27" id="27"/>
            <p:cNvGrpSpPr/>
            <p:nvPr/>
          </p:nvGrpSpPr>
          <p:grpSpPr>
            <a:xfrm rot="0">
              <a:off x="3111398" y="990600"/>
              <a:ext cx="571500" cy="457200"/>
              <a:chOff x="0" y="0"/>
              <a:chExt cx="571500" cy="457200"/>
            </a:xfrm>
          </p:grpSpPr>
          <p:sp>
            <p:nvSpPr>
              <p:cNvPr name="Freeform 28" id="28" descr="image.png"/>
              <p:cNvSpPr/>
              <p:nvPr/>
            </p:nvSpPr>
            <p:spPr>
              <a:xfrm flipH="false" flipV="false" rot="0">
                <a:off x="0" y="0"/>
                <a:ext cx="571500" cy="457200"/>
              </a:xfrm>
              <a:custGeom>
                <a:avLst/>
                <a:gdLst/>
                <a:ahLst/>
                <a:cxnLst/>
                <a:rect r="r" b="b" t="t" l="l"/>
                <a:pathLst>
                  <a:path h="457200" w="571500">
                    <a:moveTo>
                      <a:pt x="0" y="0"/>
                    </a:moveTo>
                    <a:lnTo>
                      <a:pt x="571500" y="0"/>
                    </a:lnTo>
                    <a:lnTo>
                      <a:pt x="571500" y="457200"/>
                    </a:lnTo>
                    <a:lnTo>
                      <a:pt x="0" y="457200"/>
                    </a:lnTo>
                    <a:lnTo>
                      <a:pt x="0" y="0"/>
                    </a:lnTo>
                    <a:close/>
                  </a:path>
                </a:pathLst>
              </a:custGeom>
              <a:blipFill>
                <a:blip r:embed="rId10"/>
                <a:stretch>
                  <a:fillRect l="-1666" t="0" r="-1666" b="0"/>
                </a:stretch>
              </a:blipFill>
            </p:spPr>
          </p:sp>
        </p:grpSp>
        <p:grpSp>
          <p:nvGrpSpPr>
            <p:cNvPr name="Group 29" id="29"/>
            <p:cNvGrpSpPr/>
            <p:nvPr/>
          </p:nvGrpSpPr>
          <p:grpSpPr>
            <a:xfrm rot="0">
              <a:off x="10381958" y="990600"/>
              <a:ext cx="571500" cy="457200"/>
              <a:chOff x="0" y="0"/>
              <a:chExt cx="571500" cy="457200"/>
            </a:xfrm>
          </p:grpSpPr>
          <p:sp>
            <p:nvSpPr>
              <p:cNvPr name="Freeform 30" id="30" descr="image.png"/>
              <p:cNvSpPr/>
              <p:nvPr/>
            </p:nvSpPr>
            <p:spPr>
              <a:xfrm flipH="false" flipV="false" rot="0">
                <a:off x="0" y="0"/>
                <a:ext cx="571500" cy="457200"/>
              </a:xfrm>
              <a:custGeom>
                <a:avLst/>
                <a:gdLst/>
                <a:ahLst/>
                <a:cxnLst/>
                <a:rect r="r" b="b" t="t" l="l"/>
                <a:pathLst>
                  <a:path h="457200" w="571500">
                    <a:moveTo>
                      <a:pt x="0" y="0"/>
                    </a:moveTo>
                    <a:lnTo>
                      <a:pt x="571500" y="0"/>
                    </a:lnTo>
                    <a:lnTo>
                      <a:pt x="571500" y="457200"/>
                    </a:lnTo>
                    <a:lnTo>
                      <a:pt x="0" y="457200"/>
                    </a:lnTo>
                    <a:lnTo>
                      <a:pt x="0" y="0"/>
                    </a:lnTo>
                    <a:close/>
                  </a:path>
                </a:pathLst>
              </a:custGeom>
              <a:blipFill>
                <a:blip r:embed="rId11"/>
                <a:stretch>
                  <a:fillRect l="-1666" t="0" r="-1666" b="0"/>
                </a:stretch>
              </a:blipFill>
            </p:spPr>
          </p:sp>
        </p:grpSp>
        <p:grpSp>
          <p:nvGrpSpPr>
            <p:cNvPr name="Group 31" id="31"/>
            <p:cNvGrpSpPr/>
            <p:nvPr/>
          </p:nvGrpSpPr>
          <p:grpSpPr>
            <a:xfrm rot="0">
              <a:off x="17681372" y="990600"/>
              <a:ext cx="514350" cy="457200"/>
              <a:chOff x="0" y="0"/>
              <a:chExt cx="514350" cy="457200"/>
            </a:xfrm>
          </p:grpSpPr>
          <p:sp>
            <p:nvSpPr>
              <p:cNvPr name="Freeform 32" id="32" descr="image.png"/>
              <p:cNvSpPr/>
              <p:nvPr/>
            </p:nvSpPr>
            <p:spPr>
              <a:xfrm flipH="false" flipV="false" rot="0">
                <a:off x="0" y="0"/>
                <a:ext cx="514350" cy="457200"/>
              </a:xfrm>
              <a:custGeom>
                <a:avLst/>
                <a:gdLst/>
                <a:ahLst/>
                <a:cxnLst/>
                <a:rect r="r" b="b" t="t" l="l"/>
                <a:pathLst>
                  <a:path h="457200" w="514350">
                    <a:moveTo>
                      <a:pt x="0" y="0"/>
                    </a:moveTo>
                    <a:lnTo>
                      <a:pt x="514350" y="0"/>
                    </a:lnTo>
                    <a:lnTo>
                      <a:pt x="514350" y="457200"/>
                    </a:lnTo>
                    <a:lnTo>
                      <a:pt x="0" y="457200"/>
                    </a:lnTo>
                    <a:lnTo>
                      <a:pt x="0" y="0"/>
                    </a:lnTo>
                    <a:close/>
                  </a:path>
                </a:pathLst>
              </a:custGeom>
              <a:blipFill>
                <a:blip r:embed="rId12"/>
                <a:stretch>
                  <a:fillRect l="-1851" t="0" r="-1851" b="0"/>
                </a:stretch>
              </a:blipFill>
            </p:spPr>
          </p:sp>
        </p:grpSp>
      </p:gr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98" y="1521933"/>
            <a:ext cx="18308212" cy="8765067"/>
            <a:chOff x="0" y="0"/>
            <a:chExt cx="24410949" cy="11686756"/>
          </a:xfrm>
        </p:grpSpPr>
        <p:sp>
          <p:nvSpPr>
            <p:cNvPr name="Freeform 3" id="3"/>
            <p:cNvSpPr/>
            <p:nvPr/>
          </p:nvSpPr>
          <p:spPr>
            <a:xfrm flipH="false" flipV="false" rot="0">
              <a:off x="15367" y="27486"/>
              <a:ext cx="24380189" cy="11631761"/>
            </a:xfrm>
            <a:custGeom>
              <a:avLst/>
              <a:gdLst/>
              <a:ahLst/>
              <a:cxnLst/>
              <a:rect r="r" b="b" t="t" l="l"/>
              <a:pathLst>
                <a:path h="11631761" w="24380189">
                  <a:moveTo>
                    <a:pt x="0" y="0"/>
                  </a:moveTo>
                  <a:lnTo>
                    <a:pt x="24380189" y="0"/>
                  </a:lnTo>
                  <a:lnTo>
                    <a:pt x="24380189" y="11631761"/>
                  </a:lnTo>
                  <a:lnTo>
                    <a:pt x="0" y="11631761"/>
                  </a:lnTo>
                  <a:close/>
                </a:path>
              </a:pathLst>
            </a:custGeom>
            <a:solidFill>
              <a:srgbClr val="282A75"/>
            </a:solidFill>
          </p:spPr>
        </p:sp>
        <p:sp>
          <p:nvSpPr>
            <p:cNvPr name="Freeform 4" id="4"/>
            <p:cNvSpPr/>
            <p:nvPr/>
          </p:nvSpPr>
          <p:spPr>
            <a:xfrm flipH="false" flipV="false" rot="0">
              <a:off x="0" y="0"/>
              <a:ext cx="24410924" cy="11686734"/>
            </a:xfrm>
            <a:custGeom>
              <a:avLst/>
              <a:gdLst/>
              <a:ahLst/>
              <a:cxnLst/>
              <a:rect r="r" b="b" t="t" l="l"/>
              <a:pathLst>
                <a:path h="11686734" w="24410924">
                  <a:moveTo>
                    <a:pt x="15367" y="0"/>
                  </a:moveTo>
                  <a:lnTo>
                    <a:pt x="24395556" y="0"/>
                  </a:lnTo>
                  <a:cubicBezTo>
                    <a:pt x="24404065" y="0"/>
                    <a:pt x="24410924" y="12267"/>
                    <a:pt x="24410924" y="27486"/>
                  </a:cubicBezTo>
                  <a:lnTo>
                    <a:pt x="24410924" y="11659247"/>
                  </a:lnTo>
                  <a:cubicBezTo>
                    <a:pt x="24410924" y="11674466"/>
                    <a:pt x="24404065" y="11686734"/>
                    <a:pt x="24395556" y="11686734"/>
                  </a:cubicBezTo>
                  <a:lnTo>
                    <a:pt x="15367" y="11686734"/>
                  </a:lnTo>
                  <a:cubicBezTo>
                    <a:pt x="6858" y="11686734"/>
                    <a:pt x="0" y="11674466"/>
                    <a:pt x="0" y="11659247"/>
                  </a:cubicBezTo>
                  <a:lnTo>
                    <a:pt x="0" y="27486"/>
                  </a:lnTo>
                  <a:cubicBezTo>
                    <a:pt x="0" y="12267"/>
                    <a:pt x="6858" y="0"/>
                    <a:pt x="15367" y="0"/>
                  </a:cubicBezTo>
                  <a:moveTo>
                    <a:pt x="15367" y="55200"/>
                  </a:moveTo>
                  <a:lnTo>
                    <a:pt x="15367" y="27486"/>
                  </a:lnTo>
                  <a:lnTo>
                    <a:pt x="30861" y="27486"/>
                  </a:lnTo>
                  <a:lnTo>
                    <a:pt x="30861" y="11659247"/>
                  </a:lnTo>
                  <a:lnTo>
                    <a:pt x="15367" y="11659247"/>
                  </a:lnTo>
                  <a:lnTo>
                    <a:pt x="15367" y="11631760"/>
                  </a:lnTo>
                  <a:lnTo>
                    <a:pt x="24395556" y="11631760"/>
                  </a:lnTo>
                  <a:lnTo>
                    <a:pt x="24395556" y="11659247"/>
                  </a:lnTo>
                  <a:lnTo>
                    <a:pt x="24380189" y="11659247"/>
                  </a:lnTo>
                  <a:lnTo>
                    <a:pt x="24380189" y="27486"/>
                  </a:lnTo>
                  <a:lnTo>
                    <a:pt x="24395556" y="27486"/>
                  </a:lnTo>
                  <a:lnTo>
                    <a:pt x="24395556" y="55200"/>
                  </a:lnTo>
                  <a:lnTo>
                    <a:pt x="15367" y="55200"/>
                  </a:lnTo>
                  <a:close/>
                </a:path>
              </a:pathLst>
            </a:custGeom>
            <a:solidFill>
              <a:srgbClr val="1C334E"/>
            </a:solidFill>
          </p:spPr>
        </p:sp>
      </p:grpSp>
      <p:grpSp>
        <p:nvGrpSpPr>
          <p:cNvPr name="Group 5" id="5"/>
          <p:cNvGrpSpPr/>
          <p:nvPr/>
        </p:nvGrpSpPr>
        <p:grpSpPr>
          <a:xfrm rot="0">
            <a:off x="0" y="-4801"/>
            <a:ext cx="18285114" cy="1526734"/>
            <a:chOff x="0" y="0"/>
            <a:chExt cx="24380152" cy="2035645"/>
          </a:xfrm>
        </p:grpSpPr>
        <p:sp>
          <p:nvSpPr>
            <p:cNvPr name="Freeform 6" id="6"/>
            <p:cNvSpPr/>
            <p:nvPr/>
          </p:nvSpPr>
          <p:spPr>
            <a:xfrm flipH="false" flipV="false" rot="0">
              <a:off x="0" y="0"/>
              <a:ext cx="24380189" cy="2035683"/>
            </a:xfrm>
            <a:custGeom>
              <a:avLst/>
              <a:gdLst/>
              <a:ahLst/>
              <a:cxnLst/>
              <a:rect r="r" b="b" t="t" l="l"/>
              <a:pathLst>
                <a:path h="2035683" w="24380189">
                  <a:moveTo>
                    <a:pt x="0" y="0"/>
                  </a:moveTo>
                  <a:lnTo>
                    <a:pt x="24380189" y="0"/>
                  </a:lnTo>
                  <a:lnTo>
                    <a:pt x="24380189" y="2035683"/>
                  </a:lnTo>
                  <a:lnTo>
                    <a:pt x="0" y="2035683"/>
                  </a:lnTo>
                  <a:lnTo>
                    <a:pt x="0" y="0"/>
                  </a:lnTo>
                  <a:close/>
                </a:path>
              </a:pathLst>
            </a:custGeom>
            <a:blipFill>
              <a:blip r:embed="rId3"/>
              <a:stretch>
                <a:fillRect l="0" t="0" r="0" b="1"/>
              </a:stretch>
            </a:blipFill>
          </p:spPr>
        </p:sp>
      </p:grpSp>
      <p:sp>
        <p:nvSpPr>
          <p:cNvPr name="TextBox 7" id="7"/>
          <p:cNvSpPr txBox="true"/>
          <p:nvPr/>
        </p:nvSpPr>
        <p:spPr>
          <a:xfrm rot="0">
            <a:off x="3547062" y="498662"/>
            <a:ext cx="7653658" cy="363132"/>
          </a:xfrm>
          <a:prstGeom prst="rect">
            <a:avLst/>
          </a:prstGeom>
        </p:spPr>
        <p:txBody>
          <a:bodyPr anchor="t" rtlCol="false" tIns="0" lIns="0" bIns="0" rIns="0">
            <a:spAutoFit/>
          </a:bodyPr>
          <a:lstStyle/>
          <a:p>
            <a:pPr algn="l">
              <a:lnSpc>
                <a:spcPts val="3060"/>
              </a:lnSpc>
            </a:pPr>
            <a:r>
              <a:rPr lang="en-US" b="true" sz="2182">
                <a:solidFill>
                  <a:srgbClr val="FAA61A"/>
                </a:solidFill>
                <a:latin typeface="Montserrat Bold"/>
                <a:ea typeface="Montserrat Bold"/>
                <a:cs typeface="Montserrat Bold"/>
                <a:sym typeface="Montserrat Bold"/>
              </a:rPr>
              <a:t>ĐỀ XUẤT GIẢI PHÁP GIẢM THIỂU RỦI RO</a:t>
            </a:r>
          </a:p>
        </p:txBody>
      </p:sp>
      <p:grpSp>
        <p:nvGrpSpPr>
          <p:cNvPr name="Group 8" id="8"/>
          <p:cNvGrpSpPr/>
          <p:nvPr/>
        </p:nvGrpSpPr>
        <p:grpSpPr>
          <a:xfrm rot="0">
            <a:off x="1143000" y="2586038"/>
            <a:ext cx="7643812" cy="2200275"/>
            <a:chOff x="0" y="0"/>
            <a:chExt cx="10191750" cy="2933700"/>
          </a:xfrm>
        </p:grpSpPr>
        <p:grpSp>
          <p:nvGrpSpPr>
            <p:cNvPr name="Group 9" id="9"/>
            <p:cNvGrpSpPr/>
            <p:nvPr/>
          </p:nvGrpSpPr>
          <p:grpSpPr>
            <a:xfrm rot="0">
              <a:off x="0" y="0"/>
              <a:ext cx="10191750" cy="2933700"/>
              <a:chOff x="0" y="0"/>
              <a:chExt cx="10191750" cy="2933700"/>
            </a:xfrm>
          </p:grpSpPr>
          <p:sp>
            <p:nvSpPr>
              <p:cNvPr name="Freeform 10" id="10" descr="image.png"/>
              <p:cNvSpPr/>
              <p:nvPr/>
            </p:nvSpPr>
            <p:spPr>
              <a:xfrm flipH="false" flipV="false" rot="0">
                <a:off x="0" y="0"/>
                <a:ext cx="10191750" cy="2933700"/>
              </a:xfrm>
              <a:custGeom>
                <a:avLst/>
                <a:gdLst/>
                <a:ahLst/>
                <a:cxnLst/>
                <a:rect r="r" b="b" t="t" l="l"/>
                <a:pathLst>
                  <a:path h="2933700" w="10191750">
                    <a:moveTo>
                      <a:pt x="0" y="0"/>
                    </a:moveTo>
                    <a:lnTo>
                      <a:pt x="10191750" y="0"/>
                    </a:lnTo>
                    <a:lnTo>
                      <a:pt x="10191750" y="2933700"/>
                    </a:lnTo>
                    <a:lnTo>
                      <a:pt x="0" y="2933700"/>
                    </a:lnTo>
                    <a:lnTo>
                      <a:pt x="0" y="0"/>
                    </a:lnTo>
                    <a:close/>
                  </a:path>
                </a:pathLst>
              </a:custGeom>
              <a:blipFill>
                <a:blip r:embed="rId4"/>
                <a:stretch>
                  <a:fillRect l="0" t="0" r="0" b="0"/>
                </a:stretch>
              </a:blipFill>
            </p:spPr>
          </p:sp>
        </p:grpSp>
        <p:sp>
          <p:nvSpPr>
            <p:cNvPr name="TextBox 11" id="11"/>
            <p:cNvSpPr txBox="true"/>
            <p:nvPr/>
          </p:nvSpPr>
          <p:spPr>
            <a:xfrm rot="0">
              <a:off x="931224" y="381000"/>
              <a:ext cx="9026264" cy="406400"/>
            </a:xfrm>
            <a:prstGeom prst="rect">
              <a:avLst/>
            </a:prstGeom>
          </p:spPr>
          <p:txBody>
            <a:bodyPr anchor="t" rtlCol="false" tIns="0" lIns="0" bIns="0" rIns="0">
              <a:spAutoFit/>
            </a:bodyPr>
            <a:lstStyle/>
            <a:p>
              <a:pPr algn="l">
                <a:lnSpc>
                  <a:spcPts val="2430"/>
                </a:lnSpc>
              </a:pPr>
              <a:r>
                <a:rPr lang="en-US" sz="2025" b="true">
                  <a:solidFill>
                    <a:srgbClr val="051C2C"/>
                  </a:solidFill>
                  <a:latin typeface="Montserrat Bold"/>
                  <a:ea typeface="Montserrat Bold"/>
                  <a:cs typeface="Montserrat Bold"/>
                  <a:sym typeface="Montserrat Bold"/>
                </a:rPr>
                <a:t>Kiểm soát Rủi ro Kỹ thuật</a:t>
              </a:r>
            </a:p>
          </p:txBody>
        </p:sp>
        <p:sp>
          <p:nvSpPr>
            <p:cNvPr name="TextBox 12" id="12"/>
            <p:cNvSpPr txBox="true"/>
            <p:nvPr/>
          </p:nvSpPr>
          <p:spPr>
            <a:xfrm rot="0">
              <a:off x="457200" y="904875"/>
              <a:ext cx="9353550" cy="1647825"/>
            </a:xfrm>
            <a:prstGeom prst="rect">
              <a:avLst/>
            </a:prstGeom>
          </p:spPr>
          <p:txBody>
            <a:bodyPr anchor="t" rtlCol="false" tIns="0" lIns="0" bIns="0" rIns="0">
              <a:spAutoFit/>
            </a:bodyPr>
            <a:lstStyle/>
            <a:p>
              <a:pPr algn="l">
                <a:lnSpc>
                  <a:spcPts val="2362"/>
                </a:lnSpc>
              </a:pPr>
              <a:r>
                <a:rPr lang="en-US" sz="1575">
                  <a:solidFill>
                    <a:srgbClr val="334155"/>
                  </a:solidFill>
                  <a:latin typeface="Open Sans"/>
                  <a:ea typeface="Open Sans"/>
                  <a:cs typeface="Open Sans"/>
                  <a:sym typeface="Open Sans"/>
                </a:rPr>
                <a:t>Thực hiện triển khai phân đoạn (vận hành song song thí điểm tại một số cửa hàng). Xây dựng môi trường kiểm thử độc lập với dữ liệu giả lập để xác thực API trước khi đưa vào sản xuất, đồng thời thiết lập cơ chế sao lưu và phục hồi tự động.</a:t>
              </a:r>
            </a:p>
          </p:txBody>
        </p:sp>
        <p:grpSp>
          <p:nvGrpSpPr>
            <p:cNvPr name="Group 13" id="13"/>
            <p:cNvGrpSpPr/>
            <p:nvPr/>
          </p:nvGrpSpPr>
          <p:grpSpPr>
            <a:xfrm rot="0">
              <a:off x="457200" y="419100"/>
              <a:ext cx="342900" cy="342900"/>
              <a:chOff x="0" y="0"/>
              <a:chExt cx="342900" cy="342900"/>
            </a:xfrm>
          </p:grpSpPr>
          <p:sp>
            <p:nvSpPr>
              <p:cNvPr name="Freeform 14" id="14" descr="image.png"/>
              <p:cNvSpPr/>
              <p:nvPr/>
            </p:nvSpPr>
            <p:spPr>
              <a:xfrm flipH="false" flipV="false" rot="0">
                <a:off x="0" y="0"/>
                <a:ext cx="342900" cy="342900"/>
              </a:xfrm>
              <a:custGeom>
                <a:avLst/>
                <a:gdLst/>
                <a:ahLst/>
                <a:cxnLst/>
                <a:rect r="r" b="b" t="t" l="l"/>
                <a:pathLst>
                  <a:path h="342900" w="342900">
                    <a:moveTo>
                      <a:pt x="0" y="0"/>
                    </a:moveTo>
                    <a:lnTo>
                      <a:pt x="342900" y="0"/>
                    </a:lnTo>
                    <a:lnTo>
                      <a:pt x="342900" y="342900"/>
                    </a:lnTo>
                    <a:lnTo>
                      <a:pt x="0" y="342900"/>
                    </a:lnTo>
                    <a:lnTo>
                      <a:pt x="0" y="0"/>
                    </a:lnTo>
                    <a:close/>
                  </a:path>
                </a:pathLst>
              </a:custGeom>
              <a:blipFill>
                <a:blip r:embed="rId5"/>
                <a:stretch>
                  <a:fillRect l="0" t="0" r="0" b="0"/>
                </a:stretch>
              </a:blipFill>
            </p:spPr>
          </p:sp>
        </p:grpSp>
      </p:grpSp>
      <p:grpSp>
        <p:nvGrpSpPr>
          <p:cNvPr name="Group 15" id="15"/>
          <p:cNvGrpSpPr/>
          <p:nvPr/>
        </p:nvGrpSpPr>
        <p:grpSpPr>
          <a:xfrm rot="0">
            <a:off x="9550479" y="2586038"/>
            <a:ext cx="7992002" cy="2200275"/>
            <a:chOff x="0" y="0"/>
            <a:chExt cx="10656003" cy="2933700"/>
          </a:xfrm>
        </p:grpSpPr>
        <p:grpSp>
          <p:nvGrpSpPr>
            <p:cNvPr name="Group 16" id="16"/>
            <p:cNvGrpSpPr/>
            <p:nvPr/>
          </p:nvGrpSpPr>
          <p:grpSpPr>
            <a:xfrm rot="0">
              <a:off x="0" y="0"/>
              <a:ext cx="10191750" cy="2933700"/>
              <a:chOff x="0" y="0"/>
              <a:chExt cx="10191750" cy="2933700"/>
            </a:xfrm>
          </p:grpSpPr>
          <p:sp>
            <p:nvSpPr>
              <p:cNvPr name="Freeform 17" id="17" descr="image.png"/>
              <p:cNvSpPr/>
              <p:nvPr/>
            </p:nvSpPr>
            <p:spPr>
              <a:xfrm flipH="false" flipV="false" rot="0">
                <a:off x="0" y="0"/>
                <a:ext cx="10191750" cy="2933700"/>
              </a:xfrm>
              <a:custGeom>
                <a:avLst/>
                <a:gdLst/>
                <a:ahLst/>
                <a:cxnLst/>
                <a:rect r="r" b="b" t="t" l="l"/>
                <a:pathLst>
                  <a:path h="2933700" w="10191750">
                    <a:moveTo>
                      <a:pt x="0" y="0"/>
                    </a:moveTo>
                    <a:lnTo>
                      <a:pt x="10191750" y="0"/>
                    </a:lnTo>
                    <a:lnTo>
                      <a:pt x="10191750" y="2933700"/>
                    </a:lnTo>
                    <a:lnTo>
                      <a:pt x="0" y="2933700"/>
                    </a:lnTo>
                    <a:lnTo>
                      <a:pt x="0" y="0"/>
                    </a:lnTo>
                    <a:close/>
                  </a:path>
                </a:pathLst>
              </a:custGeom>
              <a:blipFill>
                <a:blip r:embed="rId6"/>
                <a:stretch>
                  <a:fillRect l="0" t="0" r="0" b="0"/>
                </a:stretch>
              </a:blipFill>
            </p:spPr>
          </p:sp>
        </p:grpSp>
        <p:sp>
          <p:nvSpPr>
            <p:cNvPr name="TextBox 18" id="18"/>
            <p:cNvSpPr txBox="true"/>
            <p:nvPr/>
          </p:nvSpPr>
          <p:spPr>
            <a:xfrm rot="0">
              <a:off x="1126875" y="342900"/>
              <a:ext cx="9529128" cy="419100"/>
            </a:xfrm>
            <a:prstGeom prst="rect">
              <a:avLst/>
            </a:prstGeom>
          </p:spPr>
          <p:txBody>
            <a:bodyPr anchor="t" rtlCol="false" tIns="0" lIns="0" bIns="0" rIns="0">
              <a:spAutoFit/>
            </a:bodyPr>
            <a:lstStyle/>
            <a:p>
              <a:pPr algn="l">
                <a:lnSpc>
                  <a:spcPts val="2430"/>
                </a:lnSpc>
              </a:pPr>
              <a:r>
                <a:rPr lang="en-US" sz="2025" b="true">
                  <a:solidFill>
                    <a:srgbClr val="051C2C"/>
                  </a:solidFill>
                  <a:latin typeface="Montserrat Bold"/>
                  <a:ea typeface="Montserrat Bold"/>
                  <a:cs typeface="Montserrat Bold"/>
                  <a:sym typeface="Montserrat Bold"/>
                </a:rPr>
                <a:t>Kiểm soát Rủi ro Tổ chức</a:t>
              </a:r>
            </a:p>
          </p:txBody>
        </p:sp>
        <p:sp>
          <p:nvSpPr>
            <p:cNvPr name="TextBox 19" id="19"/>
            <p:cNvSpPr txBox="true"/>
            <p:nvPr/>
          </p:nvSpPr>
          <p:spPr>
            <a:xfrm rot="0">
              <a:off x="457200" y="904875"/>
              <a:ext cx="9353550" cy="1647825"/>
            </a:xfrm>
            <a:prstGeom prst="rect">
              <a:avLst/>
            </a:prstGeom>
          </p:spPr>
          <p:txBody>
            <a:bodyPr anchor="t" rtlCol="false" tIns="0" lIns="0" bIns="0" rIns="0">
              <a:spAutoFit/>
            </a:bodyPr>
            <a:lstStyle/>
            <a:p>
              <a:pPr algn="l">
                <a:lnSpc>
                  <a:spcPts val="2362"/>
                </a:lnSpc>
              </a:pPr>
              <a:r>
                <a:rPr lang="en-US" sz="1575">
                  <a:solidFill>
                    <a:srgbClr val="334155"/>
                  </a:solidFill>
                  <a:latin typeface="Open Sans"/>
                  <a:ea typeface="Open Sans"/>
                  <a:cs typeface="Open Sans"/>
                  <a:sym typeface="Open Sans"/>
                </a:rPr>
                <a:t>Tổ chức huấn luyện chuyên sâu cho đội ngũ IT về Cloud và Message Broker. Chuẩn hóa tài liệu hướng dẫn và hỗ trợ trực tuyến cho nhân viên POS, áp dụng cơ chế đo lường tuân thủ quy trình để khuyến khích sự thích nghi.</a:t>
              </a:r>
            </a:p>
          </p:txBody>
        </p:sp>
        <p:grpSp>
          <p:nvGrpSpPr>
            <p:cNvPr name="Group 20" id="20"/>
            <p:cNvGrpSpPr/>
            <p:nvPr/>
          </p:nvGrpSpPr>
          <p:grpSpPr>
            <a:xfrm rot="0">
              <a:off x="457200" y="419100"/>
              <a:ext cx="438150" cy="342900"/>
              <a:chOff x="0" y="0"/>
              <a:chExt cx="438150" cy="342900"/>
            </a:xfrm>
          </p:grpSpPr>
          <p:sp>
            <p:nvSpPr>
              <p:cNvPr name="Freeform 21" id="21" descr="image.png"/>
              <p:cNvSpPr/>
              <p:nvPr/>
            </p:nvSpPr>
            <p:spPr>
              <a:xfrm flipH="false" flipV="false" rot="0">
                <a:off x="0" y="0"/>
                <a:ext cx="438150" cy="342900"/>
              </a:xfrm>
              <a:custGeom>
                <a:avLst/>
                <a:gdLst/>
                <a:ahLst/>
                <a:cxnLst/>
                <a:rect r="r" b="b" t="t" l="l"/>
                <a:pathLst>
                  <a:path h="342900" w="438150">
                    <a:moveTo>
                      <a:pt x="0" y="0"/>
                    </a:moveTo>
                    <a:lnTo>
                      <a:pt x="438150" y="0"/>
                    </a:lnTo>
                    <a:lnTo>
                      <a:pt x="438150" y="342900"/>
                    </a:lnTo>
                    <a:lnTo>
                      <a:pt x="0" y="342900"/>
                    </a:lnTo>
                    <a:lnTo>
                      <a:pt x="0" y="0"/>
                    </a:lnTo>
                    <a:close/>
                  </a:path>
                </a:pathLst>
              </a:custGeom>
              <a:blipFill>
                <a:blip r:embed="rId7"/>
                <a:stretch>
                  <a:fillRect l="0" t="0" r="0" b="0"/>
                </a:stretch>
              </a:blipFill>
            </p:spPr>
          </p:sp>
        </p:grpSp>
      </p:grpSp>
      <p:grpSp>
        <p:nvGrpSpPr>
          <p:cNvPr name="Group 22" id="22"/>
          <p:cNvGrpSpPr/>
          <p:nvPr/>
        </p:nvGrpSpPr>
        <p:grpSpPr>
          <a:xfrm rot="0">
            <a:off x="4964906" y="5377589"/>
            <a:ext cx="7643812" cy="2200275"/>
            <a:chOff x="0" y="0"/>
            <a:chExt cx="10191750" cy="2933700"/>
          </a:xfrm>
        </p:grpSpPr>
        <p:grpSp>
          <p:nvGrpSpPr>
            <p:cNvPr name="Group 23" id="23"/>
            <p:cNvGrpSpPr/>
            <p:nvPr/>
          </p:nvGrpSpPr>
          <p:grpSpPr>
            <a:xfrm rot="0">
              <a:off x="0" y="0"/>
              <a:ext cx="10191750" cy="2933700"/>
              <a:chOff x="0" y="0"/>
              <a:chExt cx="10191750" cy="2933700"/>
            </a:xfrm>
          </p:grpSpPr>
          <p:sp>
            <p:nvSpPr>
              <p:cNvPr name="Freeform 24" id="24" descr="image.png"/>
              <p:cNvSpPr/>
              <p:nvPr/>
            </p:nvSpPr>
            <p:spPr>
              <a:xfrm flipH="false" flipV="false" rot="0">
                <a:off x="0" y="0"/>
                <a:ext cx="10191750" cy="2933700"/>
              </a:xfrm>
              <a:custGeom>
                <a:avLst/>
                <a:gdLst/>
                <a:ahLst/>
                <a:cxnLst/>
                <a:rect r="r" b="b" t="t" l="l"/>
                <a:pathLst>
                  <a:path h="2933700" w="10191750">
                    <a:moveTo>
                      <a:pt x="0" y="0"/>
                    </a:moveTo>
                    <a:lnTo>
                      <a:pt x="10191750" y="0"/>
                    </a:lnTo>
                    <a:lnTo>
                      <a:pt x="10191750" y="2933700"/>
                    </a:lnTo>
                    <a:lnTo>
                      <a:pt x="0" y="2933700"/>
                    </a:lnTo>
                    <a:lnTo>
                      <a:pt x="0" y="0"/>
                    </a:lnTo>
                    <a:close/>
                  </a:path>
                </a:pathLst>
              </a:custGeom>
              <a:blipFill>
                <a:blip r:embed="rId8"/>
                <a:stretch>
                  <a:fillRect l="0" t="0" r="0" b="0"/>
                </a:stretch>
              </a:blipFill>
            </p:spPr>
          </p:sp>
        </p:grpSp>
        <p:sp>
          <p:nvSpPr>
            <p:cNvPr name="TextBox 25" id="25"/>
            <p:cNvSpPr txBox="true"/>
            <p:nvPr/>
          </p:nvSpPr>
          <p:spPr>
            <a:xfrm rot="0">
              <a:off x="1070239" y="381000"/>
              <a:ext cx="8740511" cy="406400"/>
            </a:xfrm>
            <a:prstGeom prst="rect">
              <a:avLst/>
            </a:prstGeom>
          </p:spPr>
          <p:txBody>
            <a:bodyPr anchor="t" rtlCol="false" tIns="0" lIns="0" bIns="0" rIns="0">
              <a:spAutoFit/>
            </a:bodyPr>
            <a:lstStyle/>
            <a:p>
              <a:pPr algn="l">
                <a:lnSpc>
                  <a:spcPts val="2430"/>
                </a:lnSpc>
              </a:pPr>
              <a:r>
                <a:rPr lang="en-US" sz="2025" b="true">
                  <a:solidFill>
                    <a:srgbClr val="051C2C"/>
                  </a:solidFill>
                  <a:latin typeface="Montserrat Bold"/>
                  <a:ea typeface="Montserrat Bold"/>
                  <a:cs typeface="Montserrat Bold"/>
                  <a:sym typeface="Montserrat Bold"/>
                </a:rPr>
                <a:t>Kiểm soát Rủi ro Bảo mật</a:t>
              </a:r>
            </a:p>
          </p:txBody>
        </p:sp>
        <p:sp>
          <p:nvSpPr>
            <p:cNvPr name="TextBox 26" id="26"/>
            <p:cNvSpPr txBox="true"/>
            <p:nvPr/>
          </p:nvSpPr>
          <p:spPr>
            <a:xfrm rot="0">
              <a:off x="457200" y="904875"/>
              <a:ext cx="9353550" cy="1647825"/>
            </a:xfrm>
            <a:prstGeom prst="rect">
              <a:avLst/>
            </a:prstGeom>
          </p:spPr>
          <p:txBody>
            <a:bodyPr anchor="t" rtlCol="false" tIns="0" lIns="0" bIns="0" rIns="0">
              <a:spAutoFit/>
            </a:bodyPr>
            <a:lstStyle/>
            <a:p>
              <a:pPr algn="l">
                <a:lnSpc>
                  <a:spcPts val="2362"/>
                </a:lnSpc>
              </a:pPr>
              <a:r>
                <a:rPr lang="en-US" sz="1575">
                  <a:solidFill>
                    <a:srgbClr val="334155"/>
                  </a:solidFill>
                  <a:latin typeface="Open Sans"/>
                  <a:ea typeface="Open Sans"/>
                  <a:cs typeface="Open Sans"/>
                  <a:sym typeface="Open Sans"/>
                </a:rPr>
                <a:t>Áp dụng bắt buộc chính sách Zero Trust trên cả hệ thống cũ và mới. Ký SLA khắt khe với nhà cung cấp Cloud để chuyển giao rủi ro hạ tầng. Thuê tổ chức an ninh mạng độc lập kiểm thử xâm nhập định kỳ để phát hiện và vá lỗi kịp thời.</a:t>
              </a:r>
            </a:p>
          </p:txBody>
        </p:sp>
        <p:grpSp>
          <p:nvGrpSpPr>
            <p:cNvPr name="Group 27" id="27"/>
            <p:cNvGrpSpPr/>
            <p:nvPr/>
          </p:nvGrpSpPr>
          <p:grpSpPr>
            <a:xfrm rot="0">
              <a:off x="457200" y="419100"/>
              <a:ext cx="438150" cy="342900"/>
              <a:chOff x="0" y="0"/>
              <a:chExt cx="438150" cy="342900"/>
            </a:xfrm>
          </p:grpSpPr>
          <p:sp>
            <p:nvSpPr>
              <p:cNvPr name="Freeform 28" id="28" descr="image.png"/>
              <p:cNvSpPr/>
              <p:nvPr/>
            </p:nvSpPr>
            <p:spPr>
              <a:xfrm flipH="false" flipV="false" rot="0">
                <a:off x="0" y="0"/>
                <a:ext cx="438150" cy="342900"/>
              </a:xfrm>
              <a:custGeom>
                <a:avLst/>
                <a:gdLst/>
                <a:ahLst/>
                <a:cxnLst/>
                <a:rect r="r" b="b" t="t" l="l"/>
                <a:pathLst>
                  <a:path h="342900" w="438150">
                    <a:moveTo>
                      <a:pt x="0" y="0"/>
                    </a:moveTo>
                    <a:lnTo>
                      <a:pt x="438150" y="0"/>
                    </a:lnTo>
                    <a:lnTo>
                      <a:pt x="438150" y="342900"/>
                    </a:lnTo>
                    <a:lnTo>
                      <a:pt x="0" y="342900"/>
                    </a:lnTo>
                    <a:lnTo>
                      <a:pt x="0" y="0"/>
                    </a:lnTo>
                    <a:close/>
                  </a:path>
                </a:pathLst>
              </a:custGeom>
              <a:blipFill>
                <a:blip r:embed="rId9"/>
                <a:stretch>
                  <a:fillRect l="0" t="0" r="0" b="0"/>
                </a:stretch>
              </a:blipFill>
            </p:spPr>
          </p:sp>
        </p:grpSp>
      </p:gr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5114" cy="10285524"/>
            <a:chOff x="0" y="0"/>
            <a:chExt cx="24380152" cy="13714032"/>
          </a:xfrm>
        </p:grpSpPr>
        <p:sp>
          <p:nvSpPr>
            <p:cNvPr name="Freeform 3" id="3"/>
            <p:cNvSpPr/>
            <p:nvPr/>
          </p:nvSpPr>
          <p:spPr>
            <a:xfrm flipH="false" flipV="false" rot="0">
              <a:off x="0" y="0"/>
              <a:ext cx="24380189" cy="13713840"/>
            </a:xfrm>
            <a:custGeom>
              <a:avLst/>
              <a:gdLst/>
              <a:ahLst/>
              <a:cxnLst/>
              <a:rect r="r" b="b" t="t" l="l"/>
              <a:pathLst>
                <a:path h="13713840" w="24380189">
                  <a:moveTo>
                    <a:pt x="24380189" y="0"/>
                  </a:moveTo>
                  <a:lnTo>
                    <a:pt x="0" y="0"/>
                  </a:lnTo>
                  <a:lnTo>
                    <a:pt x="0" y="13713840"/>
                  </a:lnTo>
                  <a:lnTo>
                    <a:pt x="24380189" y="13713840"/>
                  </a:lnTo>
                  <a:lnTo>
                    <a:pt x="24380189" y="0"/>
                  </a:lnTo>
                  <a:close/>
                </a:path>
              </a:pathLst>
            </a:custGeom>
            <a:solidFill>
              <a:srgbClr val="292A75"/>
            </a:solidFill>
          </p:spPr>
        </p:sp>
      </p:grpSp>
      <p:sp>
        <p:nvSpPr>
          <p:cNvPr name="TextBox 4" id="4"/>
          <p:cNvSpPr txBox="true"/>
          <p:nvPr/>
        </p:nvSpPr>
        <p:spPr>
          <a:xfrm rot="0">
            <a:off x="1131265" y="971245"/>
            <a:ext cx="10888609" cy="2770889"/>
          </a:xfrm>
          <a:prstGeom prst="rect">
            <a:avLst/>
          </a:prstGeom>
        </p:spPr>
        <p:txBody>
          <a:bodyPr anchor="t" rtlCol="false" tIns="0" lIns="0" bIns="0" rIns="0">
            <a:spAutoFit/>
          </a:bodyPr>
          <a:lstStyle/>
          <a:p>
            <a:pPr algn="l">
              <a:lnSpc>
                <a:spcPts val="10805"/>
              </a:lnSpc>
            </a:pPr>
            <a:r>
              <a:rPr lang="en-US" b="true" sz="9004">
                <a:solidFill>
                  <a:srgbClr val="FAA61A"/>
                </a:solidFill>
                <a:latin typeface="Montserrat Bold"/>
                <a:ea typeface="Montserrat Bold"/>
                <a:cs typeface="Montserrat Bold"/>
                <a:sym typeface="Montserrat Bold"/>
              </a:rPr>
              <a:t>THANK YOU FOR WATCHING</a:t>
            </a:r>
          </a:p>
        </p:txBody>
      </p:sp>
      <p:sp>
        <p:nvSpPr>
          <p:cNvPr name="TextBox 5" id="5"/>
          <p:cNvSpPr txBox="true"/>
          <p:nvPr/>
        </p:nvSpPr>
        <p:spPr>
          <a:xfrm rot="0">
            <a:off x="5770159" y="8003353"/>
            <a:ext cx="4863284" cy="615124"/>
          </a:xfrm>
          <a:prstGeom prst="rect">
            <a:avLst/>
          </a:prstGeom>
        </p:spPr>
        <p:txBody>
          <a:bodyPr anchor="t" rtlCol="false" tIns="0" lIns="0" bIns="0" rIns="0">
            <a:spAutoFit/>
          </a:bodyPr>
          <a:lstStyle/>
          <a:p>
            <a:pPr algn="l">
              <a:lnSpc>
                <a:spcPts val="2237"/>
              </a:lnSpc>
            </a:pPr>
            <a:r>
              <a:rPr lang="en-US" b="true" sz="1864">
                <a:solidFill>
                  <a:srgbClr val="F8A41A"/>
                </a:solidFill>
                <a:latin typeface="Montserrat Bold"/>
                <a:ea typeface="Montserrat Bold"/>
                <a:cs typeface="Montserrat Bold"/>
                <a:sym typeface="Montserrat Bold"/>
              </a:rPr>
              <a:t>Học viện Ngân hàng</a:t>
            </a:r>
          </a:p>
          <a:p>
            <a:pPr algn="l">
              <a:lnSpc>
                <a:spcPts val="2237"/>
              </a:lnSpc>
            </a:pPr>
            <a:r>
              <a:rPr lang="en-US" sz="1864">
                <a:solidFill>
                  <a:srgbClr val="FFFFFF"/>
                </a:solidFill>
                <a:latin typeface="Montserrat"/>
                <a:ea typeface="Montserrat"/>
                <a:cs typeface="Montserrat"/>
                <a:sym typeface="Montserrat"/>
              </a:rPr>
              <a:t>12 P. Chùa Bộc, P. Kim Liên, TP. Hà Nội</a:t>
            </a:r>
          </a:p>
        </p:txBody>
      </p:sp>
      <p:sp>
        <p:nvSpPr>
          <p:cNvPr name="TextBox 6" id="6"/>
          <p:cNvSpPr txBox="true"/>
          <p:nvPr/>
        </p:nvSpPr>
        <p:spPr>
          <a:xfrm rot="0">
            <a:off x="10791196" y="8003353"/>
            <a:ext cx="4063108" cy="955281"/>
          </a:xfrm>
          <a:prstGeom prst="rect">
            <a:avLst/>
          </a:prstGeom>
        </p:spPr>
        <p:txBody>
          <a:bodyPr anchor="t" rtlCol="false" tIns="0" lIns="0" bIns="0" rIns="0">
            <a:spAutoFit/>
          </a:bodyPr>
          <a:lstStyle/>
          <a:p>
            <a:pPr algn="l">
              <a:lnSpc>
                <a:spcPts val="2237"/>
              </a:lnSpc>
            </a:pPr>
            <a:r>
              <a:rPr lang="en-US" b="true" sz="1864">
                <a:solidFill>
                  <a:srgbClr val="F8A41A"/>
                </a:solidFill>
                <a:latin typeface="Montserrat Bold"/>
                <a:ea typeface="Montserrat Bold"/>
                <a:cs typeface="Montserrat Bold"/>
                <a:sym typeface="Montserrat Bold"/>
              </a:rPr>
              <a:t>T: </a:t>
            </a:r>
            <a:r>
              <a:rPr lang="en-US" sz="1864">
                <a:solidFill>
                  <a:srgbClr val="FFFFFF"/>
                </a:solidFill>
                <a:latin typeface="Montserrat"/>
                <a:ea typeface="Montserrat"/>
                <a:cs typeface="Montserrat"/>
                <a:sym typeface="Montserrat"/>
              </a:rPr>
              <a:t>1900 561 595 </a:t>
            </a:r>
            <a:r>
              <a:rPr lang="en-US" b="true" sz="1864">
                <a:solidFill>
                  <a:srgbClr val="F8A41A"/>
                </a:solidFill>
                <a:latin typeface="Montserrat Bold"/>
                <a:ea typeface="Montserrat Bold"/>
                <a:cs typeface="Montserrat Bold"/>
                <a:sym typeface="Montserrat Bold"/>
              </a:rPr>
              <a:t>F: </a:t>
            </a:r>
            <a:r>
              <a:rPr lang="en-US" sz="1864">
                <a:solidFill>
                  <a:srgbClr val="FFFFFF"/>
                </a:solidFill>
                <a:latin typeface="Montserrat"/>
                <a:ea typeface="Montserrat"/>
                <a:cs typeface="Montserrat"/>
                <a:sym typeface="Montserrat"/>
              </a:rPr>
              <a:t>1900 561 595</a:t>
            </a:r>
          </a:p>
          <a:p>
            <a:pPr algn="l">
              <a:lnSpc>
                <a:spcPts val="2237"/>
              </a:lnSpc>
            </a:pPr>
            <a:r>
              <a:rPr lang="en-US" b="true" sz="1864">
                <a:solidFill>
                  <a:srgbClr val="F8A41A"/>
                </a:solidFill>
                <a:latin typeface="Montserrat Bold"/>
                <a:ea typeface="Montserrat Bold"/>
                <a:cs typeface="Montserrat Bold"/>
                <a:sym typeface="Montserrat Bold"/>
              </a:rPr>
              <a:t>E: </a:t>
            </a:r>
            <a:r>
              <a:rPr lang="en-US" sz="1864" u="sng">
                <a:solidFill>
                  <a:srgbClr val="FFFFFF"/>
                </a:solidFill>
                <a:latin typeface="Montserrat"/>
                <a:ea typeface="Montserrat"/>
                <a:cs typeface="Montserrat"/>
                <a:sym typeface="Montserrat"/>
                <a:hlinkClick r:id="rId3" tooltip="mailto:truyenthong@hvnh.edu.vn"/>
              </a:rPr>
              <a:t>truyenthong@hvnh.edu.vn</a:t>
            </a:r>
          </a:p>
          <a:p>
            <a:pPr algn="l">
              <a:lnSpc>
                <a:spcPts val="2237"/>
              </a:lnSpc>
            </a:pPr>
            <a:r>
              <a:rPr lang="en-US" b="true" sz="1864">
                <a:solidFill>
                  <a:srgbClr val="F8A41A"/>
                </a:solidFill>
                <a:latin typeface="Montserrat Bold"/>
                <a:ea typeface="Montserrat Bold"/>
                <a:cs typeface="Montserrat Bold"/>
                <a:sym typeface="Montserrat Bold"/>
              </a:rPr>
              <a:t>W: </a:t>
            </a:r>
            <a:r>
              <a:rPr lang="en-US" sz="1864" u="sng">
                <a:solidFill>
                  <a:srgbClr val="FFFFFF"/>
                </a:solidFill>
                <a:latin typeface="Montserrat"/>
                <a:ea typeface="Montserrat"/>
                <a:cs typeface="Montserrat"/>
                <a:sym typeface="Montserrat"/>
                <a:hlinkClick r:id="rId4" tooltip="http://www.hvnh.edu.vn/"/>
              </a:rPr>
              <a:t>www.hvnh.edu.vn</a:t>
            </a:r>
          </a:p>
        </p:txBody>
      </p:sp>
      <p:grpSp>
        <p:nvGrpSpPr>
          <p:cNvPr name="Group 7" id="7"/>
          <p:cNvGrpSpPr/>
          <p:nvPr/>
        </p:nvGrpSpPr>
        <p:grpSpPr>
          <a:xfrm rot="0">
            <a:off x="1142810" y="7853972"/>
            <a:ext cx="3255788" cy="1289085"/>
            <a:chOff x="0" y="0"/>
            <a:chExt cx="4341050" cy="1718780"/>
          </a:xfrm>
        </p:grpSpPr>
        <p:sp>
          <p:nvSpPr>
            <p:cNvPr name="Freeform 8" id="8"/>
            <p:cNvSpPr/>
            <p:nvPr/>
          </p:nvSpPr>
          <p:spPr>
            <a:xfrm flipH="false" flipV="false" rot="0">
              <a:off x="0" y="0"/>
              <a:ext cx="4341114" cy="1718818"/>
            </a:xfrm>
            <a:custGeom>
              <a:avLst/>
              <a:gdLst/>
              <a:ahLst/>
              <a:cxnLst/>
              <a:rect r="r" b="b" t="t" l="l"/>
              <a:pathLst>
                <a:path h="1718818" w="4341114">
                  <a:moveTo>
                    <a:pt x="0" y="0"/>
                  </a:moveTo>
                  <a:lnTo>
                    <a:pt x="4341114" y="0"/>
                  </a:lnTo>
                  <a:lnTo>
                    <a:pt x="4341114" y="1718818"/>
                  </a:lnTo>
                  <a:lnTo>
                    <a:pt x="0" y="1718818"/>
                  </a:lnTo>
                  <a:lnTo>
                    <a:pt x="0" y="0"/>
                  </a:lnTo>
                  <a:close/>
                </a:path>
              </a:pathLst>
            </a:custGeom>
            <a:blipFill>
              <a:blip r:embed="rId5"/>
              <a:stretch>
                <a:fillRect l="0" t="0" r="1" b="2"/>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DAHP-6pQzJs</dc:identifier>
  <dcterms:modified xsi:type="dcterms:W3CDTF">2011-08-01T06:04:30Z</dcterms:modified>
  <cp:revision>1</cp:revision>
  <dc:title>Kiến Trúc HTTT Doanh Nghiệp - Nhóm 01</dc:title>
</cp:coreProperties>
</file>