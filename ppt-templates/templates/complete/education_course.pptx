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A8DAB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2D6A4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Education Course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3520440"/>
            <a:ext cx="228600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C784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Giới thiệu môn học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Mục tiêu giảng dạy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Nội dung kiến thức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Phân tích tình huống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10896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10896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Bài tập trên lớp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108960"/>
            <a:ext cx="2377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DAB5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Tổng kết &amp; Ôn tập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Giới thiệu môn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</a:defRPr>
            </a:pPr>
            <a:r>
              <a:t>Course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Giới thiệu môn học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4F"/>
                </a:solidFill>
              </a:defRPr>
            </a:pPr>
            <a:r>
              <a:t>Tổng quan học phần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Học phần nhằm giúp học viên nắm vững hệ thống kiến thức và kỹ năng cốt lõi.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Thông qua kết hợp chặt chẽ giữa lý thuyết nền tảng và bài tập thực hành,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giúp học viên tự tin vận dụng linh hoạt vào thực tiễn công việc chuyên môn.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Thời lượng: 4 buổi (Tổng 180 phút)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Cấp độ: Nâng 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Đối tượng: Học viên đã nắm kiến thức cơ sở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188720"/>
            <a:ext cx="29260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</a:defRPr>
            </a:pPr>
            <a:r>
              <a:t>Cấu trúc học phần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01168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Buổi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23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Khái niệm và Nguyên lý nền tảng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01752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Buổi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429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Phân tích các kiến thức trọng tâm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02336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Buổi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434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Phân tích tình huống &amp; Thảo luận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5029200"/>
            <a:ext cx="2560320" cy="8229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120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DAB5"/>
                </a:solidFill>
              </a:defRPr>
            </a:pPr>
            <a:r>
              <a:t>Buổi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Thực hành ứng dụng &amp; Tổng kết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Mục tiêu giảng dạy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377440" cy="9144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Mục tiêu kiến thức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Thấu hiểu sâu sắc các khái niệm cốt lõi và nguyên lý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Nắm vững mối liên hệ hữu cơ giữa các khối kiến thức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Cập nhật các xu hướng phát triển mới nhất trong ngành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2377440" cy="9144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Mục tiêu kỹ năng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Phát triển năng lực phân tích và giải quyết vấn đề độc lập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Thành thạo ứng dụng công cụ và phương pháp chuyên môn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Sẵn sàng tham gia triển khai các dự án thực tế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377440" cy="9144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Mục tiêu phẩm chất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Rèn luyện năng lực tư duy phản biện sắc bén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Nâng cao kỹ năng cộng tác nhóm và giao tiếp hiệu quả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  Xây dựng tinh thần học tập suốt đời chủ động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Nội dung kiến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</a:defRPr>
            </a:pPr>
            <a:r>
              <a:t>Knowledge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Kiến thức trọng tâm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Định nghĩa cơ bản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Xác định rõ phạm vi khái niệm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Phân biệt các khái niệm tương đồng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Thấu hiểu bối cảnh áp dụng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Điểm lại lý thuyết kinh điển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Sự phát triển thời hiện đại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Các giả định then chốt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Kiến thức trọng tâm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Nguyên lý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Chuỗi logic cốt lõi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Quy trình suy luận chặt chẽ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Phương pháp tiếp cận trực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Nguyên lý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Tình huống ứng dụng thực tế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Phân tích điều kiện biên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Các sai lầm phổ biến cần tránh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Kiến thức trọng tâm - Phần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Khung phân tích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Phương pháp tư duy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Chiến lược phân loại phân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Kỹ năng sắp xếp mức ưu tiên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Khai thác công cụ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Giới thiệu bộ công cụ phổ biến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Hướng dẫn thao tác từng bước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Kinh nghiệm thực tiễn tốt nhất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Kiến thức trọng tâm - Phần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Vấn đề thường gặp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Top 10 sự cố tần suất 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Biểu mẫu giải pháp chuẩn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Cẩm nang phòng ngừa rủi 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Tối ưu hiệu suất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Mẹo thao tác nhanh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Giải pháp tự động hóa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Quy trình làm việc phối hợp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Kiến thức trọng tâm - Phần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Phân tích chuyên sâu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Phương pháp phân tích nâng 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Quyết định dựa trên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Kỹ năng xây dựng mô hình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Ứng dụng liên ngành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Nghiên cứu điển hình đa ngành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Giải pháp tùy biến linh hoạt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Phương pháp dự báo xu hướng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Kiến thức trọng tâm - Phần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Xu hướng công nghệ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Tiến bộ công nghệ mới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AI và tự động hóa quy trình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Định hướng chuyển đổi ngành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Bài học thực tiễn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Kinh nghiệm từ doanh nghiệp dẫn đầu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Tình huống đổi mới sáng tạo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408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</a:defRPr>
            </a:pPr>
            <a:r>
              <a:t>  Tầm nhìn phát triển tương lai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Tình huống &amp;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</a:defRPr>
            </a:pPr>
            <a:r>
              <a:t>Cases &amp;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Phân tích tình huống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Tình huống 1: Chuyển đổi số doanh nghiệp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Bối cảnh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Doanh nghiệp sản xuất truyền thống đối mặt với hiệu suất thấp và dữ liệu phân mảnh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Phương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Áp dụng chiến lược chuyển đổi số phân kỳ, chuẩn hóa quy trình cốt lõi trước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Kết quả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Năng suất tăng 35%, chi phí vận hành giảm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Bài học kinh nghiệm &amp; Suy ngẫm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Sự cam kết của lãnh đạo là then chốt | Chiến lược từ dễ đến khó | Quản trị dữ liệu là nền móng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Phân tích tình huống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A8DA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Tình huống 2: Tăng trưởng sản phẩm công nghệ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Bối cảnh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Sản phẩm mới ra mắt có tốc độ tăng trưởng người dùng chậm, tỷ lệ giữ chân thấp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Phương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Tối ưu hóa hành trình người dùng qua thử nghiệm A/B, cá nhân hóa trải nghiệm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3152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DAB5"/>
                </a:solidFill>
              </a:defRPr>
            </a:pPr>
            <a:r>
              <a:t>Kết quả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Lượng người dùng hoạt động hàng tháng tăng 200%, tỷ lệ giữ chân ngày 2 tăng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Bài học kinh nghiệm &amp; Suy ngẫm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Quyết định dựa trên dữ liệu | Lặp nhanh để kiểm chứng | Khép kín vòng phản hồi người dùng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Bài tập trên lớp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Dựa trên nội dung bài học, hãy vẽ sơ đồ tư duy cho các khái niệm cốt lõi.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Gợi ý: Bắt đầu từ khái niệm trung tâm, mở rộng ít nhất 3 nhánh 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546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Phân tích tình huống sau và vận dụng phương pháp đã học để đề xuất giải pháp.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Gợi ý: Kết hợp các khung phân tích trong bài học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</a:defRPr>
            </a:pPr>
            <a:r>
              <a:t>Thảo luận nhóm: Làm thế nào để áp dụng kiến thức bài học vào thực tế công việc?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949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Gợi ý: Mỗi nhóm thảo luận 15 phút, đại diện trình bày 5 phút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6A4F"/>
                </a:solidFill>
              </a:defRPr>
            </a:pPr>
            <a:r>
              <a:t>Lưu ý: Học viên làm vào vở bài tập, sau đó trao đổi cùng bạn bên cạnh. Giảng viên sẽ nhận xét và giải đáp.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Tổng kết &amp; Ôn tập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463040"/>
            <a:ext cx="640080" cy="64008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</a:defRPr>
            </a:pPr>
            <a:r>
              <a:t>Khái niệm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6A4F"/>
                </a:solidFill>
              </a:defRPr>
            </a:pPr>
            <a:r>
              <a:t>Nắm vững định nghĩa cơ bản và nền tảng lý thuyết</a:t>
            </a:r>
            <a:br/>
            <a:r>
              <a:t>Thấu hiểu mối liên hệ hữu cơ giữa các khái niệm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</a:defRPr>
            </a:pPr>
            <a:r>
              <a:t>Phương pháp &amp; Công cụ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6A4F"/>
                </a:solidFill>
              </a:defRPr>
            </a:pPr>
            <a:r>
              <a:t>Làm chủ các khung phân tích và phương pháp luận</a:t>
            </a:r>
            <a:br/>
            <a:r>
              <a:t>Thành thạo kỹ năng sử dụng công cụ phổ biến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463040"/>
            <a:ext cx="640080" cy="640080"/>
          </a:xfrm>
          <a:prstGeom prst="ellipse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5361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</a:defRPr>
            </a:pPr>
            <a:r>
              <a:t>Thực hành ứng dụng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6A4F"/>
                </a:solidFill>
              </a:defRPr>
            </a:pPr>
            <a:r>
              <a:t>Hiểu sâu sắc hơn thông qua phân tích tình huống</a:t>
            </a:r>
            <a:br/>
            <a:r>
              <a:t>Đặt nền tảng vững chắc cho công việc thực tế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8229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</a:defRPr>
            </a:pPr>
            <a:r>
              <a:t>Nhiệm vụ sau buổi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1. Ôn tập toàn bộ kiến thức bài học và hệ thống lại ghi chép cá nhân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2. Hoàn thành đầy đủ bài tập về nhà (Sách giáo trình trang 45-48)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6A4F"/>
                </a:solidFill>
              </a:defRPr>
            </a:pPr>
            <a:r>
              <a:t>3. Chuẩn bị trước bài học tiếp theo: Ứng dụng nâng cao và thực chiến chuyên sâu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1C784"/>
                </a:solidFill>
              </a:defRPr>
            </a:pPr>
            <a:r>
              <a:t>Trân trọng cảm ơn - Chúc các bạn học tập tốt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017520"/>
            <a:ext cx="182880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