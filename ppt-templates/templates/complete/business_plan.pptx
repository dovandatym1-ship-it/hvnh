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457200" y="274320"/>
            <a:ext cx="2743200" cy="2743200"/>
          </a:xfrm>
          <a:prstGeom prst="rect">
            <a:avLst/>
          </a:prstGeom>
          <a:solidFill>
            <a:srgbClr val="00B4D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0" y="91440"/>
            <a:ext cx="2286000" cy="2286000"/>
          </a:xfrm>
          <a:prstGeom prst="diamond">
            <a:avLst/>
          </a:prstGeom>
          <a:solidFill>
            <a:srgbClr val="0066C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5943600" y="3657600"/>
            <a:ext cx="2560320" cy="2560320"/>
          </a:xfrm>
          <a:prstGeom prst="rect">
            <a:avLst/>
          </a:prstGeom>
          <a:solidFill>
            <a:srgbClr val="0066C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914400" y="4114800"/>
            <a:ext cx="2011680" cy="2011680"/>
          </a:xfrm>
          <a:prstGeom prst="diamond">
            <a:avLst/>
          </a:prstGeom>
          <a:solidFill>
            <a:srgbClr val="00B4D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200400" y="4572000"/>
            <a:ext cx="2286000" cy="2286000"/>
          </a:xfrm>
          <a:prstGeom prst="rect">
            <a:avLst/>
          </a:prstGeom>
          <a:solidFill>
            <a:srgbClr val="0066C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Business Plan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520440"/>
            <a:ext cx="2286000" cy="254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CAE9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Mục lục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" y="14630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" y="14630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722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Phân tích thị trường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3180" y="14630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3180" y="14630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6606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606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898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Giới thiệu đội ngũ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2020" y="14630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2020" y="14630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490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490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782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Sản phẩm &amp; Dịch vụ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0860" y="14630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80860" y="14630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63740" y="16459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374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6660" y="1645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Mô hình kinh doanh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" y="30632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" y="3063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7220" y="3246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Phân tích cạnh tranh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83180" y="30632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83180" y="3063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66060" y="3246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6606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898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Dự báo tài chính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2020" y="30632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32020" y="3063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14900" y="3246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490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782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Kế hoạch gọi vốn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0860" y="3063240"/>
            <a:ext cx="1828800" cy="128016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80860" y="306324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63740" y="3246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6374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666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Lộ trình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00B4D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Phân tích thị trường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66CC"/>
                </a:solidFill>
              </a:defRPr>
            </a:pPr>
            <a:r>
              <a:t>Market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Phân tích thị trường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680960" cy="320040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Tổng quan ngành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Quy mô thị trường toàn cầu tăng trưởng bền vững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Tốc độ tăng trưởng kép (CAGR) trên 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Chuyển đổi số được đẩy mạnh toàn diện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Chính sách vĩ mô hỗ trợ thuận lợi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100 tỷ+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Quy mô thị trường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Tăng trưởng năm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50 triệu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Khách hàng mục tiêu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Phân tích thị trường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680960" cy="320040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Thị trường mục tiêu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Các đô thị loại 1 và trung tâm kinh tế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Phân khúc khách hàng trọng tâm từ 25-45 tuổi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Trọng tâm doanh nghiệp B2B vừa và lớn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Khách hàng cá nhân cao cấp B2C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100 tỷ+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Quy mô thị trường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Tăng trưởng năm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50 triệu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Khách hàng mục tiêu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Phân tích thị trường - Phần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680960" cy="3200400"/>
          </a:xfrm>
          <a:prstGeom prst="roundRect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680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Nhu cầu khách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Nhu cầu nâng cao hiệu suất lao động cấp thiết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Xu hướng cá nhân hóa và may đo giải pháp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Hệ sinh thái giải pháp tích hợp tất cả trong một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66CC"/>
                </a:solidFill>
              </a:defRPr>
            </a:pPr>
            <a:r>
              <a:t>  Tiêu chuẩn bảo mật dữ liệu và quyền riêng tư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100 tỷ+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Quy mô thị trường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Tăng trưởng năm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846320"/>
            <a:ext cx="22860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50 triệu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Khách hàng mục tiêu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Giới thiệu đội ngũ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645920"/>
            <a:ext cx="914400" cy="914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Nguyễn Văn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10 năm kinh nghiệm điều hành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63240" y="1645920"/>
            <a:ext cx="914400" cy="914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783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Trần Thị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t>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Chuyên gia kiến trúc hệ thống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66360" y="1645920"/>
            <a:ext cx="914400" cy="914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783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Lê Văn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t>CMO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Chuyên gia tiếp thị &amp; thương hiệu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1371600"/>
            <a:ext cx="18288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69480" y="1645920"/>
            <a:ext cx="914400" cy="9144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783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Phạm Minh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</a:defRPr>
            </a:pPr>
            <a:r>
              <a:t>CFO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Quản trị tài chính &amp; đầu tư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Sản phẩm &amp; Dịch vụ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Nền tảng phân tích thông minh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Phân tích dữ liệu bằng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Giải pháp đám mây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Kiến trúc co giãn linh hoạt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951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Bộ ứng dụng di động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Bao phủ đa kịch bản người dùng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CC"/>
                </a:solidFill>
              </a:defRPr>
            </a:pPr>
            <a:r>
              <a:t>Sản phẩm cốt lõi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Sản phẩm &amp; Dịch vụ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Tư vấn kỹ thuật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Giải pháp công nghệ chuyên biệt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Hỗ trợ vận hành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Bảo đảm liên tục 24/7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37744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95160" y="1417320"/>
            <a:ext cx="640080" cy="64008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4813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Đào tạo chuyển giao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Chuyển giao tri thức &amp; nâng cao năng lực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66CC"/>
                </a:solidFill>
              </a:defRPr>
            </a:pPr>
            <a:r>
              <a:t>Hệ thống dịch vụ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Mô hình kinh doanh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8288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Thuê bao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Thu phí theo tháng/năm</a:t>
            </a:r>
            <a:br/>
            <a:r>
              <a:t>Gói cước linh hoạt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463040"/>
            <a:ext cx="18288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Dịch vụ giá trị gia tăng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08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Tính năng nâng cao chuyên sâu</a:t>
            </a:r>
            <a:br/>
            <a:r>
              <a:t>Phát triển theo yêu cầu riêng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463040"/>
            <a:ext cx="18288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8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Dịch vụ dữ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08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Hiểu biết chuyên sâu ngành</a:t>
            </a:r>
            <a:br/>
            <a:r>
              <a:t>Phân tích dữ liệu lớn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463040"/>
            <a:ext cx="18288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0" y="1737360"/>
            <a:ext cx="82296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Hợp tác hệ sinh thái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08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66CC"/>
                </a:solidFill>
              </a:defRPr>
            </a:pPr>
            <a:r>
              <a:t>Chia sẻ doanh thu đối tác</a:t>
            </a:r>
            <a:br/>
            <a:r>
              <a:t>Liên kết quảng bá sản phẩm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Phân tích cạnh tranh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645920" cy="457200"/>
          </a:xfrm>
          <a:prstGeom prst="rect">
            <a:avLst/>
          </a:prstGeom>
          <a:solidFill>
            <a:srgbClr val="0066CC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Tiêu chí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371600"/>
            <a:ext cx="2194560" cy="4572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Chúng tôi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2194560" cy="4572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Đối thủ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2194560" cy="457200"/>
          </a:xfrm>
          <a:prstGeom prst="rect">
            <a:avLst/>
          </a:prstGeom>
          <a:solidFill>
            <a:srgbClr val="00B4D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Đối thủ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645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Năng lực công nghệ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82880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Dẫn đầu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Trung bình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82880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Trung bình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Thị phần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33172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Tăng nhanh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33172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Ổn định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33172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Suy giảm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Trải nghiệm người dùng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83464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Xuất sắc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83464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Tốt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83464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Bình thường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3756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Chiến lược giá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33756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0312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Linh hoạt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333756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Khá cao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Giá rẻ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840480"/>
            <a:ext cx="1645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Năng lực đổi mới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384048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0312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Mạnh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384048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Trung bình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219456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Yếu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00B4D8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Dự báo tài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66CC"/>
                </a:solidFill>
              </a:defRPr>
            </a:pPr>
            <a:r>
              <a:t>Financial Forecast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Dự báo tài chính - Phần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</a:defRPr>
            </a:pPr>
            <a:r>
              <a:t>Dự báo doanh thu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5 tỷ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-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20 tỷ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300%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80 tỷ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300%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Dự báo tài chính - Phần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</a:defRPr>
            </a:pPr>
            <a:r>
              <a:t>Cơ cấu chi phí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Đầu tư R&amp;D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8 tỷ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Tiếp thị thị trường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5 tỷ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Chi phí vận hành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4 tỷ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Dự báo tài chính - Phần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</a:defRPr>
            </a:pPr>
            <a:r>
              <a:t>Dự báo lợi nhuận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-3 tỷ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-60%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2 tỷ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10%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3774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30 tỷ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CC"/>
                </a:solidFill>
              </a:defRPr>
            </a:pPr>
            <a:r>
              <a:t>37.5%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Kế hoạch gọi vốn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737360"/>
            <a:ext cx="1097280" cy="10972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 tỷ VNĐ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Vòng Thiên thần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Mục đích: Phát triển sản phẩm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Thời gian: Quý 1/2025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23360" y="1737360"/>
            <a:ext cx="1097280" cy="10972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965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 tỷ VNĐ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Vòng Pre-A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Mục đích: Mở rộng thị trường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49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Thời gian: Quý 4/2025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1737360"/>
            <a:ext cx="1097280" cy="10972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965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80 tỷ VNĐ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Vòng Series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Mục đích: Mở rộng quy mô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49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</a:defRPr>
            </a:pPr>
            <a:r>
              <a:t>Thời gian: Quý 3/2026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CC"/>
                </a:solidFill>
              </a:defRPr>
            </a:pPr>
            <a:r>
              <a:t>Lộ trình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768096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971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Quý 1/2025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Khởi động dự 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Hoàn thiện đội ngũ nòng cốt</a:t>
            </a:r>
            <a:br/>
            <a:r>
              <a:t>Bắt đầu phát triển sản phẩm</a:t>
            </a:r>
          </a:p>
        </p:txBody>
      </p:sp>
      <p:sp>
        <p:nvSpPr>
          <p:cNvPr id="12" name="Oval 11"/>
          <p:cNvSpPr/>
          <p:nvPr/>
        </p:nvSpPr>
        <p:spPr>
          <a:xfrm>
            <a:off x="3291840" y="2971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74904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Quý 3/2025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Ra mắt sản phẩm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Phát hành bản MVP</a:t>
            </a:r>
            <a:br/>
            <a:r>
              <a:t>Thu hút tệp người dùng thử nghiệm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971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118872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Quý 1/2026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Mở rộng thị trường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Quảng bá trên diện rộng</a:t>
            </a:r>
            <a:br/>
            <a:r>
              <a:t>Thiết lập kênh phân phối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0" y="2971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749040"/>
            <a:ext cx="18288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B4D8"/>
                </a:solidFill>
              </a:defRPr>
            </a:pPr>
            <a:r>
              <a:t>Quý 3/2026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Dẫn đầu thị trường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CC"/>
                </a:solidFill>
              </a:defRPr>
            </a:pPr>
            <a:r>
              <a:t>Vào top 3 thị phần trong ngành</a:t>
            </a:r>
            <a:br/>
            <a:r>
              <a:t>Khởi động gọi vốn Series 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5CAE9"/>
                </a:solidFill>
              </a:defRPr>
            </a:pPr>
            <a:r>
              <a:t>Trân trọng cảm ơn sự theo dõi của Quý vị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46120"/>
            <a:ext cx="1828800" cy="254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