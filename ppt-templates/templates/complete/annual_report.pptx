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gradFill rotWithShape="1">
            <a:gsLst>
              <a:gs pos="0">
                <a:srgbClr val="C0392B"/>
              </a:gs>
              <a:gs pos="100000">
                <a:srgbClr val="E74C3C"/>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9144000" cy="2743200"/>
          </a:xfrm>
          <a:prstGeom prst="rect">
            <a:avLst/>
          </a:prstGeom>
          <a:solidFill>
            <a:srgbClr val="C0392B">
              <a:alpha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572000"/>
            <a:ext cx="9144000" cy="2286000"/>
          </a:xfrm>
          <a:prstGeom prst="rect">
            <a:avLst/>
          </a:prstGeom>
          <a:solidFill>
            <a:srgbClr val="C0392B">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5029200"/>
            <a:ext cx="9144000" cy="1828800"/>
          </a:xfrm>
          <a:prstGeom prst="rect">
            <a:avLst/>
          </a:prstGeom>
          <a:solidFill>
            <a:srgbClr val="C0392B">
              <a:alpha val="7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3200400"/>
            <a:ext cx="9144000" cy="25400"/>
          </a:xfrm>
          <a:prstGeom prst="rect">
            <a:avLst/>
          </a:prstGeom>
          <a:solidFill>
            <a:srgbClr val="FFFFFF">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3657600"/>
            <a:ext cx="9144000" cy="25400"/>
          </a:xfrm>
          <a:prstGeom prst="rect">
            <a:avLst/>
          </a:prstGeom>
          <a:solidFill>
            <a:srgbClr val="FFFFFF">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4114800"/>
            <a:ext cx="9144000" cy="25400"/>
          </a:xfrm>
          <a:prstGeom prst="rect">
            <a:avLst/>
          </a:prstGeom>
          <a:solidFill>
            <a:srgbClr val="FFFFFF">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743200"/>
            <a:ext cx="1371600" cy="25400"/>
          </a:xfrm>
          <a:prstGeom prst="rect">
            <a:avLst/>
          </a:prstGeom>
          <a:solidFill>
            <a:srgbClr val="FFFFFF">
              <a:alpha val="8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88720" y="3017520"/>
            <a:ext cx="1188720" cy="25400"/>
          </a:xfrm>
          <a:prstGeom prst="rect">
            <a:avLst/>
          </a:prstGeom>
          <a:solidFill>
            <a:srgbClr val="FFFFFF">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920240" y="3291840"/>
            <a:ext cx="1005840" cy="25400"/>
          </a:xfrm>
          <a:prstGeom prst="rect">
            <a:avLst/>
          </a:prstGeom>
          <a:solidFill>
            <a:srgbClr val="FFFFFF">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51760" y="3566160"/>
            <a:ext cx="822959" cy="25400"/>
          </a:xfrm>
          <a:prstGeom prst="rect">
            <a:avLst/>
          </a:prstGeom>
          <a:solidFill>
            <a:srgbClr val="FFFFFF">
              <a:alpha val="5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83280" y="3840480"/>
            <a:ext cx="640080" cy="25400"/>
          </a:xfrm>
          <a:prstGeom prst="rect">
            <a:avLst/>
          </a:prstGeom>
          <a:solidFill>
            <a:srgbClr val="FFFFFF">
              <a:alpha val="39999"/>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1645920"/>
            <a:ext cx="6400800" cy="1097280"/>
          </a:xfrm>
          <a:prstGeom prst="rect">
            <a:avLst/>
          </a:prstGeom>
          <a:noFill/>
        </p:spPr>
        <p:txBody>
          <a:bodyPr wrap="square">
            <a:spAutoFit/>
          </a:bodyPr>
          <a:lstStyle/>
          <a:p>
            <a:pPr algn="ctr">
              <a:defRPr sz="4400" b="1">
                <a:solidFill>
                  <a:srgbClr val="FFFFFF"/>
                </a:solidFill>
              </a:defRPr>
            </a:pPr>
            <a:r>
              <a:t>Annual Report Demo</a:t>
            </a:r>
          </a:p>
        </p:txBody>
      </p:sp>
      <p:sp>
        <p:nvSpPr>
          <p:cNvPr id="15" name="TextBox 14"/>
          <p:cNvSpPr txBox="1"/>
          <p:nvPr/>
        </p:nvSpPr>
        <p:spPr>
          <a:xfrm>
            <a:off x="1371600" y="2743200"/>
            <a:ext cx="6400800" cy="731520"/>
          </a:xfrm>
          <a:prstGeom prst="rect">
            <a:avLst/>
          </a:prstGeom>
          <a:noFill/>
        </p:spPr>
        <p:txBody>
          <a:bodyPr wrap="square">
            <a:spAutoFit/>
          </a:bodyPr>
          <a:lstStyle/>
          <a:p>
            <a:pPr algn="ctr">
              <a:defRPr sz="3600" b="1">
                <a:solidFill>
                  <a:srgbClr val="EF9A9A"/>
                </a:solidFill>
              </a:defRPr>
            </a:pPr>
            <a:r>
              <a:t>2025</a:t>
            </a:r>
          </a:p>
        </p:txBody>
      </p:sp>
      <p:sp>
        <p:nvSpPr>
          <p:cNvPr id="16" name="Rectangle 15"/>
          <p:cNvSpPr/>
          <p:nvPr/>
        </p:nvSpPr>
        <p:spPr>
          <a:xfrm>
            <a:off x="3200400" y="3520440"/>
            <a:ext cx="2743200" cy="25400"/>
          </a:xfrm>
          <a:prstGeom prst="rect">
            <a:avLst/>
          </a:prstGeom>
          <a:solidFill>
            <a:srgbClr val="EF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71600" y="3749039"/>
            <a:ext cx="6400800" cy="731520"/>
          </a:xfrm>
          <a:prstGeom prst="rect">
            <a:avLst/>
          </a:prstGeom>
          <a:noFill/>
        </p:spPr>
        <p:txBody>
          <a:bodyPr wrap="square">
            <a:spAutoFit/>
          </a:bodyPr>
          <a:lstStyle/>
          <a:p>
            <a:pPr algn="ctr">
              <a:defRPr sz="2000" b="0">
                <a:solidFill>
                  <a:srgbClr val="EF9A9A"/>
                </a:solidFill>
              </a:defRPr>
            </a:pPr>
            <a:r>
              <a:t>PPT Template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8046720" cy="640080"/>
          </a:xfrm>
          <a:prstGeom prst="rect">
            <a:avLst/>
          </a:prstGeom>
          <a:noFill/>
        </p:spPr>
        <p:txBody>
          <a:bodyPr wrap="square">
            <a:spAutoFit/>
          </a:bodyPr>
          <a:lstStyle/>
          <a:p>
            <a:pPr algn="l">
              <a:defRPr sz="2800" b="1">
                <a:solidFill>
                  <a:srgbClr val="FFFFFF"/>
                </a:solidFill>
              </a:defRPr>
            </a:pPr>
            <a:r>
              <a:t>Mục lục</a:t>
            </a:r>
          </a:p>
        </p:txBody>
      </p:sp>
      <p:sp>
        <p:nvSpPr>
          <p:cNvPr id="5" name="Rounded Rectangle 4"/>
          <p:cNvSpPr/>
          <p:nvPr/>
        </p:nvSpPr>
        <p:spPr>
          <a:xfrm>
            <a:off x="640080" y="1371600"/>
            <a:ext cx="237744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371600"/>
            <a:ext cx="2377440" cy="54864"/>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54480"/>
            <a:ext cx="2377440" cy="457200"/>
          </a:xfrm>
          <a:prstGeom prst="rect">
            <a:avLst/>
          </a:prstGeom>
          <a:noFill/>
        </p:spPr>
        <p:txBody>
          <a:bodyPr wrap="square">
            <a:spAutoFit/>
          </a:bodyPr>
          <a:lstStyle/>
          <a:p>
            <a:pPr algn="ctr">
              <a:defRPr sz="2400" b="1">
                <a:solidFill>
                  <a:srgbClr val="FF6B6B"/>
                </a:solidFill>
              </a:defRPr>
            </a:pPr>
            <a:r>
              <a:t>01</a:t>
            </a:r>
          </a:p>
        </p:txBody>
      </p:sp>
      <p:sp>
        <p:nvSpPr>
          <p:cNvPr id="8" name="TextBox 7"/>
          <p:cNvSpPr txBox="1"/>
          <p:nvPr/>
        </p:nvSpPr>
        <p:spPr>
          <a:xfrm>
            <a:off x="640080" y="2103120"/>
            <a:ext cx="2377440" cy="365760"/>
          </a:xfrm>
          <a:prstGeom prst="rect">
            <a:avLst/>
          </a:prstGeom>
          <a:noFill/>
        </p:spPr>
        <p:txBody>
          <a:bodyPr wrap="square">
            <a:spAutoFit/>
          </a:bodyPr>
          <a:lstStyle/>
          <a:p>
            <a:pPr algn="ctr">
              <a:defRPr sz="1600" b="1">
                <a:solidFill>
                  <a:srgbClr val="C0392B"/>
                </a:solidFill>
              </a:defRPr>
            </a:pPr>
            <a:r>
              <a:t>Tổng quan doanh nghiệp</a:t>
            </a:r>
          </a:p>
        </p:txBody>
      </p:sp>
      <p:sp>
        <p:nvSpPr>
          <p:cNvPr id="9" name="Rounded Rectangle 8"/>
          <p:cNvSpPr/>
          <p:nvPr/>
        </p:nvSpPr>
        <p:spPr>
          <a:xfrm>
            <a:off x="3383280" y="1371600"/>
            <a:ext cx="237744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83280" y="1371600"/>
            <a:ext cx="2377440" cy="54864"/>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554480"/>
            <a:ext cx="2377440" cy="457200"/>
          </a:xfrm>
          <a:prstGeom prst="rect">
            <a:avLst/>
          </a:prstGeom>
          <a:noFill/>
        </p:spPr>
        <p:txBody>
          <a:bodyPr wrap="square">
            <a:spAutoFit/>
          </a:bodyPr>
          <a:lstStyle/>
          <a:p>
            <a:pPr algn="ctr">
              <a:defRPr sz="2400" b="1">
                <a:solidFill>
                  <a:srgbClr val="FF6B6B"/>
                </a:solidFill>
              </a:defRPr>
            </a:pPr>
            <a:r>
              <a:t>02</a:t>
            </a:r>
          </a:p>
        </p:txBody>
      </p:sp>
      <p:sp>
        <p:nvSpPr>
          <p:cNvPr id="12" name="TextBox 11"/>
          <p:cNvSpPr txBox="1"/>
          <p:nvPr/>
        </p:nvSpPr>
        <p:spPr>
          <a:xfrm>
            <a:off x="3383280" y="2103120"/>
            <a:ext cx="2377440" cy="365760"/>
          </a:xfrm>
          <a:prstGeom prst="rect">
            <a:avLst/>
          </a:prstGeom>
          <a:noFill/>
        </p:spPr>
        <p:txBody>
          <a:bodyPr wrap="square">
            <a:spAutoFit/>
          </a:bodyPr>
          <a:lstStyle/>
          <a:p>
            <a:pPr algn="ctr">
              <a:defRPr sz="1600" b="1">
                <a:solidFill>
                  <a:srgbClr val="C0392B"/>
                </a:solidFill>
              </a:defRPr>
            </a:pPr>
            <a:r>
              <a:t>Kết quả nổi bật</a:t>
            </a:r>
          </a:p>
        </p:txBody>
      </p:sp>
      <p:sp>
        <p:nvSpPr>
          <p:cNvPr id="13" name="Rounded Rectangle 12"/>
          <p:cNvSpPr/>
          <p:nvPr/>
        </p:nvSpPr>
        <p:spPr>
          <a:xfrm>
            <a:off x="6126480" y="1371600"/>
            <a:ext cx="237744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371600"/>
            <a:ext cx="2377440" cy="54864"/>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554480"/>
            <a:ext cx="2377440" cy="457200"/>
          </a:xfrm>
          <a:prstGeom prst="rect">
            <a:avLst/>
          </a:prstGeom>
          <a:noFill/>
        </p:spPr>
        <p:txBody>
          <a:bodyPr wrap="square">
            <a:spAutoFit/>
          </a:bodyPr>
          <a:lstStyle/>
          <a:p>
            <a:pPr algn="ctr">
              <a:defRPr sz="2400" b="1">
                <a:solidFill>
                  <a:srgbClr val="FF6B6B"/>
                </a:solidFill>
              </a:defRPr>
            </a:pPr>
            <a:r>
              <a:t>03</a:t>
            </a:r>
          </a:p>
        </p:txBody>
      </p:sp>
      <p:sp>
        <p:nvSpPr>
          <p:cNvPr id="16" name="TextBox 15"/>
          <p:cNvSpPr txBox="1"/>
          <p:nvPr/>
        </p:nvSpPr>
        <p:spPr>
          <a:xfrm>
            <a:off x="6126480" y="2103120"/>
            <a:ext cx="2377440" cy="365760"/>
          </a:xfrm>
          <a:prstGeom prst="rect">
            <a:avLst/>
          </a:prstGeom>
          <a:noFill/>
        </p:spPr>
        <p:txBody>
          <a:bodyPr wrap="square">
            <a:spAutoFit/>
          </a:bodyPr>
          <a:lstStyle/>
          <a:p>
            <a:pPr algn="ctr">
              <a:defRPr sz="1600" b="1">
                <a:solidFill>
                  <a:srgbClr val="C0392B"/>
                </a:solidFill>
              </a:defRPr>
            </a:pPr>
            <a:r>
              <a:t>Phân tích dữ liệu</a:t>
            </a:r>
          </a:p>
        </p:txBody>
      </p:sp>
      <p:sp>
        <p:nvSpPr>
          <p:cNvPr id="17" name="Rounded Rectangle 16"/>
          <p:cNvSpPr/>
          <p:nvPr/>
        </p:nvSpPr>
        <p:spPr>
          <a:xfrm>
            <a:off x="640080" y="3200400"/>
            <a:ext cx="237744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200400"/>
            <a:ext cx="2377440" cy="54864"/>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383280"/>
            <a:ext cx="2377440" cy="457200"/>
          </a:xfrm>
          <a:prstGeom prst="rect">
            <a:avLst/>
          </a:prstGeom>
          <a:noFill/>
        </p:spPr>
        <p:txBody>
          <a:bodyPr wrap="square">
            <a:spAutoFit/>
          </a:bodyPr>
          <a:lstStyle/>
          <a:p>
            <a:pPr algn="ctr">
              <a:defRPr sz="2400" b="1">
                <a:solidFill>
                  <a:srgbClr val="FF6B6B"/>
                </a:solidFill>
              </a:defRPr>
            </a:pPr>
            <a:r>
              <a:t>04</a:t>
            </a:r>
          </a:p>
        </p:txBody>
      </p:sp>
      <p:sp>
        <p:nvSpPr>
          <p:cNvPr id="20" name="TextBox 19"/>
          <p:cNvSpPr txBox="1"/>
          <p:nvPr/>
        </p:nvSpPr>
        <p:spPr>
          <a:xfrm>
            <a:off x="640080" y="3931920"/>
            <a:ext cx="2377440" cy="365760"/>
          </a:xfrm>
          <a:prstGeom prst="rect">
            <a:avLst/>
          </a:prstGeom>
          <a:noFill/>
        </p:spPr>
        <p:txBody>
          <a:bodyPr wrap="square">
            <a:spAutoFit/>
          </a:bodyPr>
          <a:lstStyle/>
          <a:p>
            <a:pPr algn="ctr">
              <a:defRPr sz="1600" b="1">
                <a:solidFill>
                  <a:srgbClr val="C0392B"/>
                </a:solidFill>
              </a:defRPr>
            </a:pPr>
            <a:r>
              <a:t>Phát triển đội ngũ</a:t>
            </a:r>
          </a:p>
        </p:txBody>
      </p:sp>
      <p:sp>
        <p:nvSpPr>
          <p:cNvPr id="21" name="Rounded Rectangle 20"/>
          <p:cNvSpPr/>
          <p:nvPr/>
        </p:nvSpPr>
        <p:spPr>
          <a:xfrm>
            <a:off x="3383280" y="3200400"/>
            <a:ext cx="237744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83280" y="3200400"/>
            <a:ext cx="2377440" cy="54864"/>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83280" y="3383280"/>
            <a:ext cx="2377440" cy="457200"/>
          </a:xfrm>
          <a:prstGeom prst="rect">
            <a:avLst/>
          </a:prstGeom>
          <a:noFill/>
        </p:spPr>
        <p:txBody>
          <a:bodyPr wrap="square">
            <a:spAutoFit/>
          </a:bodyPr>
          <a:lstStyle/>
          <a:p>
            <a:pPr algn="ctr">
              <a:defRPr sz="2400" b="1">
                <a:solidFill>
                  <a:srgbClr val="FF6B6B"/>
                </a:solidFill>
              </a:defRPr>
            </a:pPr>
            <a:r>
              <a:t>05</a:t>
            </a:r>
          </a:p>
        </p:txBody>
      </p:sp>
      <p:sp>
        <p:nvSpPr>
          <p:cNvPr id="24" name="TextBox 23"/>
          <p:cNvSpPr txBox="1"/>
          <p:nvPr/>
        </p:nvSpPr>
        <p:spPr>
          <a:xfrm>
            <a:off x="3383280" y="3931920"/>
            <a:ext cx="2377440" cy="365760"/>
          </a:xfrm>
          <a:prstGeom prst="rect">
            <a:avLst/>
          </a:prstGeom>
          <a:noFill/>
        </p:spPr>
        <p:txBody>
          <a:bodyPr wrap="square">
            <a:spAutoFit/>
          </a:bodyPr>
          <a:lstStyle/>
          <a:p>
            <a:pPr algn="ctr">
              <a:defRPr sz="1600" b="1">
                <a:solidFill>
                  <a:srgbClr val="C0392B"/>
                </a:solidFill>
              </a:defRPr>
            </a:pPr>
            <a:r>
              <a:t>Trách nhiệm xã hội</a:t>
            </a:r>
          </a:p>
        </p:txBody>
      </p:sp>
      <p:sp>
        <p:nvSpPr>
          <p:cNvPr id="25" name="Rounded Rectangle 24"/>
          <p:cNvSpPr/>
          <p:nvPr/>
        </p:nvSpPr>
        <p:spPr>
          <a:xfrm>
            <a:off x="6126480" y="3200400"/>
            <a:ext cx="2377440" cy="1463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0" y="3200400"/>
            <a:ext cx="2377440" cy="54864"/>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3383280"/>
            <a:ext cx="2377440" cy="457200"/>
          </a:xfrm>
          <a:prstGeom prst="rect">
            <a:avLst/>
          </a:prstGeom>
          <a:noFill/>
        </p:spPr>
        <p:txBody>
          <a:bodyPr wrap="square">
            <a:spAutoFit/>
          </a:bodyPr>
          <a:lstStyle/>
          <a:p>
            <a:pPr algn="ctr">
              <a:defRPr sz="2400" b="1">
                <a:solidFill>
                  <a:srgbClr val="FF6B6B"/>
                </a:solidFill>
              </a:defRPr>
            </a:pPr>
            <a:r>
              <a:t>06</a:t>
            </a:r>
          </a:p>
        </p:txBody>
      </p:sp>
      <p:sp>
        <p:nvSpPr>
          <p:cNvPr id="28" name="TextBox 27"/>
          <p:cNvSpPr txBox="1"/>
          <p:nvPr/>
        </p:nvSpPr>
        <p:spPr>
          <a:xfrm>
            <a:off x="6126480" y="3931920"/>
            <a:ext cx="2377440" cy="365760"/>
          </a:xfrm>
          <a:prstGeom prst="rect">
            <a:avLst/>
          </a:prstGeom>
          <a:noFill/>
        </p:spPr>
        <p:txBody>
          <a:bodyPr wrap="square">
            <a:spAutoFit/>
          </a:bodyPr>
          <a:lstStyle/>
          <a:p>
            <a:pPr algn="ctr">
              <a:defRPr sz="1600" b="1">
                <a:solidFill>
                  <a:srgbClr val="C0392B"/>
                </a:solidFill>
              </a:defRPr>
            </a:pPr>
            <a:r>
              <a:t>Định hướng tương lai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9144000" cy="1828800"/>
          </a:xfrm>
          <a:prstGeom prst="rect">
            <a:avLst/>
          </a:prstGeom>
          <a:solidFill>
            <a:srgbClr val="FF6B6B">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7315200" cy="914400"/>
          </a:xfrm>
          <a:prstGeom prst="rect">
            <a:avLst/>
          </a:prstGeom>
          <a:noFill/>
        </p:spPr>
        <p:txBody>
          <a:bodyPr wrap="square">
            <a:spAutoFit/>
          </a:bodyPr>
          <a:lstStyle/>
          <a:p>
            <a:pPr algn="ctr">
              <a:defRPr sz="3600" b="1">
                <a:solidFill>
                  <a:srgbClr val="C0392B"/>
                </a:solidFill>
              </a:defRPr>
            </a:pPr>
            <a:r>
              <a:t>Tổng quan doanh nghiệp</a:t>
            </a:r>
          </a:p>
        </p:txBody>
      </p:sp>
      <p:sp>
        <p:nvSpPr>
          <p:cNvPr id="5" name="TextBox 4"/>
          <p:cNvSpPr txBox="1"/>
          <p:nvPr/>
        </p:nvSpPr>
        <p:spPr>
          <a:xfrm>
            <a:off x="914400" y="3657600"/>
            <a:ext cx="7315200" cy="548640"/>
          </a:xfrm>
          <a:prstGeom prst="rect">
            <a:avLst/>
          </a:prstGeom>
          <a:noFill/>
        </p:spPr>
        <p:txBody>
          <a:bodyPr wrap="square">
            <a:spAutoFit/>
          </a:bodyPr>
          <a:lstStyle/>
          <a:p>
            <a:pPr algn="ctr">
              <a:defRPr sz="1800" b="0">
                <a:solidFill>
                  <a:srgbClr val="C0392B"/>
                </a:solidFill>
              </a:defRPr>
            </a:pPr>
            <a:r>
              <a:t>Company Overview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8046720" cy="640080"/>
          </a:xfrm>
          <a:prstGeom prst="rect">
            <a:avLst/>
          </a:prstGeom>
          <a:noFill/>
        </p:spPr>
        <p:txBody>
          <a:bodyPr wrap="square">
            <a:spAutoFit/>
          </a:bodyPr>
          <a:lstStyle/>
          <a:p>
            <a:pPr algn="l">
              <a:defRPr sz="2800" b="1">
                <a:solidFill>
                  <a:srgbClr val="FFFFFF"/>
                </a:solidFill>
              </a:defRPr>
            </a:pPr>
            <a:r>
              <a:t>Tổng quan doanh nghiệp</a:t>
            </a:r>
          </a:p>
        </p:txBody>
      </p:sp>
      <p:sp>
        <p:nvSpPr>
          <p:cNvPr id="5" name="Rounded Rectangle 4"/>
          <p:cNvSpPr/>
          <p:nvPr/>
        </p:nvSpPr>
        <p:spPr>
          <a:xfrm>
            <a:off x="502920" y="1371600"/>
            <a:ext cx="182880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645920"/>
            <a:ext cx="1828800" cy="457200"/>
          </a:xfrm>
          <a:prstGeom prst="rect">
            <a:avLst/>
          </a:prstGeom>
          <a:noFill/>
        </p:spPr>
        <p:txBody>
          <a:bodyPr wrap="square">
            <a:spAutoFit/>
          </a:bodyPr>
          <a:lstStyle/>
          <a:p>
            <a:pPr algn="ctr">
              <a:defRPr sz="2400" b="1">
                <a:solidFill>
                  <a:srgbClr val="FF6B6B"/>
                </a:solidFill>
              </a:defRPr>
            </a:pPr>
            <a:r>
              <a:t>Năm 2018</a:t>
            </a:r>
          </a:p>
        </p:txBody>
      </p:sp>
      <p:sp>
        <p:nvSpPr>
          <p:cNvPr id="7" name="TextBox 6"/>
          <p:cNvSpPr txBox="1"/>
          <p:nvPr/>
        </p:nvSpPr>
        <p:spPr>
          <a:xfrm>
            <a:off x="502920" y="2194560"/>
            <a:ext cx="1828800" cy="274320"/>
          </a:xfrm>
          <a:prstGeom prst="rect">
            <a:avLst/>
          </a:prstGeom>
          <a:noFill/>
        </p:spPr>
        <p:txBody>
          <a:bodyPr wrap="square">
            <a:spAutoFit/>
          </a:bodyPr>
          <a:lstStyle/>
          <a:p>
            <a:pPr algn="ctr">
              <a:defRPr sz="1200" b="0">
                <a:solidFill>
                  <a:srgbClr val="C0392B"/>
                </a:solidFill>
              </a:defRPr>
            </a:pPr>
            <a:r>
              <a:t>Thành lập</a:t>
            </a:r>
          </a:p>
        </p:txBody>
      </p:sp>
      <p:sp>
        <p:nvSpPr>
          <p:cNvPr id="8" name="Rounded Rectangle 7"/>
          <p:cNvSpPr/>
          <p:nvPr/>
        </p:nvSpPr>
        <p:spPr>
          <a:xfrm>
            <a:off x="2606040" y="1371600"/>
            <a:ext cx="182880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06040" y="1645920"/>
            <a:ext cx="1828800" cy="457200"/>
          </a:xfrm>
          <a:prstGeom prst="rect">
            <a:avLst/>
          </a:prstGeom>
          <a:noFill/>
        </p:spPr>
        <p:txBody>
          <a:bodyPr wrap="square">
            <a:spAutoFit/>
          </a:bodyPr>
          <a:lstStyle/>
          <a:p>
            <a:pPr algn="ctr">
              <a:defRPr sz="2400" b="1">
                <a:solidFill>
                  <a:srgbClr val="FF6B6B"/>
                </a:solidFill>
              </a:defRPr>
            </a:pPr>
            <a:r>
              <a:t>500+</a:t>
            </a:r>
          </a:p>
        </p:txBody>
      </p:sp>
      <p:sp>
        <p:nvSpPr>
          <p:cNvPr id="10" name="TextBox 9"/>
          <p:cNvSpPr txBox="1"/>
          <p:nvPr/>
        </p:nvSpPr>
        <p:spPr>
          <a:xfrm>
            <a:off x="2606040" y="2194560"/>
            <a:ext cx="1828800" cy="274320"/>
          </a:xfrm>
          <a:prstGeom prst="rect">
            <a:avLst/>
          </a:prstGeom>
          <a:noFill/>
        </p:spPr>
        <p:txBody>
          <a:bodyPr wrap="square">
            <a:spAutoFit/>
          </a:bodyPr>
          <a:lstStyle/>
          <a:p>
            <a:pPr algn="ctr">
              <a:defRPr sz="1200" b="0">
                <a:solidFill>
                  <a:srgbClr val="C0392B"/>
                </a:solidFill>
              </a:defRPr>
            </a:pPr>
            <a:r>
              <a:t>Quy mô nhân sự</a:t>
            </a:r>
          </a:p>
        </p:txBody>
      </p:sp>
      <p:sp>
        <p:nvSpPr>
          <p:cNvPr id="11" name="Rounded Rectangle 10"/>
          <p:cNvSpPr/>
          <p:nvPr/>
        </p:nvSpPr>
        <p:spPr>
          <a:xfrm>
            <a:off x="4709160" y="1371600"/>
            <a:ext cx="182880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60" y="1645920"/>
            <a:ext cx="1828800" cy="457200"/>
          </a:xfrm>
          <a:prstGeom prst="rect">
            <a:avLst/>
          </a:prstGeom>
          <a:noFill/>
        </p:spPr>
        <p:txBody>
          <a:bodyPr wrap="square">
            <a:spAutoFit/>
          </a:bodyPr>
          <a:lstStyle/>
          <a:p>
            <a:pPr algn="ctr">
              <a:defRPr sz="2400" b="1">
                <a:solidFill>
                  <a:srgbClr val="FF6B6B"/>
                </a:solidFill>
              </a:defRPr>
            </a:pPr>
            <a:r>
              <a:t>Hơn 20 tỉnh thành</a:t>
            </a:r>
          </a:p>
        </p:txBody>
      </p:sp>
      <p:sp>
        <p:nvSpPr>
          <p:cNvPr id="13" name="TextBox 12"/>
          <p:cNvSpPr txBox="1"/>
          <p:nvPr/>
        </p:nvSpPr>
        <p:spPr>
          <a:xfrm>
            <a:off x="4709160" y="2194560"/>
            <a:ext cx="1828800" cy="274320"/>
          </a:xfrm>
          <a:prstGeom prst="rect">
            <a:avLst/>
          </a:prstGeom>
          <a:noFill/>
        </p:spPr>
        <p:txBody>
          <a:bodyPr wrap="square">
            <a:spAutoFit/>
          </a:bodyPr>
          <a:lstStyle/>
          <a:p>
            <a:pPr algn="ctr">
              <a:defRPr sz="1200" b="0">
                <a:solidFill>
                  <a:srgbClr val="C0392B"/>
                </a:solidFill>
              </a:defRPr>
            </a:pPr>
            <a:r>
              <a:t>Phạm vi hoạt động</a:t>
            </a:r>
          </a:p>
        </p:txBody>
      </p:sp>
      <p:sp>
        <p:nvSpPr>
          <p:cNvPr id="14" name="Rounded Rectangle 13"/>
          <p:cNvSpPr/>
          <p:nvPr/>
        </p:nvSpPr>
        <p:spPr>
          <a:xfrm>
            <a:off x="6812280" y="1371600"/>
            <a:ext cx="1828800" cy="1371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12280" y="1645920"/>
            <a:ext cx="1828800" cy="457200"/>
          </a:xfrm>
          <a:prstGeom prst="rect">
            <a:avLst/>
          </a:prstGeom>
          <a:noFill/>
        </p:spPr>
        <p:txBody>
          <a:bodyPr wrap="square">
            <a:spAutoFit/>
          </a:bodyPr>
          <a:lstStyle/>
          <a:p>
            <a:pPr algn="ctr">
              <a:defRPr sz="2400" b="1">
                <a:solidFill>
                  <a:srgbClr val="FF6B6B"/>
                </a:solidFill>
              </a:defRPr>
            </a:pPr>
            <a:r>
              <a:t>2000+ doanh nghiệp</a:t>
            </a:r>
          </a:p>
        </p:txBody>
      </p:sp>
      <p:sp>
        <p:nvSpPr>
          <p:cNvPr id="16" name="TextBox 15"/>
          <p:cNvSpPr txBox="1"/>
          <p:nvPr/>
        </p:nvSpPr>
        <p:spPr>
          <a:xfrm>
            <a:off x="6812280" y="2194560"/>
            <a:ext cx="1828800" cy="274320"/>
          </a:xfrm>
          <a:prstGeom prst="rect">
            <a:avLst/>
          </a:prstGeom>
          <a:noFill/>
        </p:spPr>
        <p:txBody>
          <a:bodyPr wrap="square">
            <a:spAutoFit/>
          </a:bodyPr>
          <a:lstStyle/>
          <a:p>
            <a:pPr algn="ctr">
              <a:defRPr sz="1200" b="0">
                <a:solidFill>
                  <a:srgbClr val="C0392B"/>
                </a:solidFill>
              </a:defRPr>
            </a:pPr>
            <a:r>
              <a:t>Khách hàng phục vụ</a:t>
            </a:r>
          </a:p>
        </p:txBody>
      </p:sp>
      <p:sp>
        <p:nvSpPr>
          <p:cNvPr id="17" name="Rounded Rectangle 16"/>
          <p:cNvSpPr/>
          <p:nvPr/>
        </p:nvSpPr>
        <p:spPr>
          <a:xfrm>
            <a:off x="457200" y="3017520"/>
            <a:ext cx="8229600" cy="32004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3200400"/>
            <a:ext cx="7680960" cy="365760"/>
          </a:xfrm>
          <a:prstGeom prst="rect">
            <a:avLst/>
          </a:prstGeom>
          <a:noFill/>
        </p:spPr>
        <p:txBody>
          <a:bodyPr wrap="square">
            <a:spAutoFit/>
          </a:bodyPr>
          <a:lstStyle/>
          <a:p>
            <a:pPr algn="l">
              <a:defRPr sz="1600" b="1">
                <a:solidFill>
                  <a:srgbClr val="C0392B"/>
                </a:solidFill>
              </a:defRPr>
            </a:pPr>
            <a:r>
              <a:t>Giới thiệu doanh nghiệp</a:t>
            </a:r>
          </a:p>
        </p:txBody>
      </p:sp>
      <p:sp>
        <p:nvSpPr>
          <p:cNvPr id="19" name="TextBox 18"/>
          <p:cNvSpPr txBox="1"/>
          <p:nvPr/>
        </p:nvSpPr>
        <p:spPr>
          <a:xfrm>
            <a:off x="731520" y="3749039"/>
            <a:ext cx="7680960" cy="2286000"/>
          </a:xfrm>
          <a:prstGeom prst="rect">
            <a:avLst/>
          </a:prstGeom>
          <a:noFill/>
        </p:spPr>
        <p:txBody>
          <a:bodyPr wrap="square">
            <a:spAutoFit/>
          </a:bodyPr>
          <a:lstStyle/>
          <a:p>
            <a:pPr algn="l">
              <a:defRPr sz="1300" b="0">
                <a:solidFill>
                  <a:srgbClr val="C0392B"/>
                </a:solidFill>
              </a:defRPr>
            </a:pPr>
            <a:r>
              <a:t>Chúng tôi là doanh nghiệp công nghệ tiên phong chuyên sâu về chuyển đổi số, cam kết ứng dụng trí tuệ nhân tạo, dữ liệu lớn và điện toán đám mây nhằm cung cấp giải pháp chuyển đổi số toàn diện cho đối tác. Sau hơn 7 năm phát triển, công ty đã đồng hành cùng hơn 2.000 khách hàng doanh nghiệp trong các lĩnh vực tài chính, sản xuất, bán lẻ và y tế.</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9144000" cy="1828800"/>
          </a:xfrm>
          <a:prstGeom prst="rect">
            <a:avLst/>
          </a:prstGeom>
          <a:solidFill>
            <a:srgbClr val="FF6B6B">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7315200" cy="914400"/>
          </a:xfrm>
          <a:prstGeom prst="rect">
            <a:avLst/>
          </a:prstGeom>
          <a:noFill/>
        </p:spPr>
        <p:txBody>
          <a:bodyPr wrap="square">
            <a:spAutoFit/>
          </a:bodyPr>
          <a:lstStyle/>
          <a:p>
            <a:pPr algn="ctr">
              <a:defRPr sz="3600" b="1">
                <a:solidFill>
                  <a:srgbClr val="C0392B"/>
                </a:solidFill>
              </a:defRPr>
            </a:pPr>
            <a:r>
              <a:t>Kết quả nổi bật</a:t>
            </a:r>
          </a:p>
        </p:txBody>
      </p:sp>
      <p:sp>
        <p:nvSpPr>
          <p:cNvPr id="5" name="TextBox 4"/>
          <p:cNvSpPr txBox="1"/>
          <p:nvPr/>
        </p:nvSpPr>
        <p:spPr>
          <a:xfrm>
            <a:off x="914400" y="3657600"/>
            <a:ext cx="7315200" cy="548640"/>
          </a:xfrm>
          <a:prstGeom prst="rect">
            <a:avLst/>
          </a:prstGeom>
          <a:noFill/>
        </p:spPr>
        <p:txBody>
          <a:bodyPr wrap="square">
            <a:spAutoFit/>
          </a:bodyPr>
          <a:lstStyle/>
          <a:p>
            <a:pPr algn="ctr">
              <a:defRPr sz="1800" b="0">
                <a:solidFill>
                  <a:srgbClr val="C0392B"/>
                </a:solidFill>
              </a:defRPr>
            </a:pPr>
            <a:r>
              <a:t>Annual Achievements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8046720" cy="640080"/>
          </a:xfrm>
          <a:prstGeom prst="rect">
            <a:avLst/>
          </a:prstGeom>
          <a:noFill/>
        </p:spPr>
        <p:txBody>
          <a:bodyPr wrap="square">
            <a:spAutoFit/>
          </a:bodyPr>
          <a:lstStyle/>
          <a:p>
            <a:pPr algn="l">
              <a:defRPr sz="2800" b="1">
                <a:solidFill>
                  <a:srgbClr val="FFFFFF"/>
                </a:solidFill>
              </a:defRPr>
            </a:pPr>
            <a:r>
              <a:t>Kết quả nổi bật - Phần 1</a:t>
            </a:r>
          </a:p>
        </p:txBody>
      </p:sp>
      <p:sp>
        <p:nvSpPr>
          <p:cNvPr id="5" name="TextBox 4"/>
          <p:cNvSpPr txBox="1"/>
          <p:nvPr/>
        </p:nvSpPr>
        <p:spPr>
          <a:xfrm>
            <a:off x="548640" y="1188720"/>
            <a:ext cx="8046720" cy="457200"/>
          </a:xfrm>
          <a:prstGeom prst="rect">
            <a:avLst/>
          </a:prstGeom>
          <a:noFill/>
        </p:spPr>
        <p:txBody>
          <a:bodyPr wrap="square">
            <a:spAutoFit/>
          </a:bodyPr>
          <a:lstStyle/>
          <a:p>
            <a:pPr algn="l">
              <a:defRPr sz="2000" b="1">
                <a:solidFill>
                  <a:srgbClr val="C0392B"/>
                </a:solidFill>
              </a:defRPr>
            </a:pPr>
            <a:r>
              <a:t>Tăng trưởng doanh thu</a:t>
            </a:r>
          </a:p>
        </p:txBody>
      </p:sp>
      <p:sp>
        <p:nvSpPr>
          <p:cNvPr id="6" name="Rounded Rectangle 5"/>
          <p:cNvSpPr/>
          <p:nvPr/>
        </p:nvSpPr>
        <p:spPr>
          <a:xfrm>
            <a:off x="640080" y="1828800"/>
            <a:ext cx="23774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11680"/>
            <a:ext cx="2377440" cy="548640"/>
          </a:xfrm>
          <a:prstGeom prst="rect">
            <a:avLst/>
          </a:prstGeom>
          <a:noFill/>
        </p:spPr>
        <p:txBody>
          <a:bodyPr wrap="square">
            <a:spAutoFit/>
          </a:bodyPr>
          <a:lstStyle/>
          <a:p>
            <a:pPr algn="ctr">
              <a:defRPr sz="2800" b="1">
                <a:solidFill>
                  <a:srgbClr val="FF6B6B"/>
                </a:solidFill>
              </a:defRPr>
            </a:pPr>
            <a:r>
              <a:t>250 tỷ</a:t>
            </a:r>
          </a:p>
        </p:txBody>
      </p:sp>
      <p:sp>
        <p:nvSpPr>
          <p:cNvPr id="8" name="TextBox 7"/>
          <p:cNvSpPr txBox="1"/>
          <p:nvPr/>
        </p:nvSpPr>
        <p:spPr>
          <a:xfrm>
            <a:off x="640080" y="2606040"/>
            <a:ext cx="2377440" cy="320040"/>
          </a:xfrm>
          <a:prstGeom prst="rect">
            <a:avLst/>
          </a:prstGeom>
          <a:noFill/>
        </p:spPr>
        <p:txBody>
          <a:bodyPr wrap="square">
            <a:spAutoFit/>
          </a:bodyPr>
          <a:lstStyle/>
          <a:p>
            <a:pPr algn="ctr">
              <a:defRPr sz="1200" b="0">
                <a:solidFill>
                  <a:srgbClr val="C0392B"/>
                </a:solidFill>
              </a:defRPr>
            </a:pPr>
            <a:r>
              <a:t>Doanh thu năm</a:t>
            </a:r>
          </a:p>
        </p:txBody>
      </p:sp>
      <p:sp>
        <p:nvSpPr>
          <p:cNvPr id="9" name="Rounded Rectangle 8"/>
          <p:cNvSpPr/>
          <p:nvPr/>
        </p:nvSpPr>
        <p:spPr>
          <a:xfrm>
            <a:off x="3383280" y="1828800"/>
            <a:ext cx="23774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2011680"/>
            <a:ext cx="2377440" cy="548640"/>
          </a:xfrm>
          <a:prstGeom prst="rect">
            <a:avLst/>
          </a:prstGeom>
          <a:noFill/>
        </p:spPr>
        <p:txBody>
          <a:bodyPr wrap="square">
            <a:spAutoFit/>
          </a:bodyPr>
          <a:lstStyle/>
          <a:p>
            <a:pPr algn="ctr">
              <a:defRPr sz="2800" b="1">
                <a:solidFill>
                  <a:srgbClr val="FF6B6B"/>
                </a:solidFill>
              </a:defRPr>
            </a:pPr>
            <a:r>
              <a:t>35%</a:t>
            </a:r>
          </a:p>
        </p:txBody>
      </p:sp>
      <p:sp>
        <p:nvSpPr>
          <p:cNvPr id="11" name="TextBox 10"/>
          <p:cNvSpPr txBox="1"/>
          <p:nvPr/>
        </p:nvSpPr>
        <p:spPr>
          <a:xfrm>
            <a:off x="3383280" y="2606040"/>
            <a:ext cx="2377440" cy="320040"/>
          </a:xfrm>
          <a:prstGeom prst="rect">
            <a:avLst/>
          </a:prstGeom>
          <a:noFill/>
        </p:spPr>
        <p:txBody>
          <a:bodyPr wrap="square">
            <a:spAutoFit/>
          </a:bodyPr>
          <a:lstStyle/>
          <a:p>
            <a:pPr algn="ctr">
              <a:defRPr sz="1200" b="0">
                <a:solidFill>
                  <a:srgbClr val="C0392B"/>
                </a:solidFill>
              </a:defRPr>
            </a:pPr>
            <a:r>
              <a:t>Tăng trưởng theo năm</a:t>
            </a:r>
          </a:p>
        </p:txBody>
      </p:sp>
      <p:sp>
        <p:nvSpPr>
          <p:cNvPr id="12" name="Rounded Rectangle 11"/>
          <p:cNvSpPr/>
          <p:nvPr/>
        </p:nvSpPr>
        <p:spPr>
          <a:xfrm>
            <a:off x="6126480" y="1828800"/>
            <a:ext cx="23774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2011680"/>
            <a:ext cx="2377440" cy="548640"/>
          </a:xfrm>
          <a:prstGeom prst="rect">
            <a:avLst/>
          </a:prstGeom>
          <a:noFill/>
        </p:spPr>
        <p:txBody>
          <a:bodyPr wrap="square">
            <a:spAutoFit/>
          </a:bodyPr>
          <a:lstStyle/>
          <a:p>
            <a:pPr algn="ctr">
              <a:defRPr sz="2800" b="1">
                <a:solidFill>
                  <a:srgbClr val="FF6B6B"/>
                </a:solidFill>
              </a:defRPr>
            </a:pPr>
            <a:r>
              <a:t>85%</a:t>
            </a:r>
          </a:p>
        </p:txBody>
      </p:sp>
      <p:sp>
        <p:nvSpPr>
          <p:cNvPr id="14" name="TextBox 13"/>
          <p:cNvSpPr txBox="1"/>
          <p:nvPr/>
        </p:nvSpPr>
        <p:spPr>
          <a:xfrm>
            <a:off x="6126480" y="2606040"/>
            <a:ext cx="2377440" cy="320040"/>
          </a:xfrm>
          <a:prstGeom prst="rect">
            <a:avLst/>
          </a:prstGeom>
          <a:noFill/>
        </p:spPr>
        <p:txBody>
          <a:bodyPr wrap="square">
            <a:spAutoFit/>
          </a:bodyPr>
          <a:lstStyle/>
          <a:p>
            <a:pPr algn="ctr">
              <a:defRPr sz="1200" b="0">
                <a:solidFill>
                  <a:srgbClr val="C0392B"/>
                </a:solidFill>
              </a:defRPr>
            </a:pPr>
            <a:r>
              <a:t>Tỷ lệ tái ký hợp đồng</a:t>
            </a:r>
          </a:p>
        </p:txBody>
      </p:sp>
      <p:sp>
        <p:nvSpPr>
          <p:cNvPr id="15" name="TextBox 14"/>
          <p:cNvSpPr txBox="1"/>
          <p:nvPr/>
        </p:nvSpPr>
        <p:spPr>
          <a:xfrm>
            <a:off x="914400" y="4114800"/>
            <a:ext cx="7315200" cy="320040"/>
          </a:xfrm>
          <a:prstGeom prst="rect">
            <a:avLst/>
          </a:prstGeom>
          <a:noFill/>
        </p:spPr>
        <p:txBody>
          <a:bodyPr wrap="square">
            <a:spAutoFit/>
          </a:bodyPr>
          <a:lstStyle/>
          <a:p>
            <a:pPr algn="l">
              <a:defRPr sz="1200" b="0">
                <a:solidFill>
                  <a:srgbClr val="C0392B"/>
                </a:solidFill>
              </a:defRPr>
            </a:pPr>
            <a:r>
              <a:t>  Doanh thu nghiệp vụ nòng cốt chiếm 70%</a:t>
            </a:r>
          </a:p>
        </p:txBody>
      </p:sp>
      <p:sp>
        <p:nvSpPr>
          <p:cNvPr id="16" name="TextBox 15"/>
          <p:cNvSpPr txBox="1"/>
          <p:nvPr/>
        </p:nvSpPr>
        <p:spPr>
          <a:xfrm>
            <a:off x="914400" y="4480560"/>
            <a:ext cx="7315200" cy="320040"/>
          </a:xfrm>
          <a:prstGeom prst="rect">
            <a:avLst/>
          </a:prstGeom>
          <a:noFill/>
        </p:spPr>
        <p:txBody>
          <a:bodyPr wrap="square">
            <a:spAutoFit/>
          </a:bodyPr>
          <a:lstStyle/>
          <a:p>
            <a:pPr algn="l">
              <a:defRPr sz="1200" b="0">
                <a:solidFill>
                  <a:srgbClr val="C0392B"/>
                </a:solidFill>
              </a:defRPr>
            </a:pPr>
            <a:r>
              <a:t>  Mảng kinh doanh mới đóng góp tăng trưởng liên tục</a:t>
            </a:r>
          </a:p>
        </p:txBody>
      </p:sp>
      <p:sp>
        <p:nvSpPr>
          <p:cNvPr id="17" name="TextBox 16"/>
          <p:cNvSpPr txBox="1"/>
          <p:nvPr/>
        </p:nvSpPr>
        <p:spPr>
          <a:xfrm>
            <a:off x="914400" y="4846320"/>
            <a:ext cx="7315200" cy="320040"/>
          </a:xfrm>
          <a:prstGeom prst="rect">
            <a:avLst/>
          </a:prstGeom>
          <a:noFill/>
        </p:spPr>
        <p:txBody>
          <a:bodyPr wrap="square">
            <a:spAutoFit/>
          </a:bodyPr>
          <a:lstStyle/>
          <a:p>
            <a:pPr algn="l">
              <a:defRPr sz="1200" b="0">
                <a:solidFill>
                  <a:srgbClr val="C0392B"/>
                </a:solidFill>
              </a:defRPr>
            </a:pPr>
            <a:r>
              <a:t>  Biên lợi nhuận gộp duy trì trên 60%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8046720" cy="640080"/>
          </a:xfrm>
          <a:prstGeom prst="rect">
            <a:avLst/>
          </a:prstGeom>
          <a:noFill/>
        </p:spPr>
        <p:txBody>
          <a:bodyPr wrap="square">
            <a:spAutoFit/>
          </a:bodyPr>
          <a:lstStyle/>
          <a:p>
            <a:pPr algn="l">
              <a:defRPr sz="2800" b="1">
                <a:solidFill>
                  <a:srgbClr val="FFFFFF"/>
                </a:solidFill>
              </a:defRPr>
            </a:pPr>
            <a:r>
              <a:t>Kết quả nổi bật - Phần 2</a:t>
            </a:r>
          </a:p>
        </p:txBody>
      </p:sp>
      <p:sp>
        <p:nvSpPr>
          <p:cNvPr id="5" name="TextBox 4"/>
          <p:cNvSpPr txBox="1"/>
          <p:nvPr/>
        </p:nvSpPr>
        <p:spPr>
          <a:xfrm>
            <a:off x="548640" y="1188720"/>
            <a:ext cx="8046720" cy="457200"/>
          </a:xfrm>
          <a:prstGeom prst="rect">
            <a:avLst/>
          </a:prstGeom>
          <a:noFill/>
        </p:spPr>
        <p:txBody>
          <a:bodyPr wrap="square">
            <a:spAutoFit/>
          </a:bodyPr>
          <a:lstStyle/>
          <a:p>
            <a:pPr algn="l">
              <a:defRPr sz="2000" b="1">
                <a:solidFill>
                  <a:srgbClr val="C0392B"/>
                </a:solidFill>
              </a:defRPr>
            </a:pPr>
            <a:r>
              <a:t>Mở rộng thị trường</a:t>
            </a:r>
          </a:p>
        </p:txBody>
      </p:sp>
      <p:sp>
        <p:nvSpPr>
          <p:cNvPr id="6" name="Rounded Rectangle 5"/>
          <p:cNvSpPr/>
          <p:nvPr/>
        </p:nvSpPr>
        <p:spPr>
          <a:xfrm>
            <a:off x="640080" y="1828800"/>
            <a:ext cx="23774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11680"/>
            <a:ext cx="2377440" cy="548640"/>
          </a:xfrm>
          <a:prstGeom prst="rect">
            <a:avLst/>
          </a:prstGeom>
          <a:noFill/>
        </p:spPr>
        <p:txBody>
          <a:bodyPr wrap="square">
            <a:spAutoFit/>
          </a:bodyPr>
          <a:lstStyle/>
          <a:p>
            <a:pPr algn="ctr">
              <a:defRPr sz="2800" b="1">
                <a:solidFill>
                  <a:srgbClr val="FF6B6B"/>
                </a:solidFill>
              </a:defRPr>
            </a:pPr>
            <a:r>
              <a:t>20+</a:t>
            </a:r>
          </a:p>
        </p:txBody>
      </p:sp>
      <p:sp>
        <p:nvSpPr>
          <p:cNvPr id="8" name="TextBox 7"/>
          <p:cNvSpPr txBox="1"/>
          <p:nvPr/>
        </p:nvSpPr>
        <p:spPr>
          <a:xfrm>
            <a:off x="640080" y="2606040"/>
            <a:ext cx="2377440" cy="320040"/>
          </a:xfrm>
          <a:prstGeom prst="rect">
            <a:avLst/>
          </a:prstGeom>
          <a:noFill/>
        </p:spPr>
        <p:txBody>
          <a:bodyPr wrap="square">
            <a:spAutoFit/>
          </a:bodyPr>
          <a:lstStyle/>
          <a:p>
            <a:pPr algn="ctr">
              <a:defRPr sz="1200" b="0">
                <a:solidFill>
                  <a:srgbClr val="C0392B"/>
                </a:solidFill>
              </a:defRPr>
            </a:pPr>
            <a:r>
              <a:t>Thành phố hiện diện</a:t>
            </a:r>
          </a:p>
        </p:txBody>
      </p:sp>
      <p:sp>
        <p:nvSpPr>
          <p:cNvPr id="9" name="Rounded Rectangle 8"/>
          <p:cNvSpPr/>
          <p:nvPr/>
        </p:nvSpPr>
        <p:spPr>
          <a:xfrm>
            <a:off x="3383280" y="1828800"/>
            <a:ext cx="23774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2011680"/>
            <a:ext cx="2377440" cy="548640"/>
          </a:xfrm>
          <a:prstGeom prst="rect">
            <a:avLst/>
          </a:prstGeom>
          <a:noFill/>
        </p:spPr>
        <p:txBody>
          <a:bodyPr wrap="square">
            <a:spAutoFit/>
          </a:bodyPr>
          <a:lstStyle/>
          <a:p>
            <a:pPr algn="ctr">
              <a:defRPr sz="2800" b="1">
                <a:solidFill>
                  <a:srgbClr val="FF6B6B"/>
                </a:solidFill>
              </a:defRPr>
            </a:pPr>
            <a:r>
              <a:t>500+</a:t>
            </a:r>
          </a:p>
        </p:txBody>
      </p:sp>
      <p:sp>
        <p:nvSpPr>
          <p:cNvPr id="11" name="TextBox 10"/>
          <p:cNvSpPr txBox="1"/>
          <p:nvPr/>
        </p:nvSpPr>
        <p:spPr>
          <a:xfrm>
            <a:off x="3383280" y="2606040"/>
            <a:ext cx="2377440" cy="320040"/>
          </a:xfrm>
          <a:prstGeom prst="rect">
            <a:avLst/>
          </a:prstGeom>
          <a:noFill/>
        </p:spPr>
        <p:txBody>
          <a:bodyPr wrap="square">
            <a:spAutoFit/>
          </a:bodyPr>
          <a:lstStyle/>
          <a:p>
            <a:pPr algn="ctr">
              <a:defRPr sz="1200" b="0">
                <a:solidFill>
                  <a:srgbClr val="C0392B"/>
                </a:solidFill>
              </a:defRPr>
            </a:pPr>
            <a:r>
              <a:t>Khách hàng doanh nghiệp mới</a:t>
            </a:r>
          </a:p>
        </p:txBody>
      </p:sp>
      <p:sp>
        <p:nvSpPr>
          <p:cNvPr id="12" name="Rounded Rectangle 11"/>
          <p:cNvSpPr/>
          <p:nvPr/>
        </p:nvSpPr>
        <p:spPr>
          <a:xfrm>
            <a:off x="6126480" y="1828800"/>
            <a:ext cx="23774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2011680"/>
            <a:ext cx="2377440" cy="548640"/>
          </a:xfrm>
          <a:prstGeom prst="rect">
            <a:avLst/>
          </a:prstGeom>
          <a:noFill/>
        </p:spPr>
        <p:txBody>
          <a:bodyPr wrap="square">
            <a:spAutoFit/>
          </a:bodyPr>
          <a:lstStyle/>
          <a:p>
            <a:pPr algn="ctr">
              <a:defRPr sz="2800" b="1">
                <a:solidFill>
                  <a:srgbClr val="FF6B6B"/>
                </a:solidFill>
              </a:defRPr>
            </a:pPr>
            <a:r>
              <a:t>50+</a:t>
            </a:r>
          </a:p>
        </p:txBody>
      </p:sp>
      <p:sp>
        <p:nvSpPr>
          <p:cNvPr id="14" name="TextBox 13"/>
          <p:cNvSpPr txBox="1"/>
          <p:nvPr/>
        </p:nvSpPr>
        <p:spPr>
          <a:xfrm>
            <a:off x="6126480" y="2606040"/>
            <a:ext cx="2377440" cy="320040"/>
          </a:xfrm>
          <a:prstGeom prst="rect">
            <a:avLst/>
          </a:prstGeom>
          <a:noFill/>
        </p:spPr>
        <p:txBody>
          <a:bodyPr wrap="square">
            <a:spAutoFit/>
          </a:bodyPr>
          <a:lstStyle/>
          <a:p>
            <a:pPr algn="ctr">
              <a:defRPr sz="1200" b="0">
                <a:solidFill>
                  <a:srgbClr val="C0392B"/>
                </a:solidFill>
              </a:defRPr>
            </a:pPr>
            <a:r>
              <a:t>Đối tác chiến lược</a:t>
            </a:r>
          </a:p>
        </p:txBody>
      </p:sp>
      <p:sp>
        <p:nvSpPr>
          <p:cNvPr id="15" name="TextBox 14"/>
          <p:cNvSpPr txBox="1"/>
          <p:nvPr/>
        </p:nvSpPr>
        <p:spPr>
          <a:xfrm>
            <a:off x="914400" y="4114800"/>
            <a:ext cx="7315200" cy="320040"/>
          </a:xfrm>
          <a:prstGeom prst="rect">
            <a:avLst/>
          </a:prstGeom>
          <a:noFill/>
        </p:spPr>
        <p:txBody>
          <a:bodyPr wrap="square">
            <a:spAutoFit/>
          </a:bodyPr>
          <a:lstStyle/>
          <a:p>
            <a:pPr algn="l">
              <a:defRPr sz="1200" b="0">
                <a:solidFill>
                  <a:srgbClr val="C0392B"/>
                </a:solidFill>
              </a:defRPr>
            </a:pPr>
            <a:r>
              <a:t>  Phát triển cân bằng tại 3 miền Bắc, Trung, Nam</a:t>
            </a:r>
          </a:p>
        </p:txBody>
      </p:sp>
      <p:sp>
        <p:nvSpPr>
          <p:cNvPr id="16" name="TextBox 15"/>
          <p:cNvSpPr txBox="1"/>
          <p:nvPr/>
        </p:nvSpPr>
        <p:spPr>
          <a:xfrm>
            <a:off x="914400" y="4480560"/>
            <a:ext cx="7315200" cy="320040"/>
          </a:xfrm>
          <a:prstGeom prst="rect">
            <a:avLst/>
          </a:prstGeom>
          <a:noFill/>
        </p:spPr>
        <p:txBody>
          <a:bodyPr wrap="square">
            <a:spAutoFit/>
          </a:bodyPr>
          <a:lstStyle/>
          <a:p>
            <a:pPr algn="l">
              <a:defRPr sz="1200" b="0">
                <a:solidFill>
                  <a:srgbClr val="C0392B"/>
                </a:solidFill>
              </a:defRPr>
            </a:pPr>
            <a:r>
              <a:t>  Bắt đầu triển khai chiến lược thị trường quốc tế</a:t>
            </a:r>
          </a:p>
        </p:txBody>
      </p:sp>
      <p:sp>
        <p:nvSpPr>
          <p:cNvPr id="17" name="TextBox 16"/>
          <p:cNvSpPr txBox="1"/>
          <p:nvPr/>
        </p:nvSpPr>
        <p:spPr>
          <a:xfrm>
            <a:off x="914400" y="4846320"/>
            <a:ext cx="7315200" cy="320040"/>
          </a:xfrm>
          <a:prstGeom prst="rect">
            <a:avLst/>
          </a:prstGeom>
          <a:noFill/>
        </p:spPr>
        <p:txBody>
          <a:bodyPr wrap="square">
            <a:spAutoFit/>
          </a:bodyPr>
          <a:lstStyle/>
          <a:p>
            <a:pPr algn="l">
              <a:defRPr sz="1200" b="0">
                <a:solidFill>
                  <a:srgbClr val="C0392B"/>
                </a:solidFill>
              </a:defRPr>
            </a:pPr>
            <a:r>
              <a:t>  Mạng lưới đối tác phân phối không ngừng mở rộng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8046720" cy="640080"/>
          </a:xfrm>
          <a:prstGeom prst="rect">
            <a:avLst/>
          </a:prstGeom>
          <a:noFill/>
        </p:spPr>
        <p:txBody>
          <a:bodyPr wrap="square">
            <a:spAutoFit/>
          </a:bodyPr>
          <a:lstStyle/>
          <a:p>
            <a:pPr algn="l">
              <a:defRPr sz="2800" b="1">
                <a:solidFill>
                  <a:srgbClr val="FFFFFF"/>
                </a:solidFill>
              </a:defRPr>
            </a:pPr>
            <a:r>
              <a:t>Kết quả nổi bật - Phần 3</a:t>
            </a:r>
          </a:p>
        </p:txBody>
      </p:sp>
      <p:sp>
        <p:nvSpPr>
          <p:cNvPr id="5" name="TextBox 4"/>
          <p:cNvSpPr txBox="1"/>
          <p:nvPr/>
        </p:nvSpPr>
        <p:spPr>
          <a:xfrm>
            <a:off x="548640" y="1188720"/>
            <a:ext cx="8046720" cy="457200"/>
          </a:xfrm>
          <a:prstGeom prst="rect">
            <a:avLst/>
          </a:prstGeom>
          <a:noFill/>
        </p:spPr>
        <p:txBody>
          <a:bodyPr wrap="square">
            <a:spAutoFit/>
          </a:bodyPr>
          <a:lstStyle/>
          <a:p>
            <a:pPr algn="l">
              <a:defRPr sz="2000" b="1">
                <a:solidFill>
                  <a:srgbClr val="C0392B"/>
                </a:solidFill>
              </a:defRPr>
            </a:pPr>
            <a:r>
              <a:t>Đổi mới sản phẩm</a:t>
            </a:r>
          </a:p>
        </p:txBody>
      </p:sp>
      <p:sp>
        <p:nvSpPr>
          <p:cNvPr id="6" name="Rounded Rectangle 5"/>
          <p:cNvSpPr/>
          <p:nvPr/>
        </p:nvSpPr>
        <p:spPr>
          <a:xfrm>
            <a:off x="640080" y="1828800"/>
            <a:ext cx="23774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011680"/>
            <a:ext cx="2377440" cy="548640"/>
          </a:xfrm>
          <a:prstGeom prst="rect">
            <a:avLst/>
          </a:prstGeom>
          <a:noFill/>
        </p:spPr>
        <p:txBody>
          <a:bodyPr wrap="square">
            <a:spAutoFit/>
          </a:bodyPr>
          <a:lstStyle/>
          <a:p>
            <a:pPr algn="ctr">
              <a:defRPr sz="2800" b="1">
                <a:solidFill>
                  <a:srgbClr val="FF6B6B"/>
                </a:solidFill>
              </a:defRPr>
            </a:pPr>
            <a:r>
              <a:t>12</a:t>
            </a:r>
          </a:p>
        </p:txBody>
      </p:sp>
      <p:sp>
        <p:nvSpPr>
          <p:cNvPr id="8" name="TextBox 7"/>
          <p:cNvSpPr txBox="1"/>
          <p:nvPr/>
        </p:nvSpPr>
        <p:spPr>
          <a:xfrm>
            <a:off x="640080" y="2606040"/>
            <a:ext cx="2377440" cy="320040"/>
          </a:xfrm>
          <a:prstGeom prst="rect">
            <a:avLst/>
          </a:prstGeom>
          <a:noFill/>
        </p:spPr>
        <p:txBody>
          <a:bodyPr wrap="square">
            <a:spAutoFit/>
          </a:bodyPr>
          <a:lstStyle/>
          <a:p>
            <a:pPr algn="ctr">
              <a:defRPr sz="1200" b="0">
                <a:solidFill>
                  <a:srgbClr val="C0392B"/>
                </a:solidFill>
              </a:defRPr>
            </a:pPr>
            <a:r>
              <a:t>Sản phẩm mới ra mắt</a:t>
            </a:r>
          </a:p>
        </p:txBody>
      </p:sp>
      <p:sp>
        <p:nvSpPr>
          <p:cNvPr id="9" name="Rounded Rectangle 8"/>
          <p:cNvSpPr/>
          <p:nvPr/>
        </p:nvSpPr>
        <p:spPr>
          <a:xfrm>
            <a:off x="3383280" y="1828800"/>
            <a:ext cx="23774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2011680"/>
            <a:ext cx="2377440" cy="548640"/>
          </a:xfrm>
          <a:prstGeom prst="rect">
            <a:avLst/>
          </a:prstGeom>
          <a:noFill/>
        </p:spPr>
        <p:txBody>
          <a:bodyPr wrap="square">
            <a:spAutoFit/>
          </a:bodyPr>
          <a:lstStyle/>
          <a:p>
            <a:pPr algn="ctr">
              <a:defRPr sz="2800" b="1">
                <a:solidFill>
                  <a:srgbClr val="FF6B6B"/>
                </a:solidFill>
              </a:defRPr>
            </a:pPr>
            <a:r>
              <a:t>30+</a:t>
            </a:r>
          </a:p>
        </p:txBody>
      </p:sp>
      <p:sp>
        <p:nvSpPr>
          <p:cNvPr id="11" name="TextBox 10"/>
          <p:cNvSpPr txBox="1"/>
          <p:nvPr/>
        </p:nvSpPr>
        <p:spPr>
          <a:xfrm>
            <a:off x="3383280" y="2606040"/>
            <a:ext cx="2377440" cy="320040"/>
          </a:xfrm>
          <a:prstGeom prst="rect">
            <a:avLst/>
          </a:prstGeom>
          <a:noFill/>
        </p:spPr>
        <p:txBody>
          <a:bodyPr wrap="square">
            <a:spAutoFit/>
          </a:bodyPr>
          <a:lstStyle/>
          <a:p>
            <a:pPr algn="ctr">
              <a:defRPr sz="1200" b="0">
                <a:solidFill>
                  <a:srgbClr val="C0392B"/>
                </a:solidFill>
              </a:defRPr>
            </a:pPr>
            <a:r>
              <a:t>Bằng sáng chế &amp; bản quyền</a:t>
            </a:r>
          </a:p>
        </p:txBody>
      </p:sp>
      <p:sp>
        <p:nvSpPr>
          <p:cNvPr id="12" name="Rounded Rectangle 11"/>
          <p:cNvSpPr/>
          <p:nvPr/>
        </p:nvSpPr>
        <p:spPr>
          <a:xfrm>
            <a:off x="6126480" y="1828800"/>
            <a:ext cx="23774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26480" y="2011680"/>
            <a:ext cx="2377440" cy="548640"/>
          </a:xfrm>
          <a:prstGeom prst="rect">
            <a:avLst/>
          </a:prstGeom>
          <a:noFill/>
        </p:spPr>
        <p:txBody>
          <a:bodyPr wrap="square">
            <a:spAutoFit/>
          </a:bodyPr>
          <a:lstStyle/>
          <a:p>
            <a:pPr algn="ctr">
              <a:defRPr sz="2800" b="1">
                <a:solidFill>
                  <a:srgbClr val="FF6B6B"/>
                </a:solidFill>
              </a:defRPr>
            </a:pPr>
            <a:r>
              <a:t>99.9%</a:t>
            </a:r>
          </a:p>
        </p:txBody>
      </p:sp>
      <p:sp>
        <p:nvSpPr>
          <p:cNvPr id="14" name="TextBox 13"/>
          <p:cNvSpPr txBox="1"/>
          <p:nvPr/>
        </p:nvSpPr>
        <p:spPr>
          <a:xfrm>
            <a:off x="6126480" y="2606040"/>
            <a:ext cx="2377440" cy="320040"/>
          </a:xfrm>
          <a:prstGeom prst="rect">
            <a:avLst/>
          </a:prstGeom>
          <a:noFill/>
        </p:spPr>
        <p:txBody>
          <a:bodyPr wrap="square">
            <a:spAutoFit/>
          </a:bodyPr>
          <a:lstStyle/>
          <a:p>
            <a:pPr algn="ctr">
              <a:defRPr sz="1200" b="0">
                <a:solidFill>
                  <a:srgbClr val="C0392B"/>
                </a:solidFill>
              </a:defRPr>
            </a:pPr>
            <a:r>
              <a:t>Độ sẵn sàng hệ thống</a:t>
            </a:r>
          </a:p>
        </p:txBody>
      </p:sp>
      <p:sp>
        <p:nvSpPr>
          <p:cNvPr id="15" name="TextBox 14"/>
          <p:cNvSpPr txBox="1"/>
          <p:nvPr/>
        </p:nvSpPr>
        <p:spPr>
          <a:xfrm>
            <a:off x="914400" y="4114800"/>
            <a:ext cx="7315200" cy="320040"/>
          </a:xfrm>
          <a:prstGeom prst="rect">
            <a:avLst/>
          </a:prstGeom>
          <a:noFill/>
        </p:spPr>
        <p:txBody>
          <a:bodyPr wrap="square">
            <a:spAutoFit/>
          </a:bodyPr>
          <a:lstStyle/>
          <a:p>
            <a:pPr algn="l">
              <a:defRPr sz="1200" b="0">
                <a:solidFill>
                  <a:srgbClr val="C0392B"/>
                </a:solidFill>
              </a:defRPr>
            </a:pPr>
            <a:r>
              <a:t>  Chi phí R&amp;D chiếm 20% doanh thu</a:t>
            </a:r>
          </a:p>
        </p:txBody>
      </p:sp>
      <p:sp>
        <p:nvSpPr>
          <p:cNvPr id="16" name="TextBox 15"/>
          <p:cNvSpPr txBox="1"/>
          <p:nvPr/>
        </p:nvSpPr>
        <p:spPr>
          <a:xfrm>
            <a:off x="914400" y="4480560"/>
            <a:ext cx="7315200" cy="320040"/>
          </a:xfrm>
          <a:prstGeom prst="rect">
            <a:avLst/>
          </a:prstGeom>
          <a:noFill/>
        </p:spPr>
        <p:txBody>
          <a:bodyPr wrap="square">
            <a:spAutoFit/>
          </a:bodyPr>
          <a:lstStyle/>
          <a:p>
            <a:pPr algn="l">
              <a:defRPr sz="1200" b="0">
                <a:solidFill>
                  <a:srgbClr val="C0392B"/>
                </a:solidFill>
              </a:defRPr>
            </a:pPr>
            <a:r>
              <a:t>  Làm chủ hoàn toàn công nghệ lõi độc quyền</a:t>
            </a:r>
          </a:p>
        </p:txBody>
      </p:sp>
      <p:sp>
        <p:nvSpPr>
          <p:cNvPr id="17" name="TextBox 16"/>
          <p:cNvSpPr txBox="1"/>
          <p:nvPr/>
        </p:nvSpPr>
        <p:spPr>
          <a:xfrm>
            <a:off x="914400" y="4846320"/>
            <a:ext cx="7315200" cy="320040"/>
          </a:xfrm>
          <a:prstGeom prst="rect">
            <a:avLst/>
          </a:prstGeom>
          <a:noFill/>
        </p:spPr>
        <p:txBody>
          <a:bodyPr wrap="square">
            <a:spAutoFit/>
          </a:bodyPr>
          <a:lstStyle/>
          <a:p>
            <a:pPr algn="l">
              <a:defRPr sz="1200" b="0">
                <a:solidFill>
                  <a:srgbClr val="C0392B"/>
                </a:solidFill>
              </a:defRPr>
            </a:pPr>
            <a:r>
              <a:t>  Chỉ số hài lòng sản phẩm đạt 4.8/5.0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9144000" cy="1828800"/>
          </a:xfrm>
          <a:prstGeom prst="rect">
            <a:avLst/>
          </a:prstGeom>
          <a:solidFill>
            <a:srgbClr val="FF6B6B">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7315200" cy="914400"/>
          </a:xfrm>
          <a:prstGeom prst="rect">
            <a:avLst/>
          </a:prstGeom>
          <a:noFill/>
        </p:spPr>
        <p:txBody>
          <a:bodyPr wrap="square">
            <a:spAutoFit/>
          </a:bodyPr>
          <a:lstStyle/>
          <a:p>
            <a:pPr algn="ctr">
              <a:defRPr sz="3600" b="1">
                <a:solidFill>
                  <a:srgbClr val="C0392B"/>
                </a:solidFill>
              </a:defRPr>
            </a:pPr>
            <a:r>
              <a:t>Điểm sáng hoạt động</a:t>
            </a:r>
          </a:p>
        </p:txBody>
      </p:sp>
      <p:sp>
        <p:nvSpPr>
          <p:cNvPr id="5" name="TextBox 4"/>
          <p:cNvSpPr txBox="1"/>
          <p:nvPr/>
        </p:nvSpPr>
        <p:spPr>
          <a:xfrm>
            <a:off x="914400" y="3657600"/>
            <a:ext cx="7315200" cy="548640"/>
          </a:xfrm>
          <a:prstGeom prst="rect">
            <a:avLst/>
          </a:prstGeom>
          <a:noFill/>
        </p:spPr>
        <p:txBody>
          <a:bodyPr wrap="square">
            <a:spAutoFit/>
          </a:bodyPr>
          <a:lstStyle/>
          <a:p>
            <a:pPr algn="ctr">
              <a:defRPr sz="1800" b="0">
                <a:solidFill>
                  <a:srgbClr val="C0392B"/>
                </a:solidFill>
              </a:defRPr>
            </a:pPr>
            <a:r>
              <a:t>Performance Highlights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9144000" cy="1828800"/>
          </a:xfrm>
          <a:prstGeom prst="rect">
            <a:avLst/>
          </a:prstGeom>
          <a:solidFill>
            <a:srgbClr val="FF6B6B">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7315200" cy="914400"/>
          </a:xfrm>
          <a:prstGeom prst="rect">
            <a:avLst/>
          </a:prstGeom>
          <a:noFill/>
        </p:spPr>
        <p:txBody>
          <a:bodyPr wrap="square">
            <a:spAutoFit/>
          </a:bodyPr>
          <a:lstStyle/>
          <a:p>
            <a:pPr algn="ctr">
              <a:defRPr sz="3600" b="1">
                <a:solidFill>
                  <a:srgbClr val="C0392B"/>
                </a:solidFill>
              </a:defRPr>
            </a:pPr>
            <a:r>
              <a:t>Phân tích dữ liệu</a:t>
            </a:r>
          </a:p>
        </p:txBody>
      </p:sp>
      <p:sp>
        <p:nvSpPr>
          <p:cNvPr id="5" name="TextBox 4"/>
          <p:cNvSpPr txBox="1"/>
          <p:nvPr/>
        </p:nvSpPr>
        <p:spPr>
          <a:xfrm>
            <a:off x="914400" y="3657600"/>
            <a:ext cx="7315200" cy="548640"/>
          </a:xfrm>
          <a:prstGeom prst="rect">
            <a:avLst/>
          </a:prstGeom>
          <a:noFill/>
        </p:spPr>
        <p:txBody>
          <a:bodyPr wrap="square">
            <a:spAutoFit/>
          </a:bodyPr>
          <a:lstStyle/>
          <a:p>
            <a:pPr algn="ctr">
              <a:defRPr sz="1800" b="0">
                <a:solidFill>
                  <a:srgbClr val="C0392B"/>
                </a:solidFill>
              </a:defRPr>
            </a:pPr>
            <a:r>
              <a:t>Data Analysis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8046720" cy="640080"/>
          </a:xfrm>
          <a:prstGeom prst="rect">
            <a:avLst/>
          </a:prstGeom>
          <a:noFill/>
        </p:spPr>
        <p:txBody>
          <a:bodyPr wrap="square">
            <a:spAutoFit/>
          </a:bodyPr>
          <a:lstStyle/>
          <a:p>
            <a:pPr algn="l">
              <a:defRPr sz="2800" b="1">
                <a:solidFill>
                  <a:srgbClr val="FFFFFF"/>
                </a:solidFill>
              </a:defRPr>
            </a:pPr>
            <a:r>
              <a:t>Phân tích dữ liệu - Phần 1</a:t>
            </a:r>
          </a:p>
        </p:txBody>
      </p:sp>
      <p:sp>
        <p:nvSpPr>
          <p:cNvPr id="5" name="Rounded Rectangle 4"/>
          <p:cNvSpPr/>
          <p:nvPr/>
        </p:nvSpPr>
        <p:spPr>
          <a:xfrm>
            <a:off x="457200" y="1188720"/>
            <a:ext cx="38404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3291840" cy="365760"/>
          </a:xfrm>
          <a:prstGeom prst="rect">
            <a:avLst/>
          </a:prstGeom>
          <a:noFill/>
        </p:spPr>
        <p:txBody>
          <a:bodyPr wrap="square">
            <a:spAutoFit/>
          </a:bodyPr>
          <a:lstStyle/>
          <a:p>
            <a:pPr algn="l">
              <a:defRPr sz="1800" b="1">
                <a:solidFill>
                  <a:srgbClr val="C0392B"/>
                </a:solidFill>
              </a:defRPr>
            </a:pPr>
            <a:r>
              <a:t>Xu hướng doanh thu</a:t>
            </a:r>
          </a:p>
        </p:txBody>
      </p:sp>
      <p:sp>
        <p:nvSpPr>
          <p:cNvPr id="7" name="TextBox 6"/>
          <p:cNvSpPr txBox="1"/>
          <p:nvPr/>
        </p:nvSpPr>
        <p:spPr>
          <a:xfrm>
            <a:off x="731520" y="1920240"/>
            <a:ext cx="3291840" cy="548640"/>
          </a:xfrm>
          <a:prstGeom prst="rect">
            <a:avLst/>
          </a:prstGeom>
          <a:noFill/>
        </p:spPr>
        <p:txBody>
          <a:bodyPr wrap="square">
            <a:spAutoFit/>
          </a:bodyPr>
          <a:lstStyle/>
          <a:p>
            <a:pPr algn="l">
              <a:defRPr sz="2800" b="1">
                <a:solidFill>
                  <a:srgbClr val="FF6B6B"/>
                </a:solidFill>
              </a:defRPr>
            </a:pPr>
            <a:r>
              <a:t>250 tỷ VNĐ</a:t>
            </a:r>
          </a:p>
        </p:txBody>
      </p:sp>
      <p:sp>
        <p:nvSpPr>
          <p:cNvPr id="8" name="Rounded Rectangle 7"/>
          <p:cNvSpPr/>
          <p:nvPr/>
        </p:nvSpPr>
        <p:spPr>
          <a:xfrm>
            <a:off x="731520" y="2743200"/>
            <a:ext cx="3291840" cy="2743200"/>
          </a:xfrm>
          <a:prstGeom prst="roundRect">
            <a:avLst/>
          </a:prstGeom>
          <a:solidFill>
            <a:srgbClr val="C0392B">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840480"/>
            <a:ext cx="3291840" cy="365760"/>
          </a:xfrm>
          <a:prstGeom prst="rect">
            <a:avLst/>
          </a:prstGeom>
          <a:noFill/>
        </p:spPr>
        <p:txBody>
          <a:bodyPr wrap="square">
            <a:spAutoFit/>
          </a:bodyPr>
          <a:lstStyle/>
          <a:p>
            <a:pPr algn="ctr">
              <a:defRPr sz="1200" b="0">
                <a:solidFill>
                  <a:srgbClr val="C0392B"/>
                </a:solidFill>
              </a:defRPr>
            </a:pPr>
            <a:r>
              <a:t>Khu vực biểu đồ</a:t>
            </a:r>
          </a:p>
        </p:txBody>
      </p:sp>
      <p:sp>
        <p:nvSpPr>
          <p:cNvPr id="10" name="Rounded Rectangle 9"/>
          <p:cNvSpPr/>
          <p:nvPr/>
        </p:nvSpPr>
        <p:spPr>
          <a:xfrm>
            <a:off x="4572000" y="1188720"/>
            <a:ext cx="411480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371600"/>
            <a:ext cx="3566160" cy="365760"/>
          </a:xfrm>
          <a:prstGeom prst="rect">
            <a:avLst/>
          </a:prstGeom>
          <a:noFill/>
        </p:spPr>
        <p:txBody>
          <a:bodyPr wrap="square">
            <a:spAutoFit/>
          </a:bodyPr>
          <a:lstStyle/>
          <a:p>
            <a:pPr algn="l">
              <a:defRPr sz="1400" b="1">
                <a:solidFill>
                  <a:srgbClr val="C0392B"/>
                </a:solidFill>
              </a:defRPr>
            </a:pPr>
            <a:r>
              <a:t>Dữ liệu chi tiết</a:t>
            </a:r>
          </a:p>
        </p:txBody>
      </p:sp>
      <p:sp>
        <p:nvSpPr>
          <p:cNvPr id="12" name="TextBox 11"/>
          <p:cNvSpPr txBox="1"/>
          <p:nvPr/>
        </p:nvSpPr>
        <p:spPr>
          <a:xfrm>
            <a:off x="4846320" y="2011680"/>
            <a:ext cx="1828800" cy="274320"/>
          </a:xfrm>
          <a:prstGeom prst="rect">
            <a:avLst/>
          </a:prstGeom>
          <a:noFill/>
        </p:spPr>
        <p:txBody>
          <a:bodyPr wrap="square">
            <a:spAutoFit/>
          </a:bodyPr>
          <a:lstStyle/>
          <a:p>
            <a:pPr algn="l">
              <a:defRPr sz="1200" b="0">
                <a:solidFill>
                  <a:srgbClr val="C0392B"/>
                </a:solidFill>
              </a:defRPr>
            </a:pPr>
            <a:r>
              <a:t>Quý 1</a:t>
            </a:r>
          </a:p>
        </p:txBody>
      </p:sp>
      <p:sp>
        <p:nvSpPr>
          <p:cNvPr id="13" name="Rounded Rectangle 12"/>
          <p:cNvSpPr/>
          <p:nvPr/>
        </p:nvSpPr>
        <p:spPr>
          <a:xfrm>
            <a:off x="4846320" y="233172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46320" y="2331720"/>
            <a:ext cx="2880359"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2651760"/>
            <a:ext cx="3200400" cy="228600"/>
          </a:xfrm>
          <a:prstGeom prst="rect">
            <a:avLst/>
          </a:prstGeom>
          <a:noFill/>
        </p:spPr>
        <p:txBody>
          <a:bodyPr wrap="square">
            <a:spAutoFit/>
          </a:bodyPr>
          <a:lstStyle/>
          <a:p>
            <a:pPr algn="l">
              <a:defRPr sz="1100" b="1">
                <a:solidFill>
                  <a:srgbClr val="C0392B"/>
                </a:solidFill>
              </a:defRPr>
            </a:pPr>
            <a:r>
              <a:t>50 tỷ</a:t>
            </a:r>
          </a:p>
        </p:txBody>
      </p:sp>
      <p:sp>
        <p:nvSpPr>
          <p:cNvPr id="16" name="TextBox 15"/>
          <p:cNvSpPr txBox="1"/>
          <p:nvPr/>
        </p:nvSpPr>
        <p:spPr>
          <a:xfrm>
            <a:off x="4846320" y="3017520"/>
            <a:ext cx="1828800" cy="274320"/>
          </a:xfrm>
          <a:prstGeom prst="rect">
            <a:avLst/>
          </a:prstGeom>
          <a:noFill/>
        </p:spPr>
        <p:txBody>
          <a:bodyPr wrap="square">
            <a:spAutoFit/>
          </a:bodyPr>
          <a:lstStyle/>
          <a:p>
            <a:pPr algn="l">
              <a:defRPr sz="1200" b="0">
                <a:solidFill>
                  <a:srgbClr val="C0392B"/>
                </a:solidFill>
              </a:defRPr>
            </a:pPr>
            <a:r>
              <a:t>Quý 2</a:t>
            </a:r>
          </a:p>
        </p:txBody>
      </p:sp>
      <p:sp>
        <p:nvSpPr>
          <p:cNvPr id="17" name="Rounded Rectangle 16"/>
          <p:cNvSpPr/>
          <p:nvPr/>
        </p:nvSpPr>
        <p:spPr>
          <a:xfrm>
            <a:off x="4846320" y="333756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46320" y="3337560"/>
            <a:ext cx="2400300"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0" y="3657600"/>
            <a:ext cx="3200400" cy="228600"/>
          </a:xfrm>
          <a:prstGeom prst="rect">
            <a:avLst/>
          </a:prstGeom>
          <a:noFill/>
        </p:spPr>
        <p:txBody>
          <a:bodyPr wrap="square">
            <a:spAutoFit/>
          </a:bodyPr>
          <a:lstStyle/>
          <a:p>
            <a:pPr algn="l">
              <a:defRPr sz="1100" b="1">
                <a:solidFill>
                  <a:srgbClr val="C0392B"/>
                </a:solidFill>
              </a:defRPr>
            </a:pPr>
            <a:r>
              <a:t>60 tỷ</a:t>
            </a:r>
          </a:p>
        </p:txBody>
      </p:sp>
      <p:sp>
        <p:nvSpPr>
          <p:cNvPr id="20" name="TextBox 19"/>
          <p:cNvSpPr txBox="1"/>
          <p:nvPr/>
        </p:nvSpPr>
        <p:spPr>
          <a:xfrm>
            <a:off x="4846320" y="4023360"/>
            <a:ext cx="1828800" cy="274320"/>
          </a:xfrm>
          <a:prstGeom prst="rect">
            <a:avLst/>
          </a:prstGeom>
          <a:noFill/>
        </p:spPr>
        <p:txBody>
          <a:bodyPr wrap="square">
            <a:spAutoFit/>
          </a:bodyPr>
          <a:lstStyle/>
          <a:p>
            <a:pPr algn="l">
              <a:defRPr sz="1200" b="0">
                <a:solidFill>
                  <a:srgbClr val="C0392B"/>
                </a:solidFill>
              </a:defRPr>
            </a:pPr>
            <a:r>
              <a:t>Quý 3</a:t>
            </a:r>
          </a:p>
        </p:txBody>
      </p:sp>
      <p:sp>
        <p:nvSpPr>
          <p:cNvPr id="21" name="Rounded Rectangle 20"/>
          <p:cNvSpPr/>
          <p:nvPr/>
        </p:nvSpPr>
        <p:spPr>
          <a:xfrm>
            <a:off x="4846320" y="434340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846320" y="4343400"/>
            <a:ext cx="1920240"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4663440"/>
            <a:ext cx="3200400" cy="228600"/>
          </a:xfrm>
          <a:prstGeom prst="rect">
            <a:avLst/>
          </a:prstGeom>
          <a:noFill/>
        </p:spPr>
        <p:txBody>
          <a:bodyPr wrap="square">
            <a:spAutoFit/>
          </a:bodyPr>
          <a:lstStyle/>
          <a:p>
            <a:pPr algn="l">
              <a:defRPr sz="1100" b="1">
                <a:solidFill>
                  <a:srgbClr val="C0392B"/>
                </a:solidFill>
              </a:defRPr>
            </a:pPr>
            <a:r>
              <a:t>70 tỷ</a:t>
            </a:r>
          </a:p>
        </p:txBody>
      </p:sp>
      <p:sp>
        <p:nvSpPr>
          <p:cNvPr id="24" name="TextBox 23"/>
          <p:cNvSpPr txBox="1"/>
          <p:nvPr/>
        </p:nvSpPr>
        <p:spPr>
          <a:xfrm>
            <a:off x="4846320" y="5029200"/>
            <a:ext cx="1828800" cy="274320"/>
          </a:xfrm>
          <a:prstGeom prst="rect">
            <a:avLst/>
          </a:prstGeom>
          <a:noFill/>
        </p:spPr>
        <p:txBody>
          <a:bodyPr wrap="square">
            <a:spAutoFit/>
          </a:bodyPr>
          <a:lstStyle/>
          <a:p>
            <a:pPr algn="l">
              <a:defRPr sz="1200" b="0">
                <a:solidFill>
                  <a:srgbClr val="C0392B"/>
                </a:solidFill>
              </a:defRPr>
            </a:pPr>
            <a:r>
              <a:t>Quý 4</a:t>
            </a:r>
          </a:p>
        </p:txBody>
      </p:sp>
      <p:sp>
        <p:nvSpPr>
          <p:cNvPr id="25" name="Rounded Rectangle 24"/>
          <p:cNvSpPr/>
          <p:nvPr/>
        </p:nvSpPr>
        <p:spPr>
          <a:xfrm>
            <a:off x="4846320" y="534924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846320" y="5349240"/>
            <a:ext cx="1440179"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6320" y="5669280"/>
            <a:ext cx="3200400" cy="228600"/>
          </a:xfrm>
          <a:prstGeom prst="rect">
            <a:avLst/>
          </a:prstGeom>
          <a:noFill/>
        </p:spPr>
        <p:txBody>
          <a:bodyPr wrap="square">
            <a:spAutoFit/>
          </a:bodyPr>
          <a:lstStyle/>
          <a:p>
            <a:pPr algn="l">
              <a:defRPr sz="1100" b="1">
                <a:solidFill>
                  <a:srgbClr val="C0392B"/>
                </a:solidFill>
              </a:defRPr>
            </a:pPr>
            <a:r>
              <a:t>70 tỷ</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8046720" cy="640080"/>
          </a:xfrm>
          <a:prstGeom prst="rect">
            <a:avLst/>
          </a:prstGeom>
          <a:noFill/>
        </p:spPr>
        <p:txBody>
          <a:bodyPr wrap="square">
            <a:spAutoFit/>
          </a:bodyPr>
          <a:lstStyle/>
          <a:p>
            <a:pPr algn="l">
              <a:defRPr sz="2800" b="1">
                <a:solidFill>
                  <a:srgbClr val="FFFFFF"/>
                </a:solidFill>
              </a:defRPr>
            </a:pPr>
            <a:r>
              <a:t>Phân tích dữ liệu - Phần 2</a:t>
            </a:r>
          </a:p>
        </p:txBody>
      </p:sp>
      <p:sp>
        <p:nvSpPr>
          <p:cNvPr id="5" name="Rounded Rectangle 4"/>
          <p:cNvSpPr/>
          <p:nvPr/>
        </p:nvSpPr>
        <p:spPr>
          <a:xfrm>
            <a:off x="457200" y="1188720"/>
            <a:ext cx="38404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3291840" cy="365760"/>
          </a:xfrm>
          <a:prstGeom prst="rect">
            <a:avLst/>
          </a:prstGeom>
          <a:noFill/>
        </p:spPr>
        <p:txBody>
          <a:bodyPr wrap="square">
            <a:spAutoFit/>
          </a:bodyPr>
          <a:lstStyle/>
          <a:p>
            <a:pPr algn="l">
              <a:defRPr sz="1800" b="1">
                <a:solidFill>
                  <a:srgbClr val="C0392B"/>
                </a:solidFill>
              </a:defRPr>
            </a:pPr>
            <a:r>
              <a:t>Cơ cấu khách hàng</a:t>
            </a:r>
          </a:p>
        </p:txBody>
      </p:sp>
      <p:sp>
        <p:nvSpPr>
          <p:cNvPr id="7" name="TextBox 6"/>
          <p:cNvSpPr txBox="1"/>
          <p:nvPr/>
        </p:nvSpPr>
        <p:spPr>
          <a:xfrm>
            <a:off x="731520" y="1920240"/>
            <a:ext cx="3291840" cy="548640"/>
          </a:xfrm>
          <a:prstGeom prst="rect">
            <a:avLst/>
          </a:prstGeom>
          <a:noFill/>
        </p:spPr>
        <p:txBody>
          <a:bodyPr wrap="square">
            <a:spAutoFit/>
          </a:bodyPr>
          <a:lstStyle/>
          <a:p>
            <a:pPr algn="l">
              <a:defRPr sz="2800" b="1">
                <a:solidFill>
                  <a:srgbClr val="FF6B6B"/>
                </a:solidFill>
              </a:defRPr>
            </a:pPr>
            <a:r>
              <a:t>2000+ Khách hàng</a:t>
            </a:r>
          </a:p>
        </p:txBody>
      </p:sp>
      <p:sp>
        <p:nvSpPr>
          <p:cNvPr id="8" name="Rounded Rectangle 7"/>
          <p:cNvSpPr/>
          <p:nvPr/>
        </p:nvSpPr>
        <p:spPr>
          <a:xfrm>
            <a:off x="731520" y="2743200"/>
            <a:ext cx="3291840" cy="2743200"/>
          </a:xfrm>
          <a:prstGeom prst="roundRect">
            <a:avLst/>
          </a:prstGeom>
          <a:solidFill>
            <a:srgbClr val="C0392B">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840480"/>
            <a:ext cx="3291840" cy="365760"/>
          </a:xfrm>
          <a:prstGeom prst="rect">
            <a:avLst/>
          </a:prstGeom>
          <a:noFill/>
        </p:spPr>
        <p:txBody>
          <a:bodyPr wrap="square">
            <a:spAutoFit/>
          </a:bodyPr>
          <a:lstStyle/>
          <a:p>
            <a:pPr algn="ctr">
              <a:defRPr sz="1200" b="0">
                <a:solidFill>
                  <a:srgbClr val="C0392B"/>
                </a:solidFill>
              </a:defRPr>
            </a:pPr>
            <a:r>
              <a:t>Khu vực biểu đồ</a:t>
            </a:r>
          </a:p>
        </p:txBody>
      </p:sp>
      <p:sp>
        <p:nvSpPr>
          <p:cNvPr id="10" name="Rounded Rectangle 9"/>
          <p:cNvSpPr/>
          <p:nvPr/>
        </p:nvSpPr>
        <p:spPr>
          <a:xfrm>
            <a:off x="4572000" y="1188720"/>
            <a:ext cx="411480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371600"/>
            <a:ext cx="3566160" cy="365760"/>
          </a:xfrm>
          <a:prstGeom prst="rect">
            <a:avLst/>
          </a:prstGeom>
          <a:noFill/>
        </p:spPr>
        <p:txBody>
          <a:bodyPr wrap="square">
            <a:spAutoFit/>
          </a:bodyPr>
          <a:lstStyle/>
          <a:p>
            <a:pPr algn="l">
              <a:defRPr sz="1400" b="1">
                <a:solidFill>
                  <a:srgbClr val="C0392B"/>
                </a:solidFill>
              </a:defRPr>
            </a:pPr>
            <a:r>
              <a:t>Dữ liệu chi tiết</a:t>
            </a:r>
          </a:p>
        </p:txBody>
      </p:sp>
      <p:sp>
        <p:nvSpPr>
          <p:cNvPr id="12" name="TextBox 11"/>
          <p:cNvSpPr txBox="1"/>
          <p:nvPr/>
        </p:nvSpPr>
        <p:spPr>
          <a:xfrm>
            <a:off x="4846320" y="2011680"/>
            <a:ext cx="1828800" cy="274320"/>
          </a:xfrm>
          <a:prstGeom prst="rect">
            <a:avLst/>
          </a:prstGeom>
          <a:noFill/>
        </p:spPr>
        <p:txBody>
          <a:bodyPr wrap="square">
            <a:spAutoFit/>
          </a:bodyPr>
          <a:lstStyle/>
          <a:p>
            <a:pPr algn="l">
              <a:defRPr sz="1200" b="0">
                <a:solidFill>
                  <a:srgbClr val="C0392B"/>
                </a:solidFill>
              </a:defRPr>
            </a:pPr>
            <a:r>
              <a:t>Tài chính</a:t>
            </a:r>
          </a:p>
        </p:txBody>
      </p:sp>
      <p:sp>
        <p:nvSpPr>
          <p:cNvPr id="13" name="Rounded Rectangle 12"/>
          <p:cNvSpPr/>
          <p:nvPr/>
        </p:nvSpPr>
        <p:spPr>
          <a:xfrm>
            <a:off x="4846320" y="233172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46320" y="2331720"/>
            <a:ext cx="2880359"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2651760"/>
            <a:ext cx="3200400" cy="228600"/>
          </a:xfrm>
          <a:prstGeom prst="rect">
            <a:avLst/>
          </a:prstGeom>
          <a:noFill/>
        </p:spPr>
        <p:txBody>
          <a:bodyPr wrap="square">
            <a:spAutoFit/>
          </a:bodyPr>
          <a:lstStyle/>
          <a:p>
            <a:pPr algn="l">
              <a:defRPr sz="1100" b="1">
                <a:solidFill>
                  <a:srgbClr val="C0392B"/>
                </a:solidFill>
              </a:defRPr>
            </a:pPr>
            <a:r>
              <a:t>30%</a:t>
            </a:r>
          </a:p>
        </p:txBody>
      </p:sp>
      <p:sp>
        <p:nvSpPr>
          <p:cNvPr id="16" name="TextBox 15"/>
          <p:cNvSpPr txBox="1"/>
          <p:nvPr/>
        </p:nvSpPr>
        <p:spPr>
          <a:xfrm>
            <a:off x="4846320" y="3017520"/>
            <a:ext cx="1828800" cy="274320"/>
          </a:xfrm>
          <a:prstGeom prst="rect">
            <a:avLst/>
          </a:prstGeom>
          <a:noFill/>
        </p:spPr>
        <p:txBody>
          <a:bodyPr wrap="square">
            <a:spAutoFit/>
          </a:bodyPr>
          <a:lstStyle/>
          <a:p>
            <a:pPr algn="l">
              <a:defRPr sz="1200" b="0">
                <a:solidFill>
                  <a:srgbClr val="C0392B"/>
                </a:solidFill>
              </a:defRPr>
            </a:pPr>
            <a:r>
              <a:t>Sản xuất</a:t>
            </a:r>
          </a:p>
        </p:txBody>
      </p:sp>
      <p:sp>
        <p:nvSpPr>
          <p:cNvPr id="17" name="Rounded Rectangle 16"/>
          <p:cNvSpPr/>
          <p:nvPr/>
        </p:nvSpPr>
        <p:spPr>
          <a:xfrm>
            <a:off x="4846320" y="333756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46320" y="3337560"/>
            <a:ext cx="2400300"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0" y="3657600"/>
            <a:ext cx="3200400" cy="228600"/>
          </a:xfrm>
          <a:prstGeom prst="rect">
            <a:avLst/>
          </a:prstGeom>
          <a:noFill/>
        </p:spPr>
        <p:txBody>
          <a:bodyPr wrap="square">
            <a:spAutoFit/>
          </a:bodyPr>
          <a:lstStyle/>
          <a:p>
            <a:pPr algn="l">
              <a:defRPr sz="1100" b="1">
                <a:solidFill>
                  <a:srgbClr val="C0392B"/>
                </a:solidFill>
              </a:defRPr>
            </a:pPr>
            <a:r>
              <a:t>25%</a:t>
            </a:r>
          </a:p>
        </p:txBody>
      </p:sp>
      <p:sp>
        <p:nvSpPr>
          <p:cNvPr id="20" name="TextBox 19"/>
          <p:cNvSpPr txBox="1"/>
          <p:nvPr/>
        </p:nvSpPr>
        <p:spPr>
          <a:xfrm>
            <a:off x="4846320" y="4023360"/>
            <a:ext cx="1828800" cy="274320"/>
          </a:xfrm>
          <a:prstGeom prst="rect">
            <a:avLst/>
          </a:prstGeom>
          <a:noFill/>
        </p:spPr>
        <p:txBody>
          <a:bodyPr wrap="square">
            <a:spAutoFit/>
          </a:bodyPr>
          <a:lstStyle/>
          <a:p>
            <a:pPr algn="l">
              <a:defRPr sz="1200" b="0">
                <a:solidFill>
                  <a:srgbClr val="C0392B"/>
                </a:solidFill>
              </a:defRPr>
            </a:pPr>
            <a:r>
              <a:t>Bán lẻ</a:t>
            </a:r>
          </a:p>
        </p:txBody>
      </p:sp>
      <p:sp>
        <p:nvSpPr>
          <p:cNvPr id="21" name="Rounded Rectangle 20"/>
          <p:cNvSpPr/>
          <p:nvPr/>
        </p:nvSpPr>
        <p:spPr>
          <a:xfrm>
            <a:off x="4846320" y="434340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846320" y="4343400"/>
            <a:ext cx="1920240"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4663440"/>
            <a:ext cx="3200400" cy="228600"/>
          </a:xfrm>
          <a:prstGeom prst="rect">
            <a:avLst/>
          </a:prstGeom>
          <a:noFill/>
        </p:spPr>
        <p:txBody>
          <a:bodyPr wrap="square">
            <a:spAutoFit/>
          </a:bodyPr>
          <a:lstStyle/>
          <a:p>
            <a:pPr algn="l">
              <a:defRPr sz="1100" b="1">
                <a:solidFill>
                  <a:srgbClr val="C0392B"/>
                </a:solidFill>
              </a:defRPr>
            </a:pPr>
            <a:r>
              <a:t>20%</a:t>
            </a:r>
          </a:p>
        </p:txBody>
      </p:sp>
      <p:sp>
        <p:nvSpPr>
          <p:cNvPr id="24" name="TextBox 23"/>
          <p:cNvSpPr txBox="1"/>
          <p:nvPr/>
        </p:nvSpPr>
        <p:spPr>
          <a:xfrm>
            <a:off x="4846320" y="5029200"/>
            <a:ext cx="1828800" cy="274320"/>
          </a:xfrm>
          <a:prstGeom prst="rect">
            <a:avLst/>
          </a:prstGeom>
          <a:noFill/>
        </p:spPr>
        <p:txBody>
          <a:bodyPr wrap="square">
            <a:spAutoFit/>
          </a:bodyPr>
          <a:lstStyle/>
          <a:p>
            <a:pPr algn="l">
              <a:defRPr sz="1200" b="0">
                <a:solidFill>
                  <a:srgbClr val="C0392B"/>
                </a:solidFill>
              </a:defRPr>
            </a:pPr>
            <a:r>
              <a:t>Y tế</a:t>
            </a:r>
          </a:p>
        </p:txBody>
      </p:sp>
      <p:sp>
        <p:nvSpPr>
          <p:cNvPr id="25" name="Rounded Rectangle 24"/>
          <p:cNvSpPr/>
          <p:nvPr/>
        </p:nvSpPr>
        <p:spPr>
          <a:xfrm>
            <a:off x="4846320" y="534924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846320" y="5349240"/>
            <a:ext cx="1440179"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6320" y="5669280"/>
            <a:ext cx="3200400" cy="228600"/>
          </a:xfrm>
          <a:prstGeom prst="rect">
            <a:avLst/>
          </a:prstGeom>
          <a:noFill/>
        </p:spPr>
        <p:txBody>
          <a:bodyPr wrap="square">
            <a:spAutoFit/>
          </a:bodyPr>
          <a:lstStyle/>
          <a:p>
            <a:pPr algn="l">
              <a:defRPr sz="1100" b="1">
                <a:solidFill>
                  <a:srgbClr val="C0392B"/>
                </a:solidFill>
              </a:defRPr>
            </a:pPr>
            <a:r>
              <a:t>15%</a:t>
            </a:r>
          </a:p>
        </p:txBody>
      </p:sp>
      <p:sp>
        <p:nvSpPr>
          <p:cNvPr id="28" name="TextBox 27"/>
          <p:cNvSpPr txBox="1"/>
          <p:nvPr/>
        </p:nvSpPr>
        <p:spPr>
          <a:xfrm>
            <a:off x="4846320" y="6035040"/>
            <a:ext cx="1828800" cy="274320"/>
          </a:xfrm>
          <a:prstGeom prst="rect">
            <a:avLst/>
          </a:prstGeom>
          <a:noFill/>
        </p:spPr>
        <p:txBody>
          <a:bodyPr wrap="square">
            <a:spAutoFit/>
          </a:bodyPr>
          <a:lstStyle/>
          <a:p>
            <a:pPr algn="l">
              <a:defRPr sz="1200" b="0">
                <a:solidFill>
                  <a:srgbClr val="C0392B"/>
                </a:solidFill>
              </a:defRPr>
            </a:pPr>
            <a:r>
              <a:t>Khác</a:t>
            </a:r>
          </a:p>
        </p:txBody>
      </p:sp>
      <p:sp>
        <p:nvSpPr>
          <p:cNvPr id="29" name="Rounded Rectangle 28"/>
          <p:cNvSpPr/>
          <p:nvPr/>
        </p:nvSpPr>
        <p:spPr>
          <a:xfrm>
            <a:off x="4846320" y="635508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46320" y="6355080"/>
            <a:ext cx="960120"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6675120"/>
            <a:ext cx="3200400" cy="228600"/>
          </a:xfrm>
          <a:prstGeom prst="rect">
            <a:avLst/>
          </a:prstGeom>
          <a:noFill/>
        </p:spPr>
        <p:txBody>
          <a:bodyPr wrap="square">
            <a:spAutoFit/>
          </a:bodyPr>
          <a:lstStyle/>
          <a:p>
            <a:pPr algn="l">
              <a:defRPr sz="1100" b="1">
                <a:solidFill>
                  <a:srgbClr val="C0392B"/>
                </a:solidFill>
              </a:defRPr>
            </a:pPr>
            <a:r>
              <a:t>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8046720" cy="640080"/>
          </a:xfrm>
          <a:prstGeom prst="rect">
            <a:avLst/>
          </a:prstGeom>
          <a:noFill/>
        </p:spPr>
        <p:txBody>
          <a:bodyPr wrap="square">
            <a:spAutoFit/>
          </a:bodyPr>
          <a:lstStyle/>
          <a:p>
            <a:pPr algn="l">
              <a:defRPr sz="2800" b="1">
                <a:solidFill>
                  <a:srgbClr val="FFFFFF"/>
                </a:solidFill>
              </a:defRPr>
            </a:pPr>
            <a:r>
              <a:t>Phân tích dữ liệu - Phần 3</a:t>
            </a:r>
          </a:p>
        </p:txBody>
      </p:sp>
      <p:sp>
        <p:nvSpPr>
          <p:cNvPr id="5" name="Rounded Rectangle 4"/>
          <p:cNvSpPr/>
          <p:nvPr/>
        </p:nvSpPr>
        <p:spPr>
          <a:xfrm>
            <a:off x="457200" y="1188720"/>
            <a:ext cx="38404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3291840" cy="365760"/>
          </a:xfrm>
          <a:prstGeom prst="rect">
            <a:avLst/>
          </a:prstGeom>
          <a:noFill/>
        </p:spPr>
        <p:txBody>
          <a:bodyPr wrap="square">
            <a:spAutoFit/>
          </a:bodyPr>
          <a:lstStyle/>
          <a:p>
            <a:pPr algn="l">
              <a:defRPr sz="1800" b="1">
                <a:solidFill>
                  <a:srgbClr val="C0392B"/>
                </a:solidFill>
              </a:defRPr>
            </a:pPr>
            <a:r>
              <a:t>Mức độ sử dụng sản phẩm</a:t>
            </a:r>
          </a:p>
        </p:txBody>
      </p:sp>
      <p:sp>
        <p:nvSpPr>
          <p:cNvPr id="7" name="TextBox 6"/>
          <p:cNvSpPr txBox="1"/>
          <p:nvPr/>
        </p:nvSpPr>
        <p:spPr>
          <a:xfrm>
            <a:off x="731520" y="1920240"/>
            <a:ext cx="3291840" cy="548640"/>
          </a:xfrm>
          <a:prstGeom prst="rect">
            <a:avLst/>
          </a:prstGeom>
          <a:noFill/>
        </p:spPr>
        <p:txBody>
          <a:bodyPr wrap="square">
            <a:spAutoFit/>
          </a:bodyPr>
          <a:lstStyle/>
          <a:p>
            <a:pPr algn="l">
              <a:defRPr sz="2800" b="1">
                <a:solidFill>
                  <a:srgbClr val="FF6B6B"/>
                </a:solidFill>
              </a:defRPr>
            </a:pPr>
            <a:r>
              <a:t>DAU 500k+</a:t>
            </a:r>
          </a:p>
        </p:txBody>
      </p:sp>
      <p:sp>
        <p:nvSpPr>
          <p:cNvPr id="8" name="Rounded Rectangle 7"/>
          <p:cNvSpPr/>
          <p:nvPr/>
        </p:nvSpPr>
        <p:spPr>
          <a:xfrm>
            <a:off x="731520" y="2743200"/>
            <a:ext cx="3291840" cy="2743200"/>
          </a:xfrm>
          <a:prstGeom prst="roundRect">
            <a:avLst/>
          </a:prstGeom>
          <a:solidFill>
            <a:srgbClr val="C0392B">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840480"/>
            <a:ext cx="3291840" cy="365760"/>
          </a:xfrm>
          <a:prstGeom prst="rect">
            <a:avLst/>
          </a:prstGeom>
          <a:noFill/>
        </p:spPr>
        <p:txBody>
          <a:bodyPr wrap="square">
            <a:spAutoFit/>
          </a:bodyPr>
          <a:lstStyle/>
          <a:p>
            <a:pPr algn="ctr">
              <a:defRPr sz="1200" b="0">
                <a:solidFill>
                  <a:srgbClr val="C0392B"/>
                </a:solidFill>
              </a:defRPr>
            </a:pPr>
            <a:r>
              <a:t>Khu vực biểu đồ</a:t>
            </a:r>
          </a:p>
        </p:txBody>
      </p:sp>
      <p:sp>
        <p:nvSpPr>
          <p:cNvPr id="10" name="Rounded Rectangle 9"/>
          <p:cNvSpPr/>
          <p:nvPr/>
        </p:nvSpPr>
        <p:spPr>
          <a:xfrm>
            <a:off x="4572000" y="1188720"/>
            <a:ext cx="411480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371600"/>
            <a:ext cx="3566160" cy="365760"/>
          </a:xfrm>
          <a:prstGeom prst="rect">
            <a:avLst/>
          </a:prstGeom>
          <a:noFill/>
        </p:spPr>
        <p:txBody>
          <a:bodyPr wrap="square">
            <a:spAutoFit/>
          </a:bodyPr>
          <a:lstStyle/>
          <a:p>
            <a:pPr algn="l">
              <a:defRPr sz="1400" b="1">
                <a:solidFill>
                  <a:srgbClr val="C0392B"/>
                </a:solidFill>
              </a:defRPr>
            </a:pPr>
            <a:r>
              <a:t>Dữ liệu chi tiết</a:t>
            </a:r>
          </a:p>
        </p:txBody>
      </p:sp>
      <p:sp>
        <p:nvSpPr>
          <p:cNvPr id="12" name="TextBox 11"/>
          <p:cNvSpPr txBox="1"/>
          <p:nvPr/>
        </p:nvSpPr>
        <p:spPr>
          <a:xfrm>
            <a:off x="4846320" y="2011680"/>
            <a:ext cx="1828800" cy="274320"/>
          </a:xfrm>
          <a:prstGeom prst="rect">
            <a:avLst/>
          </a:prstGeom>
          <a:noFill/>
        </p:spPr>
        <p:txBody>
          <a:bodyPr wrap="square">
            <a:spAutoFit/>
          </a:bodyPr>
          <a:lstStyle/>
          <a:p>
            <a:pPr algn="l">
              <a:defRPr sz="1200" b="0">
                <a:solidFill>
                  <a:srgbClr val="C0392B"/>
                </a:solidFill>
              </a:defRPr>
            </a:pPr>
            <a:r>
              <a:t>Phân tích dữ liệu</a:t>
            </a:r>
          </a:p>
        </p:txBody>
      </p:sp>
      <p:sp>
        <p:nvSpPr>
          <p:cNvPr id="13" name="Rounded Rectangle 12"/>
          <p:cNvSpPr/>
          <p:nvPr/>
        </p:nvSpPr>
        <p:spPr>
          <a:xfrm>
            <a:off x="4846320" y="233172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46320" y="2331720"/>
            <a:ext cx="2880359"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2651760"/>
            <a:ext cx="3200400" cy="228600"/>
          </a:xfrm>
          <a:prstGeom prst="rect">
            <a:avLst/>
          </a:prstGeom>
          <a:noFill/>
        </p:spPr>
        <p:txBody>
          <a:bodyPr wrap="square">
            <a:spAutoFit/>
          </a:bodyPr>
          <a:lstStyle/>
          <a:p>
            <a:pPr algn="l">
              <a:defRPr sz="1100" b="1">
                <a:solidFill>
                  <a:srgbClr val="C0392B"/>
                </a:solidFill>
              </a:defRPr>
            </a:pPr>
            <a:r>
              <a:t>85%</a:t>
            </a:r>
          </a:p>
        </p:txBody>
      </p:sp>
      <p:sp>
        <p:nvSpPr>
          <p:cNvPr id="16" name="TextBox 15"/>
          <p:cNvSpPr txBox="1"/>
          <p:nvPr/>
        </p:nvSpPr>
        <p:spPr>
          <a:xfrm>
            <a:off x="4846320" y="3017520"/>
            <a:ext cx="1828800" cy="274320"/>
          </a:xfrm>
          <a:prstGeom prst="rect">
            <a:avLst/>
          </a:prstGeom>
          <a:noFill/>
        </p:spPr>
        <p:txBody>
          <a:bodyPr wrap="square">
            <a:spAutoFit/>
          </a:bodyPr>
          <a:lstStyle/>
          <a:p>
            <a:pPr algn="l">
              <a:defRPr sz="1200" b="0">
                <a:solidFill>
                  <a:srgbClr val="C0392B"/>
                </a:solidFill>
              </a:defRPr>
            </a:pPr>
            <a:r>
              <a:t>Tự động hóa</a:t>
            </a:r>
          </a:p>
        </p:txBody>
      </p:sp>
      <p:sp>
        <p:nvSpPr>
          <p:cNvPr id="17" name="Rounded Rectangle 16"/>
          <p:cNvSpPr/>
          <p:nvPr/>
        </p:nvSpPr>
        <p:spPr>
          <a:xfrm>
            <a:off x="4846320" y="333756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46320" y="3337560"/>
            <a:ext cx="2400300"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0" y="3657600"/>
            <a:ext cx="3200400" cy="228600"/>
          </a:xfrm>
          <a:prstGeom prst="rect">
            <a:avLst/>
          </a:prstGeom>
          <a:noFill/>
        </p:spPr>
        <p:txBody>
          <a:bodyPr wrap="square">
            <a:spAutoFit/>
          </a:bodyPr>
          <a:lstStyle/>
          <a:p>
            <a:pPr algn="l">
              <a:defRPr sz="1100" b="1">
                <a:solidFill>
                  <a:srgbClr val="C0392B"/>
                </a:solidFill>
              </a:defRPr>
            </a:pPr>
            <a:r>
              <a:t>70%</a:t>
            </a:r>
          </a:p>
        </p:txBody>
      </p:sp>
      <p:sp>
        <p:nvSpPr>
          <p:cNvPr id="20" name="TextBox 19"/>
          <p:cNvSpPr txBox="1"/>
          <p:nvPr/>
        </p:nvSpPr>
        <p:spPr>
          <a:xfrm>
            <a:off x="4846320" y="4023360"/>
            <a:ext cx="1828800" cy="274320"/>
          </a:xfrm>
          <a:prstGeom prst="rect">
            <a:avLst/>
          </a:prstGeom>
          <a:noFill/>
        </p:spPr>
        <p:txBody>
          <a:bodyPr wrap="square">
            <a:spAutoFit/>
          </a:bodyPr>
          <a:lstStyle/>
          <a:p>
            <a:pPr algn="l">
              <a:defRPr sz="1200" b="0">
                <a:solidFill>
                  <a:srgbClr val="C0392B"/>
                </a:solidFill>
              </a:defRPr>
            </a:pPr>
            <a:r>
              <a:t>Cộng tác</a:t>
            </a:r>
          </a:p>
        </p:txBody>
      </p:sp>
      <p:sp>
        <p:nvSpPr>
          <p:cNvPr id="21" name="Rounded Rectangle 20"/>
          <p:cNvSpPr/>
          <p:nvPr/>
        </p:nvSpPr>
        <p:spPr>
          <a:xfrm>
            <a:off x="4846320" y="434340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846320" y="4343400"/>
            <a:ext cx="1920240"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4663440"/>
            <a:ext cx="3200400" cy="228600"/>
          </a:xfrm>
          <a:prstGeom prst="rect">
            <a:avLst/>
          </a:prstGeom>
          <a:noFill/>
        </p:spPr>
        <p:txBody>
          <a:bodyPr wrap="square">
            <a:spAutoFit/>
          </a:bodyPr>
          <a:lstStyle/>
          <a:p>
            <a:pPr algn="l">
              <a:defRPr sz="1100" b="1">
                <a:solidFill>
                  <a:srgbClr val="C0392B"/>
                </a:solidFill>
              </a:defRPr>
            </a:pPr>
            <a:r>
              <a:t>60%</a:t>
            </a:r>
          </a:p>
        </p:txBody>
      </p:sp>
      <p:sp>
        <p:nvSpPr>
          <p:cNvPr id="24" name="TextBox 23"/>
          <p:cNvSpPr txBox="1"/>
          <p:nvPr/>
        </p:nvSpPr>
        <p:spPr>
          <a:xfrm>
            <a:off x="4846320" y="5029200"/>
            <a:ext cx="1828800" cy="274320"/>
          </a:xfrm>
          <a:prstGeom prst="rect">
            <a:avLst/>
          </a:prstGeom>
          <a:noFill/>
        </p:spPr>
        <p:txBody>
          <a:bodyPr wrap="square">
            <a:spAutoFit/>
          </a:bodyPr>
          <a:lstStyle/>
          <a:p>
            <a:pPr algn="l">
              <a:defRPr sz="1200" b="0">
                <a:solidFill>
                  <a:srgbClr val="C0392B"/>
                </a:solidFill>
              </a:defRPr>
            </a:pPr>
            <a:r>
              <a:t>API</a:t>
            </a:r>
          </a:p>
        </p:txBody>
      </p:sp>
      <p:sp>
        <p:nvSpPr>
          <p:cNvPr id="25" name="Rounded Rectangle 24"/>
          <p:cNvSpPr/>
          <p:nvPr/>
        </p:nvSpPr>
        <p:spPr>
          <a:xfrm>
            <a:off x="4846320" y="534924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846320" y="5349240"/>
            <a:ext cx="1440179"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6320" y="5669280"/>
            <a:ext cx="3200400" cy="228600"/>
          </a:xfrm>
          <a:prstGeom prst="rect">
            <a:avLst/>
          </a:prstGeom>
          <a:noFill/>
        </p:spPr>
        <p:txBody>
          <a:bodyPr wrap="square">
            <a:spAutoFit/>
          </a:bodyPr>
          <a:lstStyle/>
          <a:p>
            <a:pPr algn="l">
              <a:defRPr sz="1100" b="1">
                <a:solidFill>
                  <a:srgbClr val="C0392B"/>
                </a:solidFill>
              </a:defRPr>
            </a:pPr>
            <a:r>
              <a:t>45%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8046720" cy="640080"/>
          </a:xfrm>
          <a:prstGeom prst="rect">
            <a:avLst/>
          </a:prstGeom>
          <a:noFill/>
        </p:spPr>
        <p:txBody>
          <a:bodyPr wrap="square">
            <a:spAutoFit/>
          </a:bodyPr>
          <a:lstStyle/>
          <a:p>
            <a:pPr algn="l">
              <a:defRPr sz="2800" b="1">
                <a:solidFill>
                  <a:srgbClr val="FFFFFF"/>
                </a:solidFill>
              </a:defRPr>
            </a:pPr>
            <a:r>
              <a:t>Phân tích dữ liệu - Phần 4</a:t>
            </a:r>
          </a:p>
        </p:txBody>
      </p:sp>
      <p:sp>
        <p:nvSpPr>
          <p:cNvPr id="5" name="Rounded Rectangle 4"/>
          <p:cNvSpPr/>
          <p:nvPr/>
        </p:nvSpPr>
        <p:spPr>
          <a:xfrm>
            <a:off x="457200" y="1188720"/>
            <a:ext cx="384048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71600"/>
            <a:ext cx="3291840" cy="365760"/>
          </a:xfrm>
          <a:prstGeom prst="rect">
            <a:avLst/>
          </a:prstGeom>
          <a:noFill/>
        </p:spPr>
        <p:txBody>
          <a:bodyPr wrap="square">
            <a:spAutoFit/>
          </a:bodyPr>
          <a:lstStyle/>
          <a:p>
            <a:pPr algn="l">
              <a:defRPr sz="1800" b="1">
                <a:solidFill>
                  <a:srgbClr val="C0392B"/>
                </a:solidFill>
              </a:defRPr>
            </a:pPr>
            <a:r>
              <a:t>Độ hài lòng</a:t>
            </a:r>
          </a:p>
        </p:txBody>
      </p:sp>
      <p:sp>
        <p:nvSpPr>
          <p:cNvPr id="7" name="TextBox 6"/>
          <p:cNvSpPr txBox="1"/>
          <p:nvPr/>
        </p:nvSpPr>
        <p:spPr>
          <a:xfrm>
            <a:off x="731520" y="1920240"/>
            <a:ext cx="3291840" cy="548640"/>
          </a:xfrm>
          <a:prstGeom prst="rect">
            <a:avLst/>
          </a:prstGeom>
          <a:noFill/>
        </p:spPr>
        <p:txBody>
          <a:bodyPr wrap="square">
            <a:spAutoFit/>
          </a:bodyPr>
          <a:lstStyle/>
          <a:p>
            <a:pPr algn="l">
              <a:defRPr sz="2800" b="1">
                <a:solidFill>
                  <a:srgbClr val="FF6B6B"/>
                </a:solidFill>
              </a:defRPr>
            </a:pPr>
            <a:r>
              <a:t>Tổng thể 4.65/5.0</a:t>
            </a:r>
          </a:p>
        </p:txBody>
      </p:sp>
      <p:sp>
        <p:nvSpPr>
          <p:cNvPr id="8" name="Rounded Rectangle 7"/>
          <p:cNvSpPr/>
          <p:nvPr/>
        </p:nvSpPr>
        <p:spPr>
          <a:xfrm>
            <a:off x="731520" y="2743200"/>
            <a:ext cx="3291840" cy="2743200"/>
          </a:xfrm>
          <a:prstGeom prst="roundRect">
            <a:avLst/>
          </a:prstGeom>
          <a:solidFill>
            <a:srgbClr val="C0392B">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840480"/>
            <a:ext cx="3291840" cy="365760"/>
          </a:xfrm>
          <a:prstGeom prst="rect">
            <a:avLst/>
          </a:prstGeom>
          <a:noFill/>
        </p:spPr>
        <p:txBody>
          <a:bodyPr wrap="square">
            <a:spAutoFit/>
          </a:bodyPr>
          <a:lstStyle/>
          <a:p>
            <a:pPr algn="ctr">
              <a:defRPr sz="1200" b="0">
                <a:solidFill>
                  <a:srgbClr val="C0392B"/>
                </a:solidFill>
              </a:defRPr>
            </a:pPr>
            <a:r>
              <a:t>Khu vực biểu đồ</a:t>
            </a:r>
          </a:p>
        </p:txBody>
      </p:sp>
      <p:sp>
        <p:nvSpPr>
          <p:cNvPr id="10" name="Rounded Rectangle 9"/>
          <p:cNvSpPr/>
          <p:nvPr/>
        </p:nvSpPr>
        <p:spPr>
          <a:xfrm>
            <a:off x="4572000" y="1188720"/>
            <a:ext cx="4114800" cy="5029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46320" y="1371600"/>
            <a:ext cx="3566160" cy="365760"/>
          </a:xfrm>
          <a:prstGeom prst="rect">
            <a:avLst/>
          </a:prstGeom>
          <a:noFill/>
        </p:spPr>
        <p:txBody>
          <a:bodyPr wrap="square">
            <a:spAutoFit/>
          </a:bodyPr>
          <a:lstStyle/>
          <a:p>
            <a:pPr algn="l">
              <a:defRPr sz="1400" b="1">
                <a:solidFill>
                  <a:srgbClr val="C0392B"/>
                </a:solidFill>
              </a:defRPr>
            </a:pPr>
            <a:r>
              <a:t>Dữ liệu chi tiết</a:t>
            </a:r>
          </a:p>
        </p:txBody>
      </p:sp>
      <p:sp>
        <p:nvSpPr>
          <p:cNvPr id="12" name="TextBox 11"/>
          <p:cNvSpPr txBox="1"/>
          <p:nvPr/>
        </p:nvSpPr>
        <p:spPr>
          <a:xfrm>
            <a:off x="4846320" y="2011680"/>
            <a:ext cx="1828800" cy="274320"/>
          </a:xfrm>
          <a:prstGeom prst="rect">
            <a:avLst/>
          </a:prstGeom>
          <a:noFill/>
        </p:spPr>
        <p:txBody>
          <a:bodyPr wrap="square">
            <a:spAutoFit/>
          </a:bodyPr>
          <a:lstStyle/>
          <a:p>
            <a:pPr algn="l">
              <a:defRPr sz="1200" b="0">
                <a:solidFill>
                  <a:srgbClr val="C0392B"/>
                </a:solidFill>
              </a:defRPr>
            </a:pPr>
            <a:r>
              <a:t>Tính năng</a:t>
            </a:r>
          </a:p>
        </p:txBody>
      </p:sp>
      <p:sp>
        <p:nvSpPr>
          <p:cNvPr id="13" name="Rounded Rectangle 12"/>
          <p:cNvSpPr/>
          <p:nvPr/>
        </p:nvSpPr>
        <p:spPr>
          <a:xfrm>
            <a:off x="4846320" y="233172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846320" y="2331720"/>
            <a:ext cx="2880359"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46320" y="2651760"/>
            <a:ext cx="3200400" cy="228600"/>
          </a:xfrm>
          <a:prstGeom prst="rect">
            <a:avLst/>
          </a:prstGeom>
          <a:noFill/>
        </p:spPr>
        <p:txBody>
          <a:bodyPr wrap="square">
            <a:spAutoFit/>
          </a:bodyPr>
          <a:lstStyle/>
          <a:p>
            <a:pPr algn="l">
              <a:defRPr sz="1100" b="1">
                <a:solidFill>
                  <a:srgbClr val="C0392B"/>
                </a:solidFill>
              </a:defRPr>
            </a:pPr>
            <a:r>
              <a:t>4.8</a:t>
            </a:r>
          </a:p>
        </p:txBody>
      </p:sp>
      <p:sp>
        <p:nvSpPr>
          <p:cNvPr id="16" name="TextBox 15"/>
          <p:cNvSpPr txBox="1"/>
          <p:nvPr/>
        </p:nvSpPr>
        <p:spPr>
          <a:xfrm>
            <a:off x="4846320" y="3017520"/>
            <a:ext cx="1828800" cy="274320"/>
          </a:xfrm>
          <a:prstGeom prst="rect">
            <a:avLst/>
          </a:prstGeom>
          <a:noFill/>
        </p:spPr>
        <p:txBody>
          <a:bodyPr wrap="square">
            <a:spAutoFit/>
          </a:bodyPr>
          <a:lstStyle/>
          <a:p>
            <a:pPr algn="l">
              <a:defRPr sz="1200" b="0">
                <a:solidFill>
                  <a:srgbClr val="C0392B"/>
                </a:solidFill>
              </a:defRPr>
            </a:pPr>
            <a:r>
              <a:t>Hiệu năng</a:t>
            </a:r>
          </a:p>
        </p:txBody>
      </p:sp>
      <p:sp>
        <p:nvSpPr>
          <p:cNvPr id="17" name="Rounded Rectangle 16"/>
          <p:cNvSpPr/>
          <p:nvPr/>
        </p:nvSpPr>
        <p:spPr>
          <a:xfrm>
            <a:off x="4846320" y="333756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846320" y="3337560"/>
            <a:ext cx="2400300"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0" y="3657600"/>
            <a:ext cx="3200400" cy="228600"/>
          </a:xfrm>
          <a:prstGeom prst="rect">
            <a:avLst/>
          </a:prstGeom>
          <a:noFill/>
        </p:spPr>
        <p:txBody>
          <a:bodyPr wrap="square">
            <a:spAutoFit/>
          </a:bodyPr>
          <a:lstStyle/>
          <a:p>
            <a:pPr algn="l">
              <a:defRPr sz="1100" b="1">
                <a:solidFill>
                  <a:srgbClr val="C0392B"/>
                </a:solidFill>
              </a:defRPr>
            </a:pPr>
            <a:r>
              <a:t>4.7</a:t>
            </a:r>
          </a:p>
        </p:txBody>
      </p:sp>
      <p:sp>
        <p:nvSpPr>
          <p:cNvPr id="20" name="TextBox 19"/>
          <p:cNvSpPr txBox="1"/>
          <p:nvPr/>
        </p:nvSpPr>
        <p:spPr>
          <a:xfrm>
            <a:off x="4846320" y="4023360"/>
            <a:ext cx="1828800" cy="274320"/>
          </a:xfrm>
          <a:prstGeom prst="rect">
            <a:avLst/>
          </a:prstGeom>
          <a:noFill/>
        </p:spPr>
        <p:txBody>
          <a:bodyPr wrap="square">
            <a:spAutoFit/>
          </a:bodyPr>
          <a:lstStyle/>
          <a:p>
            <a:pPr algn="l">
              <a:defRPr sz="1200" b="0">
                <a:solidFill>
                  <a:srgbClr val="C0392B"/>
                </a:solidFill>
              </a:defRPr>
            </a:pPr>
            <a:r>
              <a:t>Dịch vụ</a:t>
            </a:r>
          </a:p>
        </p:txBody>
      </p:sp>
      <p:sp>
        <p:nvSpPr>
          <p:cNvPr id="21" name="Rounded Rectangle 20"/>
          <p:cNvSpPr/>
          <p:nvPr/>
        </p:nvSpPr>
        <p:spPr>
          <a:xfrm>
            <a:off x="4846320" y="434340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846320" y="4343400"/>
            <a:ext cx="1920240"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46320" y="4663440"/>
            <a:ext cx="3200400" cy="228600"/>
          </a:xfrm>
          <a:prstGeom prst="rect">
            <a:avLst/>
          </a:prstGeom>
          <a:noFill/>
        </p:spPr>
        <p:txBody>
          <a:bodyPr wrap="square">
            <a:spAutoFit/>
          </a:bodyPr>
          <a:lstStyle/>
          <a:p>
            <a:pPr algn="l">
              <a:defRPr sz="1100" b="1">
                <a:solidFill>
                  <a:srgbClr val="C0392B"/>
                </a:solidFill>
              </a:defRPr>
            </a:pPr>
            <a:r>
              <a:t>4.6</a:t>
            </a:r>
          </a:p>
        </p:txBody>
      </p:sp>
      <p:sp>
        <p:nvSpPr>
          <p:cNvPr id="24" name="TextBox 23"/>
          <p:cNvSpPr txBox="1"/>
          <p:nvPr/>
        </p:nvSpPr>
        <p:spPr>
          <a:xfrm>
            <a:off x="4846320" y="5029200"/>
            <a:ext cx="1828800" cy="274320"/>
          </a:xfrm>
          <a:prstGeom prst="rect">
            <a:avLst/>
          </a:prstGeom>
          <a:noFill/>
        </p:spPr>
        <p:txBody>
          <a:bodyPr wrap="square">
            <a:spAutoFit/>
          </a:bodyPr>
          <a:lstStyle/>
          <a:p>
            <a:pPr algn="l">
              <a:defRPr sz="1200" b="0">
                <a:solidFill>
                  <a:srgbClr val="C0392B"/>
                </a:solidFill>
              </a:defRPr>
            </a:pPr>
            <a:r>
              <a:t>Chi phí</a:t>
            </a:r>
          </a:p>
        </p:txBody>
      </p:sp>
      <p:sp>
        <p:nvSpPr>
          <p:cNvPr id="25" name="Rounded Rectangle 24"/>
          <p:cNvSpPr/>
          <p:nvPr/>
        </p:nvSpPr>
        <p:spPr>
          <a:xfrm>
            <a:off x="4846320" y="5349240"/>
            <a:ext cx="3200400" cy="27432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846320" y="5349240"/>
            <a:ext cx="1440179" cy="274320"/>
          </a:xfrm>
          <a:prstGeom prst="round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6320" y="5669280"/>
            <a:ext cx="3200400" cy="228600"/>
          </a:xfrm>
          <a:prstGeom prst="rect">
            <a:avLst/>
          </a:prstGeom>
          <a:noFill/>
        </p:spPr>
        <p:txBody>
          <a:bodyPr wrap="square">
            <a:spAutoFit/>
          </a:bodyPr>
          <a:lstStyle/>
          <a:p>
            <a:pPr algn="l">
              <a:defRPr sz="1100" b="1">
                <a:solidFill>
                  <a:srgbClr val="C0392B"/>
                </a:solidFill>
              </a:defRPr>
            </a:pPr>
            <a:r>
              <a:t>4.5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9144000" cy="1828800"/>
          </a:xfrm>
          <a:prstGeom prst="rect">
            <a:avLst/>
          </a:prstGeom>
          <a:solidFill>
            <a:srgbClr val="FF6B6B">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7315200" cy="914400"/>
          </a:xfrm>
          <a:prstGeom prst="rect">
            <a:avLst/>
          </a:prstGeom>
          <a:noFill/>
        </p:spPr>
        <p:txBody>
          <a:bodyPr wrap="square">
            <a:spAutoFit/>
          </a:bodyPr>
          <a:lstStyle/>
          <a:p>
            <a:pPr algn="ctr">
              <a:defRPr sz="3600" b="1">
                <a:solidFill>
                  <a:srgbClr val="C0392B"/>
                </a:solidFill>
              </a:defRPr>
            </a:pPr>
            <a:r>
              <a:t>Đội ngũ &amp; Văn hóa</a:t>
            </a:r>
          </a:p>
        </p:txBody>
      </p:sp>
      <p:sp>
        <p:nvSpPr>
          <p:cNvPr id="5" name="TextBox 4"/>
          <p:cNvSpPr txBox="1"/>
          <p:nvPr/>
        </p:nvSpPr>
        <p:spPr>
          <a:xfrm>
            <a:off x="914400" y="3657600"/>
            <a:ext cx="7315200" cy="548640"/>
          </a:xfrm>
          <a:prstGeom prst="rect">
            <a:avLst/>
          </a:prstGeom>
          <a:noFill/>
        </p:spPr>
        <p:txBody>
          <a:bodyPr wrap="square">
            <a:spAutoFit/>
          </a:bodyPr>
          <a:lstStyle/>
          <a:p>
            <a:pPr algn="ctr">
              <a:defRPr sz="1800" b="0">
                <a:solidFill>
                  <a:srgbClr val="C0392B"/>
                </a:solidFill>
              </a:defRPr>
            </a:pPr>
            <a:r>
              <a:t>Team &amp; Culture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8046720" cy="640080"/>
          </a:xfrm>
          <a:prstGeom prst="rect">
            <a:avLst/>
          </a:prstGeom>
          <a:noFill/>
        </p:spPr>
        <p:txBody>
          <a:bodyPr wrap="square">
            <a:spAutoFit/>
          </a:bodyPr>
          <a:lstStyle/>
          <a:p>
            <a:pPr algn="l">
              <a:defRPr sz="2800" b="1">
                <a:solidFill>
                  <a:srgbClr val="FFFFFF"/>
                </a:solidFill>
              </a:defRPr>
            </a:pPr>
            <a:r>
              <a:t>Phát triển đội ngũ</a:t>
            </a:r>
          </a:p>
        </p:txBody>
      </p:sp>
      <p:sp>
        <p:nvSpPr>
          <p:cNvPr id="5" name="Rounded Rectangle 4"/>
          <p:cNvSpPr/>
          <p:nvPr/>
        </p:nvSpPr>
        <p:spPr>
          <a:xfrm>
            <a:off x="640080" y="1188720"/>
            <a:ext cx="23774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2377440" cy="457200"/>
          </a:xfrm>
          <a:prstGeom prst="rect">
            <a:avLst/>
          </a:prstGeom>
          <a:noFill/>
        </p:spPr>
        <p:txBody>
          <a:bodyPr wrap="square">
            <a:spAutoFit/>
          </a:bodyPr>
          <a:lstStyle/>
          <a:p>
            <a:pPr algn="ctr">
              <a:defRPr sz="2800" b="1">
                <a:solidFill>
                  <a:srgbClr val="FF6B6B"/>
                </a:solidFill>
              </a:defRPr>
            </a:pPr>
            <a:r>
              <a:t>500+</a:t>
            </a:r>
          </a:p>
        </p:txBody>
      </p:sp>
      <p:sp>
        <p:nvSpPr>
          <p:cNvPr id="7" name="TextBox 6"/>
          <p:cNvSpPr txBox="1"/>
          <p:nvPr/>
        </p:nvSpPr>
        <p:spPr>
          <a:xfrm>
            <a:off x="640080" y="1874520"/>
            <a:ext cx="2377440" cy="274320"/>
          </a:xfrm>
          <a:prstGeom prst="rect">
            <a:avLst/>
          </a:prstGeom>
          <a:noFill/>
        </p:spPr>
        <p:txBody>
          <a:bodyPr wrap="square">
            <a:spAutoFit/>
          </a:bodyPr>
          <a:lstStyle/>
          <a:p>
            <a:pPr algn="ctr">
              <a:defRPr sz="1400" b="1">
                <a:solidFill>
                  <a:srgbClr val="C0392B"/>
                </a:solidFill>
              </a:defRPr>
            </a:pPr>
            <a:r>
              <a:t>Quy mô nhân sự</a:t>
            </a:r>
          </a:p>
        </p:txBody>
      </p:sp>
      <p:sp>
        <p:nvSpPr>
          <p:cNvPr id="8" name="TextBox 7"/>
          <p:cNvSpPr txBox="1"/>
          <p:nvPr/>
        </p:nvSpPr>
        <p:spPr>
          <a:xfrm>
            <a:off x="640080" y="2240280"/>
            <a:ext cx="2377440" cy="274320"/>
          </a:xfrm>
          <a:prstGeom prst="rect">
            <a:avLst/>
          </a:prstGeom>
          <a:noFill/>
        </p:spPr>
        <p:txBody>
          <a:bodyPr wrap="square">
            <a:spAutoFit/>
          </a:bodyPr>
          <a:lstStyle/>
          <a:p>
            <a:pPr algn="ctr">
              <a:defRPr sz="1000" b="0">
                <a:solidFill>
                  <a:srgbClr val="C0392B"/>
                </a:solidFill>
              </a:defRPr>
            </a:pPr>
            <a:r>
              <a:t>Tăng 25% theo năm</a:t>
            </a:r>
          </a:p>
        </p:txBody>
      </p:sp>
      <p:sp>
        <p:nvSpPr>
          <p:cNvPr id="9" name="Rounded Rectangle 8"/>
          <p:cNvSpPr/>
          <p:nvPr/>
        </p:nvSpPr>
        <p:spPr>
          <a:xfrm>
            <a:off x="3383280" y="1188720"/>
            <a:ext cx="23774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83280" y="1371600"/>
            <a:ext cx="2377440" cy="457200"/>
          </a:xfrm>
          <a:prstGeom prst="rect">
            <a:avLst/>
          </a:prstGeom>
          <a:noFill/>
        </p:spPr>
        <p:txBody>
          <a:bodyPr wrap="square">
            <a:spAutoFit/>
          </a:bodyPr>
          <a:lstStyle/>
          <a:p>
            <a:pPr algn="ctr">
              <a:defRPr sz="2800" b="1">
                <a:solidFill>
                  <a:srgbClr val="FF6B6B"/>
                </a:solidFill>
              </a:defRPr>
            </a:pPr>
            <a:r>
              <a:t>45%</a:t>
            </a:r>
          </a:p>
        </p:txBody>
      </p:sp>
      <p:sp>
        <p:nvSpPr>
          <p:cNvPr id="11" name="TextBox 10"/>
          <p:cNvSpPr txBox="1"/>
          <p:nvPr/>
        </p:nvSpPr>
        <p:spPr>
          <a:xfrm>
            <a:off x="3383280" y="1874520"/>
            <a:ext cx="2377440" cy="274320"/>
          </a:xfrm>
          <a:prstGeom prst="rect">
            <a:avLst/>
          </a:prstGeom>
          <a:noFill/>
        </p:spPr>
        <p:txBody>
          <a:bodyPr wrap="square">
            <a:spAutoFit/>
          </a:bodyPr>
          <a:lstStyle/>
          <a:p>
            <a:pPr algn="ctr">
              <a:defRPr sz="1400" b="1">
                <a:solidFill>
                  <a:srgbClr val="C0392B"/>
                </a:solidFill>
              </a:defRPr>
            </a:pPr>
            <a:r>
              <a:t>Trình độ Thạc sĩ/Tiến sĩ</a:t>
            </a:r>
          </a:p>
        </p:txBody>
      </p:sp>
      <p:sp>
        <p:nvSpPr>
          <p:cNvPr id="12" name="TextBox 11"/>
          <p:cNvSpPr txBox="1"/>
          <p:nvPr/>
        </p:nvSpPr>
        <p:spPr>
          <a:xfrm>
            <a:off x="3383280" y="2240280"/>
            <a:ext cx="2377440" cy="274320"/>
          </a:xfrm>
          <a:prstGeom prst="rect">
            <a:avLst/>
          </a:prstGeom>
          <a:noFill/>
        </p:spPr>
        <p:txBody>
          <a:bodyPr wrap="square">
            <a:spAutoFit/>
          </a:bodyPr>
          <a:lstStyle/>
          <a:p>
            <a:pPr algn="ctr">
              <a:defRPr sz="1000" b="0">
                <a:solidFill>
                  <a:srgbClr val="C0392B"/>
                </a:solidFill>
              </a:defRPr>
            </a:pPr>
            <a:r>
              <a:t>Trọng tâm kỹ sư công nghệ</a:t>
            </a:r>
          </a:p>
        </p:txBody>
      </p:sp>
      <p:sp>
        <p:nvSpPr>
          <p:cNvPr id="13" name="Rounded Rectangle 12"/>
          <p:cNvSpPr/>
          <p:nvPr/>
        </p:nvSpPr>
        <p:spPr>
          <a:xfrm>
            <a:off x="6126480" y="1188720"/>
            <a:ext cx="2377440" cy="1828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0" y="1371600"/>
            <a:ext cx="2377440" cy="457200"/>
          </a:xfrm>
          <a:prstGeom prst="rect">
            <a:avLst/>
          </a:prstGeom>
          <a:noFill/>
        </p:spPr>
        <p:txBody>
          <a:bodyPr wrap="square">
            <a:spAutoFit/>
          </a:bodyPr>
          <a:lstStyle/>
          <a:p>
            <a:pPr algn="ctr">
              <a:defRPr sz="2800" b="1">
                <a:solidFill>
                  <a:srgbClr val="FF6B6B"/>
                </a:solidFill>
              </a:defRPr>
            </a:pPr>
            <a:r>
              <a:t>92%</a:t>
            </a:r>
          </a:p>
        </p:txBody>
      </p:sp>
      <p:sp>
        <p:nvSpPr>
          <p:cNvPr id="15" name="TextBox 14"/>
          <p:cNvSpPr txBox="1"/>
          <p:nvPr/>
        </p:nvSpPr>
        <p:spPr>
          <a:xfrm>
            <a:off x="6126480" y="1874520"/>
            <a:ext cx="2377440" cy="274320"/>
          </a:xfrm>
          <a:prstGeom prst="rect">
            <a:avLst/>
          </a:prstGeom>
          <a:noFill/>
        </p:spPr>
        <p:txBody>
          <a:bodyPr wrap="square">
            <a:spAutoFit/>
          </a:bodyPr>
          <a:lstStyle/>
          <a:p>
            <a:pPr algn="ctr">
              <a:defRPr sz="1400" b="1">
                <a:solidFill>
                  <a:srgbClr val="C0392B"/>
                </a:solidFill>
              </a:defRPr>
            </a:pPr>
            <a:r>
              <a:t>Hài lòng nhân viên</a:t>
            </a:r>
          </a:p>
        </p:txBody>
      </p:sp>
      <p:sp>
        <p:nvSpPr>
          <p:cNvPr id="16" name="TextBox 15"/>
          <p:cNvSpPr txBox="1"/>
          <p:nvPr/>
        </p:nvSpPr>
        <p:spPr>
          <a:xfrm>
            <a:off x="6126480" y="2240280"/>
            <a:ext cx="2377440" cy="274320"/>
          </a:xfrm>
          <a:prstGeom prst="rect">
            <a:avLst/>
          </a:prstGeom>
          <a:noFill/>
        </p:spPr>
        <p:txBody>
          <a:bodyPr wrap="square">
            <a:spAutoFit/>
          </a:bodyPr>
          <a:lstStyle/>
          <a:p>
            <a:pPr algn="ctr">
              <a:defRPr sz="1000" b="0">
                <a:solidFill>
                  <a:srgbClr val="C0392B"/>
                </a:solidFill>
              </a:defRPr>
            </a:pPr>
            <a:r>
              <a:t>Mức dẫn đầu ngành</a:t>
            </a:r>
          </a:p>
        </p:txBody>
      </p:sp>
      <p:sp>
        <p:nvSpPr>
          <p:cNvPr id="17" name="Rounded Rectangle 16"/>
          <p:cNvSpPr/>
          <p:nvPr/>
        </p:nvSpPr>
        <p:spPr>
          <a:xfrm>
            <a:off x="640080" y="3474720"/>
            <a:ext cx="23774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474720"/>
            <a:ext cx="2377440" cy="54864"/>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703320"/>
            <a:ext cx="2377440" cy="320040"/>
          </a:xfrm>
          <a:prstGeom prst="rect">
            <a:avLst/>
          </a:prstGeom>
          <a:noFill/>
        </p:spPr>
        <p:txBody>
          <a:bodyPr wrap="square">
            <a:spAutoFit/>
          </a:bodyPr>
          <a:lstStyle/>
          <a:p>
            <a:pPr algn="ctr">
              <a:defRPr sz="1400" b="1">
                <a:solidFill>
                  <a:srgbClr val="C0392B"/>
                </a:solidFill>
              </a:defRPr>
            </a:pPr>
            <a:r>
              <a:t>Đào tạo nhân tài</a:t>
            </a:r>
          </a:p>
        </p:txBody>
      </p:sp>
      <p:sp>
        <p:nvSpPr>
          <p:cNvPr id="20" name="TextBox 19"/>
          <p:cNvSpPr txBox="1"/>
          <p:nvPr/>
        </p:nvSpPr>
        <p:spPr>
          <a:xfrm>
            <a:off x="914400" y="4206240"/>
            <a:ext cx="1828800" cy="1371600"/>
          </a:xfrm>
          <a:prstGeom prst="rect">
            <a:avLst/>
          </a:prstGeom>
          <a:noFill/>
        </p:spPr>
        <p:txBody>
          <a:bodyPr wrap="square">
            <a:spAutoFit/>
          </a:bodyPr>
          <a:lstStyle/>
          <a:p>
            <a:pPr algn="ctr">
              <a:defRPr sz="1100" b="0">
                <a:solidFill>
                  <a:srgbClr val="C0392B"/>
                </a:solidFill>
              </a:defRPr>
            </a:pPr>
            <a:r>
              <a:t>Kế hoạch đào tạo bao phủ 100% nhân viên</a:t>
            </a:r>
            <a:br/>
            <a:r>
              <a:t>Hơn 20 buổi tọa đàm cùng chuyên gia hàng đầu</a:t>
            </a:r>
          </a:p>
        </p:txBody>
      </p:sp>
      <p:sp>
        <p:nvSpPr>
          <p:cNvPr id="21" name="Rounded Rectangle 20"/>
          <p:cNvSpPr/>
          <p:nvPr/>
        </p:nvSpPr>
        <p:spPr>
          <a:xfrm>
            <a:off x="3383280" y="3474720"/>
            <a:ext cx="23774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383280" y="3474720"/>
            <a:ext cx="2377440" cy="54864"/>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83280" y="3703320"/>
            <a:ext cx="2377440" cy="320040"/>
          </a:xfrm>
          <a:prstGeom prst="rect">
            <a:avLst/>
          </a:prstGeom>
          <a:noFill/>
        </p:spPr>
        <p:txBody>
          <a:bodyPr wrap="square">
            <a:spAutoFit/>
          </a:bodyPr>
          <a:lstStyle/>
          <a:p>
            <a:pPr algn="ctr">
              <a:defRPr sz="1400" b="1">
                <a:solidFill>
                  <a:srgbClr val="C0392B"/>
                </a:solidFill>
              </a:defRPr>
            </a:pPr>
            <a:r>
              <a:t>Văn hóa doanh nghiệp</a:t>
            </a:r>
          </a:p>
        </p:txBody>
      </p:sp>
      <p:sp>
        <p:nvSpPr>
          <p:cNvPr id="24" name="TextBox 23"/>
          <p:cNvSpPr txBox="1"/>
          <p:nvPr/>
        </p:nvSpPr>
        <p:spPr>
          <a:xfrm>
            <a:off x="3657600" y="4206240"/>
            <a:ext cx="1828800" cy="1371600"/>
          </a:xfrm>
          <a:prstGeom prst="rect">
            <a:avLst/>
          </a:prstGeom>
          <a:noFill/>
        </p:spPr>
        <p:txBody>
          <a:bodyPr wrap="square">
            <a:spAutoFit/>
          </a:bodyPr>
          <a:lstStyle/>
          <a:p>
            <a:pPr algn="ctr">
              <a:defRPr sz="1100" b="0">
                <a:solidFill>
                  <a:srgbClr val="C0392B"/>
                </a:solidFill>
              </a:defRPr>
            </a:pPr>
            <a:r>
              <a:t>Hoạt động gắn kết đội ngũ định kỳ</a:t>
            </a:r>
            <a:br/>
            <a:r>
              <a:t>Quỹ phúc lợi và chăm sóc nhân viên</a:t>
            </a:r>
          </a:p>
        </p:txBody>
      </p:sp>
      <p:sp>
        <p:nvSpPr>
          <p:cNvPr id="25" name="Rounded Rectangle 24"/>
          <p:cNvSpPr/>
          <p:nvPr/>
        </p:nvSpPr>
        <p:spPr>
          <a:xfrm>
            <a:off x="6126480" y="3474720"/>
            <a:ext cx="2377440" cy="2286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0" y="3474720"/>
            <a:ext cx="2377440" cy="54864"/>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3703320"/>
            <a:ext cx="2377440" cy="320040"/>
          </a:xfrm>
          <a:prstGeom prst="rect">
            <a:avLst/>
          </a:prstGeom>
          <a:noFill/>
        </p:spPr>
        <p:txBody>
          <a:bodyPr wrap="square">
            <a:spAutoFit/>
          </a:bodyPr>
          <a:lstStyle/>
          <a:p>
            <a:pPr algn="ctr">
              <a:defRPr sz="1400" b="1">
                <a:solidFill>
                  <a:srgbClr val="C0392B"/>
                </a:solidFill>
              </a:defRPr>
            </a:pPr>
            <a:r>
              <a:t>Cơ chế đãi ngộ</a:t>
            </a:r>
          </a:p>
        </p:txBody>
      </p:sp>
      <p:sp>
        <p:nvSpPr>
          <p:cNvPr id="28" name="TextBox 27"/>
          <p:cNvSpPr txBox="1"/>
          <p:nvPr/>
        </p:nvSpPr>
        <p:spPr>
          <a:xfrm>
            <a:off x="6400800" y="4206240"/>
            <a:ext cx="1828800" cy="1371600"/>
          </a:xfrm>
          <a:prstGeom prst="rect">
            <a:avLst/>
          </a:prstGeom>
          <a:noFill/>
        </p:spPr>
        <p:txBody>
          <a:bodyPr wrap="square">
            <a:spAutoFit/>
          </a:bodyPr>
          <a:lstStyle/>
          <a:p>
            <a:pPr algn="ctr">
              <a:defRPr sz="1100" b="0">
                <a:solidFill>
                  <a:srgbClr val="C0392B"/>
                </a:solidFill>
              </a:defRPr>
            </a:pPr>
            <a:r>
              <a:t>Chính sách cổ phần thưởng ESOP</a:t>
            </a:r>
            <a:br/>
            <a:r>
              <a:t>Cơ chế thưởng hiệu quả công việc cạnh tranh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9144000" cy="1828800"/>
          </a:xfrm>
          <a:prstGeom prst="rect">
            <a:avLst/>
          </a:prstGeom>
          <a:solidFill>
            <a:srgbClr val="FF6B6B">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7315200" cy="914400"/>
          </a:xfrm>
          <a:prstGeom prst="rect">
            <a:avLst/>
          </a:prstGeom>
          <a:noFill/>
        </p:spPr>
        <p:txBody>
          <a:bodyPr wrap="square">
            <a:spAutoFit/>
          </a:bodyPr>
          <a:lstStyle/>
          <a:p>
            <a:pPr algn="ctr">
              <a:defRPr sz="3600" b="1">
                <a:solidFill>
                  <a:srgbClr val="C0392B"/>
                </a:solidFill>
              </a:defRPr>
            </a:pPr>
            <a:r>
              <a:t>Trách nhiệm xã hội</a:t>
            </a:r>
          </a:p>
        </p:txBody>
      </p:sp>
      <p:sp>
        <p:nvSpPr>
          <p:cNvPr id="5" name="TextBox 4"/>
          <p:cNvSpPr txBox="1"/>
          <p:nvPr/>
        </p:nvSpPr>
        <p:spPr>
          <a:xfrm>
            <a:off x="914400" y="3657600"/>
            <a:ext cx="7315200" cy="548640"/>
          </a:xfrm>
          <a:prstGeom prst="rect">
            <a:avLst/>
          </a:prstGeom>
          <a:noFill/>
        </p:spPr>
        <p:txBody>
          <a:bodyPr wrap="square">
            <a:spAutoFit/>
          </a:bodyPr>
          <a:lstStyle/>
          <a:p>
            <a:pPr algn="ctr">
              <a:defRPr sz="1800" b="0">
                <a:solidFill>
                  <a:srgbClr val="C0392B"/>
                </a:solidFill>
              </a:defRPr>
            </a:pPr>
            <a:r>
              <a:t>CSR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8046720" cy="640080"/>
          </a:xfrm>
          <a:prstGeom prst="rect">
            <a:avLst/>
          </a:prstGeom>
          <a:noFill/>
        </p:spPr>
        <p:txBody>
          <a:bodyPr wrap="square">
            <a:spAutoFit/>
          </a:bodyPr>
          <a:lstStyle/>
          <a:p>
            <a:pPr algn="l">
              <a:defRPr sz="2800" b="1">
                <a:solidFill>
                  <a:srgbClr val="FFFFFF"/>
                </a:solidFill>
              </a:defRPr>
            </a:pPr>
            <a:r>
              <a:t>Trách nhiệm xã hội</a:t>
            </a:r>
          </a:p>
        </p:txBody>
      </p:sp>
      <p:sp>
        <p:nvSpPr>
          <p:cNvPr id="5" name="Rounded Rectangle 4"/>
          <p:cNvSpPr/>
          <p:nvPr/>
        </p:nvSpPr>
        <p:spPr>
          <a:xfrm>
            <a:off x="640080" y="1188720"/>
            <a:ext cx="2377440" cy="3657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463040" y="1463040"/>
            <a:ext cx="731520" cy="731520"/>
          </a:xfrm>
          <a:prstGeom prst="ellipse">
            <a:avLst/>
          </a:prstGeom>
          <a:solidFill>
            <a:srgbClr val="FF6B6B">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463040" y="1536192"/>
            <a:ext cx="731520" cy="731520"/>
          </a:xfrm>
          <a:prstGeom prst="rect">
            <a:avLst/>
          </a:prstGeom>
          <a:noFill/>
        </p:spPr>
        <p:txBody>
          <a:bodyPr wrap="square">
            <a:spAutoFit/>
          </a:bodyPr>
          <a:lstStyle/>
          <a:p>
            <a:pPr algn="ctr">
              <a:defRPr sz="2400" b="1">
                <a:solidFill>
                  <a:srgbClr val="FFFFFF"/>
                </a:solidFill>
              </a:defRPr>
            </a:pPr>
            <a:r>
              <a:t>1</a:t>
            </a:r>
          </a:p>
        </p:txBody>
      </p:sp>
      <p:sp>
        <p:nvSpPr>
          <p:cNvPr id="8" name="TextBox 7"/>
          <p:cNvSpPr txBox="1"/>
          <p:nvPr/>
        </p:nvSpPr>
        <p:spPr>
          <a:xfrm>
            <a:off x="640080" y="2377440"/>
            <a:ext cx="2377440" cy="365760"/>
          </a:xfrm>
          <a:prstGeom prst="rect">
            <a:avLst/>
          </a:prstGeom>
          <a:noFill/>
        </p:spPr>
        <p:txBody>
          <a:bodyPr wrap="square">
            <a:spAutoFit/>
          </a:bodyPr>
          <a:lstStyle/>
          <a:p>
            <a:pPr algn="ctr">
              <a:defRPr sz="1600" b="1">
                <a:solidFill>
                  <a:srgbClr val="C0392B"/>
                </a:solidFill>
              </a:defRPr>
            </a:pPr>
            <a:r>
              <a:t>Bảo vệ môi trường</a:t>
            </a:r>
          </a:p>
        </p:txBody>
      </p:sp>
      <p:sp>
        <p:nvSpPr>
          <p:cNvPr id="9" name="TextBox 8"/>
          <p:cNvSpPr txBox="1"/>
          <p:nvPr/>
        </p:nvSpPr>
        <p:spPr>
          <a:xfrm>
            <a:off x="914400" y="2926080"/>
            <a:ext cx="1828800" cy="1645920"/>
          </a:xfrm>
          <a:prstGeom prst="rect">
            <a:avLst/>
          </a:prstGeom>
          <a:noFill/>
        </p:spPr>
        <p:txBody>
          <a:bodyPr wrap="square">
            <a:spAutoFit/>
          </a:bodyPr>
          <a:lstStyle/>
          <a:p>
            <a:pPr algn="ctr">
              <a:defRPr sz="1200" b="0">
                <a:solidFill>
                  <a:srgbClr val="C0392B"/>
                </a:solidFill>
              </a:defRPr>
            </a:pPr>
            <a:r>
              <a:t>Giảm 30% phát thải carbon</a:t>
            </a:r>
            <a:br/>
            <a:r>
              <a:t>Văn phòng xanh không rác thải nhựa</a:t>
            </a:r>
            <a:br/>
            <a:r>
              <a:t>Ưu tiên nguồn năng lượng sạch</a:t>
            </a:r>
          </a:p>
        </p:txBody>
      </p:sp>
      <p:sp>
        <p:nvSpPr>
          <p:cNvPr id="10" name="Rounded Rectangle 9"/>
          <p:cNvSpPr/>
          <p:nvPr/>
        </p:nvSpPr>
        <p:spPr>
          <a:xfrm>
            <a:off x="3383280" y="1188720"/>
            <a:ext cx="2377440" cy="3657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206240" y="1463040"/>
            <a:ext cx="731520" cy="731520"/>
          </a:xfrm>
          <a:prstGeom prst="ellipse">
            <a:avLst/>
          </a:prstGeom>
          <a:solidFill>
            <a:srgbClr val="FF6B6B">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1536192"/>
            <a:ext cx="731520" cy="731520"/>
          </a:xfrm>
          <a:prstGeom prst="rect">
            <a:avLst/>
          </a:prstGeom>
          <a:noFill/>
        </p:spPr>
        <p:txBody>
          <a:bodyPr wrap="square">
            <a:spAutoFit/>
          </a:bodyPr>
          <a:lstStyle/>
          <a:p>
            <a:pPr algn="ctr">
              <a:defRPr sz="2400" b="1">
                <a:solidFill>
                  <a:srgbClr val="FFFFFF"/>
                </a:solidFill>
              </a:defRPr>
            </a:pPr>
            <a:r>
              <a:t>2</a:t>
            </a:r>
          </a:p>
        </p:txBody>
      </p:sp>
      <p:sp>
        <p:nvSpPr>
          <p:cNvPr id="13" name="TextBox 12"/>
          <p:cNvSpPr txBox="1"/>
          <p:nvPr/>
        </p:nvSpPr>
        <p:spPr>
          <a:xfrm>
            <a:off x="3383280" y="2377440"/>
            <a:ext cx="2377440" cy="365760"/>
          </a:xfrm>
          <a:prstGeom prst="rect">
            <a:avLst/>
          </a:prstGeom>
          <a:noFill/>
        </p:spPr>
        <p:txBody>
          <a:bodyPr wrap="square">
            <a:spAutoFit/>
          </a:bodyPr>
          <a:lstStyle/>
          <a:p>
            <a:pPr algn="ctr">
              <a:defRPr sz="1600" b="1">
                <a:solidFill>
                  <a:srgbClr val="C0392B"/>
                </a:solidFill>
              </a:defRPr>
            </a:pPr>
            <a:r>
              <a:t>Hoạt động thiện nguyện</a:t>
            </a:r>
          </a:p>
        </p:txBody>
      </p:sp>
      <p:sp>
        <p:nvSpPr>
          <p:cNvPr id="14" name="TextBox 13"/>
          <p:cNvSpPr txBox="1"/>
          <p:nvPr/>
        </p:nvSpPr>
        <p:spPr>
          <a:xfrm>
            <a:off x="3657600" y="2926080"/>
            <a:ext cx="1828800" cy="1645920"/>
          </a:xfrm>
          <a:prstGeom prst="rect">
            <a:avLst/>
          </a:prstGeom>
          <a:noFill/>
        </p:spPr>
        <p:txBody>
          <a:bodyPr wrap="square">
            <a:spAutoFit/>
          </a:bodyPr>
          <a:lstStyle/>
          <a:p>
            <a:pPr algn="ctr">
              <a:defRPr sz="1200" b="0">
                <a:solidFill>
                  <a:srgbClr val="C0392B"/>
                </a:solidFill>
              </a:defRPr>
            </a:pPr>
            <a:r>
              <a:t>Ngân sách an sinh xã hội 2 tỷ đồng</a:t>
            </a:r>
            <a:br/>
            <a:r>
              <a:t>Dự án học bổng thắp sáng ước mơ</a:t>
            </a:r>
            <a:br/>
            <a:r>
              <a:t>Hỗ trợ chuyển đổi số vùng sâu vùng xa</a:t>
            </a:r>
          </a:p>
        </p:txBody>
      </p:sp>
      <p:sp>
        <p:nvSpPr>
          <p:cNvPr id="15" name="Rounded Rectangle 14"/>
          <p:cNvSpPr/>
          <p:nvPr/>
        </p:nvSpPr>
        <p:spPr>
          <a:xfrm>
            <a:off x="6126480" y="1188720"/>
            <a:ext cx="2377440" cy="3657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949440" y="1463040"/>
            <a:ext cx="731520" cy="731520"/>
          </a:xfrm>
          <a:prstGeom prst="ellipse">
            <a:avLst/>
          </a:prstGeom>
          <a:solidFill>
            <a:srgbClr val="FF6B6B">
              <a:alpha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0" y="1536192"/>
            <a:ext cx="731520" cy="731520"/>
          </a:xfrm>
          <a:prstGeom prst="rect">
            <a:avLst/>
          </a:prstGeom>
          <a:noFill/>
        </p:spPr>
        <p:txBody>
          <a:bodyPr wrap="square">
            <a:spAutoFit/>
          </a:bodyPr>
          <a:lstStyle/>
          <a:p>
            <a:pPr algn="ctr">
              <a:defRPr sz="2400" b="1">
                <a:solidFill>
                  <a:srgbClr val="FFFFFF"/>
                </a:solidFill>
              </a:defRPr>
            </a:pPr>
            <a:r>
              <a:t>3</a:t>
            </a:r>
          </a:p>
        </p:txBody>
      </p:sp>
      <p:sp>
        <p:nvSpPr>
          <p:cNvPr id="18" name="TextBox 17"/>
          <p:cNvSpPr txBox="1"/>
          <p:nvPr/>
        </p:nvSpPr>
        <p:spPr>
          <a:xfrm>
            <a:off x="6126480" y="2377440"/>
            <a:ext cx="2377440" cy="365760"/>
          </a:xfrm>
          <a:prstGeom prst="rect">
            <a:avLst/>
          </a:prstGeom>
          <a:noFill/>
        </p:spPr>
        <p:txBody>
          <a:bodyPr wrap="square">
            <a:spAutoFit/>
          </a:bodyPr>
          <a:lstStyle/>
          <a:p>
            <a:pPr algn="ctr">
              <a:defRPr sz="1600" b="1">
                <a:solidFill>
                  <a:srgbClr val="C0392B"/>
                </a:solidFill>
              </a:defRPr>
            </a:pPr>
            <a:r>
              <a:t>Gắn kết cộng đồng</a:t>
            </a:r>
          </a:p>
        </p:txBody>
      </p:sp>
      <p:sp>
        <p:nvSpPr>
          <p:cNvPr id="19" name="TextBox 18"/>
          <p:cNvSpPr txBox="1"/>
          <p:nvPr/>
        </p:nvSpPr>
        <p:spPr>
          <a:xfrm>
            <a:off x="6400800" y="2926080"/>
            <a:ext cx="1828800" cy="1645920"/>
          </a:xfrm>
          <a:prstGeom prst="rect">
            <a:avLst/>
          </a:prstGeom>
          <a:noFill/>
        </p:spPr>
        <p:txBody>
          <a:bodyPr wrap="square">
            <a:spAutoFit/>
          </a:bodyPr>
          <a:lstStyle/>
          <a:p>
            <a:pPr algn="ctr">
              <a:defRPr sz="1200" b="0">
                <a:solidFill>
                  <a:srgbClr val="C0392B"/>
                </a:solidFill>
              </a:defRPr>
            </a:pPr>
            <a:r>
              <a:t>Hơn 500 lượt nhân viên tình nguyện</a:t>
            </a:r>
            <a:br/>
            <a:r>
              <a:t>Ngày hội trải nghiệm công nghệ</a:t>
            </a:r>
            <a:br/>
            <a:r>
              <a:t>Chia sẻ tri thức học thuật cho sinh viên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9144000" cy="1828800"/>
          </a:xfrm>
          <a:prstGeom prst="rect">
            <a:avLst/>
          </a:prstGeom>
          <a:solidFill>
            <a:srgbClr val="FF6B6B">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7315200" cy="914400"/>
          </a:xfrm>
          <a:prstGeom prst="rect">
            <a:avLst/>
          </a:prstGeom>
          <a:noFill/>
        </p:spPr>
        <p:txBody>
          <a:bodyPr wrap="square">
            <a:spAutoFit/>
          </a:bodyPr>
          <a:lstStyle/>
          <a:p>
            <a:pPr algn="ctr">
              <a:defRPr sz="3600" b="1">
                <a:solidFill>
                  <a:srgbClr val="C0392B"/>
                </a:solidFill>
              </a:defRPr>
            </a:pPr>
            <a:r>
              <a:t>Định hướng tương lai</a:t>
            </a:r>
          </a:p>
        </p:txBody>
      </p:sp>
      <p:sp>
        <p:nvSpPr>
          <p:cNvPr id="5" name="TextBox 4"/>
          <p:cNvSpPr txBox="1"/>
          <p:nvPr/>
        </p:nvSpPr>
        <p:spPr>
          <a:xfrm>
            <a:off x="914400" y="3657600"/>
            <a:ext cx="7315200" cy="548640"/>
          </a:xfrm>
          <a:prstGeom prst="rect">
            <a:avLst/>
          </a:prstGeom>
          <a:noFill/>
        </p:spPr>
        <p:txBody>
          <a:bodyPr wrap="square">
            <a:spAutoFit/>
          </a:bodyPr>
          <a:lstStyle/>
          <a:p>
            <a:pPr algn="ctr">
              <a:defRPr sz="1800" b="0">
                <a:solidFill>
                  <a:srgbClr val="C0392B"/>
                </a:solidFill>
              </a:defRPr>
            </a:pPr>
            <a:r>
              <a:t>Future Outlook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144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
            <a:ext cx="8046720" cy="640080"/>
          </a:xfrm>
          <a:prstGeom prst="rect">
            <a:avLst/>
          </a:prstGeom>
          <a:noFill/>
        </p:spPr>
        <p:txBody>
          <a:bodyPr wrap="square">
            <a:spAutoFit/>
          </a:bodyPr>
          <a:lstStyle/>
          <a:p>
            <a:pPr algn="l">
              <a:defRPr sz="2800" b="1">
                <a:solidFill>
                  <a:srgbClr val="FFFFFF"/>
                </a:solidFill>
              </a:defRPr>
            </a:pPr>
            <a:r>
              <a:t>Định hướng tương lai</a:t>
            </a:r>
          </a:p>
        </p:txBody>
      </p:sp>
      <p:sp>
        <p:nvSpPr>
          <p:cNvPr id="5" name="Rounded Rectangle 4"/>
          <p:cNvSpPr/>
          <p:nvPr/>
        </p:nvSpPr>
        <p:spPr>
          <a:xfrm>
            <a:off x="640080" y="1188720"/>
            <a:ext cx="2377440" cy="3657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188720"/>
            <a:ext cx="2377440" cy="914400"/>
          </a:xfrm>
          <a:prstGeom prst="rect">
            <a:avLst/>
          </a:prstGeom>
          <a:gradFill rotWithShape="1">
            <a:gsLst>
              <a:gs pos="0">
                <a:srgbClr val="C0392B"/>
              </a:gs>
              <a:gs pos="100000">
                <a:srgbClr val="FF6B6B"/>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371600"/>
            <a:ext cx="2377440" cy="457200"/>
          </a:xfrm>
          <a:prstGeom prst="rect">
            <a:avLst/>
          </a:prstGeom>
          <a:noFill/>
        </p:spPr>
        <p:txBody>
          <a:bodyPr wrap="square">
            <a:spAutoFit/>
          </a:bodyPr>
          <a:lstStyle/>
          <a:p>
            <a:pPr algn="ctr">
              <a:defRPr sz="1600" b="1">
                <a:solidFill>
                  <a:srgbClr val="FFFFFF"/>
                </a:solidFill>
              </a:defRPr>
            </a:pPr>
            <a:r>
              <a:t>Mục tiêu năm 2026</a:t>
            </a:r>
          </a:p>
        </p:txBody>
      </p:sp>
      <p:sp>
        <p:nvSpPr>
          <p:cNvPr id="8" name="TextBox 7"/>
          <p:cNvSpPr txBox="1"/>
          <p:nvPr/>
        </p:nvSpPr>
        <p:spPr>
          <a:xfrm>
            <a:off x="914400" y="2377440"/>
            <a:ext cx="1828800" cy="2286000"/>
          </a:xfrm>
          <a:prstGeom prst="rect">
            <a:avLst/>
          </a:prstGeom>
          <a:noFill/>
        </p:spPr>
        <p:txBody>
          <a:bodyPr wrap="square">
            <a:spAutoFit/>
          </a:bodyPr>
          <a:lstStyle/>
          <a:p>
            <a:pPr algn="l">
              <a:defRPr sz="1200" b="0">
                <a:solidFill>
                  <a:srgbClr val="C0392B"/>
                </a:solidFill>
              </a:defRPr>
            </a:pPr>
            <a:r>
              <a:t>Doanh thu vượt mốc 500 tỷ VNĐ</a:t>
            </a:r>
            <a:br/>
            <a:r>
              <a:t>Gấp đôi số lượng khách hàng</a:t>
            </a:r>
            <a:br/>
            <a:r>
              <a:t>Khởi động thị trường Đông Nam Á</a:t>
            </a:r>
          </a:p>
        </p:txBody>
      </p:sp>
      <p:sp>
        <p:nvSpPr>
          <p:cNvPr id="9" name="Rounded Rectangle 8"/>
          <p:cNvSpPr/>
          <p:nvPr/>
        </p:nvSpPr>
        <p:spPr>
          <a:xfrm>
            <a:off x="3383280" y="1188720"/>
            <a:ext cx="2377440" cy="3657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83280" y="1188720"/>
            <a:ext cx="2377440" cy="914400"/>
          </a:xfrm>
          <a:prstGeom prst="rect">
            <a:avLst/>
          </a:prstGeom>
          <a:gradFill rotWithShape="1">
            <a:gsLst>
              <a:gs pos="0">
                <a:srgbClr val="C0392B"/>
              </a:gs>
              <a:gs pos="100000">
                <a:srgbClr val="FF6B6B"/>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371600"/>
            <a:ext cx="2377440" cy="457200"/>
          </a:xfrm>
          <a:prstGeom prst="rect">
            <a:avLst/>
          </a:prstGeom>
          <a:noFill/>
        </p:spPr>
        <p:txBody>
          <a:bodyPr wrap="square">
            <a:spAutoFit/>
          </a:bodyPr>
          <a:lstStyle/>
          <a:p>
            <a:pPr algn="ctr">
              <a:defRPr sz="1600" b="1">
                <a:solidFill>
                  <a:srgbClr val="FFFFFF"/>
                </a:solidFill>
              </a:defRPr>
            </a:pPr>
            <a:r>
              <a:t>Trọng tâm chiến lược</a:t>
            </a:r>
          </a:p>
        </p:txBody>
      </p:sp>
      <p:sp>
        <p:nvSpPr>
          <p:cNvPr id="12" name="TextBox 11"/>
          <p:cNvSpPr txBox="1"/>
          <p:nvPr/>
        </p:nvSpPr>
        <p:spPr>
          <a:xfrm>
            <a:off x="3657600" y="2377440"/>
            <a:ext cx="1828800" cy="2286000"/>
          </a:xfrm>
          <a:prstGeom prst="rect">
            <a:avLst/>
          </a:prstGeom>
          <a:noFill/>
        </p:spPr>
        <p:txBody>
          <a:bodyPr wrap="square">
            <a:spAutoFit/>
          </a:bodyPr>
          <a:lstStyle/>
          <a:p>
            <a:pPr algn="l">
              <a:defRPr sz="1200" b="0">
                <a:solidFill>
                  <a:srgbClr val="C0392B"/>
                </a:solidFill>
              </a:defRPr>
            </a:pPr>
            <a:r>
              <a:t>Phát triển chuyên sâu sản phẩm AI</a:t>
            </a:r>
            <a:br/>
            <a:r>
              <a:t>Hoàn thiện giải pháp theo ngành</a:t>
            </a:r>
            <a:br/>
            <a:r>
              <a:t>Xây dựng hệ sinh thái mở rộng lớn</a:t>
            </a:r>
          </a:p>
        </p:txBody>
      </p:sp>
      <p:sp>
        <p:nvSpPr>
          <p:cNvPr id="13" name="Rounded Rectangle 12"/>
          <p:cNvSpPr/>
          <p:nvPr/>
        </p:nvSpPr>
        <p:spPr>
          <a:xfrm>
            <a:off x="6126480" y="1188720"/>
            <a:ext cx="2377440" cy="3657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188720"/>
            <a:ext cx="2377440" cy="914400"/>
          </a:xfrm>
          <a:prstGeom prst="rect">
            <a:avLst/>
          </a:prstGeom>
          <a:gradFill rotWithShape="1">
            <a:gsLst>
              <a:gs pos="0">
                <a:srgbClr val="C0392B"/>
              </a:gs>
              <a:gs pos="100000">
                <a:srgbClr val="FF6B6B"/>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0" y="1371600"/>
            <a:ext cx="2377440" cy="457200"/>
          </a:xfrm>
          <a:prstGeom prst="rect">
            <a:avLst/>
          </a:prstGeom>
          <a:noFill/>
        </p:spPr>
        <p:txBody>
          <a:bodyPr wrap="square">
            <a:spAutoFit/>
          </a:bodyPr>
          <a:lstStyle/>
          <a:p>
            <a:pPr algn="ctr">
              <a:defRPr sz="1600" b="1">
                <a:solidFill>
                  <a:srgbClr val="FFFFFF"/>
                </a:solidFill>
              </a:defRPr>
            </a:pPr>
            <a:r>
              <a:t>Nâng cấp tổ chức</a:t>
            </a:r>
          </a:p>
        </p:txBody>
      </p:sp>
      <p:sp>
        <p:nvSpPr>
          <p:cNvPr id="16" name="TextBox 15"/>
          <p:cNvSpPr txBox="1"/>
          <p:nvPr/>
        </p:nvSpPr>
        <p:spPr>
          <a:xfrm>
            <a:off x="6400800" y="2377440"/>
            <a:ext cx="1828800" cy="2286000"/>
          </a:xfrm>
          <a:prstGeom prst="rect">
            <a:avLst/>
          </a:prstGeom>
          <a:noFill/>
        </p:spPr>
        <p:txBody>
          <a:bodyPr wrap="square">
            <a:spAutoFit/>
          </a:bodyPr>
          <a:lstStyle/>
          <a:p>
            <a:pPr algn="l">
              <a:defRPr sz="1200" b="0">
                <a:solidFill>
                  <a:srgbClr val="C0392B"/>
                </a:solidFill>
              </a:defRPr>
            </a:pPr>
            <a:r>
              <a:t>Quy mô đội ngũ đạt 800 nhân sự</a:t>
            </a:r>
            <a:br/>
            <a:r>
              <a:t>Hoàn thiện cấu trúc đa quốc gia</a:t>
            </a:r>
            <a:br/>
            <a:r>
              <a:t>Tối ưu hóa hiệu suất làm việc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560320"/>
            <a:ext cx="9144000" cy="1828800"/>
          </a:xfrm>
          <a:prstGeom prst="rect">
            <a:avLst/>
          </a:prstGeom>
          <a:solidFill>
            <a:srgbClr val="FF6B6B">
              <a:alpha val="9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743200"/>
            <a:ext cx="7315200" cy="914400"/>
          </a:xfrm>
          <a:prstGeom prst="rect">
            <a:avLst/>
          </a:prstGeom>
          <a:noFill/>
        </p:spPr>
        <p:txBody>
          <a:bodyPr wrap="square">
            <a:spAutoFit/>
          </a:bodyPr>
          <a:lstStyle/>
          <a:p>
            <a:pPr algn="ctr">
              <a:defRPr sz="3600" b="1">
                <a:solidFill>
                  <a:srgbClr val="C0392B"/>
                </a:solidFill>
              </a:defRPr>
            </a:pPr>
            <a:r>
              <a:t>Tổng kết &amp; Đánh giá</a:t>
            </a:r>
          </a:p>
        </p:txBody>
      </p:sp>
      <p:sp>
        <p:nvSpPr>
          <p:cNvPr id="5" name="TextBox 4"/>
          <p:cNvSpPr txBox="1"/>
          <p:nvPr/>
        </p:nvSpPr>
        <p:spPr>
          <a:xfrm>
            <a:off x="914400" y="3657600"/>
            <a:ext cx="7315200" cy="548640"/>
          </a:xfrm>
          <a:prstGeom prst="rect">
            <a:avLst/>
          </a:prstGeom>
          <a:noFill/>
        </p:spPr>
        <p:txBody>
          <a:bodyPr wrap="square">
            <a:spAutoFit/>
          </a:bodyPr>
          <a:lstStyle/>
          <a:p>
            <a:pPr algn="ctr">
              <a:defRPr sz="1800" b="0">
                <a:solidFill>
                  <a:srgbClr val="C0392B"/>
                </a:solidFill>
              </a:defRPr>
            </a:pPr>
            <a:r>
              <a:t>Summary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gradFill rotWithShape="1">
            <a:gsLst>
              <a:gs pos="0">
                <a:srgbClr val="C0392B"/>
              </a:gs>
              <a:gs pos="100000">
                <a:srgbClr val="E74C3C"/>
              </a:gs>
            </a:gsLst>
            <a:lin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7315200" cy="1097280"/>
          </a:xfrm>
          <a:prstGeom prst="rect">
            <a:avLst/>
          </a:prstGeom>
          <a:noFill/>
        </p:spPr>
        <p:txBody>
          <a:bodyPr wrap="square">
            <a:spAutoFit/>
          </a:bodyPr>
          <a:lstStyle/>
          <a:p>
            <a:pPr algn="ctr">
              <a:defRPr sz="4800" b="1">
                <a:solidFill>
                  <a:srgbClr val="FFFFFF"/>
                </a:solidFill>
              </a:defRPr>
            </a:pPr>
            <a:r>
              <a:t>Thank You</a:t>
            </a:r>
          </a:p>
        </p:txBody>
      </p:sp>
      <p:sp>
        <p:nvSpPr>
          <p:cNvPr id="4" name="TextBox 3"/>
          <p:cNvSpPr txBox="1"/>
          <p:nvPr/>
        </p:nvSpPr>
        <p:spPr>
          <a:xfrm>
            <a:off x="914400" y="3200400"/>
            <a:ext cx="7315200" cy="731520"/>
          </a:xfrm>
          <a:prstGeom prst="rect">
            <a:avLst/>
          </a:prstGeom>
          <a:noFill/>
        </p:spPr>
        <p:txBody>
          <a:bodyPr wrap="square">
            <a:spAutoFit/>
          </a:bodyPr>
          <a:lstStyle/>
          <a:p>
            <a:pPr algn="ctr">
              <a:defRPr sz="2200" b="0">
                <a:solidFill>
                  <a:srgbClr val="EF9A9A"/>
                </a:solidFill>
              </a:defRPr>
            </a:pPr>
            <a:r>
              <a:t>Tri ân mọi sự đóng góp và cống hiến</a:t>
            </a:r>
          </a:p>
        </p:txBody>
      </p:sp>
      <p:sp>
        <p:nvSpPr>
          <p:cNvPr id="5" name="Rectangle 4"/>
          <p:cNvSpPr/>
          <p:nvPr/>
        </p:nvSpPr>
        <p:spPr>
          <a:xfrm>
            <a:off x="3657600" y="3017520"/>
            <a:ext cx="1828800" cy="25400"/>
          </a:xfrm>
          <a:prstGeom prst="rect">
            <a:avLst/>
          </a:prstGeom>
          <a:solidFill>
            <a:srgbClr val="EF9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840480"/>
            <a:ext cx="7315200" cy="457200"/>
          </a:xfrm>
          <a:prstGeom prst="rect">
            <a:avLst/>
          </a:prstGeom>
          <a:noFill/>
        </p:spPr>
        <p:txBody>
          <a:bodyPr wrap="square">
            <a:spAutoFit/>
          </a:bodyPr>
          <a:lstStyle/>
          <a:p>
            <a:pPr algn="ctr">
              <a:defRPr sz="1600" b="0">
                <a:solidFill>
                  <a:srgbClr val="EF9A9A"/>
                </a:solidFill>
              </a:defRPr>
            </a:pPr>
            <a:r>
              <a:t>Đồng hành phát triển - Vững bước tương lai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