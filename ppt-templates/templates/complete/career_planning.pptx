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E040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971800" y="1828800"/>
            <a:ext cx="3200400" cy="3200400"/>
          </a:xfrm>
          <a:prstGeom prst="ellipse">
            <a:avLst/>
          </a:prstGeom>
          <a:solidFill>
            <a:srgbClr val="A882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29000" y="2286000"/>
            <a:ext cx="2286000" cy="2286000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60920" y="3291840"/>
            <a:ext cx="274320" cy="274320"/>
          </a:xfrm>
          <a:prstGeom prst="ellipse">
            <a:avLst/>
          </a:prstGeom>
          <a:solidFill>
            <a:srgbClr val="7B2FB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03891" y="5360891"/>
            <a:ext cx="274320" cy="274320"/>
          </a:xfrm>
          <a:prstGeom prst="ellipse">
            <a:avLst/>
          </a:prstGeom>
          <a:solidFill>
            <a:srgbClr val="7B2FB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434840" y="6217920"/>
            <a:ext cx="274320" cy="274320"/>
          </a:xfrm>
          <a:prstGeom prst="ellipse">
            <a:avLst/>
          </a:prstGeom>
          <a:solidFill>
            <a:srgbClr val="7B2FB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365788" y="5360891"/>
            <a:ext cx="274320" cy="274320"/>
          </a:xfrm>
          <a:prstGeom prst="ellipse">
            <a:avLst/>
          </a:prstGeom>
          <a:solidFill>
            <a:srgbClr val="7B2FB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3291840"/>
            <a:ext cx="274320" cy="274320"/>
          </a:xfrm>
          <a:prstGeom prst="ellipse">
            <a:avLst/>
          </a:prstGeom>
          <a:solidFill>
            <a:srgbClr val="7B2FB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365788" y="1222788"/>
            <a:ext cx="274320" cy="274320"/>
          </a:xfrm>
          <a:prstGeom prst="ellipse">
            <a:avLst/>
          </a:prstGeom>
          <a:solidFill>
            <a:srgbClr val="7B2FB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34839" y="365760"/>
            <a:ext cx="274320" cy="274320"/>
          </a:xfrm>
          <a:prstGeom prst="ellipse">
            <a:avLst/>
          </a:prstGeom>
          <a:solidFill>
            <a:srgbClr val="7B2FB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03891" y="1222788"/>
            <a:ext cx="274320" cy="274320"/>
          </a:xfrm>
          <a:prstGeom prst="ellipse">
            <a:avLst/>
          </a:prstGeom>
          <a:solidFill>
            <a:srgbClr val="7B2FBE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23774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Career Planning Demo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0" y="3520440"/>
            <a:ext cx="1828800" cy="25400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749039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E93D8"/>
                </a:solidFill>
              </a:defRPr>
            </a:pPr>
            <a:r>
              <a:t>PPT Template Library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Mục lục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" y="146304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" y="1463040"/>
            <a:ext cx="2011680" cy="54864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1460" y="1645920"/>
            <a:ext cx="411480" cy="411480"/>
          </a:xfrm>
          <a:prstGeom prst="ellipse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60" y="1645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4380" y="1645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BE"/>
                </a:solidFill>
              </a:defRPr>
            </a:pPr>
            <a:r>
              <a:t>Thấu hiểu bản thân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00300" y="146304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00300" y="1463040"/>
            <a:ext cx="2011680" cy="54864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83180" y="1645920"/>
            <a:ext cx="411480" cy="411480"/>
          </a:xfrm>
          <a:prstGeom prst="ellipse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3180" y="1645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6100" y="1645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BE"/>
                </a:solidFill>
              </a:defRPr>
            </a:pPr>
            <a:r>
              <a:t>Khám phá nghề nghiệp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32020" y="146304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32020" y="1463040"/>
            <a:ext cx="2011680" cy="54864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914900" y="1645920"/>
            <a:ext cx="411480" cy="411480"/>
          </a:xfrm>
          <a:prstGeom prst="ellipse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14900" y="1645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7820" y="1645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BE"/>
                </a:solidFill>
              </a:defRPr>
            </a:pPr>
            <a:r>
              <a:t>Thiết lập mục tiêu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63740" y="146304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63740" y="1463040"/>
            <a:ext cx="2011680" cy="54864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246620" y="1645920"/>
            <a:ext cx="411480" cy="411480"/>
          </a:xfrm>
          <a:prstGeom prst="ellipse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46620" y="1645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49540" y="1645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BE"/>
                </a:solidFill>
              </a:defRPr>
            </a:pPr>
            <a:r>
              <a:t>Nâng cao năng lực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" y="315468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580" y="3154680"/>
            <a:ext cx="2011680" cy="54864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1460" y="3337560"/>
            <a:ext cx="411480" cy="411480"/>
          </a:xfrm>
          <a:prstGeom prst="ellipse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1460" y="3337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4380" y="3337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BE"/>
                </a:solidFill>
              </a:defRPr>
            </a:pPr>
            <a:r>
              <a:t>Kinh nghiệm thực tiễn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400300" y="315468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400300" y="3154680"/>
            <a:ext cx="2011680" cy="54864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583180" y="3337560"/>
            <a:ext cx="411480" cy="411480"/>
          </a:xfrm>
          <a:prstGeom prst="ellipse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83180" y="3337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086100" y="3337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BE"/>
                </a:solidFill>
              </a:defRPr>
            </a:pPr>
            <a:r>
              <a:t>Thành tựu nổi bật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32020" y="3154680"/>
            <a:ext cx="201168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32020" y="3154680"/>
            <a:ext cx="2011680" cy="54864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914900" y="3337560"/>
            <a:ext cx="411480" cy="411480"/>
          </a:xfrm>
          <a:prstGeom prst="ellipse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14900" y="3337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17820" y="33375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BE"/>
                </a:solidFill>
              </a:defRPr>
            </a:pPr>
            <a:r>
              <a:t>Định hướng tương lai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A882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B2FBE"/>
                </a:solidFill>
              </a:defRPr>
            </a:pPr>
            <a:r>
              <a:t>Thấu hiểu bản thân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B2FBE"/>
                </a:solidFill>
              </a:defRPr>
            </a:pPr>
            <a:r>
              <a:t>Self-Awareness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Thấu hiểu bản thân - Phần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5720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2FBE"/>
                </a:solidFill>
              </a:defRPr>
            </a:pPr>
            <a:r>
              <a:t>Đặc điểm tính cách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B2FBE"/>
                </a:solidFill>
              </a:defRPr>
            </a:pPr>
            <a:r>
              <a:t>  Nhóm tính cách MBTI: INTJ / ENTJ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B2FBE"/>
                </a:solidFill>
              </a:defRPr>
            </a:pPr>
            <a:r>
              <a:t>  Tư duy logic và khả năng lập kế hoạch xuất sắc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B2FBE"/>
                </a:solidFill>
              </a:defRPr>
            </a:pPr>
            <a:r>
              <a:t>  Định hướng mục tiêu, tính kỷ luật và thực thi cao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B2FBE"/>
                </a:solidFill>
              </a:defRPr>
            </a:pPr>
            <a:r>
              <a:t>  Chú trọng hiệu quả công việc và kết quả thực tế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371600"/>
            <a:ext cx="33832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882FF"/>
                </a:solidFill>
              </a:defRPr>
            </a:pPr>
            <a:r>
              <a:t>Biểu đồ radar năng lực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0" y="2788920"/>
            <a:ext cx="2286000" cy="2286000"/>
          </a:xfrm>
          <a:prstGeom prst="ellipse">
            <a:avLst/>
          </a:prstGeom>
          <a:solidFill>
            <a:srgbClr val="7B2FB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46297" y="284122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B2FBE"/>
                </a:solidFill>
              </a:defRPr>
            </a:pPr>
            <a:r>
              <a:t>Lãnh đạo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8980" y="305145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B2FBE"/>
                </a:solidFill>
              </a:defRPr>
            </a:pPr>
            <a:r>
              <a:t>Giao tiếp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2319" y="432681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B2FBE"/>
                </a:solidFill>
              </a:defRPr>
            </a:pPr>
            <a:r>
              <a:t>Kỹ thuật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9126" y="4904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B2FBE"/>
                </a:solidFill>
              </a:defRPr>
            </a:pPr>
            <a:r>
              <a:t>Đổi mới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3075" y="39866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B2FBE"/>
                </a:solidFill>
              </a:defRPr>
            </a:pPr>
            <a:r>
              <a:t>Thực thi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Thấu hiểu bản thân - Phần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45720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B2FBE"/>
                </a:solidFill>
              </a:defRPr>
            </a:pPr>
            <a:r>
              <a:t>Sở thích &amp; Giá trị cốt lõi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B2FBE"/>
                </a:solidFill>
              </a:defRPr>
            </a:pPr>
            <a:r>
              <a:t>  Đam mê công nghệ tiên phong và đổi mới sáng tạo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B2FBE"/>
                </a:solidFill>
              </a:defRPr>
            </a:pPr>
            <a:r>
              <a:t>  Không ngừng học hỏi và phát triển bản thân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0175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B2FBE"/>
                </a:solidFill>
              </a:defRPr>
            </a:pPr>
            <a:r>
              <a:t>  Coi trọng tinh thần đồng đội và tầm ảnh hưởng tích cực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B2FBE"/>
                </a:solidFill>
              </a:defRPr>
            </a:pPr>
            <a:r>
              <a:t>  Khao khát tạo ra giá trị hữu ích cho cộng đồng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1371600"/>
            <a:ext cx="338328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15544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882FF"/>
                </a:solidFill>
              </a:defRPr>
            </a:pPr>
            <a:r>
              <a:t>Biểu đồ radar năng lực</a:t>
            </a:r>
          </a:p>
        </p:txBody>
      </p:sp>
      <p:sp>
        <p:nvSpPr>
          <p:cNvPr id="13" name="Oval 12"/>
          <p:cNvSpPr/>
          <p:nvPr/>
        </p:nvSpPr>
        <p:spPr>
          <a:xfrm>
            <a:off x="5852160" y="2788920"/>
            <a:ext cx="2286000" cy="2286000"/>
          </a:xfrm>
          <a:prstGeom prst="ellipse">
            <a:avLst/>
          </a:prstGeom>
          <a:solidFill>
            <a:srgbClr val="7B2FBE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46297" y="284122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B2FBE"/>
                </a:solidFill>
              </a:defRPr>
            </a:pPr>
            <a:r>
              <a:t>Lãnh đạo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8980" y="305145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B2FBE"/>
                </a:solidFill>
              </a:defRPr>
            </a:pPr>
            <a:r>
              <a:t>Giao tiếp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2319" y="4326817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B2FBE"/>
                </a:solidFill>
              </a:defRPr>
            </a:pPr>
            <a:r>
              <a:t>Kỹ thuật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9126" y="49048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B2FBE"/>
                </a:solidFill>
              </a:defRPr>
            </a:pPr>
            <a:r>
              <a:t>Đổi mới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3075" y="3986655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7B2FBE"/>
                </a:solidFill>
              </a:defRPr>
            </a:pPr>
            <a:r>
              <a:t>Thực thi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A882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B2FBE"/>
                </a:solidFill>
              </a:defRPr>
            </a:pPr>
            <a:r>
              <a:t>Khám phá nghề nghiệp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B2FBE"/>
                </a:solidFill>
              </a:defRPr>
            </a:pPr>
            <a:r>
              <a:t>Career Exploration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Khám phá nghề nghiệp - Phần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1737360"/>
            <a:ext cx="731520" cy="731520"/>
          </a:xfrm>
          <a:prstGeom prst="ellipse">
            <a:avLst/>
          </a:prstGeom>
          <a:solidFill>
            <a:srgbClr val="A882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B2FBE"/>
                </a:solidFill>
              </a:defRPr>
            </a:pPr>
            <a:r>
              <a:t>Công nghệ Internet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B2FBE"/>
                </a:solidFill>
              </a:defRPr>
            </a:pPr>
            <a:r>
              <a:t>Tăng trưởng liên tục</a:t>
            </a:r>
            <a:br/>
            <a:r>
              <a:t>Nhu cầu nhân tài lớn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1737360"/>
            <a:ext cx="731520" cy="731520"/>
          </a:xfrm>
          <a:prstGeom prst="ellipse">
            <a:avLst/>
          </a:prstGeom>
          <a:solidFill>
            <a:srgbClr val="A882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B2FBE"/>
                </a:solidFill>
              </a:defRPr>
            </a:pPr>
            <a:r>
              <a:t>Trí tuệ nhân tạo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B2FBE"/>
                </a:solidFill>
              </a:defRPr>
            </a:pPr>
            <a:r>
              <a:t>Lĩnh vực đột phá</a:t>
            </a:r>
            <a:br/>
            <a:r>
              <a:t>Triển vọng rộng mở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37160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0" y="1737360"/>
            <a:ext cx="731520" cy="731520"/>
          </a:xfrm>
          <a:prstGeom prst="ellipse">
            <a:avLst/>
          </a:prstGeom>
          <a:solidFill>
            <a:srgbClr val="A882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B2FBE"/>
                </a:solidFill>
              </a:defRPr>
            </a:pPr>
            <a:r>
              <a:t>Năng lượng mới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B2FBE"/>
                </a:solidFill>
              </a:defRPr>
            </a:pPr>
            <a:r>
              <a:t>Chính sách hỗ trợ</a:t>
            </a:r>
            <a:br/>
            <a:r>
              <a:t>Phát triển bền vững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Khám phá nghề nghiệp - Phần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63040" y="1737360"/>
            <a:ext cx="731520" cy="731520"/>
          </a:xfrm>
          <a:prstGeom prst="ellipse">
            <a:avLst/>
          </a:prstGeom>
          <a:solidFill>
            <a:srgbClr val="A882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B2FBE"/>
                </a:solidFill>
              </a:defRPr>
            </a:pPr>
            <a:r>
              <a:t>Giám đốc Sản phẩm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B2FBE"/>
                </a:solidFill>
              </a:defRPr>
            </a:pPr>
            <a:r>
              <a:t>Thấu hiểu người dùng</a:t>
            </a:r>
            <a:br/>
            <a:r>
              <a:t>Quản lý yêu cầu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1737360"/>
            <a:ext cx="731520" cy="731520"/>
          </a:xfrm>
          <a:prstGeom prst="ellipse">
            <a:avLst/>
          </a:prstGeom>
          <a:solidFill>
            <a:srgbClr val="A882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B2FBE"/>
                </a:solidFill>
              </a:defRPr>
            </a:pPr>
            <a:r>
              <a:t>Giám đốc Kỹ thuật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B2FBE"/>
                </a:solidFill>
              </a:defRPr>
            </a:pPr>
            <a:r>
              <a:t>Kiến trúc hệ thống</a:t>
            </a:r>
            <a:br/>
            <a:r>
              <a:t>Quản trị đội ngũ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371600"/>
            <a:ext cx="2377440" cy="32004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949440" y="1737360"/>
            <a:ext cx="731520" cy="731520"/>
          </a:xfrm>
          <a:prstGeom prst="ellipse">
            <a:avLst/>
          </a:prstGeom>
          <a:solidFill>
            <a:srgbClr val="A882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8288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6517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7B2FBE"/>
                </a:solidFill>
              </a:defRPr>
            </a:pPr>
            <a:r>
              <a:t>Đối tác khởi nghiệp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108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B2FBE"/>
                </a:solidFill>
              </a:defRPr>
            </a:pPr>
            <a:r>
              <a:t>Tư duy kinh doanh</a:t>
            </a:r>
            <a:br/>
            <a:r>
              <a:t>Tối ưu nguồn lực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Thiết lập mục tiêu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3774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377440" cy="1097280"/>
          </a:xfrm>
          <a:prstGeom prst="rect">
            <a:avLst/>
          </a:prstGeom>
          <a:solidFill>
            <a:srgbClr val="A882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Mục tiêu ngắn hạn</a:t>
            </a:r>
            <a:br/>
            <a:r>
              <a:t>(1 năm)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Đạt chứng chỉ chuyên môn</a:t>
            </a:r>
            <a:br/>
            <a:r>
              <a:t>Tích lũy kinh nghiệm dự án</a:t>
            </a:r>
            <a:br/>
            <a:r>
              <a:t>Mở rộng kết nối trong ngành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3774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377440" cy="1097280"/>
          </a:xfrm>
          <a:prstGeom prst="rect">
            <a:avLst/>
          </a:prstGeom>
          <a:solidFill>
            <a:srgbClr val="A882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Mục tiêu trung hạn</a:t>
            </a:r>
            <a:br/>
            <a:r>
              <a:t>(3 năm)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7432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Trở thành chuyên gia đầu ngành</a:t>
            </a:r>
            <a:br/>
            <a:r>
              <a:t>Dẫn dắt đội ngũ 5-10 người</a:t>
            </a:r>
            <a:br/>
            <a:r>
              <a:t>Thu nhập nâng tầm vượt bậc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371600"/>
            <a:ext cx="2377440" cy="4114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377440" cy="1097280"/>
          </a:xfrm>
          <a:prstGeom prst="rect">
            <a:avLst/>
          </a:prstGeom>
          <a:solidFill>
            <a:srgbClr val="A882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Mục tiêu dài hạn</a:t>
            </a:r>
            <a:br/>
            <a:r>
              <a:t>(5-10 năm)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74320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Lãnh đạo uy tín trong ngành</a:t>
            </a:r>
            <a:br/>
            <a:r>
              <a:t>Khởi nghiệp hoặc đồng sáng lập</a:t>
            </a:r>
            <a:br/>
            <a:r>
              <a:t>Đạt tự do tài chính vững chắc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Nâng cao năng lực - Phần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8229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BE"/>
                </a:solidFill>
              </a:defRPr>
            </a:pPr>
            <a:r>
              <a:t>Phân tích dữ liệu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Python / SQL / Công cụ BI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920240"/>
            <a:ext cx="3840480" cy="274320"/>
          </a:xfrm>
          <a:prstGeom prst="round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920240"/>
            <a:ext cx="1920240" cy="274320"/>
          </a:xfrm>
          <a:prstGeom prst="round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8229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73152" cy="1371600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BE"/>
                </a:solidFill>
              </a:defRPr>
            </a:pPr>
            <a:r>
              <a:t>Quản lý dự án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Chứng chỉ PMP / Phương pháp Agile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566160"/>
            <a:ext cx="3840480" cy="274320"/>
          </a:xfrm>
          <a:prstGeom prst="round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3566160"/>
            <a:ext cx="2496312" cy="274320"/>
          </a:xfrm>
          <a:prstGeom prst="round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4663440"/>
            <a:ext cx="8229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663440"/>
            <a:ext cx="73152" cy="1371600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BE"/>
                </a:solidFill>
              </a:defRPr>
            </a:pPr>
            <a:r>
              <a:t>Năng lực công nghệ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AI / Điện toán đám mây / Thiết kế kiến trúc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5212080"/>
            <a:ext cx="3840480" cy="274320"/>
          </a:xfrm>
          <a:prstGeom prst="round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0" y="5212080"/>
            <a:ext cx="3072384" cy="274320"/>
          </a:xfrm>
          <a:prstGeom prst="round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Nâng cao năng lực - Phần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8229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BE"/>
                </a:solidFill>
              </a:defRPr>
            </a:pPr>
            <a:r>
              <a:t>Năng lực lãnh đạo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Quản lý và tạo động lực đội ngũ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920240"/>
            <a:ext cx="3840480" cy="274320"/>
          </a:xfrm>
          <a:prstGeom prst="round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1920240"/>
            <a:ext cx="1920240" cy="274320"/>
          </a:xfrm>
          <a:prstGeom prst="round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3017520"/>
            <a:ext cx="8229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017520"/>
            <a:ext cx="73152" cy="1371600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BE"/>
                </a:solidFill>
              </a:defRPr>
            </a:pPr>
            <a:r>
              <a:t>Giao tiếp diễn đạt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Thuyết trình / Soạn thảo / Đàm phán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3566160"/>
            <a:ext cx="3840480" cy="274320"/>
          </a:xfrm>
          <a:prstGeom prst="round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72000" y="3566160"/>
            <a:ext cx="2496312" cy="274320"/>
          </a:xfrm>
          <a:prstGeom prst="round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4663440"/>
            <a:ext cx="8229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663440"/>
            <a:ext cx="73152" cy="1371600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BE"/>
                </a:solidFill>
              </a:defRPr>
            </a:pPr>
            <a:r>
              <a:t>Tư duy đổi mới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303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Tư duy thiết kế / Phương pháp khởi nghiệp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5212080"/>
            <a:ext cx="3840480" cy="274320"/>
          </a:xfrm>
          <a:prstGeom prst="round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0" y="5212080"/>
            <a:ext cx="3072384" cy="274320"/>
          </a:xfrm>
          <a:prstGeom prst="round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1828800"/>
          </a:xfrm>
          <a:prstGeom prst="rect">
            <a:avLst/>
          </a:prstGeom>
          <a:solidFill>
            <a:srgbClr val="A882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B2FBE"/>
                </a:solidFill>
              </a:defRPr>
            </a:pPr>
            <a:r>
              <a:t>Thực tiễn &amp; Thành tựu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7B2FBE"/>
                </a:solidFill>
              </a:defRPr>
            </a:pPr>
            <a:r>
              <a:t>Practice &amp; Achievements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Kinh nghiệm thực tiễn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8229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4864" cy="1371600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82FF"/>
                </a:solidFill>
              </a:defRPr>
            </a:pPr>
            <a:r>
              <a:t>06/2023 - 06/2024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BE"/>
                </a:solidFill>
              </a:defRPr>
            </a:pPr>
            <a:r>
              <a:t>Công ty TNHH Công nghệ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Thực tập sinh Quản lý Sản phẩm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6459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Phụ trách mô-đun tăng trưởng người dùng</a:t>
            </a:r>
            <a:br/>
            <a:r>
              <a:t>Tham gia 3 đợt lặp tính năng cốt lõi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71800"/>
            <a:ext cx="8229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971800"/>
            <a:ext cx="54864" cy="1371600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82FF"/>
                </a:solidFill>
              </a:defRPr>
            </a:pPr>
            <a:r>
              <a:t>09/2022 - 05/2023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29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BE"/>
                </a:solidFill>
              </a:defRPr>
            </a:pPr>
            <a:r>
              <a:t>Dự án Khởi nghiệp Sinh viên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Trưởng dự án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32461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Dẫn dắt nhóm 5 thành viên hoàn thành MVP</a:t>
            </a:r>
            <a:br/>
            <a:r>
              <a:t>Đoạt giải Nhất cuộc thi Khởi nghiệp cấp trường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572000"/>
            <a:ext cx="82296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54864" cy="1371600"/>
          </a:xfrm>
          <a:prstGeom prst="rect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54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882FF"/>
                </a:solidFill>
              </a:defRPr>
            </a:pPr>
            <a:r>
              <a:t>09/2021 - 06/2022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029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BE"/>
                </a:solidFill>
              </a:defRPr>
            </a:pPr>
            <a:r>
              <a:t>Hội Sinh viên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94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Phó Chủ tịch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8463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Tổ chức 10+ sự kiện quy mô lớn</a:t>
            </a:r>
            <a:br/>
            <a:r>
              <a:t>Quản lý và điều phối nhóm 30 nhân sự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Thành tựu nổi bật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" y="1645920"/>
            <a:ext cx="18288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2980" y="1920240"/>
            <a:ext cx="731520" cy="731520"/>
          </a:xfrm>
          <a:prstGeom prst="ellipse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2980" y="20116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882FF"/>
                </a:solidFill>
              </a:defRPr>
            </a:pPr>
            <a:r>
              <a:t>5+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B2FBE"/>
                </a:solidFill>
              </a:defRPr>
            </a:pPr>
            <a:r>
              <a:t>Chứng chỉ chuyên môn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83180" y="1645920"/>
            <a:ext cx="18288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31820" y="1920240"/>
            <a:ext cx="731520" cy="731520"/>
          </a:xfrm>
          <a:prstGeom prst="ellipse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31820" y="20116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318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882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318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B2FBE"/>
                </a:solidFill>
              </a:defRPr>
            </a:pPr>
            <a:r>
              <a:t>Dự án khởi nghiệp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32020" y="1645920"/>
            <a:ext cx="18288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80660" y="1920240"/>
            <a:ext cx="731520" cy="731520"/>
          </a:xfrm>
          <a:prstGeom prst="ellipse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80660" y="20116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3202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882FF"/>
                </a:solidFill>
              </a:defRPr>
            </a:pPr>
            <a:r>
              <a:t>10+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3202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B2FBE"/>
                </a:solidFill>
              </a:defRPr>
            </a:pPr>
            <a:r>
              <a:t>Giải thưởng &amp; Danh hiệu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80860" y="1645920"/>
            <a:ext cx="1828800" cy="20116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29500" y="1920240"/>
            <a:ext cx="731520" cy="731520"/>
          </a:xfrm>
          <a:prstGeom prst="ellipse">
            <a:avLst/>
          </a:prstGeom>
          <a:solidFill>
            <a:srgbClr val="A88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29500" y="20116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80860" y="27432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882FF"/>
                </a:solidFill>
              </a:defRPr>
            </a:pPr>
            <a:r>
              <a:t>50+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80860" y="3200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B2FBE"/>
                </a:solidFill>
              </a:defRPr>
            </a:pPr>
            <a:r>
              <a:t>Mạng lưới kết nối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023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  Chứng chỉ Chuyên gia Quản lý Dự án PMP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89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  Giải Nhất Cuộc thi Đổi mới Sáng tạo &amp; Khởi nghiệp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754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  Chứng chỉ Cao cấp Phân tích Dữ liệu Python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1206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  Cán bộ Đoàn Hội xuất sắc / Học bổng Khuyến khích Tài năng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Định hướng tương lai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37744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2377440" cy="914400"/>
          </a:xfrm>
          <a:prstGeom prst="rect">
            <a:avLst/>
          </a:prstGeom>
          <a:solidFill>
            <a:srgbClr val="A882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Ngắn hạn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28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E93D8"/>
                </a:solidFill>
              </a:defRPr>
            </a:pPr>
            <a:r>
              <a:t>Trong 1 năm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03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Đào sâu chuyên môn</a:t>
            </a:r>
            <a:br/>
            <a:r>
              <a:t>Thi chứng chỉ nghề nghiệp</a:t>
            </a:r>
            <a:br/>
            <a:r>
              <a:t>Tích lũy kinh nghiệm dự án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37744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377440" cy="914400"/>
          </a:xfrm>
          <a:prstGeom prst="rect">
            <a:avLst/>
          </a:prstGeom>
          <a:solidFill>
            <a:srgbClr val="A882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Trung hạn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828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E93D8"/>
                </a:solidFill>
              </a:defRPr>
            </a:pPr>
            <a:r>
              <a:t>Trong 3 năm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5603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Chuyển dịch sang quản lý</a:t>
            </a:r>
            <a:br/>
            <a:r>
              <a:t>Tạo tầm ảnh hưởng ngành</a:t>
            </a:r>
            <a:br/>
            <a:r>
              <a:t>Tích lũy nguồn lực chiến lược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371600"/>
            <a:ext cx="237744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0" y="1371600"/>
            <a:ext cx="2377440" cy="914400"/>
          </a:xfrm>
          <a:prstGeom prst="rect">
            <a:avLst/>
          </a:prstGeom>
          <a:solidFill>
            <a:srgbClr val="A882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4630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Dài hạn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828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E93D8"/>
                </a:solidFill>
              </a:defRPr>
            </a:pPr>
            <a:r>
              <a:t>Trên 5 năm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56032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B2FBE"/>
                </a:solidFill>
              </a:defRPr>
            </a:pPr>
            <a:r>
              <a:t>Khởi nghiệp / Cấp quản lý cao</a:t>
            </a:r>
            <a:br/>
            <a:r>
              <a:t>Lãnh đạo uy tín trong ngành</a:t>
            </a:r>
            <a:br/>
            <a:r>
              <a:t>Đóng góp cho xã hội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E040FB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E93D8"/>
                </a:solidFill>
              </a:defRPr>
            </a:pPr>
            <a:r>
              <a:t>Trân trọng cảm ơn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246120"/>
            <a:ext cx="1828800" cy="25400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