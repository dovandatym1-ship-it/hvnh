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gradFill rotWithShape="1">
            <a:gsLst>
              <a:gs pos="0">
                <a:srgbClr val="C9A96E"/>
              </a:gs>
              <a:gs pos="100000">
                <a:srgbClr val="B48C50"/>
              </a:gs>
            </a:gsLst>
            <a:lin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700" cy="6858000"/>
          </a:xfrm>
          <a:prstGeom prst="rect">
            <a:avLst/>
          </a:prstGeom>
          <a:solidFill>
            <a:srgbClr val="FFD700">
              <a:alpha val="799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43000" y="0"/>
            <a:ext cx="12700" cy="6858000"/>
          </a:xfrm>
          <a:prstGeom prst="rect">
            <a:avLst/>
          </a:prstGeom>
          <a:solidFill>
            <a:srgbClr val="FFD700">
              <a:alpha val="799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286000" y="0"/>
            <a:ext cx="12700" cy="6858000"/>
          </a:xfrm>
          <a:prstGeom prst="rect">
            <a:avLst/>
          </a:prstGeom>
          <a:solidFill>
            <a:srgbClr val="FFD700">
              <a:alpha val="799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29000" y="0"/>
            <a:ext cx="12700" cy="6858000"/>
          </a:xfrm>
          <a:prstGeom prst="rect">
            <a:avLst/>
          </a:prstGeom>
          <a:solidFill>
            <a:srgbClr val="FFD700">
              <a:alpha val="799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0" y="0"/>
            <a:ext cx="12700" cy="6858000"/>
          </a:xfrm>
          <a:prstGeom prst="rect">
            <a:avLst/>
          </a:prstGeom>
          <a:solidFill>
            <a:srgbClr val="FFD700">
              <a:alpha val="799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715000" y="0"/>
            <a:ext cx="12700" cy="6858000"/>
          </a:xfrm>
          <a:prstGeom prst="rect">
            <a:avLst/>
          </a:prstGeom>
          <a:solidFill>
            <a:srgbClr val="FFD700">
              <a:alpha val="799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0" y="0"/>
            <a:ext cx="12700" cy="6858000"/>
          </a:xfrm>
          <a:prstGeom prst="rect">
            <a:avLst/>
          </a:prstGeom>
          <a:solidFill>
            <a:srgbClr val="FFD700">
              <a:alpha val="799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001000" y="0"/>
            <a:ext cx="12700" cy="6858000"/>
          </a:xfrm>
          <a:prstGeom prst="rect">
            <a:avLst/>
          </a:prstGeom>
          <a:solidFill>
            <a:srgbClr val="FFD700">
              <a:alpha val="799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0"/>
            <a:ext cx="9144000" cy="12700"/>
          </a:xfrm>
          <a:prstGeom prst="rect">
            <a:avLst/>
          </a:prstGeom>
          <a:solidFill>
            <a:srgbClr val="FFD700">
              <a:alpha val="799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1143000"/>
            <a:ext cx="9144000" cy="12700"/>
          </a:xfrm>
          <a:prstGeom prst="rect">
            <a:avLst/>
          </a:prstGeom>
          <a:solidFill>
            <a:srgbClr val="FFD700">
              <a:alpha val="799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0" y="2286000"/>
            <a:ext cx="9144000" cy="12700"/>
          </a:xfrm>
          <a:prstGeom prst="rect">
            <a:avLst/>
          </a:prstGeom>
          <a:solidFill>
            <a:srgbClr val="FFD700">
              <a:alpha val="799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0" y="3429000"/>
            <a:ext cx="9144000" cy="12700"/>
          </a:xfrm>
          <a:prstGeom prst="rect">
            <a:avLst/>
          </a:prstGeom>
          <a:solidFill>
            <a:srgbClr val="FFD700">
              <a:alpha val="799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4572000"/>
            <a:ext cx="9144000" cy="12700"/>
          </a:xfrm>
          <a:prstGeom prst="rect">
            <a:avLst/>
          </a:prstGeom>
          <a:solidFill>
            <a:srgbClr val="FFD700">
              <a:alpha val="799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5715000"/>
            <a:ext cx="9144000" cy="12700"/>
          </a:xfrm>
          <a:prstGeom prst="rect">
            <a:avLst/>
          </a:prstGeom>
          <a:solidFill>
            <a:srgbClr val="FFD700">
              <a:alpha val="799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rot="900000">
            <a:off x="274320" y="182880"/>
            <a:ext cx="2560320" cy="2560320"/>
          </a:xfrm>
          <a:prstGeom prst="rect">
            <a:avLst/>
          </a:prstGeom>
          <a:solidFill>
            <a:srgbClr val="FFD700">
              <a:alpha val="3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iamond 17"/>
          <p:cNvSpPr/>
          <p:nvPr/>
        </p:nvSpPr>
        <p:spPr>
          <a:xfrm>
            <a:off x="5303520" y="274320"/>
            <a:ext cx="2011680" cy="2011680"/>
          </a:xfrm>
          <a:prstGeom prst="diamond">
            <a:avLst/>
          </a:prstGeom>
          <a:solidFill>
            <a:srgbClr val="C9A96E">
              <a:alpha val="3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rot="-1200000">
            <a:off x="6400800" y="4114800"/>
            <a:ext cx="2286000" cy="2286000"/>
          </a:xfrm>
          <a:prstGeom prst="rect">
            <a:avLst/>
          </a:prstGeom>
          <a:solidFill>
            <a:srgbClr val="FFD700">
              <a:alpha val="3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iamond 19"/>
          <p:cNvSpPr/>
          <p:nvPr/>
        </p:nvSpPr>
        <p:spPr>
          <a:xfrm rot="1800000">
            <a:off x="731520" y="4572000"/>
            <a:ext cx="1645920" cy="1645920"/>
          </a:xfrm>
          <a:prstGeom prst="diamond">
            <a:avLst/>
          </a:prstGeom>
          <a:solidFill>
            <a:srgbClr val="C9A96E">
              <a:alpha val="3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600200" y="2057400"/>
            <a:ext cx="5943600" cy="2743200"/>
          </a:xfrm>
          <a:prstGeom prst="roundRect">
            <a:avLst/>
          </a:prstGeom>
          <a:solidFill>
            <a:srgbClr val="000000">
              <a:alpha val="6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600200" y="2057400"/>
            <a:ext cx="5943600" cy="127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600200" y="4787900"/>
            <a:ext cx="5943600" cy="127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371600" y="2377440"/>
            <a:ext cx="6400800" cy="1097280"/>
          </a:xfrm>
          <a:prstGeom prst="rect">
            <a:avLst/>
          </a:prstGeom>
          <a:noFill/>
        </p:spPr>
        <p:txBody>
          <a:bodyPr wrap="square">
            <a:spAutoFit/>
          </a:bodyPr>
          <a:lstStyle/>
          <a:p>
            <a:pPr algn="ctr">
              <a:defRPr sz="4400" b="1">
                <a:solidFill>
                  <a:srgbClr val="FFD700"/>
                </a:solidFill>
              </a:defRPr>
            </a:pPr>
            <a:r>
              <a:t>Technology Theme Demo</a:t>
            </a:r>
          </a:p>
        </p:txBody>
      </p:sp>
      <p:sp>
        <p:nvSpPr>
          <p:cNvPr id="25" name="Rectangle 24"/>
          <p:cNvSpPr/>
          <p:nvPr/>
        </p:nvSpPr>
        <p:spPr>
          <a:xfrm>
            <a:off x="3429000" y="3520440"/>
            <a:ext cx="2286000" cy="127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371600" y="3749039"/>
            <a:ext cx="6400800" cy="731520"/>
          </a:xfrm>
          <a:prstGeom prst="rect">
            <a:avLst/>
          </a:prstGeom>
          <a:noFill/>
        </p:spPr>
        <p:txBody>
          <a:bodyPr wrap="square">
            <a:spAutoFit/>
          </a:bodyPr>
          <a:lstStyle/>
          <a:p>
            <a:pPr algn="ctr">
              <a:defRPr sz="2000" b="0">
                <a:solidFill>
                  <a:srgbClr val="A0A0B0"/>
                </a:solidFill>
              </a:defRPr>
            </a:pPr>
            <a:r>
              <a:t>PPT Template Library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C9A9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914400"/>
          </a:xfrm>
          <a:prstGeom prst="rect">
            <a:avLst/>
          </a:prstGeom>
          <a:solidFill>
            <a:srgbClr val="C9A9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68680"/>
            <a:ext cx="9144000" cy="254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37160"/>
            <a:ext cx="8046720" cy="640080"/>
          </a:xfrm>
          <a:prstGeom prst="rect">
            <a:avLst/>
          </a:prstGeom>
          <a:noFill/>
        </p:spPr>
        <p:txBody>
          <a:bodyPr wrap="square">
            <a:spAutoFit/>
          </a:bodyPr>
          <a:lstStyle/>
          <a:p>
            <a:pPr algn="l">
              <a:defRPr sz="2800" b="1">
                <a:solidFill>
                  <a:srgbClr val="C9A96E"/>
                </a:solidFill>
              </a:defRPr>
            </a:pPr>
            <a:r>
              <a:t>Mục lục</a:t>
            </a:r>
          </a:p>
        </p:txBody>
      </p:sp>
      <p:sp>
        <p:nvSpPr>
          <p:cNvPr id="6" name="Rounded Rectangle 5"/>
          <p:cNvSpPr/>
          <p:nvPr/>
        </p:nvSpPr>
        <p:spPr>
          <a:xfrm>
            <a:off x="640080" y="1371600"/>
            <a:ext cx="2377440" cy="1463040"/>
          </a:xfrm>
          <a:prstGeom prst="roundRect">
            <a:avLst/>
          </a:prstGeom>
          <a:solidFill>
            <a:srgbClr val="C9A9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371600"/>
            <a:ext cx="2377440" cy="254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554480"/>
            <a:ext cx="2377440" cy="457200"/>
          </a:xfrm>
          <a:prstGeom prst="rect">
            <a:avLst/>
          </a:prstGeom>
          <a:noFill/>
        </p:spPr>
        <p:txBody>
          <a:bodyPr wrap="square">
            <a:spAutoFit/>
          </a:bodyPr>
          <a:lstStyle/>
          <a:p>
            <a:pPr algn="ctr">
              <a:defRPr sz="2400" b="1">
                <a:solidFill>
                  <a:srgbClr val="FFD700"/>
                </a:solidFill>
              </a:defRPr>
            </a:pPr>
            <a:r>
              <a:t>01</a:t>
            </a:r>
          </a:p>
        </p:txBody>
      </p:sp>
      <p:sp>
        <p:nvSpPr>
          <p:cNvPr id="9" name="TextBox 8"/>
          <p:cNvSpPr txBox="1"/>
          <p:nvPr/>
        </p:nvSpPr>
        <p:spPr>
          <a:xfrm>
            <a:off x="640080" y="2103120"/>
            <a:ext cx="2377440" cy="365760"/>
          </a:xfrm>
          <a:prstGeom prst="rect">
            <a:avLst/>
          </a:prstGeom>
          <a:noFill/>
        </p:spPr>
        <p:txBody>
          <a:bodyPr wrap="square">
            <a:spAutoFit/>
          </a:bodyPr>
          <a:lstStyle/>
          <a:p>
            <a:pPr algn="ctr">
              <a:defRPr sz="1400" b="1">
                <a:solidFill>
                  <a:srgbClr val="C9A96E"/>
                </a:solidFill>
              </a:defRPr>
            </a:pPr>
            <a:r>
              <a:t>Kiến trúc công nghệ</a:t>
            </a:r>
          </a:p>
        </p:txBody>
      </p:sp>
      <p:sp>
        <p:nvSpPr>
          <p:cNvPr id="10" name="Rounded Rectangle 9"/>
          <p:cNvSpPr/>
          <p:nvPr/>
        </p:nvSpPr>
        <p:spPr>
          <a:xfrm>
            <a:off x="3383280" y="1371600"/>
            <a:ext cx="2377440" cy="1463040"/>
          </a:xfrm>
          <a:prstGeom prst="roundRect">
            <a:avLst/>
          </a:prstGeom>
          <a:solidFill>
            <a:srgbClr val="C9A9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383280" y="1371600"/>
            <a:ext cx="2377440" cy="254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83280" y="1554480"/>
            <a:ext cx="2377440" cy="457200"/>
          </a:xfrm>
          <a:prstGeom prst="rect">
            <a:avLst/>
          </a:prstGeom>
          <a:noFill/>
        </p:spPr>
        <p:txBody>
          <a:bodyPr wrap="square">
            <a:spAutoFit/>
          </a:bodyPr>
          <a:lstStyle/>
          <a:p>
            <a:pPr algn="ctr">
              <a:defRPr sz="2400" b="1">
                <a:solidFill>
                  <a:srgbClr val="FFD700"/>
                </a:solidFill>
              </a:defRPr>
            </a:pPr>
            <a:r>
              <a:t>02</a:t>
            </a:r>
          </a:p>
        </p:txBody>
      </p:sp>
      <p:sp>
        <p:nvSpPr>
          <p:cNvPr id="13" name="TextBox 12"/>
          <p:cNvSpPr txBox="1"/>
          <p:nvPr/>
        </p:nvSpPr>
        <p:spPr>
          <a:xfrm>
            <a:off x="3383280" y="2103120"/>
            <a:ext cx="2377440" cy="365760"/>
          </a:xfrm>
          <a:prstGeom prst="rect">
            <a:avLst/>
          </a:prstGeom>
          <a:noFill/>
        </p:spPr>
        <p:txBody>
          <a:bodyPr wrap="square">
            <a:spAutoFit/>
          </a:bodyPr>
          <a:lstStyle/>
          <a:p>
            <a:pPr algn="ctr">
              <a:defRPr sz="1400" b="1">
                <a:solidFill>
                  <a:srgbClr val="C9A96E"/>
                </a:solidFill>
              </a:defRPr>
            </a:pPr>
            <a:r>
              <a:t>Công nghệ cốt lõi</a:t>
            </a:r>
          </a:p>
        </p:txBody>
      </p:sp>
      <p:sp>
        <p:nvSpPr>
          <p:cNvPr id="14" name="Rounded Rectangle 13"/>
          <p:cNvSpPr/>
          <p:nvPr/>
        </p:nvSpPr>
        <p:spPr>
          <a:xfrm>
            <a:off x="6126480" y="1371600"/>
            <a:ext cx="2377440" cy="1463040"/>
          </a:xfrm>
          <a:prstGeom prst="roundRect">
            <a:avLst/>
          </a:prstGeom>
          <a:solidFill>
            <a:srgbClr val="C9A9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26480" y="1371600"/>
            <a:ext cx="2377440" cy="254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26480" y="1554480"/>
            <a:ext cx="2377440" cy="457200"/>
          </a:xfrm>
          <a:prstGeom prst="rect">
            <a:avLst/>
          </a:prstGeom>
          <a:noFill/>
        </p:spPr>
        <p:txBody>
          <a:bodyPr wrap="square">
            <a:spAutoFit/>
          </a:bodyPr>
          <a:lstStyle/>
          <a:p>
            <a:pPr algn="ctr">
              <a:defRPr sz="2400" b="1">
                <a:solidFill>
                  <a:srgbClr val="FFD700"/>
                </a:solidFill>
              </a:defRPr>
            </a:pPr>
            <a:r>
              <a:t>03</a:t>
            </a:r>
          </a:p>
        </p:txBody>
      </p:sp>
      <p:sp>
        <p:nvSpPr>
          <p:cNvPr id="17" name="TextBox 16"/>
          <p:cNvSpPr txBox="1"/>
          <p:nvPr/>
        </p:nvSpPr>
        <p:spPr>
          <a:xfrm>
            <a:off x="6126480" y="2103120"/>
            <a:ext cx="2377440" cy="365760"/>
          </a:xfrm>
          <a:prstGeom prst="rect">
            <a:avLst/>
          </a:prstGeom>
          <a:noFill/>
        </p:spPr>
        <p:txBody>
          <a:bodyPr wrap="square">
            <a:spAutoFit/>
          </a:bodyPr>
          <a:lstStyle/>
          <a:p>
            <a:pPr algn="ctr">
              <a:defRPr sz="1400" b="1">
                <a:solidFill>
                  <a:srgbClr val="C9A96E"/>
                </a:solidFill>
              </a:defRPr>
            </a:pPr>
            <a:r>
              <a:t>Ngăn xếp công nghệ</a:t>
            </a:r>
          </a:p>
        </p:txBody>
      </p:sp>
      <p:sp>
        <p:nvSpPr>
          <p:cNvPr id="18" name="Rounded Rectangle 17"/>
          <p:cNvSpPr/>
          <p:nvPr/>
        </p:nvSpPr>
        <p:spPr>
          <a:xfrm>
            <a:off x="640080" y="3200400"/>
            <a:ext cx="2377440" cy="1463040"/>
          </a:xfrm>
          <a:prstGeom prst="roundRect">
            <a:avLst/>
          </a:prstGeom>
          <a:solidFill>
            <a:srgbClr val="C9A9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0080" y="3200400"/>
            <a:ext cx="2377440" cy="254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3383280"/>
            <a:ext cx="2377440" cy="457200"/>
          </a:xfrm>
          <a:prstGeom prst="rect">
            <a:avLst/>
          </a:prstGeom>
          <a:noFill/>
        </p:spPr>
        <p:txBody>
          <a:bodyPr wrap="square">
            <a:spAutoFit/>
          </a:bodyPr>
          <a:lstStyle/>
          <a:p>
            <a:pPr algn="ctr">
              <a:defRPr sz="2400" b="1">
                <a:solidFill>
                  <a:srgbClr val="FFD700"/>
                </a:solidFill>
              </a:defRPr>
            </a:pPr>
            <a:r>
              <a:t>04</a:t>
            </a:r>
          </a:p>
        </p:txBody>
      </p:sp>
      <p:sp>
        <p:nvSpPr>
          <p:cNvPr id="21" name="TextBox 20"/>
          <p:cNvSpPr txBox="1"/>
          <p:nvPr/>
        </p:nvSpPr>
        <p:spPr>
          <a:xfrm>
            <a:off x="640080" y="3931920"/>
            <a:ext cx="2377440" cy="365760"/>
          </a:xfrm>
          <a:prstGeom prst="rect">
            <a:avLst/>
          </a:prstGeom>
          <a:noFill/>
        </p:spPr>
        <p:txBody>
          <a:bodyPr wrap="square">
            <a:spAutoFit/>
          </a:bodyPr>
          <a:lstStyle/>
          <a:p>
            <a:pPr algn="ctr">
              <a:defRPr sz="1400" b="1">
                <a:solidFill>
                  <a:srgbClr val="C9A96E"/>
                </a:solidFill>
              </a:defRPr>
            </a:pPr>
            <a:r>
              <a:t>Chỉ số hiệu năng</a:t>
            </a:r>
          </a:p>
        </p:txBody>
      </p:sp>
      <p:sp>
        <p:nvSpPr>
          <p:cNvPr id="22" name="Rounded Rectangle 21"/>
          <p:cNvSpPr/>
          <p:nvPr/>
        </p:nvSpPr>
        <p:spPr>
          <a:xfrm>
            <a:off x="3383280" y="3200400"/>
            <a:ext cx="2377440" cy="1463040"/>
          </a:xfrm>
          <a:prstGeom prst="roundRect">
            <a:avLst/>
          </a:prstGeom>
          <a:solidFill>
            <a:srgbClr val="C9A9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383280" y="3200400"/>
            <a:ext cx="2377440" cy="254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383280" y="3383280"/>
            <a:ext cx="2377440" cy="457200"/>
          </a:xfrm>
          <a:prstGeom prst="rect">
            <a:avLst/>
          </a:prstGeom>
          <a:noFill/>
        </p:spPr>
        <p:txBody>
          <a:bodyPr wrap="square">
            <a:spAutoFit/>
          </a:bodyPr>
          <a:lstStyle/>
          <a:p>
            <a:pPr algn="ctr">
              <a:defRPr sz="2400" b="1">
                <a:solidFill>
                  <a:srgbClr val="FFD700"/>
                </a:solidFill>
              </a:defRPr>
            </a:pPr>
            <a:r>
              <a:t>05</a:t>
            </a:r>
          </a:p>
        </p:txBody>
      </p:sp>
      <p:sp>
        <p:nvSpPr>
          <p:cNvPr id="25" name="TextBox 24"/>
          <p:cNvSpPr txBox="1"/>
          <p:nvPr/>
        </p:nvSpPr>
        <p:spPr>
          <a:xfrm>
            <a:off x="3383280" y="3931920"/>
            <a:ext cx="2377440" cy="365760"/>
          </a:xfrm>
          <a:prstGeom prst="rect">
            <a:avLst/>
          </a:prstGeom>
          <a:noFill/>
        </p:spPr>
        <p:txBody>
          <a:bodyPr wrap="square">
            <a:spAutoFit/>
          </a:bodyPr>
          <a:lstStyle/>
          <a:p>
            <a:pPr algn="ctr">
              <a:defRPr sz="1400" b="1">
                <a:solidFill>
                  <a:srgbClr val="C9A96E"/>
                </a:solidFill>
              </a:defRPr>
            </a:pPr>
            <a:r>
              <a:t>Định hướng tương lai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C9A9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560320"/>
            <a:ext cx="9144000" cy="1828800"/>
          </a:xfrm>
          <a:prstGeom prst="rect">
            <a:avLst/>
          </a:prstGeom>
          <a:solidFill>
            <a:srgbClr val="FFD700">
              <a:alpha val="9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743200"/>
            <a:ext cx="7315200" cy="914400"/>
          </a:xfrm>
          <a:prstGeom prst="rect">
            <a:avLst/>
          </a:prstGeom>
          <a:noFill/>
        </p:spPr>
        <p:txBody>
          <a:bodyPr wrap="square">
            <a:spAutoFit/>
          </a:bodyPr>
          <a:lstStyle/>
          <a:p>
            <a:pPr algn="ctr">
              <a:defRPr sz="3600" b="1">
                <a:solidFill>
                  <a:srgbClr val="C9A96E"/>
                </a:solidFill>
              </a:defRPr>
            </a:pPr>
            <a:r>
              <a:t>Kiến trúc công nghệ</a:t>
            </a:r>
          </a:p>
        </p:txBody>
      </p:sp>
      <p:sp>
        <p:nvSpPr>
          <p:cNvPr id="5" name="TextBox 4"/>
          <p:cNvSpPr txBox="1"/>
          <p:nvPr/>
        </p:nvSpPr>
        <p:spPr>
          <a:xfrm>
            <a:off x="914400" y="3657600"/>
            <a:ext cx="7315200" cy="548640"/>
          </a:xfrm>
          <a:prstGeom prst="rect">
            <a:avLst/>
          </a:prstGeom>
          <a:noFill/>
        </p:spPr>
        <p:txBody>
          <a:bodyPr wrap="square">
            <a:spAutoFit/>
          </a:bodyPr>
          <a:lstStyle/>
          <a:p>
            <a:pPr algn="ctr">
              <a:defRPr sz="1800" b="0">
                <a:solidFill>
                  <a:srgbClr val="C9A96E"/>
                </a:solidFill>
              </a:defRPr>
            </a:pPr>
            <a:r>
              <a:t>Architecture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C9A9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914400"/>
          </a:xfrm>
          <a:prstGeom prst="rect">
            <a:avLst/>
          </a:prstGeom>
          <a:solidFill>
            <a:srgbClr val="C9A9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68680"/>
            <a:ext cx="9144000" cy="254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37160"/>
            <a:ext cx="8046720" cy="640080"/>
          </a:xfrm>
          <a:prstGeom prst="rect">
            <a:avLst/>
          </a:prstGeom>
          <a:noFill/>
        </p:spPr>
        <p:txBody>
          <a:bodyPr wrap="square">
            <a:spAutoFit/>
          </a:bodyPr>
          <a:lstStyle/>
          <a:p>
            <a:pPr algn="l">
              <a:defRPr sz="2800" b="1">
                <a:solidFill>
                  <a:srgbClr val="C9A96E"/>
                </a:solidFill>
              </a:defRPr>
            </a:pPr>
            <a:r>
              <a:t>Kiến trúc công nghệ</a:t>
            </a:r>
          </a:p>
        </p:txBody>
      </p:sp>
      <p:sp>
        <p:nvSpPr>
          <p:cNvPr id="6" name="Rounded Rectangle 5"/>
          <p:cNvSpPr/>
          <p:nvPr/>
        </p:nvSpPr>
        <p:spPr>
          <a:xfrm>
            <a:off x="685800" y="1188720"/>
            <a:ext cx="7772400" cy="1005840"/>
          </a:xfrm>
          <a:prstGeom prst="roundRect">
            <a:avLst/>
          </a:prstGeom>
          <a:solidFill>
            <a:srgbClr val="C9A9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1188720"/>
            <a:ext cx="1371600" cy="1005840"/>
          </a:xfrm>
          <a:prstGeom prst="rect">
            <a:avLst/>
          </a:prstGeom>
          <a:solidFill>
            <a:srgbClr val="FFD700">
              <a:alpha val="8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280160"/>
            <a:ext cx="1371600" cy="365760"/>
          </a:xfrm>
          <a:prstGeom prst="rect">
            <a:avLst/>
          </a:prstGeom>
          <a:noFill/>
        </p:spPr>
        <p:txBody>
          <a:bodyPr wrap="square">
            <a:spAutoFit/>
          </a:bodyPr>
          <a:lstStyle/>
          <a:p>
            <a:pPr algn="ctr">
              <a:defRPr sz="1400" b="1">
                <a:solidFill>
                  <a:srgbClr val="FFFFFF"/>
                </a:solidFill>
              </a:defRPr>
            </a:pPr>
            <a:r>
              <a:t>Tầng ứng dụng</a:t>
            </a:r>
          </a:p>
        </p:txBody>
      </p:sp>
      <p:sp>
        <p:nvSpPr>
          <p:cNvPr id="9" name="TextBox 8"/>
          <p:cNvSpPr txBox="1"/>
          <p:nvPr/>
        </p:nvSpPr>
        <p:spPr>
          <a:xfrm>
            <a:off x="2331720" y="1463040"/>
            <a:ext cx="5852160" cy="457200"/>
          </a:xfrm>
          <a:prstGeom prst="rect">
            <a:avLst/>
          </a:prstGeom>
          <a:noFill/>
        </p:spPr>
        <p:txBody>
          <a:bodyPr wrap="square">
            <a:spAutoFit/>
          </a:bodyPr>
          <a:lstStyle/>
          <a:p>
            <a:pPr algn="l">
              <a:defRPr sz="1200" b="0">
                <a:solidFill>
                  <a:srgbClr val="C9A96E"/>
                </a:solidFill>
              </a:defRPr>
            </a:pPr>
            <a:r>
              <a:t>Giao diện Web | Di động | Cổng API Gateway | Bảng quản trị</a:t>
            </a:r>
          </a:p>
        </p:txBody>
      </p:sp>
      <p:sp>
        <p:nvSpPr>
          <p:cNvPr id="10" name="Rounded Rectangle 9"/>
          <p:cNvSpPr/>
          <p:nvPr/>
        </p:nvSpPr>
        <p:spPr>
          <a:xfrm>
            <a:off x="685800" y="2377440"/>
            <a:ext cx="7772400" cy="1005840"/>
          </a:xfrm>
          <a:prstGeom prst="roundRect">
            <a:avLst/>
          </a:prstGeom>
          <a:solidFill>
            <a:srgbClr val="C9A9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85800" y="2377440"/>
            <a:ext cx="1371600" cy="1005840"/>
          </a:xfrm>
          <a:prstGeom prst="rect">
            <a:avLst/>
          </a:prstGeom>
          <a:solidFill>
            <a:srgbClr val="C9A96E">
              <a:alpha val="8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468880"/>
            <a:ext cx="1371600" cy="365760"/>
          </a:xfrm>
          <a:prstGeom prst="rect">
            <a:avLst/>
          </a:prstGeom>
          <a:noFill/>
        </p:spPr>
        <p:txBody>
          <a:bodyPr wrap="square">
            <a:spAutoFit/>
          </a:bodyPr>
          <a:lstStyle/>
          <a:p>
            <a:pPr algn="ctr">
              <a:defRPr sz="1400" b="1">
                <a:solidFill>
                  <a:srgbClr val="FFFFFF"/>
                </a:solidFill>
              </a:defRPr>
            </a:pPr>
            <a:r>
              <a:t>Tầng dịch vụ</a:t>
            </a:r>
          </a:p>
        </p:txBody>
      </p:sp>
      <p:sp>
        <p:nvSpPr>
          <p:cNvPr id="13" name="TextBox 12"/>
          <p:cNvSpPr txBox="1"/>
          <p:nvPr/>
        </p:nvSpPr>
        <p:spPr>
          <a:xfrm>
            <a:off x="2331720" y="2651760"/>
            <a:ext cx="5852160" cy="457200"/>
          </a:xfrm>
          <a:prstGeom prst="rect">
            <a:avLst/>
          </a:prstGeom>
          <a:noFill/>
        </p:spPr>
        <p:txBody>
          <a:bodyPr wrap="square">
            <a:spAutoFit/>
          </a:bodyPr>
          <a:lstStyle/>
          <a:p>
            <a:pPr algn="l">
              <a:defRPr sz="1200" b="0">
                <a:solidFill>
                  <a:srgbClr val="C9A96E"/>
                </a:solidFill>
              </a:defRPr>
            </a:pPr>
            <a:r>
              <a:t>Cụm vi dịch vụ | Động cơ AI | Xử lý dữ liệu | Hàng đợi thông điệp</a:t>
            </a:r>
          </a:p>
        </p:txBody>
      </p:sp>
      <p:sp>
        <p:nvSpPr>
          <p:cNvPr id="14" name="Rounded Rectangle 13"/>
          <p:cNvSpPr/>
          <p:nvPr/>
        </p:nvSpPr>
        <p:spPr>
          <a:xfrm>
            <a:off x="685800" y="3566160"/>
            <a:ext cx="7772400" cy="1005840"/>
          </a:xfrm>
          <a:prstGeom prst="roundRect">
            <a:avLst/>
          </a:prstGeom>
          <a:solidFill>
            <a:srgbClr val="C9A9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85800" y="3566160"/>
            <a:ext cx="1371600" cy="1005840"/>
          </a:xfrm>
          <a:prstGeom prst="rect">
            <a:avLst/>
          </a:prstGeom>
          <a:solidFill>
            <a:srgbClr val="FFD700">
              <a:alpha val="8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3657600"/>
            <a:ext cx="1371600" cy="365760"/>
          </a:xfrm>
          <a:prstGeom prst="rect">
            <a:avLst/>
          </a:prstGeom>
          <a:noFill/>
        </p:spPr>
        <p:txBody>
          <a:bodyPr wrap="square">
            <a:spAutoFit/>
          </a:bodyPr>
          <a:lstStyle/>
          <a:p>
            <a:pPr algn="ctr">
              <a:defRPr sz="1400" b="1">
                <a:solidFill>
                  <a:srgbClr val="FFFFFF"/>
                </a:solidFill>
              </a:defRPr>
            </a:pPr>
            <a:r>
              <a:t>Tầng dữ liệu</a:t>
            </a:r>
          </a:p>
        </p:txBody>
      </p:sp>
      <p:sp>
        <p:nvSpPr>
          <p:cNvPr id="17" name="TextBox 16"/>
          <p:cNvSpPr txBox="1"/>
          <p:nvPr/>
        </p:nvSpPr>
        <p:spPr>
          <a:xfrm>
            <a:off x="2331720" y="3840480"/>
            <a:ext cx="5852160" cy="457200"/>
          </a:xfrm>
          <a:prstGeom prst="rect">
            <a:avLst/>
          </a:prstGeom>
          <a:noFill/>
        </p:spPr>
        <p:txBody>
          <a:bodyPr wrap="square">
            <a:spAutoFit/>
          </a:bodyPr>
          <a:lstStyle/>
          <a:p>
            <a:pPr algn="l">
              <a:defRPr sz="1200" b="0">
                <a:solidFill>
                  <a:srgbClr val="C9A96E"/>
                </a:solidFill>
              </a:defRPr>
            </a:pPr>
            <a:r>
              <a:t>Cơ sở dữ liệu quan hệ | Bộ nhớ đệm Cache | Lưu trữ đối tượng | Kho dữ liệu Data Warehouse</a:t>
            </a:r>
          </a:p>
        </p:txBody>
      </p:sp>
      <p:sp>
        <p:nvSpPr>
          <p:cNvPr id="18" name="Rounded Rectangle 17"/>
          <p:cNvSpPr/>
          <p:nvPr/>
        </p:nvSpPr>
        <p:spPr>
          <a:xfrm>
            <a:off x="685800" y="4754880"/>
            <a:ext cx="7772400" cy="1005840"/>
          </a:xfrm>
          <a:prstGeom prst="roundRect">
            <a:avLst/>
          </a:prstGeom>
          <a:solidFill>
            <a:srgbClr val="C9A9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85800" y="4754880"/>
            <a:ext cx="1371600" cy="1005840"/>
          </a:xfrm>
          <a:prstGeom prst="rect">
            <a:avLst/>
          </a:prstGeom>
          <a:solidFill>
            <a:srgbClr val="C9A96E">
              <a:alpha val="8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4846320"/>
            <a:ext cx="1371600" cy="365760"/>
          </a:xfrm>
          <a:prstGeom prst="rect">
            <a:avLst/>
          </a:prstGeom>
          <a:noFill/>
        </p:spPr>
        <p:txBody>
          <a:bodyPr wrap="square">
            <a:spAutoFit/>
          </a:bodyPr>
          <a:lstStyle/>
          <a:p>
            <a:pPr algn="ctr">
              <a:defRPr sz="1400" b="1">
                <a:solidFill>
                  <a:srgbClr val="FFFFFF"/>
                </a:solidFill>
              </a:defRPr>
            </a:pPr>
            <a:r>
              <a:t>Tầng hạ tầng</a:t>
            </a:r>
          </a:p>
        </p:txBody>
      </p:sp>
      <p:sp>
        <p:nvSpPr>
          <p:cNvPr id="21" name="TextBox 20"/>
          <p:cNvSpPr txBox="1"/>
          <p:nvPr/>
        </p:nvSpPr>
        <p:spPr>
          <a:xfrm>
            <a:off x="2331720" y="5029200"/>
            <a:ext cx="5852160" cy="457200"/>
          </a:xfrm>
          <a:prstGeom prst="rect">
            <a:avLst/>
          </a:prstGeom>
          <a:noFill/>
        </p:spPr>
        <p:txBody>
          <a:bodyPr wrap="square">
            <a:spAutoFit/>
          </a:bodyPr>
          <a:lstStyle/>
          <a:p>
            <a:pPr algn="l">
              <a:defRPr sz="1200" b="0">
                <a:solidFill>
                  <a:srgbClr val="C9A96E"/>
                </a:solidFill>
              </a:defRPr>
            </a:pPr>
            <a:r>
              <a:t>Kubernetes | Docker | CI/CD | Giám sát &amp; Cảnh báo</a:t>
            </a:r>
          </a:p>
        </p:txBody>
      </p:sp>
      <p:sp>
        <p:nvSpPr>
          <p:cNvPr id="22" name="TextBox 21"/>
          <p:cNvSpPr txBox="1"/>
          <p:nvPr/>
        </p:nvSpPr>
        <p:spPr>
          <a:xfrm>
            <a:off x="4572000" y="2240280"/>
            <a:ext cx="457200" cy="274320"/>
          </a:xfrm>
          <a:prstGeom prst="rect">
            <a:avLst/>
          </a:prstGeom>
          <a:noFill/>
        </p:spPr>
        <p:txBody>
          <a:bodyPr wrap="square">
            <a:spAutoFit/>
          </a:bodyPr>
          <a:lstStyle/>
          <a:p>
            <a:pPr algn="ctr">
              <a:defRPr sz="1600" b="0">
                <a:solidFill>
                  <a:srgbClr val="FFD700"/>
                </a:solidFill>
              </a:defRPr>
            </a:pPr>
            <a:r>
              <a:t>|</a:t>
            </a:r>
          </a:p>
        </p:txBody>
      </p:sp>
      <p:sp>
        <p:nvSpPr>
          <p:cNvPr id="23" name="TextBox 22"/>
          <p:cNvSpPr txBox="1"/>
          <p:nvPr/>
        </p:nvSpPr>
        <p:spPr>
          <a:xfrm>
            <a:off x="4572000" y="3429000"/>
            <a:ext cx="457200" cy="274320"/>
          </a:xfrm>
          <a:prstGeom prst="rect">
            <a:avLst/>
          </a:prstGeom>
          <a:noFill/>
        </p:spPr>
        <p:txBody>
          <a:bodyPr wrap="square">
            <a:spAutoFit/>
          </a:bodyPr>
          <a:lstStyle/>
          <a:p>
            <a:pPr algn="ctr">
              <a:defRPr sz="1600" b="0">
                <a:solidFill>
                  <a:srgbClr val="FFD700"/>
                </a:solidFill>
              </a:defRPr>
            </a:pPr>
            <a:r>
              <a:t>|</a:t>
            </a:r>
          </a:p>
        </p:txBody>
      </p:sp>
      <p:sp>
        <p:nvSpPr>
          <p:cNvPr id="24" name="TextBox 23"/>
          <p:cNvSpPr txBox="1"/>
          <p:nvPr/>
        </p:nvSpPr>
        <p:spPr>
          <a:xfrm>
            <a:off x="4572000" y="4617720"/>
            <a:ext cx="457200" cy="274320"/>
          </a:xfrm>
          <a:prstGeom prst="rect">
            <a:avLst/>
          </a:prstGeom>
          <a:noFill/>
        </p:spPr>
        <p:txBody>
          <a:bodyPr wrap="square">
            <a:spAutoFit/>
          </a:bodyPr>
          <a:lstStyle/>
          <a:p>
            <a:pPr algn="ctr">
              <a:defRPr sz="1600" b="0">
                <a:solidFill>
                  <a:srgbClr val="FFD700"/>
                </a:solidFill>
              </a:defRPr>
            </a:pPr>
            <a:r>
              <a:t>|</a:t>
            </a:r>
          </a:p>
        </p:txBody>
      </p:sp>
      <p:sp>
        <p:nvSpPr>
          <p:cNvPr id="25" name="Rounded Rectangle 24"/>
          <p:cNvSpPr/>
          <p:nvPr/>
        </p:nvSpPr>
        <p:spPr>
          <a:xfrm>
            <a:off x="457200" y="5760720"/>
            <a:ext cx="8229600" cy="731520"/>
          </a:xfrm>
          <a:prstGeom prst="roundRect">
            <a:avLst/>
          </a:prstGeom>
          <a:solidFill>
            <a:srgbClr val="C9A9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 y="5897880"/>
            <a:ext cx="8229600" cy="457200"/>
          </a:xfrm>
          <a:prstGeom prst="rect">
            <a:avLst/>
          </a:prstGeom>
          <a:noFill/>
        </p:spPr>
        <p:txBody>
          <a:bodyPr wrap="square">
            <a:spAutoFit/>
          </a:bodyPr>
          <a:lstStyle/>
          <a:p>
            <a:pPr algn="ctr">
              <a:defRPr sz="1300" b="1">
                <a:solidFill>
                  <a:srgbClr val="FFD700"/>
                </a:solidFill>
              </a:defRPr>
            </a:pPr>
            <a:r>
              <a:t>Sẵn sàng cao | Mở rộng ngang | Kiến trúc vi dịch vụ | Cloud-Native | Chuẩn mực bảo mật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C9A9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560320"/>
            <a:ext cx="9144000" cy="1828800"/>
          </a:xfrm>
          <a:prstGeom prst="rect">
            <a:avLst/>
          </a:prstGeom>
          <a:solidFill>
            <a:srgbClr val="FFD700">
              <a:alpha val="9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743200"/>
            <a:ext cx="7315200" cy="914400"/>
          </a:xfrm>
          <a:prstGeom prst="rect">
            <a:avLst/>
          </a:prstGeom>
          <a:noFill/>
        </p:spPr>
        <p:txBody>
          <a:bodyPr wrap="square">
            <a:spAutoFit/>
          </a:bodyPr>
          <a:lstStyle/>
          <a:p>
            <a:pPr algn="ctr">
              <a:defRPr sz="3600" b="1">
                <a:solidFill>
                  <a:srgbClr val="C9A96E"/>
                </a:solidFill>
              </a:defRPr>
            </a:pPr>
            <a:r>
              <a:t>Công nghệ cốt lõi</a:t>
            </a:r>
          </a:p>
        </p:txBody>
      </p:sp>
      <p:sp>
        <p:nvSpPr>
          <p:cNvPr id="5" name="TextBox 4"/>
          <p:cNvSpPr txBox="1"/>
          <p:nvPr/>
        </p:nvSpPr>
        <p:spPr>
          <a:xfrm>
            <a:off x="914400" y="3657600"/>
            <a:ext cx="7315200" cy="548640"/>
          </a:xfrm>
          <a:prstGeom prst="rect">
            <a:avLst/>
          </a:prstGeom>
          <a:noFill/>
        </p:spPr>
        <p:txBody>
          <a:bodyPr wrap="square">
            <a:spAutoFit/>
          </a:bodyPr>
          <a:lstStyle/>
          <a:p>
            <a:pPr algn="ctr">
              <a:defRPr sz="1800" b="0">
                <a:solidFill>
                  <a:srgbClr val="C9A96E"/>
                </a:solidFill>
              </a:defRPr>
            </a:pPr>
            <a:r>
              <a:t>Core Technology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C9A9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914400"/>
          </a:xfrm>
          <a:prstGeom prst="rect">
            <a:avLst/>
          </a:prstGeom>
          <a:solidFill>
            <a:srgbClr val="C9A9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68680"/>
            <a:ext cx="9144000" cy="254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37160"/>
            <a:ext cx="8046720" cy="640080"/>
          </a:xfrm>
          <a:prstGeom prst="rect">
            <a:avLst/>
          </a:prstGeom>
          <a:noFill/>
        </p:spPr>
        <p:txBody>
          <a:bodyPr wrap="square">
            <a:spAutoFit/>
          </a:bodyPr>
          <a:lstStyle/>
          <a:p>
            <a:pPr algn="l">
              <a:defRPr sz="2800" b="1">
                <a:solidFill>
                  <a:srgbClr val="C9A96E"/>
                </a:solidFill>
              </a:defRPr>
            </a:pPr>
            <a:r>
              <a:t>Công nghệ cốt lõi - Phần 1</a:t>
            </a:r>
          </a:p>
        </p:txBody>
      </p:sp>
      <p:sp>
        <p:nvSpPr>
          <p:cNvPr id="6" name="Rounded Rectangle 5"/>
          <p:cNvSpPr/>
          <p:nvPr/>
        </p:nvSpPr>
        <p:spPr>
          <a:xfrm>
            <a:off x="502920" y="1188720"/>
            <a:ext cx="3840480" cy="4114800"/>
          </a:xfrm>
          <a:prstGeom prst="roundRect">
            <a:avLst/>
          </a:prstGeom>
          <a:solidFill>
            <a:srgbClr val="C9A9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188720"/>
            <a:ext cx="3840480" cy="254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325880"/>
            <a:ext cx="3474720" cy="320040"/>
          </a:xfrm>
          <a:prstGeom prst="rect">
            <a:avLst/>
          </a:prstGeom>
          <a:noFill/>
        </p:spPr>
        <p:txBody>
          <a:bodyPr wrap="square">
            <a:spAutoFit/>
          </a:bodyPr>
          <a:lstStyle/>
          <a:p>
            <a:pPr algn="l">
              <a:defRPr sz="1400" b="1">
                <a:solidFill>
                  <a:srgbClr val="FFD700"/>
                </a:solidFill>
              </a:defRPr>
            </a:pPr>
            <a:r>
              <a:t>Động cơ tính toán phân tán</a:t>
            </a:r>
          </a:p>
        </p:txBody>
      </p:sp>
      <p:sp>
        <p:nvSpPr>
          <p:cNvPr id="9" name="TextBox 8"/>
          <p:cNvSpPr txBox="1"/>
          <p:nvPr/>
        </p:nvSpPr>
        <p:spPr>
          <a:xfrm>
            <a:off x="685800" y="1737360"/>
            <a:ext cx="3474720" cy="228600"/>
          </a:xfrm>
          <a:prstGeom prst="rect">
            <a:avLst/>
          </a:prstGeom>
          <a:noFill/>
        </p:spPr>
        <p:txBody>
          <a:bodyPr wrap="square">
            <a:spAutoFit/>
          </a:bodyPr>
          <a:lstStyle/>
          <a:p>
            <a:pPr algn="l">
              <a:defRPr sz="1000" b="0">
                <a:solidFill>
                  <a:srgbClr val="C9A96E"/>
                </a:solidFill>
              </a:defRPr>
            </a:pPr>
            <a:r>
              <a:t>  Tính toán thời gian thực trên nền Spark/Flink</a:t>
            </a:r>
          </a:p>
        </p:txBody>
      </p:sp>
      <p:sp>
        <p:nvSpPr>
          <p:cNvPr id="10" name="TextBox 9"/>
          <p:cNvSpPr txBox="1"/>
          <p:nvPr/>
        </p:nvSpPr>
        <p:spPr>
          <a:xfrm>
            <a:off x="685800" y="1993392"/>
            <a:ext cx="3474720" cy="228600"/>
          </a:xfrm>
          <a:prstGeom prst="rect">
            <a:avLst/>
          </a:prstGeom>
          <a:noFill/>
        </p:spPr>
        <p:txBody>
          <a:bodyPr wrap="square">
            <a:spAutoFit/>
          </a:bodyPr>
          <a:lstStyle/>
          <a:p>
            <a:pPr algn="l">
              <a:defRPr sz="1000" b="0">
                <a:solidFill>
                  <a:srgbClr val="C9A96E"/>
                </a:solidFill>
              </a:defRPr>
            </a:pPr>
            <a:r>
              <a:t>  Hỗ trợ xử lý dữ liệu quy mô PB</a:t>
            </a:r>
          </a:p>
        </p:txBody>
      </p:sp>
      <p:sp>
        <p:nvSpPr>
          <p:cNvPr id="11" name="TextBox 10"/>
          <p:cNvSpPr txBox="1"/>
          <p:nvPr/>
        </p:nvSpPr>
        <p:spPr>
          <a:xfrm>
            <a:off x="685800" y="2249424"/>
            <a:ext cx="3474720" cy="228600"/>
          </a:xfrm>
          <a:prstGeom prst="rect">
            <a:avLst/>
          </a:prstGeom>
          <a:noFill/>
        </p:spPr>
        <p:txBody>
          <a:bodyPr wrap="square">
            <a:spAutoFit/>
          </a:bodyPr>
          <a:lstStyle/>
          <a:p>
            <a:pPr algn="l">
              <a:defRPr sz="1000" b="0">
                <a:solidFill>
                  <a:srgbClr val="C9A96E"/>
                </a:solidFill>
              </a:defRPr>
            </a:pPr>
            <a:r>
              <a:t>  Bảo đảm độ trễ mức mili-giây</a:t>
            </a:r>
          </a:p>
        </p:txBody>
      </p:sp>
      <p:sp>
        <p:nvSpPr>
          <p:cNvPr id="12" name="TextBox 11"/>
          <p:cNvSpPr txBox="1"/>
          <p:nvPr/>
        </p:nvSpPr>
        <p:spPr>
          <a:xfrm>
            <a:off x="685800" y="2505456"/>
            <a:ext cx="3474720" cy="228600"/>
          </a:xfrm>
          <a:prstGeom prst="rect">
            <a:avLst/>
          </a:prstGeom>
          <a:noFill/>
        </p:spPr>
        <p:txBody>
          <a:bodyPr wrap="square">
            <a:spAutoFit/>
          </a:bodyPr>
          <a:lstStyle/>
          <a:p>
            <a:pPr algn="l">
              <a:defRPr sz="1000" b="0">
                <a:solidFill>
                  <a:srgbClr val="C9A96E"/>
                </a:solidFill>
              </a:defRPr>
            </a:pPr>
            <a:r>
              <a:t>  Tự động chịu lỗi và phục hồi</a:t>
            </a:r>
          </a:p>
        </p:txBody>
      </p:sp>
      <p:sp>
        <p:nvSpPr>
          <p:cNvPr id="13" name="Rounded Rectangle 12"/>
          <p:cNvSpPr/>
          <p:nvPr/>
        </p:nvSpPr>
        <p:spPr>
          <a:xfrm>
            <a:off x="4800600" y="1188720"/>
            <a:ext cx="3840480" cy="4114800"/>
          </a:xfrm>
          <a:prstGeom prst="roundRect">
            <a:avLst/>
          </a:prstGeom>
          <a:solidFill>
            <a:srgbClr val="C9A9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800600" y="1188720"/>
            <a:ext cx="3840480" cy="254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983480" y="1325880"/>
            <a:ext cx="3474720" cy="320040"/>
          </a:xfrm>
          <a:prstGeom prst="rect">
            <a:avLst/>
          </a:prstGeom>
          <a:noFill/>
        </p:spPr>
        <p:txBody>
          <a:bodyPr wrap="square">
            <a:spAutoFit/>
          </a:bodyPr>
          <a:lstStyle/>
          <a:p>
            <a:pPr algn="l">
              <a:defRPr sz="1400" b="1">
                <a:solidFill>
                  <a:srgbClr val="FFD700"/>
                </a:solidFill>
              </a:defRPr>
            </a:pPr>
            <a:r>
              <a:t>Khung suy luận AI</a:t>
            </a:r>
          </a:p>
        </p:txBody>
      </p:sp>
      <p:sp>
        <p:nvSpPr>
          <p:cNvPr id="16" name="TextBox 15"/>
          <p:cNvSpPr txBox="1"/>
          <p:nvPr/>
        </p:nvSpPr>
        <p:spPr>
          <a:xfrm>
            <a:off x="4983480" y="1737360"/>
            <a:ext cx="3474720" cy="228600"/>
          </a:xfrm>
          <a:prstGeom prst="rect">
            <a:avLst/>
          </a:prstGeom>
          <a:noFill/>
        </p:spPr>
        <p:txBody>
          <a:bodyPr wrap="square">
            <a:spAutoFit/>
          </a:bodyPr>
          <a:lstStyle/>
          <a:p>
            <a:pPr algn="l">
              <a:defRPr sz="1000" b="0">
                <a:solidFill>
                  <a:srgbClr val="C9A96E"/>
                </a:solidFill>
              </a:defRPr>
            </a:pPr>
            <a:r>
              <a:t>  Động cơ suy luận mô hình độc quyền</a:t>
            </a:r>
          </a:p>
        </p:txBody>
      </p:sp>
      <p:sp>
        <p:nvSpPr>
          <p:cNvPr id="17" name="TextBox 16"/>
          <p:cNvSpPr txBox="1"/>
          <p:nvPr/>
        </p:nvSpPr>
        <p:spPr>
          <a:xfrm>
            <a:off x="4983480" y="1993392"/>
            <a:ext cx="3474720" cy="228600"/>
          </a:xfrm>
          <a:prstGeom prst="rect">
            <a:avLst/>
          </a:prstGeom>
          <a:noFill/>
        </p:spPr>
        <p:txBody>
          <a:bodyPr wrap="square">
            <a:spAutoFit/>
          </a:bodyPr>
          <a:lstStyle/>
          <a:p>
            <a:pPr algn="l">
              <a:defRPr sz="1000" b="0">
                <a:solidFill>
                  <a:srgbClr val="C9A96E"/>
                </a:solidFill>
              </a:defRPr>
            </a:pPr>
            <a:r>
              <a:t>  Hỗ trợ đầu vào đa phương thức</a:t>
            </a:r>
          </a:p>
        </p:txBody>
      </p:sp>
      <p:sp>
        <p:nvSpPr>
          <p:cNvPr id="18" name="TextBox 17"/>
          <p:cNvSpPr txBox="1"/>
          <p:nvPr/>
        </p:nvSpPr>
        <p:spPr>
          <a:xfrm>
            <a:off x="4983480" y="2249424"/>
            <a:ext cx="3474720" cy="228600"/>
          </a:xfrm>
          <a:prstGeom prst="rect">
            <a:avLst/>
          </a:prstGeom>
          <a:noFill/>
        </p:spPr>
        <p:txBody>
          <a:bodyPr wrap="square">
            <a:spAutoFit/>
          </a:bodyPr>
          <a:lstStyle/>
          <a:p>
            <a:pPr algn="l">
              <a:defRPr sz="1000" b="0">
                <a:solidFill>
                  <a:srgbClr val="C9A96E"/>
                </a:solidFill>
              </a:defRPr>
            </a:pPr>
            <a:r>
              <a:t>  Điều phối cụm máy chủ GPU</a:t>
            </a:r>
          </a:p>
        </p:txBody>
      </p:sp>
      <p:sp>
        <p:nvSpPr>
          <p:cNvPr id="19" name="TextBox 18"/>
          <p:cNvSpPr txBox="1"/>
          <p:nvPr/>
        </p:nvSpPr>
        <p:spPr>
          <a:xfrm>
            <a:off x="4983480" y="2505456"/>
            <a:ext cx="3474720" cy="228600"/>
          </a:xfrm>
          <a:prstGeom prst="rect">
            <a:avLst/>
          </a:prstGeom>
          <a:noFill/>
        </p:spPr>
        <p:txBody>
          <a:bodyPr wrap="square">
            <a:spAutoFit/>
          </a:bodyPr>
          <a:lstStyle/>
          <a:p>
            <a:pPr algn="l">
              <a:defRPr sz="1000" b="0">
                <a:solidFill>
                  <a:srgbClr val="C9A96E"/>
                </a:solidFill>
              </a:defRPr>
            </a:pPr>
            <a:r>
              <a:t>  Quản lý phiên bản mô hình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C9A9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914400"/>
          </a:xfrm>
          <a:prstGeom prst="rect">
            <a:avLst/>
          </a:prstGeom>
          <a:solidFill>
            <a:srgbClr val="C9A9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68680"/>
            <a:ext cx="9144000" cy="254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37160"/>
            <a:ext cx="8046720" cy="640080"/>
          </a:xfrm>
          <a:prstGeom prst="rect">
            <a:avLst/>
          </a:prstGeom>
          <a:noFill/>
        </p:spPr>
        <p:txBody>
          <a:bodyPr wrap="square">
            <a:spAutoFit/>
          </a:bodyPr>
          <a:lstStyle/>
          <a:p>
            <a:pPr algn="l">
              <a:defRPr sz="2800" b="1">
                <a:solidFill>
                  <a:srgbClr val="C9A96E"/>
                </a:solidFill>
              </a:defRPr>
            </a:pPr>
            <a:r>
              <a:t>Công nghệ cốt lõi - Phần 2</a:t>
            </a:r>
          </a:p>
        </p:txBody>
      </p:sp>
      <p:sp>
        <p:nvSpPr>
          <p:cNvPr id="6" name="Rounded Rectangle 5"/>
          <p:cNvSpPr/>
          <p:nvPr/>
        </p:nvSpPr>
        <p:spPr>
          <a:xfrm>
            <a:off x="502920" y="1188720"/>
            <a:ext cx="3840480" cy="4114800"/>
          </a:xfrm>
          <a:prstGeom prst="roundRect">
            <a:avLst/>
          </a:prstGeom>
          <a:solidFill>
            <a:srgbClr val="C9A9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188720"/>
            <a:ext cx="3840480" cy="254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325880"/>
            <a:ext cx="3474720" cy="320040"/>
          </a:xfrm>
          <a:prstGeom prst="rect">
            <a:avLst/>
          </a:prstGeom>
          <a:noFill/>
        </p:spPr>
        <p:txBody>
          <a:bodyPr wrap="square">
            <a:spAutoFit/>
          </a:bodyPr>
          <a:lstStyle/>
          <a:p>
            <a:pPr algn="l">
              <a:defRPr sz="1400" b="1">
                <a:solidFill>
                  <a:srgbClr val="FFD700"/>
                </a:solidFill>
              </a:defRPr>
            </a:pPr>
            <a:r>
              <a:t>Hệ thống định tuyến thông minh</a:t>
            </a:r>
          </a:p>
        </p:txBody>
      </p:sp>
      <p:sp>
        <p:nvSpPr>
          <p:cNvPr id="9" name="TextBox 8"/>
          <p:cNvSpPr txBox="1"/>
          <p:nvPr/>
        </p:nvSpPr>
        <p:spPr>
          <a:xfrm>
            <a:off x="685800" y="1737360"/>
            <a:ext cx="3474720" cy="228600"/>
          </a:xfrm>
          <a:prstGeom prst="rect">
            <a:avLst/>
          </a:prstGeom>
          <a:noFill/>
        </p:spPr>
        <p:txBody>
          <a:bodyPr wrap="square">
            <a:spAutoFit/>
          </a:bodyPr>
          <a:lstStyle/>
          <a:p>
            <a:pPr algn="l">
              <a:defRPr sz="1000" b="0">
                <a:solidFill>
                  <a:srgbClr val="C9A96E"/>
                </a:solidFill>
              </a:defRPr>
            </a:pPr>
            <a:r>
              <a:t>  Cân bằng tải động thông minh</a:t>
            </a:r>
          </a:p>
        </p:txBody>
      </p:sp>
      <p:sp>
        <p:nvSpPr>
          <p:cNvPr id="10" name="TextBox 9"/>
          <p:cNvSpPr txBox="1"/>
          <p:nvPr/>
        </p:nvSpPr>
        <p:spPr>
          <a:xfrm>
            <a:off x="685800" y="1993392"/>
            <a:ext cx="3474720" cy="228600"/>
          </a:xfrm>
          <a:prstGeom prst="rect">
            <a:avLst/>
          </a:prstGeom>
          <a:noFill/>
        </p:spPr>
        <p:txBody>
          <a:bodyPr wrap="square">
            <a:spAutoFit/>
          </a:bodyPr>
          <a:lstStyle/>
          <a:p>
            <a:pPr algn="l">
              <a:defRPr sz="1000" b="0">
                <a:solidFill>
                  <a:srgbClr val="C9A96E"/>
                </a:solidFill>
              </a:defRPr>
            </a:pPr>
            <a:r>
              <a:t>  Điều phối lưu lượng thích ứng</a:t>
            </a:r>
          </a:p>
        </p:txBody>
      </p:sp>
      <p:sp>
        <p:nvSpPr>
          <p:cNvPr id="11" name="TextBox 10"/>
          <p:cNvSpPr txBox="1"/>
          <p:nvPr/>
        </p:nvSpPr>
        <p:spPr>
          <a:xfrm>
            <a:off x="685800" y="2249424"/>
            <a:ext cx="3474720" cy="228600"/>
          </a:xfrm>
          <a:prstGeom prst="rect">
            <a:avLst/>
          </a:prstGeom>
          <a:noFill/>
        </p:spPr>
        <p:txBody>
          <a:bodyPr wrap="square">
            <a:spAutoFit/>
          </a:bodyPr>
          <a:lstStyle/>
          <a:p>
            <a:pPr algn="l">
              <a:defRPr sz="1000" b="0">
                <a:solidFill>
                  <a:srgbClr val="C9A96E"/>
                </a:solidFill>
              </a:defRPr>
            </a:pPr>
            <a:r>
              <a:t>  Tự động chuyển đổi khi sự cố</a:t>
            </a:r>
          </a:p>
        </p:txBody>
      </p:sp>
      <p:sp>
        <p:nvSpPr>
          <p:cNvPr id="12" name="TextBox 11"/>
          <p:cNvSpPr txBox="1"/>
          <p:nvPr/>
        </p:nvSpPr>
        <p:spPr>
          <a:xfrm>
            <a:off x="685800" y="2505456"/>
            <a:ext cx="3474720" cy="228600"/>
          </a:xfrm>
          <a:prstGeom prst="rect">
            <a:avLst/>
          </a:prstGeom>
          <a:noFill/>
        </p:spPr>
        <p:txBody>
          <a:bodyPr wrap="square">
            <a:spAutoFit/>
          </a:bodyPr>
          <a:lstStyle/>
          <a:p>
            <a:pPr algn="l">
              <a:defRPr sz="1000" b="0">
                <a:solidFill>
                  <a:srgbClr val="C9A96E"/>
                </a:solidFill>
              </a:defRPr>
            </a:pPr>
            <a:r>
              <a:t>  Hỗ trợ kiến trúc Multi-Active</a:t>
            </a:r>
          </a:p>
        </p:txBody>
      </p:sp>
      <p:sp>
        <p:nvSpPr>
          <p:cNvPr id="13" name="Rounded Rectangle 12"/>
          <p:cNvSpPr/>
          <p:nvPr/>
        </p:nvSpPr>
        <p:spPr>
          <a:xfrm>
            <a:off x="4800600" y="1188720"/>
            <a:ext cx="3840480" cy="4114800"/>
          </a:xfrm>
          <a:prstGeom prst="roundRect">
            <a:avLst/>
          </a:prstGeom>
          <a:solidFill>
            <a:srgbClr val="C9A9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800600" y="1188720"/>
            <a:ext cx="3840480" cy="254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983480" y="1325880"/>
            <a:ext cx="3474720" cy="320040"/>
          </a:xfrm>
          <a:prstGeom prst="rect">
            <a:avLst/>
          </a:prstGeom>
          <a:noFill/>
        </p:spPr>
        <p:txBody>
          <a:bodyPr wrap="square">
            <a:spAutoFit/>
          </a:bodyPr>
          <a:lstStyle/>
          <a:p>
            <a:pPr algn="l">
              <a:defRPr sz="1400" b="1">
                <a:solidFill>
                  <a:srgbClr val="FFD700"/>
                </a:solidFill>
              </a:defRPr>
            </a:pPr>
            <a:r>
              <a:t>Hệ thống an ninh phòng vệ</a:t>
            </a:r>
          </a:p>
        </p:txBody>
      </p:sp>
      <p:sp>
        <p:nvSpPr>
          <p:cNvPr id="16" name="TextBox 15"/>
          <p:cNvSpPr txBox="1"/>
          <p:nvPr/>
        </p:nvSpPr>
        <p:spPr>
          <a:xfrm>
            <a:off x="4983480" y="1737360"/>
            <a:ext cx="3474720" cy="228600"/>
          </a:xfrm>
          <a:prstGeom prst="rect">
            <a:avLst/>
          </a:prstGeom>
          <a:noFill/>
        </p:spPr>
        <p:txBody>
          <a:bodyPr wrap="square">
            <a:spAutoFit/>
          </a:bodyPr>
          <a:lstStyle/>
          <a:p>
            <a:pPr algn="l">
              <a:defRPr sz="1000" b="0">
                <a:solidFill>
                  <a:srgbClr val="C9A96E"/>
                </a:solidFill>
              </a:defRPr>
            </a:pPr>
            <a:r>
              <a:t>  Mô hình bảo mật Zero-Trust</a:t>
            </a:r>
          </a:p>
        </p:txBody>
      </p:sp>
      <p:sp>
        <p:nvSpPr>
          <p:cNvPr id="17" name="TextBox 16"/>
          <p:cNvSpPr txBox="1"/>
          <p:nvPr/>
        </p:nvSpPr>
        <p:spPr>
          <a:xfrm>
            <a:off x="4983480" y="1993392"/>
            <a:ext cx="3474720" cy="228600"/>
          </a:xfrm>
          <a:prstGeom prst="rect">
            <a:avLst/>
          </a:prstGeom>
          <a:noFill/>
        </p:spPr>
        <p:txBody>
          <a:bodyPr wrap="square">
            <a:spAutoFit/>
          </a:bodyPr>
          <a:lstStyle/>
          <a:p>
            <a:pPr algn="l">
              <a:defRPr sz="1000" b="0">
                <a:solidFill>
                  <a:srgbClr val="C9A96E"/>
                </a:solidFill>
              </a:defRPr>
            </a:pPr>
            <a:r>
              <a:t>  Mã hóa truyền dẫn đầu cuối</a:t>
            </a:r>
          </a:p>
        </p:txBody>
      </p:sp>
      <p:sp>
        <p:nvSpPr>
          <p:cNvPr id="18" name="TextBox 17"/>
          <p:cNvSpPr txBox="1"/>
          <p:nvPr/>
        </p:nvSpPr>
        <p:spPr>
          <a:xfrm>
            <a:off x="4983480" y="2249424"/>
            <a:ext cx="3474720" cy="228600"/>
          </a:xfrm>
          <a:prstGeom prst="rect">
            <a:avLst/>
          </a:prstGeom>
          <a:noFill/>
        </p:spPr>
        <p:txBody>
          <a:bodyPr wrap="square">
            <a:spAutoFit/>
          </a:bodyPr>
          <a:lstStyle/>
          <a:p>
            <a:pPr algn="l">
              <a:defRPr sz="1000" b="0">
                <a:solidFill>
                  <a:srgbClr val="C9A96E"/>
                </a:solidFill>
              </a:defRPr>
            </a:pPr>
            <a:r>
              <a:t>  Phát hiện mối đe dọa tức thời</a:t>
            </a:r>
          </a:p>
        </p:txBody>
      </p:sp>
      <p:sp>
        <p:nvSpPr>
          <p:cNvPr id="19" name="TextBox 18"/>
          <p:cNvSpPr txBox="1"/>
          <p:nvPr/>
        </p:nvSpPr>
        <p:spPr>
          <a:xfrm>
            <a:off x="4983480" y="2505456"/>
            <a:ext cx="3474720" cy="228600"/>
          </a:xfrm>
          <a:prstGeom prst="rect">
            <a:avLst/>
          </a:prstGeom>
          <a:noFill/>
        </p:spPr>
        <p:txBody>
          <a:bodyPr wrap="square">
            <a:spAutoFit/>
          </a:bodyPr>
          <a:lstStyle/>
          <a:p>
            <a:pPr algn="l">
              <a:defRPr sz="1000" b="0">
                <a:solidFill>
                  <a:srgbClr val="C9A96E"/>
                </a:solidFill>
              </a:defRPr>
            </a:pPr>
            <a:r>
              <a:t>  Nhật ký kiểm toán tuân thủ</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C9A9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914400"/>
          </a:xfrm>
          <a:prstGeom prst="rect">
            <a:avLst/>
          </a:prstGeom>
          <a:solidFill>
            <a:srgbClr val="C9A9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68680"/>
            <a:ext cx="9144000" cy="254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37160"/>
            <a:ext cx="8046720" cy="640080"/>
          </a:xfrm>
          <a:prstGeom prst="rect">
            <a:avLst/>
          </a:prstGeom>
          <a:noFill/>
        </p:spPr>
        <p:txBody>
          <a:bodyPr wrap="square">
            <a:spAutoFit/>
          </a:bodyPr>
          <a:lstStyle/>
          <a:p>
            <a:pPr algn="l">
              <a:defRPr sz="2800" b="1">
                <a:solidFill>
                  <a:srgbClr val="C9A96E"/>
                </a:solidFill>
              </a:defRPr>
            </a:pPr>
            <a:r>
              <a:t>Công nghệ cốt lõi - Phần 3</a:t>
            </a:r>
          </a:p>
        </p:txBody>
      </p:sp>
      <p:sp>
        <p:nvSpPr>
          <p:cNvPr id="6" name="Rounded Rectangle 5"/>
          <p:cNvSpPr/>
          <p:nvPr/>
        </p:nvSpPr>
        <p:spPr>
          <a:xfrm>
            <a:off x="502920" y="1188720"/>
            <a:ext cx="3840480" cy="4114800"/>
          </a:xfrm>
          <a:prstGeom prst="roundRect">
            <a:avLst/>
          </a:prstGeom>
          <a:solidFill>
            <a:srgbClr val="C9A9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188720"/>
            <a:ext cx="3840480" cy="254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325880"/>
            <a:ext cx="3474720" cy="320040"/>
          </a:xfrm>
          <a:prstGeom prst="rect">
            <a:avLst/>
          </a:prstGeom>
          <a:noFill/>
        </p:spPr>
        <p:txBody>
          <a:bodyPr wrap="square">
            <a:spAutoFit/>
          </a:bodyPr>
          <a:lstStyle/>
          <a:p>
            <a:pPr algn="l">
              <a:defRPr sz="1400" b="1">
                <a:solidFill>
                  <a:srgbClr val="FFD700"/>
                </a:solidFill>
              </a:defRPr>
            </a:pPr>
            <a:r>
              <a:t>Kiến trúc Data Lake</a:t>
            </a:r>
          </a:p>
        </p:txBody>
      </p:sp>
      <p:sp>
        <p:nvSpPr>
          <p:cNvPr id="9" name="TextBox 8"/>
          <p:cNvSpPr txBox="1"/>
          <p:nvPr/>
        </p:nvSpPr>
        <p:spPr>
          <a:xfrm>
            <a:off x="685800" y="1737360"/>
            <a:ext cx="3474720" cy="228600"/>
          </a:xfrm>
          <a:prstGeom prst="rect">
            <a:avLst/>
          </a:prstGeom>
          <a:noFill/>
        </p:spPr>
        <p:txBody>
          <a:bodyPr wrap="square">
            <a:spAutoFit/>
          </a:bodyPr>
          <a:lstStyle/>
          <a:p>
            <a:pPr algn="l">
              <a:defRPr sz="1000" b="0">
                <a:solidFill>
                  <a:srgbClr val="C9A96E"/>
                </a:solidFill>
              </a:defRPr>
            </a:pPr>
            <a:r>
              <a:t>  Lưu trữ dữ liệu thống nhất</a:t>
            </a:r>
          </a:p>
        </p:txBody>
      </p:sp>
      <p:sp>
        <p:nvSpPr>
          <p:cNvPr id="10" name="TextBox 9"/>
          <p:cNvSpPr txBox="1"/>
          <p:nvPr/>
        </p:nvSpPr>
        <p:spPr>
          <a:xfrm>
            <a:off x="685800" y="1993392"/>
            <a:ext cx="3474720" cy="228600"/>
          </a:xfrm>
          <a:prstGeom prst="rect">
            <a:avLst/>
          </a:prstGeom>
          <a:noFill/>
        </p:spPr>
        <p:txBody>
          <a:bodyPr wrap="square">
            <a:spAutoFit/>
          </a:bodyPr>
          <a:lstStyle/>
          <a:p>
            <a:pPr algn="l">
              <a:defRPr sz="1000" b="0">
                <a:solidFill>
                  <a:srgbClr val="C9A96E"/>
                </a:solidFill>
              </a:defRPr>
            </a:pPr>
            <a:r>
              <a:t>  Tự động phát hiện Schema</a:t>
            </a:r>
          </a:p>
        </p:txBody>
      </p:sp>
      <p:sp>
        <p:nvSpPr>
          <p:cNvPr id="11" name="TextBox 10"/>
          <p:cNvSpPr txBox="1"/>
          <p:nvPr/>
        </p:nvSpPr>
        <p:spPr>
          <a:xfrm>
            <a:off x="685800" y="2249424"/>
            <a:ext cx="3474720" cy="228600"/>
          </a:xfrm>
          <a:prstGeom prst="rect">
            <a:avLst/>
          </a:prstGeom>
          <a:noFill/>
        </p:spPr>
        <p:txBody>
          <a:bodyPr wrap="square">
            <a:spAutoFit/>
          </a:bodyPr>
          <a:lstStyle/>
          <a:p>
            <a:pPr algn="l">
              <a:defRPr sz="1000" b="0">
                <a:solidFill>
                  <a:srgbClr val="C9A96E"/>
                </a:solidFill>
              </a:defRPr>
            </a:pPr>
            <a:r>
              <a:t>  Truy vết nguồn gốc dữ liệu</a:t>
            </a:r>
          </a:p>
        </p:txBody>
      </p:sp>
      <p:sp>
        <p:nvSpPr>
          <p:cNvPr id="12" name="TextBox 11"/>
          <p:cNvSpPr txBox="1"/>
          <p:nvPr/>
        </p:nvSpPr>
        <p:spPr>
          <a:xfrm>
            <a:off x="685800" y="2505456"/>
            <a:ext cx="3474720" cy="228600"/>
          </a:xfrm>
          <a:prstGeom prst="rect">
            <a:avLst/>
          </a:prstGeom>
          <a:noFill/>
        </p:spPr>
        <p:txBody>
          <a:bodyPr wrap="square">
            <a:spAutoFit/>
          </a:bodyPr>
          <a:lstStyle/>
          <a:p>
            <a:pPr algn="l">
              <a:defRPr sz="1000" b="0">
                <a:solidFill>
                  <a:srgbClr val="C9A96E"/>
                </a:solidFill>
              </a:defRPr>
            </a:pPr>
            <a:r>
              <a:t>  Hợp nhất dữ liệu đa nguồn</a:t>
            </a:r>
          </a:p>
        </p:txBody>
      </p:sp>
      <p:sp>
        <p:nvSpPr>
          <p:cNvPr id="13" name="Rounded Rectangle 12"/>
          <p:cNvSpPr/>
          <p:nvPr/>
        </p:nvSpPr>
        <p:spPr>
          <a:xfrm>
            <a:off x="4800600" y="1188720"/>
            <a:ext cx="3840480" cy="4114800"/>
          </a:xfrm>
          <a:prstGeom prst="roundRect">
            <a:avLst/>
          </a:prstGeom>
          <a:solidFill>
            <a:srgbClr val="C9A9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800600" y="1188720"/>
            <a:ext cx="3840480" cy="254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983480" y="1325880"/>
            <a:ext cx="3474720" cy="320040"/>
          </a:xfrm>
          <a:prstGeom prst="rect">
            <a:avLst/>
          </a:prstGeom>
          <a:noFill/>
        </p:spPr>
        <p:txBody>
          <a:bodyPr wrap="square">
            <a:spAutoFit/>
          </a:bodyPr>
          <a:lstStyle/>
          <a:p>
            <a:pPr algn="l">
              <a:defRPr sz="1400" b="1">
                <a:solidFill>
                  <a:srgbClr val="FFD700"/>
                </a:solidFill>
              </a:defRPr>
            </a:pPr>
            <a:r>
              <a:t>Nền tảng tính toán biên</a:t>
            </a:r>
          </a:p>
        </p:txBody>
      </p:sp>
      <p:sp>
        <p:nvSpPr>
          <p:cNvPr id="16" name="TextBox 15"/>
          <p:cNvSpPr txBox="1"/>
          <p:nvPr/>
        </p:nvSpPr>
        <p:spPr>
          <a:xfrm>
            <a:off x="4983480" y="1737360"/>
            <a:ext cx="3474720" cy="228600"/>
          </a:xfrm>
          <a:prstGeom prst="rect">
            <a:avLst/>
          </a:prstGeom>
          <a:noFill/>
        </p:spPr>
        <p:txBody>
          <a:bodyPr wrap="square">
            <a:spAutoFit/>
          </a:bodyPr>
          <a:lstStyle/>
          <a:p>
            <a:pPr algn="l">
              <a:defRPr sz="1000" b="0">
                <a:solidFill>
                  <a:srgbClr val="C9A96E"/>
                </a:solidFill>
              </a:defRPr>
            </a:pPr>
            <a:r>
              <a:t>  Quản lý nút tính toán biên</a:t>
            </a:r>
          </a:p>
        </p:txBody>
      </p:sp>
      <p:sp>
        <p:nvSpPr>
          <p:cNvPr id="17" name="TextBox 16"/>
          <p:cNvSpPr txBox="1"/>
          <p:nvPr/>
        </p:nvSpPr>
        <p:spPr>
          <a:xfrm>
            <a:off x="4983480" y="1993392"/>
            <a:ext cx="3474720" cy="228600"/>
          </a:xfrm>
          <a:prstGeom prst="rect">
            <a:avLst/>
          </a:prstGeom>
          <a:noFill/>
        </p:spPr>
        <p:txBody>
          <a:bodyPr wrap="square">
            <a:spAutoFit/>
          </a:bodyPr>
          <a:lstStyle/>
          <a:p>
            <a:pPr algn="l">
              <a:defRPr sz="1000" b="0">
                <a:solidFill>
                  <a:srgbClr val="C9A96E"/>
                </a:solidFill>
              </a:defRPr>
            </a:pPr>
            <a:r>
              <a:t>  Năng lực xử lý ngoại tuyến</a:t>
            </a:r>
          </a:p>
        </p:txBody>
      </p:sp>
      <p:sp>
        <p:nvSpPr>
          <p:cNvPr id="18" name="TextBox 17"/>
          <p:cNvSpPr txBox="1"/>
          <p:nvPr/>
        </p:nvSpPr>
        <p:spPr>
          <a:xfrm>
            <a:off x="4983480" y="2249424"/>
            <a:ext cx="3474720" cy="228600"/>
          </a:xfrm>
          <a:prstGeom prst="rect">
            <a:avLst/>
          </a:prstGeom>
          <a:noFill/>
        </p:spPr>
        <p:txBody>
          <a:bodyPr wrap="square">
            <a:spAutoFit/>
          </a:bodyPr>
          <a:lstStyle/>
          <a:p>
            <a:pPr algn="l">
              <a:defRPr sz="1000" b="0">
                <a:solidFill>
                  <a:srgbClr val="C9A96E"/>
                </a:solidFill>
              </a:defRPr>
            </a:pPr>
            <a:r>
              <a:t>  Hiệp đồng suy luận biên - mây</a:t>
            </a:r>
          </a:p>
        </p:txBody>
      </p:sp>
      <p:sp>
        <p:nvSpPr>
          <p:cNvPr id="19" name="TextBox 18"/>
          <p:cNvSpPr txBox="1"/>
          <p:nvPr/>
        </p:nvSpPr>
        <p:spPr>
          <a:xfrm>
            <a:off x="4983480" y="2505456"/>
            <a:ext cx="3474720" cy="228600"/>
          </a:xfrm>
          <a:prstGeom prst="rect">
            <a:avLst/>
          </a:prstGeom>
          <a:noFill/>
        </p:spPr>
        <p:txBody>
          <a:bodyPr wrap="square">
            <a:spAutoFit/>
          </a:bodyPr>
          <a:lstStyle/>
          <a:p>
            <a:pPr algn="l">
              <a:defRPr sz="1000" b="0">
                <a:solidFill>
                  <a:srgbClr val="C9A96E"/>
                </a:solidFill>
              </a:defRPr>
            </a:pPr>
            <a:r>
              <a:t>  Kết nối thiết bị tiêu chuẩn hóa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C9A9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560320"/>
            <a:ext cx="9144000" cy="1828800"/>
          </a:xfrm>
          <a:prstGeom prst="rect">
            <a:avLst/>
          </a:prstGeom>
          <a:solidFill>
            <a:srgbClr val="FFD700">
              <a:alpha val="9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743200"/>
            <a:ext cx="7315200" cy="914400"/>
          </a:xfrm>
          <a:prstGeom prst="rect">
            <a:avLst/>
          </a:prstGeom>
          <a:noFill/>
        </p:spPr>
        <p:txBody>
          <a:bodyPr wrap="square">
            <a:spAutoFit/>
          </a:bodyPr>
          <a:lstStyle/>
          <a:p>
            <a:pPr algn="ctr">
              <a:defRPr sz="3600" b="1">
                <a:solidFill>
                  <a:srgbClr val="C9A96E"/>
                </a:solidFill>
              </a:defRPr>
            </a:pPr>
            <a:r>
              <a:t>Ngăn xếp công nghệ &amp; Hiệu năng</a:t>
            </a:r>
          </a:p>
        </p:txBody>
      </p:sp>
      <p:sp>
        <p:nvSpPr>
          <p:cNvPr id="5" name="TextBox 4"/>
          <p:cNvSpPr txBox="1"/>
          <p:nvPr/>
        </p:nvSpPr>
        <p:spPr>
          <a:xfrm>
            <a:off x="914400" y="3657600"/>
            <a:ext cx="7315200" cy="548640"/>
          </a:xfrm>
          <a:prstGeom prst="rect">
            <a:avLst/>
          </a:prstGeom>
          <a:noFill/>
        </p:spPr>
        <p:txBody>
          <a:bodyPr wrap="square">
            <a:spAutoFit/>
          </a:bodyPr>
          <a:lstStyle/>
          <a:p>
            <a:pPr algn="ctr">
              <a:defRPr sz="1800" b="0">
                <a:solidFill>
                  <a:srgbClr val="C9A96E"/>
                </a:solidFill>
              </a:defRPr>
            </a:pPr>
            <a:r>
              <a:t>Tech Stack &amp; Performance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C9A9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914400"/>
          </a:xfrm>
          <a:prstGeom prst="rect">
            <a:avLst/>
          </a:prstGeom>
          <a:solidFill>
            <a:srgbClr val="C9A9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68680"/>
            <a:ext cx="9144000" cy="254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37160"/>
            <a:ext cx="8046720" cy="640080"/>
          </a:xfrm>
          <a:prstGeom prst="rect">
            <a:avLst/>
          </a:prstGeom>
          <a:noFill/>
        </p:spPr>
        <p:txBody>
          <a:bodyPr wrap="square">
            <a:spAutoFit/>
          </a:bodyPr>
          <a:lstStyle/>
          <a:p>
            <a:pPr algn="l">
              <a:defRPr sz="2800" b="1">
                <a:solidFill>
                  <a:srgbClr val="C9A96E"/>
                </a:solidFill>
              </a:defRPr>
            </a:pPr>
            <a:r>
              <a:t>Ngăn xếp công nghệ</a:t>
            </a:r>
          </a:p>
        </p:txBody>
      </p:sp>
      <p:sp>
        <p:nvSpPr>
          <p:cNvPr id="6" name="Rounded Rectangle 5"/>
          <p:cNvSpPr/>
          <p:nvPr/>
        </p:nvSpPr>
        <p:spPr>
          <a:xfrm>
            <a:off x="457200" y="1188720"/>
            <a:ext cx="2560320" cy="2011680"/>
          </a:xfrm>
          <a:prstGeom prst="roundRect">
            <a:avLst/>
          </a:prstGeom>
          <a:solidFill>
            <a:srgbClr val="C9A9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188720"/>
            <a:ext cx="2560320" cy="411480"/>
          </a:xfrm>
          <a:prstGeom prst="rect">
            <a:avLst/>
          </a:prstGeom>
          <a:solidFill>
            <a:srgbClr val="FFD700">
              <a:alpha val="8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234440"/>
            <a:ext cx="2560320" cy="320040"/>
          </a:xfrm>
          <a:prstGeom prst="rect">
            <a:avLst/>
          </a:prstGeom>
          <a:noFill/>
        </p:spPr>
        <p:txBody>
          <a:bodyPr wrap="square">
            <a:spAutoFit/>
          </a:bodyPr>
          <a:lstStyle/>
          <a:p>
            <a:pPr algn="ctr">
              <a:defRPr sz="1300" b="1">
                <a:solidFill>
                  <a:srgbClr val="FFFFFF"/>
                </a:solidFill>
              </a:defRPr>
            </a:pPr>
            <a:r>
              <a:t>Frontend</a:t>
            </a:r>
          </a:p>
        </p:txBody>
      </p:sp>
      <p:sp>
        <p:nvSpPr>
          <p:cNvPr id="9" name="Rounded Rectangle 8"/>
          <p:cNvSpPr/>
          <p:nvPr/>
        </p:nvSpPr>
        <p:spPr>
          <a:xfrm>
            <a:off x="594360" y="1737360"/>
            <a:ext cx="1005840" cy="256032"/>
          </a:xfrm>
          <a:prstGeom prst="roundRect">
            <a:avLst/>
          </a:prstGeom>
          <a:solidFill>
            <a:srgbClr val="C9A9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737360"/>
            <a:ext cx="1005840" cy="256032"/>
          </a:xfrm>
          <a:prstGeom prst="rect">
            <a:avLst/>
          </a:prstGeom>
          <a:noFill/>
        </p:spPr>
        <p:txBody>
          <a:bodyPr wrap="square">
            <a:spAutoFit/>
          </a:bodyPr>
          <a:lstStyle/>
          <a:p>
            <a:pPr algn="ctr">
              <a:defRPr sz="800" b="1">
                <a:solidFill>
                  <a:srgbClr val="FFD700"/>
                </a:solidFill>
              </a:defRPr>
            </a:pPr>
            <a:r>
              <a:t>React</a:t>
            </a:r>
          </a:p>
        </p:txBody>
      </p:sp>
      <p:sp>
        <p:nvSpPr>
          <p:cNvPr id="11" name="Rounded Rectangle 10"/>
          <p:cNvSpPr/>
          <p:nvPr/>
        </p:nvSpPr>
        <p:spPr>
          <a:xfrm>
            <a:off x="1691640" y="1737360"/>
            <a:ext cx="1005840" cy="256032"/>
          </a:xfrm>
          <a:prstGeom prst="roundRect">
            <a:avLst/>
          </a:prstGeom>
          <a:solidFill>
            <a:srgbClr val="C9A9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691640" y="1737360"/>
            <a:ext cx="1005840" cy="256032"/>
          </a:xfrm>
          <a:prstGeom prst="rect">
            <a:avLst/>
          </a:prstGeom>
          <a:noFill/>
        </p:spPr>
        <p:txBody>
          <a:bodyPr wrap="square">
            <a:spAutoFit/>
          </a:bodyPr>
          <a:lstStyle/>
          <a:p>
            <a:pPr algn="ctr">
              <a:defRPr sz="800" b="1">
                <a:solidFill>
                  <a:srgbClr val="FFD700"/>
                </a:solidFill>
              </a:defRPr>
            </a:pPr>
            <a:r>
              <a:t>Vue.js</a:t>
            </a:r>
          </a:p>
        </p:txBody>
      </p:sp>
      <p:sp>
        <p:nvSpPr>
          <p:cNvPr id="13" name="Rounded Rectangle 12"/>
          <p:cNvSpPr/>
          <p:nvPr/>
        </p:nvSpPr>
        <p:spPr>
          <a:xfrm>
            <a:off x="594360" y="2057400"/>
            <a:ext cx="1005840" cy="256032"/>
          </a:xfrm>
          <a:prstGeom prst="roundRect">
            <a:avLst/>
          </a:prstGeom>
          <a:solidFill>
            <a:srgbClr val="C9A9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2057400"/>
            <a:ext cx="1005840" cy="256032"/>
          </a:xfrm>
          <a:prstGeom prst="rect">
            <a:avLst/>
          </a:prstGeom>
          <a:noFill/>
        </p:spPr>
        <p:txBody>
          <a:bodyPr wrap="square">
            <a:spAutoFit/>
          </a:bodyPr>
          <a:lstStyle/>
          <a:p>
            <a:pPr algn="ctr">
              <a:defRPr sz="800" b="1">
                <a:solidFill>
                  <a:srgbClr val="FFD700"/>
                </a:solidFill>
              </a:defRPr>
            </a:pPr>
            <a:r>
              <a:t>TypeScript</a:t>
            </a:r>
          </a:p>
        </p:txBody>
      </p:sp>
      <p:sp>
        <p:nvSpPr>
          <p:cNvPr id="15" name="Rounded Rectangle 14"/>
          <p:cNvSpPr/>
          <p:nvPr/>
        </p:nvSpPr>
        <p:spPr>
          <a:xfrm>
            <a:off x="1691640" y="2057400"/>
            <a:ext cx="1005840" cy="256032"/>
          </a:xfrm>
          <a:prstGeom prst="roundRect">
            <a:avLst/>
          </a:prstGeom>
          <a:solidFill>
            <a:srgbClr val="C9A9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691640" y="2057400"/>
            <a:ext cx="1005840" cy="256032"/>
          </a:xfrm>
          <a:prstGeom prst="rect">
            <a:avLst/>
          </a:prstGeom>
          <a:noFill/>
        </p:spPr>
        <p:txBody>
          <a:bodyPr wrap="square">
            <a:spAutoFit/>
          </a:bodyPr>
          <a:lstStyle/>
          <a:p>
            <a:pPr algn="ctr">
              <a:defRPr sz="800" b="1">
                <a:solidFill>
                  <a:srgbClr val="FFD700"/>
                </a:solidFill>
              </a:defRPr>
            </a:pPr>
            <a:r>
              <a:t>Flutter</a:t>
            </a:r>
          </a:p>
        </p:txBody>
      </p:sp>
      <p:sp>
        <p:nvSpPr>
          <p:cNvPr id="17" name="Rounded Rectangle 16"/>
          <p:cNvSpPr/>
          <p:nvPr/>
        </p:nvSpPr>
        <p:spPr>
          <a:xfrm>
            <a:off x="594360" y="2377440"/>
            <a:ext cx="1005840" cy="256032"/>
          </a:xfrm>
          <a:prstGeom prst="roundRect">
            <a:avLst/>
          </a:prstGeom>
          <a:solidFill>
            <a:srgbClr val="C9A9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2377440"/>
            <a:ext cx="1005840" cy="256032"/>
          </a:xfrm>
          <a:prstGeom prst="rect">
            <a:avLst/>
          </a:prstGeom>
          <a:noFill/>
        </p:spPr>
        <p:txBody>
          <a:bodyPr wrap="square">
            <a:spAutoFit/>
          </a:bodyPr>
          <a:lstStyle/>
          <a:p>
            <a:pPr algn="ctr">
              <a:defRPr sz="800" b="1">
                <a:solidFill>
                  <a:srgbClr val="FFD700"/>
                </a:solidFill>
              </a:defRPr>
            </a:pPr>
            <a:r>
              <a:t>WebSocket</a:t>
            </a:r>
          </a:p>
        </p:txBody>
      </p:sp>
      <p:sp>
        <p:nvSpPr>
          <p:cNvPr id="19" name="Rounded Rectangle 18"/>
          <p:cNvSpPr/>
          <p:nvPr/>
        </p:nvSpPr>
        <p:spPr>
          <a:xfrm>
            <a:off x="3291840" y="1188720"/>
            <a:ext cx="2560320" cy="2011680"/>
          </a:xfrm>
          <a:prstGeom prst="roundRect">
            <a:avLst/>
          </a:prstGeom>
          <a:solidFill>
            <a:srgbClr val="C9A9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291840" y="1188720"/>
            <a:ext cx="2560320" cy="411480"/>
          </a:xfrm>
          <a:prstGeom prst="rect">
            <a:avLst/>
          </a:prstGeom>
          <a:solidFill>
            <a:srgbClr val="FFD700">
              <a:alpha val="8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91840" y="1234440"/>
            <a:ext cx="2560320" cy="320040"/>
          </a:xfrm>
          <a:prstGeom prst="rect">
            <a:avLst/>
          </a:prstGeom>
          <a:noFill/>
        </p:spPr>
        <p:txBody>
          <a:bodyPr wrap="square">
            <a:spAutoFit/>
          </a:bodyPr>
          <a:lstStyle/>
          <a:p>
            <a:pPr algn="ctr">
              <a:defRPr sz="1300" b="1">
                <a:solidFill>
                  <a:srgbClr val="FFFFFF"/>
                </a:solidFill>
              </a:defRPr>
            </a:pPr>
            <a:r>
              <a:t>Backend</a:t>
            </a:r>
          </a:p>
        </p:txBody>
      </p:sp>
      <p:sp>
        <p:nvSpPr>
          <p:cNvPr id="22" name="Rounded Rectangle 21"/>
          <p:cNvSpPr/>
          <p:nvPr/>
        </p:nvSpPr>
        <p:spPr>
          <a:xfrm>
            <a:off x="3429000" y="1737360"/>
            <a:ext cx="1005840" cy="256032"/>
          </a:xfrm>
          <a:prstGeom prst="roundRect">
            <a:avLst/>
          </a:prstGeom>
          <a:solidFill>
            <a:srgbClr val="C9A9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429000" y="1737360"/>
            <a:ext cx="1005840" cy="256032"/>
          </a:xfrm>
          <a:prstGeom prst="rect">
            <a:avLst/>
          </a:prstGeom>
          <a:noFill/>
        </p:spPr>
        <p:txBody>
          <a:bodyPr wrap="square">
            <a:spAutoFit/>
          </a:bodyPr>
          <a:lstStyle/>
          <a:p>
            <a:pPr algn="ctr">
              <a:defRPr sz="800" b="1">
                <a:solidFill>
                  <a:srgbClr val="FFD700"/>
                </a:solidFill>
              </a:defRPr>
            </a:pPr>
            <a:r>
              <a:t>Go</a:t>
            </a:r>
          </a:p>
        </p:txBody>
      </p:sp>
      <p:sp>
        <p:nvSpPr>
          <p:cNvPr id="24" name="Rounded Rectangle 23"/>
          <p:cNvSpPr/>
          <p:nvPr/>
        </p:nvSpPr>
        <p:spPr>
          <a:xfrm>
            <a:off x="4526280" y="1737360"/>
            <a:ext cx="1005840" cy="256032"/>
          </a:xfrm>
          <a:prstGeom prst="roundRect">
            <a:avLst/>
          </a:prstGeom>
          <a:solidFill>
            <a:srgbClr val="C9A9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26280" y="1737360"/>
            <a:ext cx="1005840" cy="256032"/>
          </a:xfrm>
          <a:prstGeom prst="rect">
            <a:avLst/>
          </a:prstGeom>
          <a:noFill/>
        </p:spPr>
        <p:txBody>
          <a:bodyPr wrap="square">
            <a:spAutoFit/>
          </a:bodyPr>
          <a:lstStyle/>
          <a:p>
            <a:pPr algn="ctr">
              <a:defRPr sz="800" b="1">
                <a:solidFill>
                  <a:srgbClr val="FFD700"/>
                </a:solidFill>
              </a:defRPr>
            </a:pPr>
            <a:r>
              <a:t>Python</a:t>
            </a:r>
          </a:p>
        </p:txBody>
      </p:sp>
      <p:sp>
        <p:nvSpPr>
          <p:cNvPr id="26" name="Rounded Rectangle 25"/>
          <p:cNvSpPr/>
          <p:nvPr/>
        </p:nvSpPr>
        <p:spPr>
          <a:xfrm>
            <a:off x="3429000" y="2057400"/>
            <a:ext cx="1005840" cy="256032"/>
          </a:xfrm>
          <a:prstGeom prst="roundRect">
            <a:avLst/>
          </a:prstGeom>
          <a:solidFill>
            <a:srgbClr val="C9A9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429000" y="2057400"/>
            <a:ext cx="1005840" cy="256032"/>
          </a:xfrm>
          <a:prstGeom prst="rect">
            <a:avLst/>
          </a:prstGeom>
          <a:noFill/>
        </p:spPr>
        <p:txBody>
          <a:bodyPr wrap="square">
            <a:spAutoFit/>
          </a:bodyPr>
          <a:lstStyle/>
          <a:p>
            <a:pPr algn="ctr">
              <a:defRPr sz="800" b="1">
                <a:solidFill>
                  <a:srgbClr val="FFD700"/>
                </a:solidFill>
              </a:defRPr>
            </a:pPr>
            <a:r>
              <a:t>Java</a:t>
            </a:r>
          </a:p>
        </p:txBody>
      </p:sp>
      <p:sp>
        <p:nvSpPr>
          <p:cNvPr id="28" name="Rounded Rectangle 27"/>
          <p:cNvSpPr/>
          <p:nvPr/>
        </p:nvSpPr>
        <p:spPr>
          <a:xfrm>
            <a:off x="4526280" y="2057400"/>
            <a:ext cx="1005840" cy="256032"/>
          </a:xfrm>
          <a:prstGeom prst="roundRect">
            <a:avLst/>
          </a:prstGeom>
          <a:solidFill>
            <a:srgbClr val="C9A9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26280" y="2057400"/>
            <a:ext cx="1005840" cy="256032"/>
          </a:xfrm>
          <a:prstGeom prst="rect">
            <a:avLst/>
          </a:prstGeom>
          <a:noFill/>
        </p:spPr>
        <p:txBody>
          <a:bodyPr wrap="square">
            <a:spAutoFit/>
          </a:bodyPr>
          <a:lstStyle/>
          <a:p>
            <a:pPr algn="ctr">
              <a:defRPr sz="800" b="1">
                <a:solidFill>
                  <a:srgbClr val="FFD700"/>
                </a:solidFill>
              </a:defRPr>
            </a:pPr>
            <a:r>
              <a:t>gRPC</a:t>
            </a:r>
          </a:p>
        </p:txBody>
      </p:sp>
      <p:sp>
        <p:nvSpPr>
          <p:cNvPr id="30" name="Rounded Rectangle 29"/>
          <p:cNvSpPr/>
          <p:nvPr/>
        </p:nvSpPr>
        <p:spPr>
          <a:xfrm>
            <a:off x="3429000" y="2377440"/>
            <a:ext cx="1005840" cy="256032"/>
          </a:xfrm>
          <a:prstGeom prst="roundRect">
            <a:avLst/>
          </a:prstGeom>
          <a:solidFill>
            <a:srgbClr val="C9A9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429000" y="2377440"/>
            <a:ext cx="1005840" cy="256032"/>
          </a:xfrm>
          <a:prstGeom prst="rect">
            <a:avLst/>
          </a:prstGeom>
          <a:noFill/>
        </p:spPr>
        <p:txBody>
          <a:bodyPr wrap="square">
            <a:spAutoFit/>
          </a:bodyPr>
          <a:lstStyle/>
          <a:p>
            <a:pPr algn="ctr">
              <a:defRPr sz="800" b="1">
                <a:solidFill>
                  <a:srgbClr val="FFD700"/>
                </a:solidFill>
              </a:defRPr>
            </a:pPr>
            <a:r>
              <a:t>GraphQL</a:t>
            </a:r>
          </a:p>
        </p:txBody>
      </p:sp>
      <p:sp>
        <p:nvSpPr>
          <p:cNvPr id="32" name="Rounded Rectangle 31"/>
          <p:cNvSpPr/>
          <p:nvPr/>
        </p:nvSpPr>
        <p:spPr>
          <a:xfrm>
            <a:off x="6126480" y="1188720"/>
            <a:ext cx="2560320" cy="2011680"/>
          </a:xfrm>
          <a:prstGeom prst="roundRect">
            <a:avLst/>
          </a:prstGeom>
          <a:solidFill>
            <a:srgbClr val="C9A9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26480" y="1188720"/>
            <a:ext cx="2560320" cy="411480"/>
          </a:xfrm>
          <a:prstGeom prst="rect">
            <a:avLst/>
          </a:prstGeom>
          <a:solidFill>
            <a:srgbClr val="FFD700">
              <a:alpha val="8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126480" y="1234440"/>
            <a:ext cx="2560320" cy="320040"/>
          </a:xfrm>
          <a:prstGeom prst="rect">
            <a:avLst/>
          </a:prstGeom>
          <a:noFill/>
        </p:spPr>
        <p:txBody>
          <a:bodyPr wrap="square">
            <a:spAutoFit/>
          </a:bodyPr>
          <a:lstStyle/>
          <a:p>
            <a:pPr algn="ctr">
              <a:defRPr sz="1300" b="1">
                <a:solidFill>
                  <a:srgbClr val="FFFFFF"/>
                </a:solidFill>
              </a:defRPr>
            </a:pPr>
            <a:r>
              <a:t>Dữ liệu</a:t>
            </a:r>
          </a:p>
        </p:txBody>
      </p:sp>
      <p:sp>
        <p:nvSpPr>
          <p:cNvPr id="35" name="Rounded Rectangle 34"/>
          <p:cNvSpPr/>
          <p:nvPr/>
        </p:nvSpPr>
        <p:spPr>
          <a:xfrm>
            <a:off x="6263640" y="1737360"/>
            <a:ext cx="1005840" cy="256032"/>
          </a:xfrm>
          <a:prstGeom prst="roundRect">
            <a:avLst/>
          </a:prstGeom>
          <a:solidFill>
            <a:srgbClr val="C9A9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63640" y="1737360"/>
            <a:ext cx="1005840" cy="256032"/>
          </a:xfrm>
          <a:prstGeom prst="rect">
            <a:avLst/>
          </a:prstGeom>
          <a:noFill/>
        </p:spPr>
        <p:txBody>
          <a:bodyPr wrap="square">
            <a:spAutoFit/>
          </a:bodyPr>
          <a:lstStyle/>
          <a:p>
            <a:pPr algn="ctr">
              <a:defRPr sz="800" b="1">
                <a:solidFill>
                  <a:srgbClr val="FFD700"/>
                </a:solidFill>
              </a:defRPr>
            </a:pPr>
            <a:r>
              <a:t>PostgreSQL</a:t>
            </a:r>
          </a:p>
        </p:txBody>
      </p:sp>
      <p:sp>
        <p:nvSpPr>
          <p:cNvPr id="37" name="Rounded Rectangle 36"/>
          <p:cNvSpPr/>
          <p:nvPr/>
        </p:nvSpPr>
        <p:spPr>
          <a:xfrm>
            <a:off x="7360920" y="1737360"/>
            <a:ext cx="1005840" cy="256032"/>
          </a:xfrm>
          <a:prstGeom prst="roundRect">
            <a:avLst/>
          </a:prstGeom>
          <a:solidFill>
            <a:srgbClr val="C9A9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360920" y="1737360"/>
            <a:ext cx="1005840" cy="256032"/>
          </a:xfrm>
          <a:prstGeom prst="rect">
            <a:avLst/>
          </a:prstGeom>
          <a:noFill/>
        </p:spPr>
        <p:txBody>
          <a:bodyPr wrap="square">
            <a:spAutoFit/>
          </a:bodyPr>
          <a:lstStyle/>
          <a:p>
            <a:pPr algn="ctr">
              <a:defRPr sz="800" b="1">
                <a:solidFill>
                  <a:srgbClr val="FFD700"/>
                </a:solidFill>
              </a:defRPr>
            </a:pPr>
            <a:r>
              <a:t>Redis</a:t>
            </a:r>
          </a:p>
        </p:txBody>
      </p:sp>
      <p:sp>
        <p:nvSpPr>
          <p:cNvPr id="39" name="Rounded Rectangle 38"/>
          <p:cNvSpPr/>
          <p:nvPr/>
        </p:nvSpPr>
        <p:spPr>
          <a:xfrm>
            <a:off x="6263640" y="2057400"/>
            <a:ext cx="1005840" cy="256032"/>
          </a:xfrm>
          <a:prstGeom prst="roundRect">
            <a:avLst/>
          </a:prstGeom>
          <a:solidFill>
            <a:srgbClr val="C9A9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263640" y="2057400"/>
            <a:ext cx="1005840" cy="256032"/>
          </a:xfrm>
          <a:prstGeom prst="rect">
            <a:avLst/>
          </a:prstGeom>
          <a:noFill/>
        </p:spPr>
        <p:txBody>
          <a:bodyPr wrap="square">
            <a:spAutoFit/>
          </a:bodyPr>
          <a:lstStyle/>
          <a:p>
            <a:pPr algn="ctr">
              <a:defRPr sz="800" b="1">
                <a:solidFill>
                  <a:srgbClr val="FFD700"/>
                </a:solidFill>
              </a:defRPr>
            </a:pPr>
            <a:r>
              <a:t>Kafka</a:t>
            </a:r>
          </a:p>
        </p:txBody>
      </p:sp>
      <p:sp>
        <p:nvSpPr>
          <p:cNvPr id="41" name="Rounded Rectangle 40"/>
          <p:cNvSpPr/>
          <p:nvPr/>
        </p:nvSpPr>
        <p:spPr>
          <a:xfrm>
            <a:off x="7360920" y="2057400"/>
            <a:ext cx="1005840" cy="256032"/>
          </a:xfrm>
          <a:prstGeom prst="roundRect">
            <a:avLst/>
          </a:prstGeom>
          <a:solidFill>
            <a:srgbClr val="C9A9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360920" y="2057400"/>
            <a:ext cx="1005840" cy="256032"/>
          </a:xfrm>
          <a:prstGeom prst="rect">
            <a:avLst/>
          </a:prstGeom>
          <a:noFill/>
        </p:spPr>
        <p:txBody>
          <a:bodyPr wrap="square">
            <a:spAutoFit/>
          </a:bodyPr>
          <a:lstStyle/>
          <a:p>
            <a:pPr algn="ctr">
              <a:defRPr sz="800" b="1">
                <a:solidFill>
                  <a:srgbClr val="FFD700"/>
                </a:solidFill>
              </a:defRPr>
            </a:pPr>
            <a:r>
              <a:t>Elasticsearch</a:t>
            </a:r>
          </a:p>
        </p:txBody>
      </p:sp>
      <p:sp>
        <p:nvSpPr>
          <p:cNvPr id="43" name="Rounded Rectangle 42"/>
          <p:cNvSpPr/>
          <p:nvPr/>
        </p:nvSpPr>
        <p:spPr>
          <a:xfrm>
            <a:off x="6263640" y="2377440"/>
            <a:ext cx="1005840" cy="256032"/>
          </a:xfrm>
          <a:prstGeom prst="roundRect">
            <a:avLst/>
          </a:prstGeom>
          <a:solidFill>
            <a:srgbClr val="C9A9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63640" y="2377440"/>
            <a:ext cx="1005840" cy="256032"/>
          </a:xfrm>
          <a:prstGeom prst="rect">
            <a:avLst/>
          </a:prstGeom>
          <a:noFill/>
        </p:spPr>
        <p:txBody>
          <a:bodyPr wrap="square">
            <a:spAutoFit/>
          </a:bodyPr>
          <a:lstStyle/>
          <a:p>
            <a:pPr algn="ctr">
              <a:defRPr sz="800" b="1">
                <a:solidFill>
                  <a:srgbClr val="FFD700"/>
                </a:solidFill>
              </a:defRPr>
            </a:pPr>
            <a:r>
              <a:t>ClickHouse</a:t>
            </a:r>
          </a:p>
        </p:txBody>
      </p:sp>
      <p:sp>
        <p:nvSpPr>
          <p:cNvPr id="45" name="Rounded Rectangle 44"/>
          <p:cNvSpPr/>
          <p:nvPr/>
        </p:nvSpPr>
        <p:spPr>
          <a:xfrm>
            <a:off x="457200" y="3429000"/>
            <a:ext cx="2560320" cy="2011680"/>
          </a:xfrm>
          <a:prstGeom prst="roundRect">
            <a:avLst/>
          </a:prstGeom>
          <a:solidFill>
            <a:srgbClr val="C9A9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457200" y="3429000"/>
            <a:ext cx="2560320" cy="411480"/>
          </a:xfrm>
          <a:prstGeom prst="rect">
            <a:avLst/>
          </a:prstGeom>
          <a:solidFill>
            <a:srgbClr val="FFD700">
              <a:alpha val="8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57200" y="3474720"/>
            <a:ext cx="2560320" cy="320040"/>
          </a:xfrm>
          <a:prstGeom prst="rect">
            <a:avLst/>
          </a:prstGeom>
          <a:noFill/>
        </p:spPr>
        <p:txBody>
          <a:bodyPr wrap="square">
            <a:spAutoFit/>
          </a:bodyPr>
          <a:lstStyle/>
          <a:p>
            <a:pPr algn="ctr">
              <a:defRPr sz="1300" b="1">
                <a:solidFill>
                  <a:srgbClr val="FFFFFF"/>
                </a:solidFill>
              </a:defRPr>
            </a:pPr>
            <a:r>
              <a:t>AI/ML</a:t>
            </a:r>
          </a:p>
        </p:txBody>
      </p:sp>
      <p:sp>
        <p:nvSpPr>
          <p:cNvPr id="48" name="Rounded Rectangle 47"/>
          <p:cNvSpPr/>
          <p:nvPr/>
        </p:nvSpPr>
        <p:spPr>
          <a:xfrm>
            <a:off x="594360" y="3977640"/>
            <a:ext cx="1005840" cy="256032"/>
          </a:xfrm>
          <a:prstGeom prst="roundRect">
            <a:avLst/>
          </a:prstGeom>
          <a:solidFill>
            <a:srgbClr val="C9A9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94360" y="3977640"/>
            <a:ext cx="1005840" cy="256032"/>
          </a:xfrm>
          <a:prstGeom prst="rect">
            <a:avLst/>
          </a:prstGeom>
          <a:noFill/>
        </p:spPr>
        <p:txBody>
          <a:bodyPr wrap="square">
            <a:spAutoFit/>
          </a:bodyPr>
          <a:lstStyle/>
          <a:p>
            <a:pPr algn="ctr">
              <a:defRPr sz="800" b="1">
                <a:solidFill>
                  <a:srgbClr val="FFD700"/>
                </a:solidFill>
              </a:defRPr>
            </a:pPr>
            <a:r>
              <a:t>PyTorch</a:t>
            </a:r>
          </a:p>
        </p:txBody>
      </p:sp>
      <p:sp>
        <p:nvSpPr>
          <p:cNvPr id="50" name="Rounded Rectangle 49"/>
          <p:cNvSpPr/>
          <p:nvPr/>
        </p:nvSpPr>
        <p:spPr>
          <a:xfrm>
            <a:off x="1691640" y="3977640"/>
            <a:ext cx="1005840" cy="256032"/>
          </a:xfrm>
          <a:prstGeom prst="roundRect">
            <a:avLst/>
          </a:prstGeom>
          <a:solidFill>
            <a:srgbClr val="C9A9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691640" y="3977640"/>
            <a:ext cx="1005840" cy="256032"/>
          </a:xfrm>
          <a:prstGeom prst="rect">
            <a:avLst/>
          </a:prstGeom>
          <a:noFill/>
        </p:spPr>
        <p:txBody>
          <a:bodyPr wrap="square">
            <a:spAutoFit/>
          </a:bodyPr>
          <a:lstStyle/>
          <a:p>
            <a:pPr algn="ctr">
              <a:defRPr sz="800" b="1">
                <a:solidFill>
                  <a:srgbClr val="FFD700"/>
                </a:solidFill>
              </a:defRPr>
            </a:pPr>
            <a:r>
              <a:t>TensorFlow</a:t>
            </a:r>
          </a:p>
        </p:txBody>
      </p:sp>
      <p:sp>
        <p:nvSpPr>
          <p:cNvPr id="52" name="Rounded Rectangle 51"/>
          <p:cNvSpPr/>
          <p:nvPr/>
        </p:nvSpPr>
        <p:spPr>
          <a:xfrm>
            <a:off x="594360" y="4297680"/>
            <a:ext cx="1005840" cy="256032"/>
          </a:xfrm>
          <a:prstGeom prst="roundRect">
            <a:avLst/>
          </a:prstGeom>
          <a:solidFill>
            <a:srgbClr val="C9A9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94360" y="4297680"/>
            <a:ext cx="1005840" cy="256032"/>
          </a:xfrm>
          <a:prstGeom prst="rect">
            <a:avLst/>
          </a:prstGeom>
          <a:noFill/>
        </p:spPr>
        <p:txBody>
          <a:bodyPr wrap="square">
            <a:spAutoFit/>
          </a:bodyPr>
          <a:lstStyle/>
          <a:p>
            <a:pPr algn="ctr">
              <a:defRPr sz="800" b="1">
                <a:solidFill>
                  <a:srgbClr val="FFD700"/>
                </a:solidFill>
              </a:defRPr>
            </a:pPr>
            <a:r>
              <a:t>HuggingFace</a:t>
            </a:r>
          </a:p>
        </p:txBody>
      </p:sp>
      <p:sp>
        <p:nvSpPr>
          <p:cNvPr id="54" name="Rounded Rectangle 53"/>
          <p:cNvSpPr/>
          <p:nvPr/>
        </p:nvSpPr>
        <p:spPr>
          <a:xfrm>
            <a:off x="1691640" y="4297680"/>
            <a:ext cx="1005840" cy="256032"/>
          </a:xfrm>
          <a:prstGeom prst="roundRect">
            <a:avLst/>
          </a:prstGeom>
          <a:solidFill>
            <a:srgbClr val="C9A9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691640" y="4297680"/>
            <a:ext cx="1005840" cy="256032"/>
          </a:xfrm>
          <a:prstGeom prst="rect">
            <a:avLst/>
          </a:prstGeom>
          <a:noFill/>
        </p:spPr>
        <p:txBody>
          <a:bodyPr wrap="square">
            <a:spAutoFit/>
          </a:bodyPr>
          <a:lstStyle/>
          <a:p>
            <a:pPr algn="ctr">
              <a:defRPr sz="800" b="1">
                <a:solidFill>
                  <a:srgbClr val="FFD700"/>
                </a:solidFill>
              </a:defRPr>
            </a:pPr>
            <a:r>
              <a:t>ONNX</a:t>
            </a:r>
          </a:p>
        </p:txBody>
      </p:sp>
      <p:sp>
        <p:nvSpPr>
          <p:cNvPr id="56" name="Rounded Rectangle 55"/>
          <p:cNvSpPr/>
          <p:nvPr/>
        </p:nvSpPr>
        <p:spPr>
          <a:xfrm>
            <a:off x="594360" y="4617720"/>
            <a:ext cx="1005840" cy="256032"/>
          </a:xfrm>
          <a:prstGeom prst="roundRect">
            <a:avLst/>
          </a:prstGeom>
          <a:solidFill>
            <a:srgbClr val="C9A9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94360" y="4617720"/>
            <a:ext cx="1005840" cy="256032"/>
          </a:xfrm>
          <a:prstGeom prst="rect">
            <a:avLst/>
          </a:prstGeom>
          <a:noFill/>
        </p:spPr>
        <p:txBody>
          <a:bodyPr wrap="square">
            <a:spAutoFit/>
          </a:bodyPr>
          <a:lstStyle/>
          <a:p>
            <a:pPr algn="ctr">
              <a:defRPr sz="800" b="1">
                <a:solidFill>
                  <a:srgbClr val="FFD700"/>
                </a:solidFill>
              </a:defRPr>
            </a:pPr>
            <a:r>
              <a:t>CUDA</a:t>
            </a:r>
          </a:p>
        </p:txBody>
      </p:sp>
      <p:sp>
        <p:nvSpPr>
          <p:cNvPr id="58" name="Rounded Rectangle 57"/>
          <p:cNvSpPr/>
          <p:nvPr/>
        </p:nvSpPr>
        <p:spPr>
          <a:xfrm>
            <a:off x="3291840" y="3429000"/>
            <a:ext cx="2560320" cy="2011680"/>
          </a:xfrm>
          <a:prstGeom prst="roundRect">
            <a:avLst/>
          </a:prstGeom>
          <a:solidFill>
            <a:srgbClr val="C9A9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3291840" y="3429000"/>
            <a:ext cx="2560320" cy="411480"/>
          </a:xfrm>
          <a:prstGeom prst="rect">
            <a:avLst/>
          </a:prstGeom>
          <a:solidFill>
            <a:srgbClr val="FFD700">
              <a:alpha val="8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3291840" y="3474720"/>
            <a:ext cx="2560320" cy="320040"/>
          </a:xfrm>
          <a:prstGeom prst="rect">
            <a:avLst/>
          </a:prstGeom>
          <a:noFill/>
        </p:spPr>
        <p:txBody>
          <a:bodyPr wrap="square">
            <a:spAutoFit/>
          </a:bodyPr>
          <a:lstStyle/>
          <a:p>
            <a:pPr algn="ctr">
              <a:defRPr sz="1300" b="1">
                <a:solidFill>
                  <a:srgbClr val="FFFFFF"/>
                </a:solidFill>
              </a:defRPr>
            </a:pPr>
            <a:r>
              <a:t>DevOps</a:t>
            </a:r>
          </a:p>
        </p:txBody>
      </p:sp>
      <p:sp>
        <p:nvSpPr>
          <p:cNvPr id="61" name="Rounded Rectangle 60"/>
          <p:cNvSpPr/>
          <p:nvPr/>
        </p:nvSpPr>
        <p:spPr>
          <a:xfrm>
            <a:off x="3429000" y="3977640"/>
            <a:ext cx="1005840" cy="256032"/>
          </a:xfrm>
          <a:prstGeom prst="roundRect">
            <a:avLst/>
          </a:prstGeom>
          <a:solidFill>
            <a:srgbClr val="C9A9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3429000" y="3977640"/>
            <a:ext cx="1005840" cy="256032"/>
          </a:xfrm>
          <a:prstGeom prst="rect">
            <a:avLst/>
          </a:prstGeom>
          <a:noFill/>
        </p:spPr>
        <p:txBody>
          <a:bodyPr wrap="square">
            <a:spAutoFit/>
          </a:bodyPr>
          <a:lstStyle/>
          <a:p>
            <a:pPr algn="ctr">
              <a:defRPr sz="800" b="1">
                <a:solidFill>
                  <a:srgbClr val="FFD700"/>
                </a:solidFill>
              </a:defRPr>
            </a:pPr>
            <a:r>
              <a:t>K8s</a:t>
            </a:r>
          </a:p>
        </p:txBody>
      </p:sp>
      <p:sp>
        <p:nvSpPr>
          <p:cNvPr id="63" name="Rounded Rectangle 62"/>
          <p:cNvSpPr/>
          <p:nvPr/>
        </p:nvSpPr>
        <p:spPr>
          <a:xfrm>
            <a:off x="4526280" y="3977640"/>
            <a:ext cx="1005840" cy="256032"/>
          </a:xfrm>
          <a:prstGeom prst="roundRect">
            <a:avLst/>
          </a:prstGeom>
          <a:solidFill>
            <a:srgbClr val="C9A9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4526280" y="3977640"/>
            <a:ext cx="1005840" cy="256032"/>
          </a:xfrm>
          <a:prstGeom prst="rect">
            <a:avLst/>
          </a:prstGeom>
          <a:noFill/>
        </p:spPr>
        <p:txBody>
          <a:bodyPr wrap="square">
            <a:spAutoFit/>
          </a:bodyPr>
          <a:lstStyle/>
          <a:p>
            <a:pPr algn="ctr">
              <a:defRPr sz="800" b="1">
                <a:solidFill>
                  <a:srgbClr val="FFD700"/>
                </a:solidFill>
              </a:defRPr>
            </a:pPr>
            <a:r>
              <a:t>Docker</a:t>
            </a:r>
          </a:p>
        </p:txBody>
      </p:sp>
      <p:sp>
        <p:nvSpPr>
          <p:cNvPr id="65" name="Rounded Rectangle 64"/>
          <p:cNvSpPr/>
          <p:nvPr/>
        </p:nvSpPr>
        <p:spPr>
          <a:xfrm>
            <a:off x="3429000" y="4297680"/>
            <a:ext cx="1005840" cy="256032"/>
          </a:xfrm>
          <a:prstGeom prst="roundRect">
            <a:avLst/>
          </a:prstGeom>
          <a:solidFill>
            <a:srgbClr val="C9A9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429000" y="4297680"/>
            <a:ext cx="1005840" cy="256032"/>
          </a:xfrm>
          <a:prstGeom prst="rect">
            <a:avLst/>
          </a:prstGeom>
          <a:noFill/>
        </p:spPr>
        <p:txBody>
          <a:bodyPr wrap="square">
            <a:spAutoFit/>
          </a:bodyPr>
          <a:lstStyle/>
          <a:p>
            <a:pPr algn="ctr">
              <a:defRPr sz="800" b="1">
                <a:solidFill>
                  <a:srgbClr val="FFD700"/>
                </a:solidFill>
              </a:defRPr>
            </a:pPr>
            <a:r>
              <a:t>Terraform</a:t>
            </a:r>
          </a:p>
        </p:txBody>
      </p:sp>
      <p:sp>
        <p:nvSpPr>
          <p:cNvPr id="67" name="Rounded Rectangle 66"/>
          <p:cNvSpPr/>
          <p:nvPr/>
        </p:nvSpPr>
        <p:spPr>
          <a:xfrm>
            <a:off x="4526280" y="4297680"/>
            <a:ext cx="1005840" cy="256032"/>
          </a:xfrm>
          <a:prstGeom prst="roundRect">
            <a:avLst/>
          </a:prstGeom>
          <a:solidFill>
            <a:srgbClr val="C9A9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4526280" y="4297680"/>
            <a:ext cx="1005840" cy="256032"/>
          </a:xfrm>
          <a:prstGeom prst="rect">
            <a:avLst/>
          </a:prstGeom>
          <a:noFill/>
        </p:spPr>
        <p:txBody>
          <a:bodyPr wrap="square">
            <a:spAutoFit/>
          </a:bodyPr>
          <a:lstStyle/>
          <a:p>
            <a:pPr algn="ctr">
              <a:defRPr sz="800" b="1">
                <a:solidFill>
                  <a:srgbClr val="FFD700"/>
                </a:solidFill>
              </a:defRPr>
            </a:pPr>
            <a:r>
              <a:t>ArgoCD</a:t>
            </a:r>
          </a:p>
        </p:txBody>
      </p:sp>
      <p:sp>
        <p:nvSpPr>
          <p:cNvPr id="69" name="Rounded Rectangle 68"/>
          <p:cNvSpPr/>
          <p:nvPr/>
        </p:nvSpPr>
        <p:spPr>
          <a:xfrm>
            <a:off x="3429000" y="4617720"/>
            <a:ext cx="1005840" cy="256032"/>
          </a:xfrm>
          <a:prstGeom prst="roundRect">
            <a:avLst/>
          </a:prstGeom>
          <a:solidFill>
            <a:srgbClr val="C9A9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3429000" y="4617720"/>
            <a:ext cx="1005840" cy="256032"/>
          </a:xfrm>
          <a:prstGeom prst="rect">
            <a:avLst/>
          </a:prstGeom>
          <a:noFill/>
        </p:spPr>
        <p:txBody>
          <a:bodyPr wrap="square">
            <a:spAutoFit/>
          </a:bodyPr>
          <a:lstStyle/>
          <a:p>
            <a:pPr algn="ctr">
              <a:defRPr sz="800" b="1">
                <a:solidFill>
                  <a:srgbClr val="FFD700"/>
                </a:solidFill>
              </a:defRPr>
            </a:pPr>
            <a:r>
              <a:t>Prometheus</a:t>
            </a:r>
          </a:p>
        </p:txBody>
      </p:sp>
      <p:sp>
        <p:nvSpPr>
          <p:cNvPr id="71" name="Rounded Rectangle 70"/>
          <p:cNvSpPr/>
          <p:nvPr/>
        </p:nvSpPr>
        <p:spPr>
          <a:xfrm>
            <a:off x="6126480" y="3429000"/>
            <a:ext cx="2560320" cy="2011680"/>
          </a:xfrm>
          <a:prstGeom prst="roundRect">
            <a:avLst/>
          </a:prstGeom>
          <a:solidFill>
            <a:srgbClr val="C9A9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6126480" y="3429000"/>
            <a:ext cx="2560320" cy="411480"/>
          </a:xfrm>
          <a:prstGeom prst="rect">
            <a:avLst/>
          </a:prstGeom>
          <a:solidFill>
            <a:srgbClr val="FFD700">
              <a:alpha val="8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6126480" y="3474720"/>
            <a:ext cx="2560320" cy="320040"/>
          </a:xfrm>
          <a:prstGeom prst="rect">
            <a:avLst/>
          </a:prstGeom>
          <a:noFill/>
        </p:spPr>
        <p:txBody>
          <a:bodyPr wrap="square">
            <a:spAutoFit/>
          </a:bodyPr>
          <a:lstStyle/>
          <a:p>
            <a:pPr algn="ctr">
              <a:defRPr sz="1300" b="1">
                <a:solidFill>
                  <a:srgbClr val="FFFFFF"/>
                </a:solidFill>
              </a:defRPr>
            </a:pPr>
            <a:r>
              <a:t>Điện toán đám mây</a:t>
            </a:r>
          </a:p>
        </p:txBody>
      </p:sp>
      <p:sp>
        <p:nvSpPr>
          <p:cNvPr id="74" name="Rounded Rectangle 73"/>
          <p:cNvSpPr/>
          <p:nvPr/>
        </p:nvSpPr>
        <p:spPr>
          <a:xfrm>
            <a:off x="6263640" y="3977640"/>
            <a:ext cx="1005840" cy="256032"/>
          </a:xfrm>
          <a:prstGeom prst="roundRect">
            <a:avLst/>
          </a:prstGeom>
          <a:solidFill>
            <a:srgbClr val="C9A9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6263640" y="3977640"/>
            <a:ext cx="1005840" cy="256032"/>
          </a:xfrm>
          <a:prstGeom prst="rect">
            <a:avLst/>
          </a:prstGeom>
          <a:noFill/>
        </p:spPr>
        <p:txBody>
          <a:bodyPr wrap="square">
            <a:spAutoFit/>
          </a:bodyPr>
          <a:lstStyle/>
          <a:p>
            <a:pPr algn="ctr">
              <a:defRPr sz="800" b="1">
                <a:solidFill>
                  <a:srgbClr val="FFD700"/>
                </a:solidFill>
              </a:defRPr>
            </a:pPr>
            <a:r>
              <a:t>AWS</a:t>
            </a:r>
          </a:p>
        </p:txBody>
      </p:sp>
      <p:sp>
        <p:nvSpPr>
          <p:cNvPr id="76" name="Rounded Rectangle 75"/>
          <p:cNvSpPr/>
          <p:nvPr/>
        </p:nvSpPr>
        <p:spPr>
          <a:xfrm>
            <a:off x="7360920" y="3977640"/>
            <a:ext cx="1005840" cy="256032"/>
          </a:xfrm>
          <a:prstGeom prst="roundRect">
            <a:avLst/>
          </a:prstGeom>
          <a:solidFill>
            <a:srgbClr val="C9A9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7360920" y="3977640"/>
            <a:ext cx="1005840" cy="256032"/>
          </a:xfrm>
          <a:prstGeom prst="rect">
            <a:avLst/>
          </a:prstGeom>
          <a:noFill/>
        </p:spPr>
        <p:txBody>
          <a:bodyPr wrap="square">
            <a:spAutoFit/>
          </a:bodyPr>
          <a:lstStyle/>
          <a:p>
            <a:pPr algn="ctr">
              <a:defRPr sz="800" b="1">
                <a:solidFill>
                  <a:srgbClr val="FFD700"/>
                </a:solidFill>
              </a:defRPr>
            </a:pPr>
            <a:r>
              <a:t>Alibaba Cloud</a:t>
            </a:r>
          </a:p>
        </p:txBody>
      </p:sp>
      <p:sp>
        <p:nvSpPr>
          <p:cNvPr id="78" name="Rounded Rectangle 77"/>
          <p:cNvSpPr/>
          <p:nvPr/>
        </p:nvSpPr>
        <p:spPr>
          <a:xfrm>
            <a:off x="6263640" y="4297680"/>
            <a:ext cx="1005840" cy="256032"/>
          </a:xfrm>
          <a:prstGeom prst="roundRect">
            <a:avLst/>
          </a:prstGeom>
          <a:solidFill>
            <a:srgbClr val="C9A9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6263640" y="4297680"/>
            <a:ext cx="1005840" cy="256032"/>
          </a:xfrm>
          <a:prstGeom prst="rect">
            <a:avLst/>
          </a:prstGeom>
          <a:noFill/>
        </p:spPr>
        <p:txBody>
          <a:bodyPr wrap="square">
            <a:spAutoFit/>
          </a:bodyPr>
          <a:lstStyle/>
          <a:p>
            <a:pPr algn="ctr">
              <a:defRPr sz="800" b="1">
                <a:solidFill>
                  <a:srgbClr val="FFD700"/>
                </a:solidFill>
              </a:defRPr>
            </a:pPr>
            <a:r>
              <a:t>GCP</a:t>
            </a:r>
          </a:p>
        </p:txBody>
      </p:sp>
      <p:sp>
        <p:nvSpPr>
          <p:cNvPr id="80" name="Rounded Rectangle 79"/>
          <p:cNvSpPr/>
          <p:nvPr/>
        </p:nvSpPr>
        <p:spPr>
          <a:xfrm>
            <a:off x="7360920" y="4297680"/>
            <a:ext cx="1005840" cy="256032"/>
          </a:xfrm>
          <a:prstGeom prst="roundRect">
            <a:avLst/>
          </a:prstGeom>
          <a:solidFill>
            <a:srgbClr val="C9A9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7360920" y="4297680"/>
            <a:ext cx="1005840" cy="256032"/>
          </a:xfrm>
          <a:prstGeom prst="rect">
            <a:avLst/>
          </a:prstGeom>
          <a:noFill/>
        </p:spPr>
        <p:txBody>
          <a:bodyPr wrap="square">
            <a:spAutoFit/>
          </a:bodyPr>
          <a:lstStyle/>
          <a:p>
            <a:pPr algn="ctr">
              <a:defRPr sz="800" b="1">
                <a:solidFill>
                  <a:srgbClr val="FFD700"/>
                </a:solidFill>
              </a:defRPr>
            </a:pPr>
            <a:r>
              <a:t>Azure</a:t>
            </a:r>
          </a:p>
        </p:txBody>
      </p:sp>
      <p:sp>
        <p:nvSpPr>
          <p:cNvPr id="82" name="Rounded Rectangle 81"/>
          <p:cNvSpPr/>
          <p:nvPr/>
        </p:nvSpPr>
        <p:spPr>
          <a:xfrm>
            <a:off x="6263640" y="4617720"/>
            <a:ext cx="1005840" cy="256032"/>
          </a:xfrm>
          <a:prstGeom prst="roundRect">
            <a:avLst/>
          </a:prstGeom>
          <a:solidFill>
            <a:srgbClr val="C9A9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6263640" y="4617720"/>
            <a:ext cx="1005840" cy="256032"/>
          </a:xfrm>
          <a:prstGeom prst="rect">
            <a:avLst/>
          </a:prstGeom>
          <a:noFill/>
        </p:spPr>
        <p:txBody>
          <a:bodyPr wrap="square">
            <a:spAutoFit/>
          </a:bodyPr>
          <a:lstStyle/>
          <a:p>
            <a:pPr algn="ctr">
              <a:defRPr sz="800" b="1">
                <a:solidFill>
                  <a:srgbClr val="FFD700"/>
                </a:solidFill>
              </a:defRPr>
            </a:pPr>
            <a:r>
              <a:t>Hạ tầng IDC nội bộ</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C9A9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914400"/>
          </a:xfrm>
          <a:prstGeom prst="rect">
            <a:avLst/>
          </a:prstGeom>
          <a:solidFill>
            <a:srgbClr val="C9A9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68680"/>
            <a:ext cx="9144000" cy="254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37160"/>
            <a:ext cx="8046720" cy="640080"/>
          </a:xfrm>
          <a:prstGeom prst="rect">
            <a:avLst/>
          </a:prstGeom>
          <a:noFill/>
        </p:spPr>
        <p:txBody>
          <a:bodyPr wrap="square">
            <a:spAutoFit/>
          </a:bodyPr>
          <a:lstStyle/>
          <a:p>
            <a:pPr algn="l">
              <a:defRPr sz="2800" b="1">
                <a:solidFill>
                  <a:srgbClr val="C9A96E"/>
                </a:solidFill>
              </a:defRPr>
            </a:pPr>
            <a:r>
              <a:t>Chỉ số hiệu năng - Phần 1</a:t>
            </a:r>
          </a:p>
        </p:txBody>
      </p:sp>
      <p:sp>
        <p:nvSpPr>
          <p:cNvPr id="6" name="TextBox 5"/>
          <p:cNvSpPr txBox="1"/>
          <p:nvPr/>
        </p:nvSpPr>
        <p:spPr>
          <a:xfrm>
            <a:off x="548640" y="1097280"/>
            <a:ext cx="8046720" cy="365760"/>
          </a:xfrm>
          <a:prstGeom prst="rect">
            <a:avLst/>
          </a:prstGeom>
          <a:noFill/>
        </p:spPr>
        <p:txBody>
          <a:bodyPr wrap="square">
            <a:spAutoFit/>
          </a:bodyPr>
          <a:lstStyle/>
          <a:p>
            <a:pPr algn="l">
              <a:defRPr sz="1800" b="1">
                <a:solidFill>
                  <a:srgbClr val="C9A96E"/>
                </a:solidFill>
              </a:defRPr>
            </a:pPr>
            <a:r>
              <a:t>Hiệu năng hệ thống</a:t>
            </a:r>
          </a:p>
        </p:txBody>
      </p:sp>
      <p:sp>
        <p:nvSpPr>
          <p:cNvPr id="7" name="Rounded Rectangle 6"/>
          <p:cNvSpPr/>
          <p:nvPr/>
        </p:nvSpPr>
        <p:spPr>
          <a:xfrm>
            <a:off x="502920" y="1645920"/>
            <a:ext cx="1828800" cy="2286000"/>
          </a:xfrm>
          <a:prstGeom prst="roundRect">
            <a:avLst/>
          </a:prstGeom>
          <a:solidFill>
            <a:srgbClr val="C9A9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645920"/>
            <a:ext cx="1828800" cy="254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920240"/>
            <a:ext cx="1828800" cy="274320"/>
          </a:xfrm>
          <a:prstGeom prst="rect">
            <a:avLst/>
          </a:prstGeom>
          <a:noFill/>
        </p:spPr>
        <p:txBody>
          <a:bodyPr wrap="square">
            <a:spAutoFit/>
          </a:bodyPr>
          <a:lstStyle/>
          <a:p>
            <a:pPr algn="ctr">
              <a:defRPr sz="1200" b="0">
                <a:solidFill>
                  <a:srgbClr val="C9A96E"/>
                </a:solidFill>
              </a:defRPr>
            </a:pPr>
            <a:r>
              <a:t>Thời gian phản hồi API</a:t>
            </a:r>
          </a:p>
        </p:txBody>
      </p:sp>
      <p:sp>
        <p:nvSpPr>
          <p:cNvPr id="10" name="TextBox 9"/>
          <p:cNvSpPr txBox="1"/>
          <p:nvPr/>
        </p:nvSpPr>
        <p:spPr>
          <a:xfrm>
            <a:off x="502920" y="2377440"/>
            <a:ext cx="1828800" cy="548640"/>
          </a:xfrm>
          <a:prstGeom prst="rect">
            <a:avLst/>
          </a:prstGeom>
          <a:noFill/>
        </p:spPr>
        <p:txBody>
          <a:bodyPr wrap="square">
            <a:spAutoFit/>
          </a:bodyPr>
          <a:lstStyle/>
          <a:p>
            <a:pPr algn="ctr">
              <a:defRPr sz="2800" b="1">
                <a:solidFill>
                  <a:srgbClr val="FFD700"/>
                </a:solidFill>
              </a:defRPr>
            </a:pPr>
            <a:r>
              <a:t>&lt;50ms</a:t>
            </a:r>
          </a:p>
        </p:txBody>
      </p:sp>
      <p:sp>
        <p:nvSpPr>
          <p:cNvPr id="11" name="TextBox 10"/>
          <p:cNvSpPr txBox="1"/>
          <p:nvPr/>
        </p:nvSpPr>
        <p:spPr>
          <a:xfrm>
            <a:off x="502920" y="3108960"/>
            <a:ext cx="1828800" cy="274320"/>
          </a:xfrm>
          <a:prstGeom prst="rect">
            <a:avLst/>
          </a:prstGeom>
          <a:noFill/>
        </p:spPr>
        <p:txBody>
          <a:bodyPr wrap="square">
            <a:spAutoFit/>
          </a:bodyPr>
          <a:lstStyle/>
          <a:p>
            <a:pPr algn="ctr">
              <a:defRPr sz="1000" b="0">
                <a:solidFill>
                  <a:srgbClr val="C9A96E"/>
                </a:solidFill>
              </a:defRPr>
            </a:pPr>
            <a:r>
              <a:t>P99</a:t>
            </a:r>
          </a:p>
        </p:txBody>
      </p:sp>
      <p:sp>
        <p:nvSpPr>
          <p:cNvPr id="12" name="Rounded Rectangle 11"/>
          <p:cNvSpPr/>
          <p:nvPr/>
        </p:nvSpPr>
        <p:spPr>
          <a:xfrm>
            <a:off x="2606040" y="1645920"/>
            <a:ext cx="1828800" cy="2286000"/>
          </a:xfrm>
          <a:prstGeom prst="roundRect">
            <a:avLst/>
          </a:prstGeom>
          <a:solidFill>
            <a:srgbClr val="C9A9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606040" y="1645920"/>
            <a:ext cx="1828800" cy="254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1920240"/>
            <a:ext cx="1828800" cy="274320"/>
          </a:xfrm>
          <a:prstGeom prst="rect">
            <a:avLst/>
          </a:prstGeom>
          <a:noFill/>
        </p:spPr>
        <p:txBody>
          <a:bodyPr wrap="square">
            <a:spAutoFit/>
          </a:bodyPr>
          <a:lstStyle/>
          <a:p>
            <a:pPr algn="ctr">
              <a:defRPr sz="1200" b="0">
                <a:solidFill>
                  <a:srgbClr val="C9A96E"/>
                </a:solidFill>
              </a:defRPr>
            </a:pPr>
            <a:r>
              <a:t>Độ sẵn sàng hệ thống</a:t>
            </a:r>
          </a:p>
        </p:txBody>
      </p:sp>
      <p:sp>
        <p:nvSpPr>
          <p:cNvPr id="15" name="TextBox 14"/>
          <p:cNvSpPr txBox="1"/>
          <p:nvPr/>
        </p:nvSpPr>
        <p:spPr>
          <a:xfrm>
            <a:off x="2606040" y="2377440"/>
            <a:ext cx="1828800" cy="548640"/>
          </a:xfrm>
          <a:prstGeom prst="rect">
            <a:avLst/>
          </a:prstGeom>
          <a:noFill/>
        </p:spPr>
        <p:txBody>
          <a:bodyPr wrap="square">
            <a:spAutoFit/>
          </a:bodyPr>
          <a:lstStyle/>
          <a:p>
            <a:pPr algn="ctr">
              <a:defRPr sz="2800" b="1">
                <a:solidFill>
                  <a:srgbClr val="FFD700"/>
                </a:solidFill>
              </a:defRPr>
            </a:pPr>
            <a:r>
              <a:t>99.99%</a:t>
            </a:r>
          </a:p>
        </p:txBody>
      </p:sp>
      <p:sp>
        <p:nvSpPr>
          <p:cNvPr id="16" name="TextBox 15"/>
          <p:cNvSpPr txBox="1"/>
          <p:nvPr/>
        </p:nvSpPr>
        <p:spPr>
          <a:xfrm>
            <a:off x="2606040" y="3108960"/>
            <a:ext cx="1828800" cy="274320"/>
          </a:xfrm>
          <a:prstGeom prst="rect">
            <a:avLst/>
          </a:prstGeom>
          <a:noFill/>
        </p:spPr>
        <p:txBody>
          <a:bodyPr wrap="square">
            <a:spAutoFit/>
          </a:bodyPr>
          <a:lstStyle/>
          <a:p>
            <a:pPr algn="ctr">
              <a:defRPr sz="1000" b="0">
                <a:solidFill>
                  <a:srgbClr val="C9A96E"/>
                </a:solidFill>
              </a:defRPr>
            </a:pPr>
            <a:r>
              <a:t>SLA</a:t>
            </a:r>
          </a:p>
        </p:txBody>
      </p:sp>
      <p:sp>
        <p:nvSpPr>
          <p:cNvPr id="17" name="Rounded Rectangle 16"/>
          <p:cNvSpPr/>
          <p:nvPr/>
        </p:nvSpPr>
        <p:spPr>
          <a:xfrm>
            <a:off x="4709160" y="1645920"/>
            <a:ext cx="1828800" cy="2286000"/>
          </a:xfrm>
          <a:prstGeom prst="roundRect">
            <a:avLst/>
          </a:prstGeom>
          <a:solidFill>
            <a:srgbClr val="C9A9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709160" y="1645920"/>
            <a:ext cx="1828800" cy="254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09160" y="1920240"/>
            <a:ext cx="1828800" cy="274320"/>
          </a:xfrm>
          <a:prstGeom prst="rect">
            <a:avLst/>
          </a:prstGeom>
          <a:noFill/>
        </p:spPr>
        <p:txBody>
          <a:bodyPr wrap="square">
            <a:spAutoFit/>
          </a:bodyPr>
          <a:lstStyle/>
          <a:p>
            <a:pPr algn="ctr">
              <a:defRPr sz="1200" b="0">
                <a:solidFill>
                  <a:srgbClr val="C9A96E"/>
                </a:solidFill>
              </a:defRPr>
            </a:pPr>
            <a:r>
              <a:t>Xử lý đồng thời</a:t>
            </a:r>
          </a:p>
        </p:txBody>
      </p:sp>
      <p:sp>
        <p:nvSpPr>
          <p:cNvPr id="20" name="TextBox 19"/>
          <p:cNvSpPr txBox="1"/>
          <p:nvPr/>
        </p:nvSpPr>
        <p:spPr>
          <a:xfrm>
            <a:off x="4709160" y="2377440"/>
            <a:ext cx="1828800" cy="548640"/>
          </a:xfrm>
          <a:prstGeom prst="rect">
            <a:avLst/>
          </a:prstGeom>
          <a:noFill/>
        </p:spPr>
        <p:txBody>
          <a:bodyPr wrap="square">
            <a:spAutoFit/>
          </a:bodyPr>
          <a:lstStyle/>
          <a:p>
            <a:pPr algn="ctr">
              <a:defRPr sz="2800" b="1">
                <a:solidFill>
                  <a:srgbClr val="FFD700"/>
                </a:solidFill>
              </a:defRPr>
            </a:pPr>
            <a:r>
              <a:t>100K+</a:t>
            </a:r>
          </a:p>
        </p:txBody>
      </p:sp>
      <p:sp>
        <p:nvSpPr>
          <p:cNvPr id="21" name="TextBox 20"/>
          <p:cNvSpPr txBox="1"/>
          <p:nvPr/>
        </p:nvSpPr>
        <p:spPr>
          <a:xfrm>
            <a:off x="4709160" y="3108960"/>
            <a:ext cx="1828800" cy="274320"/>
          </a:xfrm>
          <a:prstGeom prst="rect">
            <a:avLst/>
          </a:prstGeom>
          <a:noFill/>
        </p:spPr>
        <p:txBody>
          <a:bodyPr wrap="square">
            <a:spAutoFit/>
          </a:bodyPr>
          <a:lstStyle/>
          <a:p>
            <a:pPr algn="ctr">
              <a:defRPr sz="1000" b="0">
                <a:solidFill>
                  <a:srgbClr val="C9A96E"/>
                </a:solidFill>
              </a:defRPr>
            </a:pPr>
            <a:r>
              <a:t>QPS</a:t>
            </a:r>
          </a:p>
        </p:txBody>
      </p:sp>
      <p:sp>
        <p:nvSpPr>
          <p:cNvPr id="22" name="Rounded Rectangle 21"/>
          <p:cNvSpPr/>
          <p:nvPr/>
        </p:nvSpPr>
        <p:spPr>
          <a:xfrm>
            <a:off x="6812280" y="1645920"/>
            <a:ext cx="1828800" cy="2286000"/>
          </a:xfrm>
          <a:prstGeom prst="roundRect">
            <a:avLst/>
          </a:prstGeom>
          <a:solidFill>
            <a:srgbClr val="C9A9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812280" y="1645920"/>
            <a:ext cx="1828800" cy="254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12280" y="1920240"/>
            <a:ext cx="1828800" cy="274320"/>
          </a:xfrm>
          <a:prstGeom prst="rect">
            <a:avLst/>
          </a:prstGeom>
          <a:noFill/>
        </p:spPr>
        <p:txBody>
          <a:bodyPr wrap="square">
            <a:spAutoFit/>
          </a:bodyPr>
          <a:lstStyle/>
          <a:p>
            <a:pPr algn="ctr">
              <a:defRPr sz="1200" b="0">
                <a:solidFill>
                  <a:srgbClr val="C9A96E"/>
                </a:solidFill>
              </a:defRPr>
            </a:pPr>
            <a:r>
              <a:t>Dung lượng dữ liệu</a:t>
            </a:r>
          </a:p>
        </p:txBody>
      </p:sp>
      <p:sp>
        <p:nvSpPr>
          <p:cNvPr id="25" name="TextBox 24"/>
          <p:cNvSpPr txBox="1"/>
          <p:nvPr/>
        </p:nvSpPr>
        <p:spPr>
          <a:xfrm>
            <a:off x="6812280" y="2377440"/>
            <a:ext cx="1828800" cy="548640"/>
          </a:xfrm>
          <a:prstGeom prst="rect">
            <a:avLst/>
          </a:prstGeom>
          <a:noFill/>
        </p:spPr>
        <p:txBody>
          <a:bodyPr wrap="square">
            <a:spAutoFit/>
          </a:bodyPr>
          <a:lstStyle/>
          <a:p>
            <a:pPr algn="ctr">
              <a:defRPr sz="2800" b="1">
                <a:solidFill>
                  <a:srgbClr val="FFD700"/>
                </a:solidFill>
              </a:defRPr>
            </a:pPr>
            <a:r>
              <a:t>5PB/ngày</a:t>
            </a:r>
          </a:p>
        </p:txBody>
      </p:sp>
      <p:sp>
        <p:nvSpPr>
          <p:cNvPr id="26" name="TextBox 25"/>
          <p:cNvSpPr txBox="1"/>
          <p:nvPr/>
        </p:nvSpPr>
        <p:spPr>
          <a:xfrm>
            <a:off x="6812280" y="3108960"/>
            <a:ext cx="1828800" cy="274320"/>
          </a:xfrm>
          <a:prstGeom prst="rect">
            <a:avLst/>
          </a:prstGeom>
          <a:noFill/>
        </p:spPr>
        <p:txBody>
          <a:bodyPr wrap="square">
            <a:spAutoFit/>
          </a:bodyPr>
          <a:lstStyle/>
          <a:p>
            <a:pPr algn="ctr">
              <a:defRPr sz="1000" b="0">
                <a:solidFill>
                  <a:srgbClr val="C9A96E"/>
                </a:solidFill>
              </a:defRPr>
            </a:pPr>
            <a:r>
              <a:t>Xử lý hàng ngày</a:t>
            </a:r>
          </a:p>
        </p:txBody>
      </p:sp>
      <p:sp>
        <p:nvSpPr>
          <p:cNvPr id="27" name="TextBox 26"/>
          <p:cNvSpPr txBox="1"/>
          <p:nvPr/>
        </p:nvSpPr>
        <p:spPr>
          <a:xfrm>
            <a:off x="914400" y="4389120"/>
            <a:ext cx="7315200" cy="274320"/>
          </a:xfrm>
          <a:prstGeom prst="rect">
            <a:avLst/>
          </a:prstGeom>
          <a:noFill/>
        </p:spPr>
        <p:txBody>
          <a:bodyPr wrap="square">
            <a:spAutoFit/>
          </a:bodyPr>
          <a:lstStyle/>
          <a:p>
            <a:pPr algn="l">
              <a:defRPr sz="1200" b="0">
                <a:solidFill>
                  <a:srgbClr val="C9A96E"/>
                </a:solidFill>
              </a:defRPr>
            </a:pPr>
            <a:r>
              <a:t>  Triển khai đa khu vực toàn cầu, định tuyến gần nhất</a:t>
            </a:r>
          </a:p>
        </p:txBody>
      </p:sp>
      <p:sp>
        <p:nvSpPr>
          <p:cNvPr id="28" name="TextBox 27"/>
          <p:cNvSpPr txBox="1"/>
          <p:nvPr/>
        </p:nvSpPr>
        <p:spPr>
          <a:xfrm>
            <a:off x="914400" y="4709160"/>
            <a:ext cx="7315200" cy="274320"/>
          </a:xfrm>
          <a:prstGeom prst="rect">
            <a:avLst/>
          </a:prstGeom>
          <a:noFill/>
        </p:spPr>
        <p:txBody>
          <a:bodyPr wrap="square">
            <a:spAutoFit/>
          </a:bodyPr>
          <a:lstStyle/>
          <a:p>
            <a:pPr algn="l">
              <a:defRPr sz="1200" b="0">
                <a:solidFill>
                  <a:srgbClr val="C9A96E"/>
                </a:solidFill>
              </a:defRPr>
            </a:pPr>
            <a:r>
              <a:t>  Tự động co giãn theo tải đáp ứng lưu lượng đỉnh</a:t>
            </a:r>
          </a:p>
        </p:txBody>
      </p:sp>
      <p:sp>
        <p:nvSpPr>
          <p:cNvPr id="29" name="TextBox 28"/>
          <p:cNvSpPr txBox="1"/>
          <p:nvPr/>
        </p:nvSpPr>
        <p:spPr>
          <a:xfrm>
            <a:off x="914400" y="5029200"/>
            <a:ext cx="7315200" cy="274320"/>
          </a:xfrm>
          <a:prstGeom prst="rect">
            <a:avLst/>
          </a:prstGeom>
          <a:noFill/>
        </p:spPr>
        <p:txBody>
          <a:bodyPr wrap="square">
            <a:spAutoFit/>
          </a:bodyPr>
          <a:lstStyle/>
          <a:p>
            <a:pPr algn="l">
              <a:defRPr sz="1200" b="0">
                <a:solidFill>
                  <a:srgbClr val="C9A96E"/>
                </a:solidFill>
              </a:defRPr>
            </a:pPr>
            <a:r>
              <a:t>  Giám sát toàn diện chuỗi xử lý, cảnh báo mức giây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C9A9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914400"/>
          </a:xfrm>
          <a:prstGeom prst="rect">
            <a:avLst/>
          </a:prstGeom>
          <a:solidFill>
            <a:srgbClr val="C9A9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68680"/>
            <a:ext cx="9144000" cy="254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37160"/>
            <a:ext cx="8046720" cy="640080"/>
          </a:xfrm>
          <a:prstGeom prst="rect">
            <a:avLst/>
          </a:prstGeom>
          <a:noFill/>
        </p:spPr>
        <p:txBody>
          <a:bodyPr wrap="square">
            <a:spAutoFit/>
          </a:bodyPr>
          <a:lstStyle/>
          <a:p>
            <a:pPr algn="l">
              <a:defRPr sz="2800" b="1">
                <a:solidFill>
                  <a:srgbClr val="C9A96E"/>
                </a:solidFill>
              </a:defRPr>
            </a:pPr>
            <a:r>
              <a:t>Chỉ số hiệu năng - Phần 2</a:t>
            </a:r>
          </a:p>
        </p:txBody>
      </p:sp>
      <p:sp>
        <p:nvSpPr>
          <p:cNvPr id="6" name="TextBox 5"/>
          <p:cNvSpPr txBox="1"/>
          <p:nvPr/>
        </p:nvSpPr>
        <p:spPr>
          <a:xfrm>
            <a:off x="548640" y="1097280"/>
            <a:ext cx="8046720" cy="365760"/>
          </a:xfrm>
          <a:prstGeom prst="rect">
            <a:avLst/>
          </a:prstGeom>
          <a:noFill/>
        </p:spPr>
        <p:txBody>
          <a:bodyPr wrap="square">
            <a:spAutoFit/>
          </a:bodyPr>
          <a:lstStyle/>
          <a:p>
            <a:pPr algn="l">
              <a:defRPr sz="1800" b="1">
                <a:solidFill>
                  <a:srgbClr val="C9A96E"/>
                </a:solidFill>
              </a:defRPr>
            </a:pPr>
            <a:r>
              <a:t>Hiệu năng AI</a:t>
            </a:r>
          </a:p>
        </p:txBody>
      </p:sp>
      <p:sp>
        <p:nvSpPr>
          <p:cNvPr id="7" name="Rounded Rectangle 6"/>
          <p:cNvSpPr/>
          <p:nvPr/>
        </p:nvSpPr>
        <p:spPr>
          <a:xfrm>
            <a:off x="502920" y="1645920"/>
            <a:ext cx="1828800" cy="2286000"/>
          </a:xfrm>
          <a:prstGeom prst="roundRect">
            <a:avLst/>
          </a:prstGeom>
          <a:solidFill>
            <a:srgbClr val="C9A9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645920"/>
            <a:ext cx="1828800" cy="254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920240"/>
            <a:ext cx="1828800" cy="274320"/>
          </a:xfrm>
          <a:prstGeom prst="rect">
            <a:avLst/>
          </a:prstGeom>
          <a:noFill/>
        </p:spPr>
        <p:txBody>
          <a:bodyPr wrap="square">
            <a:spAutoFit/>
          </a:bodyPr>
          <a:lstStyle/>
          <a:p>
            <a:pPr algn="ctr">
              <a:defRPr sz="1200" b="0">
                <a:solidFill>
                  <a:srgbClr val="C9A96E"/>
                </a:solidFill>
              </a:defRPr>
            </a:pPr>
            <a:r>
              <a:t>Suy luận mô hình</a:t>
            </a:r>
          </a:p>
        </p:txBody>
      </p:sp>
      <p:sp>
        <p:nvSpPr>
          <p:cNvPr id="10" name="TextBox 9"/>
          <p:cNvSpPr txBox="1"/>
          <p:nvPr/>
        </p:nvSpPr>
        <p:spPr>
          <a:xfrm>
            <a:off x="502920" y="2377440"/>
            <a:ext cx="1828800" cy="548640"/>
          </a:xfrm>
          <a:prstGeom prst="rect">
            <a:avLst/>
          </a:prstGeom>
          <a:noFill/>
        </p:spPr>
        <p:txBody>
          <a:bodyPr wrap="square">
            <a:spAutoFit/>
          </a:bodyPr>
          <a:lstStyle/>
          <a:p>
            <a:pPr algn="ctr">
              <a:defRPr sz="2800" b="1">
                <a:solidFill>
                  <a:srgbClr val="FFD700"/>
                </a:solidFill>
              </a:defRPr>
            </a:pPr>
            <a:r>
              <a:t>&lt;10ms</a:t>
            </a:r>
          </a:p>
        </p:txBody>
      </p:sp>
      <p:sp>
        <p:nvSpPr>
          <p:cNvPr id="11" name="TextBox 10"/>
          <p:cNvSpPr txBox="1"/>
          <p:nvPr/>
        </p:nvSpPr>
        <p:spPr>
          <a:xfrm>
            <a:off x="502920" y="3108960"/>
            <a:ext cx="1828800" cy="274320"/>
          </a:xfrm>
          <a:prstGeom prst="rect">
            <a:avLst/>
          </a:prstGeom>
          <a:noFill/>
        </p:spPr>
        <p:txBody>
          <a:bodyPr wrap="square">
            <a:spAutoFit/>
          </a:bodyPr>
          <a:lstStyle/>
          <a:p>
            <a:pPr algn="ctr">
              <a:defRPr sz="1000" b="0">
                <a:solidFill>
                  <a:srgbClr val="C9A96E"/>
                </a:solidFill>
              </a:defRPr>
            </a:pPr>
            <a:r>
              <a:t>Độ trễ P99</a:t>
            </a:r>
          </a:p>
        </p:txBody>
      </p:sp>
      <p:sp>
        <p:nvSpPr>
          <p:cNvPr id="12" name="Rounded Rectangle 11"/>
          <p:cNvSpPr/>
          <p:nvPr/>
        </p:nvSpPr>
        <p:spPr>
          <a:xfrm>
            <a:off x="2606040" y="1645920"/>
            <a:ext cx="1828800" cy="2286000"/>
          </a:xfrm>
          <a:prstGeom prst="roundRect">
            <a:avLst/>
          </a:prstGeom>
          <a:solidFill>
            <a:srgbClr val="C9A9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606040" y="1645920"/>
            <a:ext cx="1828800" cy="254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1920240"/>
            <a:ext cx="1828800" cy="274320"/>
          </a:xfrm>
          <a:prstGeom prst="rect">
            <a:avLst/>
          </a:prstGeom>
          <a:noFill/>
        </p:spPr>
        <p:txBody>
          <a:bodyPr wrap="square">
            <a:spAutoFit/>
          </a:bodyPr>
          <a:lstStyle/>
          <a:p>
            <a:pPr algn="ctr">
              <a:defRPr sz="1200" b="0">
                <a:solidFill>
                  <a:srgbClr val="C9A96E"/>
                </a:solidFill>
              </a:defRPr>
            </a:pPr>
            <a:r>
              <a:t>Hiệu suất huấn luyện</a:t>
            </a:r>
          </a:p>
        </p:txBody>
      </p:sp>
      <p:sp>
        <p:nvSpPr>
          <p:cNvPr id="15" name="TextBox 14"/>
          <p:cNvSpPr txBox="1"/>
          <p:nvPr/>
        </p:nvSpPr>
        <p:spPr>
          <a:xfrm>
            <a:off x="2606040" y="2377440"/>
            <a:ext cx="1828800" cy="548640"/>
          </a:xfrm>
          <a:prstGeom prst="rect">
            <a:avLst/>
          </a:prstGeom>
          <a:noFill/>
        </p:spPr>
        <p:txBody>
          <a:bodyPr wrap="square">
            <a:spAutoFit/>
          </a:bodyPr>
          <a:lstStyle/>
          <a:p>
            <a:pPr algn="ctr">
              <a:defRPr sz="2800" b="1">
                <a:solidFill>
                  <a:srgbClr val="FFD700"/>
                </a:solidFill>
              </a:defRPr>
            </a:pPr>
            <a:r>
              <a:t>3x tăng tốc</a:t>
            </a:r>
          </a:p>
        </p:txBody>
      </p:sp>
      <p:sp>
        <p:nvSpPr>
          <p:cNvPr id="16" name="TextBox 15"/>
          <p:cNvSpPr txBox="1"/>
          <p:nvPr/>
        </p:nvSpPr>
        <p:spPr>
          <a:xfrm>
            <a:off x="2606040" y="3108960"/>
            <a:ext cx="1828800" cy="274320"/>
          </a:xfrm>
          <a:prstGeom prst="rect">
            <a:avLst/>
          </a:prstGeom>
          <a:noFill/>
        </p:spPr>
        <p:txBody>
          <a:bodyPr wrap="square">
            <a:spAutoFit/>
          </a:bodyPr>
          <a:lstStyle/>
          <a:p>
            <a:pPr algn="ctr">
              <a:defRPr sz="1000" b="0">
                <a:solidFill>
                  <a:srgbClr val="C9A96E"/>
                </a:solidFill>
              </a:defRPr>
            </a:pPr>
            <a:r>
              <a:t>So với chuẩn</a:t>
            </a:r>
          </a:p>
        </p:txBody>
      </p:sp>
      <p:sp>
        <p:nvSpPr>
          <p:cNvPr id="17" name="Rounded Rectangle 16"/>
          <p:cNvSpPr/>
          <p:nvPr/>
        </p:nvSpPr>
        <p:spPr>
          <a:xfrm>
            <a:off x="4709160" y="1645920"/>
            <a:ext cx="1828800" cy="2286000"/>
          </a:xfrm>
          <a:prstGeom prst="roundRect">
            <a:avLst/>
          </a:prstGeom>
          <a:solidFill>
            <a:srgbClr val="C9A9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709160" y="1645920"/>
            <a:ext cx="1828800" cy="254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09160" y="1920240"/>
            <a:ext cx="1828800" cy="274320"/>
          </a:xfrm>
          <a:prstGeom prst="rect">
            <a:avLst/>
          </a:prstGeom>
          <a:noFill/>
        </p:spPr>
        <p:txBody>
          <a:bodyPr wrap="square">
            <a:spAutoFit/>
          </a:bodyPr>
          <a:lstStyle/>
          <a:p>
            <a:pPr algn="ctr">
              <a:defRPr sz="1200" b="0">
                <a:solidFill>
                  <a:srgbClr val="C9A96E"/>
                </a:solidFill>
              </a:defRPr>
            </a:pPr>
            <a:r>
              <a:t>Độ chính xác</a:t>
            </a:r>
          </a:p>
        </p:txBody>
      </p:sp>
      <p:sp>
        <p:nvSpPr>
          <p:cNvPr id="20" name="TextBox 19"/>
          <p:cNvSpPr txBox="1"/>
          <p:nvPr/>
        </p:nvSpPr>
        <p:spPr>
          <a:xfrm>
            <a:off x="4709160" y="2377440"/>
            <a:ext cx="1828800" cy="548640"/>
          </a:xfrm>
          <a:prstGeom prst="rect">
            <a:avLst/>
          </a:prstGeom>
          <a:noFill/>
        </p:spPr>
        <p:txBody>
          <a:bodyPr wrap="square">
            <a:spAutoFit/>
          </a:bodyPr>
          <a:lstStyle/>
          <a:p>
            <a:pPr algn="ctr">
              <a:defRPr sz="2800" b="1">
                <a:solidFill>
                  <a:srgbClr val="FFD700"/>
                </a:solidFill>
              </a:defRPr>
            </a:pPr>
            <a:r>
              <a:t>98.5%</a:t>
            </a:r>
          </a:p>
        </p:txBody>
      </p:sp>
      <p:sp>
        <p:nvSpPr>
          <p:cNvPr id="21" name="TextBox 20"/>
          <p:cNvSpPr txBox="1"/>
          <p:nvPr/>
        </p:nvSpPr>
        <p:spPr>
          <a:xfrm>
            <a:off x="4709160" y="3108960"/>
            <a:ext cx="1828800" cy="274320"/>
          </a:xfrm>
          <a:prstGeom prst="rect">
            <a:avLst/>
          </a:prstGeom>
          <a:noFill/>
        </p:spPr>
        <p:txBody>
          <a:bodyPr wrap="square">
            <a:spAutoFit/>
          </a:bodyPr>
          <a:lstStyle/>
          <a:p>
            <a:pPr algn="ctr">
              <a:defRPr sz="1000" b="0">
                <a:solidFill>
                  <a:srgbClr val="C9A96E"/>
                </a:solidFill>
              </a:defRPr>
            </a:pPr>
            <a:r>
              <a:t>F1-Score</a:t>
            </a:r>
          </a:p>
        </p:txBody>
      </p:sp>
      <p:sp>
        <p:nvSpPr>
          <p:cNvPr id="22" name="Rounded Rectangle 21"/>
          <p:cNvSpPr/>
          <p:nvPr/>
        </p:nvSpPr>
        <p:spPr>
          <a:xfrm>
            <a:off x="6812280" y="1645920"/>
            <a:ext cx="1828800" cy="2286000"/>
          </a:xfrm>
          <a:prstGeom prst="roundRect">
            <a:avLst/>
          </a:prstGeom>
          <a:solidFill>
            <a:srgbClr val="C9A9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812280" y="1645920"/>
            <a:ext cx="1828800" cy="254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12280" y="1920240"/>
            <a:ext cx="1828800" cy="274320"/>
          </a:xfrm>
          <a:prstGeom prst="rect">
            <a:avLst/>
          </a:prstGeom>
          <a:noFill/>
        </p:spPr>
        <p:txBody>
          <a:bodyPr wrap="square">
            <a:spAutoFit/>
          </a:bodyPr>
          <a:lstStyle/>
          <a:p>
            <a:pPr algn="ctr">
              <a:defRPr sz="1200" b="0">
                <a:solidFill>
                  <a:srgbClr val="C9A96E"/>
                </a:solidFill>
              </a:defRPr>
            </a:pPr>
            <a:r>
              <a:t>Kích thước mô hình</a:t>
            </a:r>
          </a:p>
        </p:txBody>
      </p:sp>
      <p:sp>
        <p:nvSpPr>
          <p:cNvPr id="25" name="TextBox 24"/>
          <p:cNvSpPr txBox="1"/>
          <p:nvPr/>
        </p:nvSpPr>
        <p:spPr>
          <a:xfrm>
            <a:off x="6812280" y="2377440"/>
            <a:ext cx="1828800" cy="548640"/>
          </a:xfrm>
          <a:prstGeom prst="rect">
            <a:avLst/>
          </a:prstGeom>
          <a:noFill/>
        </p:spPr>
        <p:txBody>
          <a:bodyPr wrap="square">
            <a:spAutoFit/>
          </a:bodyPr>
          <a:lstStyle/>
          <a:p>
            <a:pPr algn="ctr">
              <a:defRPr sz="2800" b="1">
                <a:solidFill>
                  <a:srgbClr val="FFD700"/>
                </a:solidFill>
              </a:defRPr>
            </a:pPr>
            <a:r>
              <a:t>50MB</a:t>
            </a:r>
          </a:p>
        </p:txBody>
      </p:sp>
      <p:sp>
        <p:nvSpPr>
          <p:cNvPr id="26" name="TextBox 25"/>
          <p:cNvSpPr txBox="1"/>
          <p:nvPr/>
        </p:nvSpPr>
        <p:spPr>
          <a:xfrm>
            <a:off x="6812280" y="3108960"/>
            <a:ext cx="1828800" cy="274320"/>
          </a:xfrm>
          <a:prstGeom prst="rect">
            <a:avLst/>
          </a:prstGeom>
          <a:noFill/>
        </p:spPr>
        <p:txBody>
          <a:bodyPr wrap="square">
            <a:spAutoFit/>
          </a:bodyPr>
          <a:lstStyle/>
          <a:p>
            <a:pPr algn="ctr">
              <a:defRPr sz="1000" b="0">
                <a:solidFill>
                  <a:srgbClr val="C9A96E"/>
                </a:solidFill>
              </a:defRPr>
            </a:pPr>
            <a:r>
              <a:t>Sau khi nén</a:t>
            </a:r>
          </a:p>
        </p:txBody>
      </p:sp>
      <p:sp>
        <p:nvSpPr>
          <p:cNvPr id="27" name="TextBox 26"/>
          <p:cNvSpPr txBox="1"/>
          <p:nvPr/>
        </p:nvSpPr>
        <p:spPr>
          <a:xfrm>
            <a:off x="914400" y="4389120"/>
            <a:ext cx="7315200" cy="274320"/>
          </a:xfrm>
          <a:prstGeom prst="rect">
            <a:avLst/>
          </a:prstGeom>
          <a:noFill/>
        </p:spPr>
        <p:txBody>
          <a:bodyPr wrap="square">
            <a:spAutoFit/>
          </a:bodyPr>
          <a:lstStyle/>
          <a:p>
            <a:pPr algn="l">
              <a:defRPr sz="1200" b="0">
                <a:solidFill>
                  <a:srgbClr val="C9A96E"/>
                </a:solidFill>
              </a:defRPr>
            </a:pPr>
            <a:r>
              <a:t>  Động cơ suy luận độc quyền, tối ưu hóa sâu</a:t>
            </a:r>
          </a:p>
        </p:txBody>
      </p:sp>
      <p:sp>
        <p:nvSpPr>
          <p:cNvPr id="28" name="TextBox 27"/>
          <p:cNvSpPr txBox="1"/>
          <p:nvPr/>
        </p:nvSpPr>
        <p:spPr>
          <a:xfrm>
            <a:off x="914400" y="4709160"/>
            <a:ext cx="7315200" cy="274320"/>
          </a:xfrm>
          <a:prstGeom prst="rect">
            <a:avLst/>
          </a:prstGeom>
          <a:noFill/>
        </p:spPr>
        <p:txBody>
          <a:bodyPr wrap="square">
            <a:spAutoFit/>
          </a:bodyPr>
          <a:lstStyle/>
          <a:p>
            <a:pPr algn="l">
              <a:defRPr sz="1200" b="0">
                <a:solidFill>
                  <a:srgbClr val="C9A96E"/>
                </a:solidFill>
              </a:defRPr>
            </a:pPr>
            <a:r>
              <a:t>  Hỗ trợ lượng tử hóa và cắt tỉa mô hình</a:t>
            </a:r>
          </a:p>
        </p:txBody>
      </p:sp>
      <p:sp>
        <p:nvSpPr>
          <p:cNvPr id="29" name="TextBox 28"/>
          <p:cNvSpPr txBox="1"/>
          <p:nvPr/>
        </p:nvSpPr>
        <p:spPr>
          <a:xfrm>
            <a:off x="914400" y="5029200"/>
            <a:ext cx="7315200" cy="274320"/>
          </a:xfrm>
          <a:prstGeom prst="rect">
            <a:avLst/>
          </a:prstGeom>
          <a:noFill/>
        </p:spPr>
        <p:txBody>
          <a:bodyPr wrap="square">
            <a:spAutoFit/>
          </a:bodyPr>
          <a:lstStyle/>
          <a:p>
            <a:pPr algn="l">
              <a:defRPr sz="1200" b="0">
                <a:solidFill>
                  <a:srgbClr val="C9A96E"/>
                </a:solidFill>
              </a:defRPr>
            </a:pPr>
            <a:r>
              <a:t>  Thử nghiệm A/B trực tuyến, lặp liên tục</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C9A9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560320"/>
            <a:ext cx="9144000" cy="1828800"/>
          </a:xfrm>
          <a:prstGeom prst="rect">
            <a:avLst/>
          </a:prstGeom>
          <a:solidFill>
            <a:srgbClr val="FFD700">
              <a:alpha val="9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743200"/>
            <a:ext cx="7315200" cy="914400"/>
          </a:xfrm>
          <a:prstGeom prst="rect">
            <a:avLst/>
          </a:prstGeom>
          <a:noFill/>
        </p:spPr>
        <p:txBody>
          <a:bodyPr wrap="square">
            <a:spAutoFit/>
          </a:bodyPr>
          <a:lstStyle/>
          <a:p>
            <a:pPr algn="ctr">
              <a:defRPr sz="3600" b="1">
                <a:solidFill>
                  <a:srgbClr val="C9A96E"/>
                </a:solidFill>
              </a:defRPr>
            </a:pPr>
            <a:r>
              <a:t>Định hướng tương lai</a:t>
            </a:r>
          </a:p>
        </p:txBody>
      </p:sp>
      <p:sp>
        <p:nvSpPr>
          <p:cNvPr id="5" name="TextBox 4"/>
          <p:cNvSpPr txBox="1"/>
          <p:nvPr/>
        </p:nvSpPr>
        <p:spPr>
          <a:xfrm>
            <a:off x="914400" y="3657600"/>
            <a:ext cx="7315200" cy="548640"/>
          </a:xfrm>
          <a:prstGeom prst="rect">
            <a:avLst/>
          </a:prstGeom>
          <a:noFill/>
        </p:spPr>
        <p:txBody>
          <a:bodyPr wrap="square">
            <a:spAutoFit/>
          </a:bodyPr>
          <a:lstStyle/>
          <a:p>
            <a:pPr algn="ctr">
              <a:defRPr sz="1800" b="0">
                <a:solidFill>
                  <a:srgbClr val="C9A96E"/>
                </a:solidFill>
              </a:defRPr>
            </a:pPr>
            <a:r>
              <a:t>Future Roadmap</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C9A9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914400"/>
          </a:xfrm>
          <a:prstGeom prst="rect">
            <a:avLst/>
          </a:prstGeom>
          <a:solidFill>
            <a:srgbClr val="C9A9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68680"/>
            <a:ext cx="9144000" cy="254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37160"/>
            <a:ext cx="8046720" cy="640080"/>
          </a:xfrm>
          <a:prstGeom prst="rect">
            <a:avLst/>
          </a:prstGeom>
          <a:noFill/>
        </p:spPr>
        <p:txBody>
          <a:bodyPr wrap="square">
            <a:spAutoFit/>
          </a:bodyPr>
          <a:lstStyle/>
          <a:p>
            <a:pPr algn="l">
              <a:defRPr sz="2800" b="1">
                <a:solidFill>
                  <a:srgbClr val="C9A96E"/>
                </a:solidFill>
              </a:defRPr>
            </a:pPr>
            <a:r>
              <a:t>Định hướng tương lai</a:t>
            </a:r>
          </a:p>
        </p:txBody>
      </p:sp>
      <p:sp>
        <p:nvSpPr>
          <p:cNvPr id="6" name="Rounded Rectangle 5"/>
          <p:cNvSpPr/>
          <p:nvPr/>
        </p:nvSpPr>
        <p:spPr>
          <a:xfrm>
            <a:off x="640080" y="1188720"/>
            <a:ext cx="2377440" cy="3657600"/>
          </a:xfrm>
          <a:prstGeom prst="roundRect">
            <a:avLst/>
          </a:prstGeom>
          <a:solidFill>
            <a:srgbClr val="C9A9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188720"/>
            <a:ext cx="2377440" cy="914400"/>
          </a:xfrm>
          <a:prstGeom prst="rect">
            <a:avLst/>
          </a:prstGeom>
          <a:gradFill rotWithShape="1">
            <a:gsLst>
              <a:gs pos="0">
                <a:srgbClr val="FFD700"/>
              </a:gs>
              <a:gs pos="100000">
                <a:srgbClr val="C9A96E"/>
              </a:gs>
            </a:gsLst>
            <a:lin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280160"/>
            <a:ext cx="2377440" cy="320040"/>
          </a:xfrm>
          <a:prstGeom prst="rect">
            <a:avLst/>
          </a:prstGeom>
          <a:noFill/>
        </p:spPr>
        <p:txBody>
          <a:bodyPr wrap="square">
            <a:spAutoFit/>
          </a:bodyPr>
          <a:lstStyle/>
          <a:p>
            <a:pPr algn="ctr">
              <a:defRPr sz="1400" b="1">
                <a:solidFill>
                  <a:srgbClr val="FFFFFF"/>
                </a:solidFill>
              </a:defRPr>
            </a:pPr>
            <a:r>
              <a:t>Kỳ 2/2025</a:t>
            </a:r>
          </a:p>
        </p:txBody>
      </p:sp>
      <p:sp>
        <p:nvSpPr>
          <p:cNvPr id="9" name="TextBox 8"/>
          <p:cNvSpPr txBox="1"/>
          <p:nvPr/>
        </p:nvSpPr>
        <p:spPr>
          <a:xfrm>
            <a:off x="640080" y="1645920"/>
            <a:ext cx="2377440" cy="320040"/>
          </a:xfrm>
          <a:prstGeom prst="rect">
            <a:avLst/>
          </a:prstGeom>
          <a:noFill/>
        </p:spPr>
        <p:txBody>
          <a:bodyPr wrap="square">
            <a:spAutoFit/>
          </a:bodyPr>
          <a:lstStyle/>
          <a:p>
            <a:pPr algn="ctr">
              <a:defRPr sz="1200" b="0">
                <a:solidFill>
                  <a:srgbClr val="C9A96E"/>
                </a:solidFill>
              </a:defRPr>
            </a:pPr>
            <a:r>
              <a:t>Công nghệ chuyên sâu</a:t>
            </a:r>
          </a:p>
        </p:txBody>
      </p:sp>
      <p:sp>
        <p:nvSpPr>
          <p:cNvPr id="10" name="TextBox 9"/>
          <p:cNvSpPr txBox="1"/>
          <p:nvPr/>
        </p:nvSpPr>
        <p:spPr>
          <a:xfrm>
            <a:off x="822960" y="2377440"/>
            <a:ext cx="2011680" cy="274320"/>
          </a:xfrm>
          <a:prstGeom prst="rect">
            <a:avLst/>
          </a:prstGeom>
          <a:noFill/>
        </p:spPr>
        <p:txBody>
          <a:bodyPr wrap="square">
            <a:spAutoFit/>
          </a:bodyPr>
          <a:lstStyle/>
          <a:p>
            <a:pPr algn="l">
              <a:defRPr sz="1200" b="0">
                <a:solidFill>
                  <a:srgbClr val="C9A96E"/>
                </a:solidFill>
              </a:defRPr>
            </a:pPr>
            <a:r>
              <a:t>  Phát triển năng lực mô hình lớn</a:t>
            </a:r>
          </a:p>
        </p:txBody>
      </p:sp>
      <p:sp>
        <p:nvSpPr>
          <p:cNvPr id="11" name="TextBox 10"/>
          <p:cNvSpPr txBox="1"/>
          <p:nvPr/>
        </p:nvSpPr>
        <p:spPr>
          <a:xfrm>
            <a:off x="822960" y="2834640"/>
            <a:ext cx="2011680" cy="274320"/>
          </a:xfrm>
          <a:prstGeom prst="rect">
            <a:avLst/>
          </a:prstGeom>
          <a:noFill/>
        </p:spPr>
        <p:txBody>
          <a:bodyPr wrap="square">
            <a:spAutoFit/>
          </a:bodyPr>
          <a:lstStyle/>
          <a:p>
            <a:pPr algn="l">
              <a:defRPr sz="1200" b="0">
                <a:solidFill>
                  <a:srgbClr val="C9A96E"/>
                </a:solidFill>
              </a:defRPr>
            </a:pPr>
            <a:r>
              <a:t>  Nâng cấp tính toán thời gian thực</a:t>
            </a:r>
          </a:p>
        </p:txBody>
      </p:sp>
      <p:sp>
        <p:nvSpPr>
          <p:cNvPr id="12" name="TextBox 11"/>
          <p:cNvSpPr txBox="1"/>
          <p:nvPr/>
        </p:nvSpPr>
        <p:spPr>
          <a:xfrm>
            <a:off x="822960" y="3291840"/>
            <a:ext cx="2011680" cy="274320"/>
          </a:xfrm>
          <a:prstGeom prst="rect">
            <a:avLst/>
          </a:prstGeom>
          <a:noFill/>
        </p:spPr>
        <p:txBody>
          <a:bodyPr wrap="square">
            <a:spAutoFit/>
          </a:bodyPr>
          <a:lstStyle/>
          <a:p>
            <a:pPr algn="l">
              <a:defRPr sz="1200" b="0">
                <a:solidFill>
                  <a:srgbClr val="C9A96E"/>
                </a:solidFill>
              </a:defRPr>
            </a:pPr>
            <a:r>
              <a:t>  Gia cố toàn diện an toàn thông tin</a:t>
            </a:r>
          </a:p>
        </p:txBody>
      </p:sp>
      <p:sp>
        <p:nvSpPr>
          <p:cNvPr id="13" name="Rounded Rectangle 12"/>
          <p:cNvSpPr/>
          <p:nvPr/>
        </p:nvSpPr>
        <p:spPr>
          <a:xfrm>
            <a:off x="3383280" y="1188720"/>
            <a:ext cx="2377440" cy="3657600"/>
          </a:xfrm>
          <a:prstGeom prst="roundRect">
            <a:avLst/>
          </a:prstGeom>
          <a:solidFill>
            <a:srgbClr val="C9A9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83280" y="1188720"/>
            <a:ext cx="2377440" cy="914400"/>
          </a:xfrm>
          <a:prstGeom prst="rect">
            <a:avLst/>
          </a:prstGeom>
          <a:gradFill rotWithShape="1">
            <a:gsLst>
              <a:gs pos="0">
                <a:srgbClr val="FFD700"/>
              </a:gs>
              <a:gs pos="100000">
                <a:srgbClr val="C9A96E"/>
              </a:gs>
            </a:gsLst>
            <a:lin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383280" y="1280160"/>
            <a:ext cx="2377440" cy="320040"/>
          </a:xfrm>
          <a:prstGeom prst="rect">
            <a:avLst/>
          </a:prstGeom>
          <a:noFill/>
        </p:spPr>
        <p:txBody>
          <a:bodyPr wrap="square">
            <a:spAutoFit/>
          </a:bodyPr>
          <a:lstStyle/>
          <a:p>
            <a:pPr algn="ctr">
              <a:defRPr sz="1400" b="1">
                <a:solidFill>
                  <a:srgbClr val="FFFFFF"/>
                </a:solidFill>
              </a:defRPr>
            </a:pPr>
            <a:r>
              <a:t>Kỳ 1/2026</a:t>
            </a:r>
          </a:p>
        </p:txBody>
      </p:sp>
      <p:sp>
        <p:nvSpPr>
          <p:cNvPr id="16" name="TextBox 15"/>
          <p:cNvSpPr txBox="1"/>
          <p:nvPr/>
        </p:nvSpPr>
        <p:spPr>
          <a:xfrm>
            <a:off x="3383280" y="1645920"/>
            <a:ext cx="2377440" cy="320040"/>
          </a:xfrm>
          <a:prstGeom prst="rect">
            <a:avLst/>
          </a:prstGeom>
          <a:noFill/>
        </p:spPr>
        <p:txBody>
          <a:bodyPr wrap="square">
            <a:spAutoFit/>
          </a:bodyPr>
          <a:lstStyle/>
          <a:p>
            <a:pPr algn="ctr">
              <a:defRPr sz="1200" b="0">
                <a:solidFill>
                  <a:srgbClr val="C9A96E"/>
                </a:solidFill>
              </a:defRPr>
            </a:pPr>
            <a:r>
              <a:t>Nền tảng hóa</a:t>
            </a:r>
          </a:p>
        </p:txBody>
      </p:sp>
      <p:sp>
        <p:nvSpPr>
          <p:cNvPr id="17" name="TextBox 16"/>
          <p:cNvSpPr txBox="1"/>
          <p:nvPr/>
        </p:nvSpPr>
        <p:spPr>
          <a:xfrm>
            <a:off x="3566160" y="2377440"/>
            <a:ext cx="2011680" cy="274320"/>
          </a:xfrm>
          <a:prstGeom prst="rect">
            <a:avLst/>
          </a:prstGeom>
          <a:noFill/>
        </p:spPr>
        <p:txBody>
          <a:bodyPr wrap="square">
            <a:spAutoFit/>
          </a:bodyPr>
          <a:lstStyle/>
          <a:p>
            <a:pPr algn="l">
              <a:defRPr sz="1200" b="0">
                <a:solidFill>
                  <a:srgbClr val="C9A96E"/>
                </a:solidFill>
              </a:defRPr>
            </a:pPr>
            <a:r>
              <a:t>  Mở cổng nền tảng Open API</a:t>
            </a:r>
          </a:p>
        </p:txBody>
      </p:sp>
      <p:sp>
        <p:nvSpPr>
          <p:cNvPr id="18" name="TextBox 17"/>
          <p:cNvSpPr txBox="1"/>
          <p:nvPr/>
        </p:nvSpPr>
        <p:spPr>
          <a:xfrm>
            <a:off x="3566160" y="2834640"/>
            <a:ext cx="2011680" cy="274320"/>
          </a:xfrm>
          <a:prstGeom prst="rect">
            <a:avLst/>
          </a:prstGeom>
          <a:noFill/>
        </p:spPr>
        <p:txBody>
          <a:bodyPr wrap="square">
            <a:spAutoFit/>
          </a:bodyPr>
          <a:lstStyle/>
          <a:p>
            <a:pPr algn="l">
              <a:defRPr sz="1200" b="0">
                <a:solidFill>
                  <a:srgbClr val="C9A96E"/>
                </a:solidFill>
              </a:defRPr>
            </a:pPr>
            <a:r>
              <a:t>  Xây dựng hệ sinh thái nhà phát triển</a:t>
            </a:r>
          </a:p>
        </p:txBody>
      </p:sp>
      <p:sp>
        <p:nvSpPr>
          <p:cNvPr id="19" name="TextBox 18"/>
          <p:cNvSpPr txBox="1"/>
          <p:nvPr/>
        </p:nvSpPr>
        <p:spPr>
          <a:xfrm>
            <a:off x="3566160" y="3291840"/>
            <a:ext cx="2011680" cy="274320"/>
          </a:xfrm>
          <a:prstGeom prst="rect">
            <a:avLst/>
          </a:prstGeom>
          <a:noFill/>
        </p:spPr>
        <p:txBody>
          <a:bodyPr wrap="square">
            <a:spAutoFit/>
          </a:bodyPr>
          <a:lstStyle/>
          <a:p>
            <a:pPr algn="l">
              <a:defRPr sz="1200" b="0">
                <a:solidFill>
                  <a:srgbClr val="C9A96E"/>
                </a:solidFill>
              </a:defRPr>
            </a:pPr>
            <a:r>
              <a:t>  Đóng gói giải pháp ngành hoàn chỉnh</a:t>
            </a:r>
          </a:p>
        </p:txBody>
      </p:sp>
      <p:sp>
        <p:nvSpPr>
          <p:cNvPr id="20" name="Rounded Rectangle 19"/>
          <p:cNvSpPr/>
          <p:nvPr/>
        </p:nvSpPr>
        <p:spPr>
          <a:xfrm>
            <a:off x="6126480" y="1188720"/>
            <a:ext cx="2377440" cy="3657600"/>
          </a:xfrm>
          <a:prstGeom prst="roundRect">
            <a:avLst/>
          </a:prstGeom>
          <a:solidFill>
            <a:srgbClr val="C9A9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26480" y="1188720"/>
            <a:ext cx="2377440" cy="914400"/>
          </a:xfrm>
          <a:prstGeom prst="rect">
            <a:avLst/>
          </a:prstGeom>
          <a:gradFill rotWithShape="1">
            <a:gsLst>
              <a:gs pos="0">
                <a:srgbClr val="FFD700"/>
              </a:gs>
              <a:gs pos="100000">
                <a:srgbClr val="C9A96E"/>
              </a:gs>
            </a:gsLst>
            <a:lin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126480" y="1280160"/>
            <a:ext cx="2377440" cy="320040"/>
          </a:xfrm>
          <a:prstGeom prst="rect">
            <a:avLst/>
          </a:prstGeom>
          <a:noFill/>
        </p:spPr>
        <p:txBody>
          <a:bodyPr wrap="square">
            <a:spAutoFit/>
          </a:bodyPr>
          <a:lstStyle/>
          <a:p>
            <a:pPr algn="ctr">
              <a:defRPr sz="1400" b="1">
                <a:solidFill>
                  <a:srgbClr val="FFFFFF"/>
                </a:solidFill>
              </a:defRPr>
            </a:pPr>
            <a:r>
              <a:t>Kỳ 2/2026</a:t>
            </a:r>
          </a:p>
        </p:txBody>
      </p:sp>
      <p:sp>
        <p:nvSpPr>
          <p:cNvPr id="23" name="TextBox 22"/>
          <p:cNvSpPr txBox="1"/>
          <p:nvPr/>
        </p:nvSpPr>
        <p:spPr>
          <a:xfrm>
            <a:off x="6126480" y="1645920"/>
            <a:ext cx="2377440" cy="320040"/>
          </a:xfrm>
          <a:prstGeom prst="rect">
            <a:avLst/>
          </a:prstGeom>
          <a:noFill/>
        </p:spPr>
        <p:txBody>
          <a:bodyPr wrap="square">
            <a:spAutoFit/>
          </a:bodyPr>
          <a:lstStyle/>
          <a:p>
            <a:pPr algn="ctr">
              <a:defRPr sz="1200" b="0">
                <a:solidFill>
                  <a:srgbClr val="C9A96E"/>
                </a:solidFill>
              </a:defRPr>
            </a:pPr>
            <a:r>
              <a:t>Toàn cầu hóa</a:t>
            </a:r>
          </a:p>
        </p:txBody>
      </p:sp>
      <p:sp>
        <p:nvSpPr>
          <p:cNvPr id="24" name="TextBox 23"/>
          <p:cNvSpPr txBox="1"/>
          <p:nvPr/>
        </p:nvSpPr>
        <p:spPr>
          <a:xfrm>
            <a:off x="6309360" y="2377440"/>
            <a:ext cx="2011680" cy="274320"/>
          </a:xfrm>
          <a:prstGeom prst="rect">
            <a:avLst/>
          </a:prstGeom>
          <a:noFill/>
        </p:spPr>
        <p:txBody>
          <a:bodyPr wrap="square">
            <a:spAutoFit/>
          </a:bodyPr>
          <a:lstStyle/>
          <a:p>
            <a:pPr algn="l">
              <a:defRPr sz="1200" b="0">
                <a:solidFill>
                  <a:srgbClr val="C9A96E"/>
                </a:solidFill>
              </a:defRPr>
            </a:pPr>
            <a:r>
              <a:t>  Mở rộng triển khai đa khu vực</a:t>
            </a:r>
          </a:p>
        </p:txBody>
      </p:sp>
      <p:sp>
        <p:nvSpPr>
          <p:cNvPr id="25" name="TextBox 24"/>
          <p:cNvSpPr txBox="1"/>
          <p:nvPr/>
        </p:nvSpPr>
        <p:spPr>
          <a:xfrm>
            <a:off x="6309360" y="2834640"/>
            <a:ext cx="2011680" cy="274320"/>
          </a:xfrm>
          <a:prstGeom prst="rect">
            <a:avLst/>
          </a:prstGeom>
          <a:noFill/>
        </p:spPr>
        <p:txBody>
          <a:bodyPr wrap="square">
            <a:spAutoFit/>
          </a:bodyPr>
          <a:lstStyle/>
          <a:p>
            <a:pPr algn="l">
              <a:defRPr sz="1200" b="0">
                <a:solidFill>
                  <a:srgbClr val="C9A96E"/>
                </a:solidFill>
              </a:defRPr>
            </a:pPr>
            <a:r>
              <a:t>  Hỗ trợ giao diện đa ngôn ngữ</a:t>
            </a:r>
          </a:p>
        </p:txBody>
      </p:sp>
      <p:sp>
        <p:nvSpPr>
          <p:cNvPr id="26" name="TextBox 25"/>
          <p:cNvSpPr txBox="1"/>
          <p:nvPr/>
        </p:nvSpPr>
        <p:spPr>
          <a:xfrm>
            <a:off x="6309360" y="3291840"/>
            <a:ext cx="2011680" cy="274320"/>
          </a:xfrm>
          <a:prstGeom prst="rect">
            <a:avLst/>
          </a:prstGeom>
          <a:noFill/>
        </p:spPr>
        <p:txBody>
          <a:bodyPr wrap="square">
            <a:spAutoFit/>
          </a:bodyPr>
          <a:lstStyle/>
          <a:p>
            <a:pPr algn="l">
              <a:defRPr sz="1200" b="0">
                <a:solidFill>
                  <a:srgbClr val="C9A96E"/>
                </a:solidFill>
              </a:defRPr>
            </a:pPr>
            <a:r>
              <a:t>  Chứng nhận tuân thủ quốc tế</a:t>
            </a:r>
          </a:p>
        </p:txBody>
      </p:sp>
      <p:sp>
        <p:nvSpPr>
          <p:cNvPr id="27" name="Rounded Rectangle 26"/>
          <p:cNvSpPr/>
          <p:nvPr/>
        </p:nvSpPr>
        <p:spPr>
          <a:xfrm>
            <a:off x="457200" y="5303520"/>
            <a:ext cx="8229600" cy="1097280"/>
          </a:xfrm>
          <a:prstGeom prst="roundRect">
            <a:avLst/>
          </a:prstGeom>
          <a:solidFill>
            <a:srgbClr val="C9A9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1520" y="5394960"/>
            <a:ext cx="7680960" cy="320040"/>
          </a:xfrm>
          <a:prstGeom prst="rect">
            <a:avLst/>
          </a:prstGeom>
          <a:noFill/>
        </p:spPr>
        <p:txBody>
          <a:bodyPr wrap="square">
            <a:spAutoFit/>
          </a:bodyPr>
          <a:lstStyle/>
          <a:p>
            <a:pPr algn="l">
              <a:defRPr sz="1400" b="1">
                <a:solidFill>
                  <a:srgbClr val="FFD700"/>
                </a:solidFill>
              </a:defRPr>
            </a:pPr>
            <a:r>
              <a:t>Tầm nhìn công nghệ</a:t>
            </a:r>
          </a:p>
        </p:txBody>
      </p:sp>
      <p:sp>
        <p:nvSpPr>
          <p:cNvPr id="29" name="TextBox 28"/>
          <p:cNvSpPr txBox="1"/>
          <p:nvPr/>
        </p:nvSpPr>
        <p:spPr>
          <a:xfrm>
            <a:off x="731520" y="5760720"/>
            <a:ext cx="7680960" cy="457200"/>
          </a:xfrm>
          <a:prstGeom prst="rect">
            <a:avLst/>
          </a:prstGeom>
          <a:noFill/>
        </p:spPr>
        <p:txBody>
          <a:bodyPr wrap="square">
            <a:spAutoFit/>
          </a:bodyPr>
          <a:lstStyle/>
          <a:p>
            <a:pPr algn="l">
              <a:defRPr sz="1200" b="0">
                <a:solidFill>
                  <a:srgbClr val="C9A96E"/>
                </a:solidFill>
              </a:defRPr>
            </a:pPr>
            <a:r>
              <a:t>Lấy đổi mới công nghệ làm động lực tăng trưởng kinh doanh, kiến tạo nền tảng công nghệ dẫn đầu ngành, trao quyền cho các lĩnh vực chuyển đổi số toàn diện.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C9A9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560320"/>
            <a:ext cx="9144000" cy="1828800"/>
          </a:xfrm>
          <a:prstGeom prst="rect">
            <a:avLst/>
          </a:prstGeom>
          <a:solidFill>
            <a:srgbClr val="FFD700">
              <a:alpha val="9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743200"/>
            <a:ext cx="7315200" cy="914400"/>
          </a:xfrm>
          <a:prstGeom prst="rect">
            <a:avLst/>
          </a:prstGeom>
          <a:noFill/>
        </p:spPr>
        <p:txBody>
          <a:bodyPr wrap="square">
            <a:spAutoFit/>
          </a:bodyPr>
          <a:lstStyle/>
          <a:p>
            <a:pPr algn="ctr">
              <a:defRPr sz="3600" b="1">
                <a:solidFill>
                  <a:srgbClr val="C9A96E"/>
                </a:solidFill>
              </a:defRPr>
            </a:pPr>
            <a:r>
              <a:t>Tổng kết</a:t>
            </a:r>
          </a:p>
        </p:txBody>
      </p:sp>
      <p:sp>
        <p:nvSpPr>
          <p:cNvPr id="5" name="TextBox 4"/>
          <p:cNvSpPr txBox="1"/>
          <p:nvPr/>
        </p:nvSpPr>
        <p:spPr>
          <a:xfrm>
            <a:off x="914400" y="3657600"/>
            <a:ext cx="7315200" cy="548640"/>
          </a:xfrm>
          <a:prstGeom prst="rect">
            <a:avLst/>
          </a:prstGeom>
          <a:noFill/>
        </p:spPr>
        <p:txBody>
          <a:bodyPr wrap="square">
            <a:spAutoFit/>
          </a:bodyPr>
          <a:lstStyle/>
          <a:p>
            <a:pPr algn="ctr">
              <a:defRPr sz="1800" b="0">
                <a:solidFill>
                  <a:srgbClr val="C9A96E"/>
                </a:solidFill>
              </a:defRPr>
            </a:pPr>
            <a:r>
              <a:t>Summary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gradFill rotWithShape="1">
            <a:gsLst>
              <a:gs pos="0">
                <a:srgbClr val="C9A96E"/>
              </a:gs>
              <a:gs pos="100000">
                <a:srgbClr val="B48C50"/>
              </a:gs>
            </a:gsLst>
            <a:lin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011680"/>
            <a:ext cx="7315200" cy="1097280"/>
          </a:xfrm>
          <a:prstGeom prst="rect">
            <a:avLst/>
          </a:prstGeom>
          <a:noFill/>
        </p:spPr>
        <p:txBody>
          <a:bodyPr wrap="square">
            <a:spAutoFit/>
          </a:bodyPr>
          <a:lstStyle/>
          <a:p>
            <a:pPr algn="ctr">
              <a:defRPr sz="4800" b="1">
                <a:solidFill>
                  <a:srgbClr val="FFD700"/>
                </a:solidFill>
              </a:defRPr>
            </a:pPr>
            <a:r>
              <a:t>Thank You</a:t>
            </a:r>
          </a:p>
        </p:txBody>
      </p:sp>
      <p:sp>
        <p:nvSpPr>
          <p:cNvPr id="4" name="TextBox 3"/>
          <p:cNvSpPr txBox="1"/>
          <p:nvPr/>
        </p:nvSpPr>
        <p:spPr>
          <a:xfrm>
            <a:off x="914400" y="3200400"/>
            <a:ext cx="7315200" cy="731520"/>
          </a:xfrm>
          <a:prstGeom prst="rect">
            <a:avLst/>
          </a:prstGeom>
          <a:noFill/>
        </p:spPr>
        <p:txBody>
          <a:bodyPr wrap="square">
            <a:spAutoFit/>
          </a:bodyPr>
          <a:lstStyle/>
          <a:p>
            <a:pPr algn="ctr">
              <a:defRPr sz="2200" b="0">
                <a:solidFill>
                  <a:srgbClr val="A0A0B0"/>
                </a:solidFill>
              </a:defRPr>
            </a:pPr>
            <a:r>
              <a:t>Khai phá không giới hạn - Đổi mới không ngừng</a:t>
            </a:r>
          </a:p>
        </p:txBody>
      </p:sp>
      <p:sp>
        <p:nvSpPr>
          <p:cNvPr id="5" name="Rectangle 4"/>
          <p:cNvSpPr/>
          <p:nvPr/>
        </p:nvSpPr>
        <p:spPr>
          <a:xfrm>
            <a:off x="3657600" y="3017520"/>
            <a:ext cx="1828800" cy="254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3200400" y="4114800"/>
            <a:ext cx="91440" cy="91440"/>
          </a:xfrm>
          <a:prstGeom prst="ellipse">
            <a:avLst/>
          </a:prstGeom>
          <a:solidFill>
            <a:srgbClr val="FFD700">
              <a:alpha val="7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3931920" y="4114800"/>
            <a:ext cx="91440" cy="91440"/>
          </a:xfrm>
          <a:prstGeom prst="ellipse">
            <a:avLst/>
          </a:prstGeom>
          <a:solidFill>
            <a:srgbClr val="FFD700">
              <a:alpha val="5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4663440" y="4114800"/>
            <a:ext cx="91440" cy="91440"/>
          </a:xfrm>
          <a:prstGeom prst="ellipse">
            <a:avLst/>
          </a:prstGeom>
          <a:solidFill>
            <a:srgbClr val="FFD700">
              <a:alpha val="46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394960" y="4114800"/>
            <a:ext cx="91440" cy="91440"/>
          </a:xfrm>
          <a:prstGeom prst="ellipse">
            <a:avLst/>
          </a:prstGeom>
          <a:solidFill>
            <a:srgbClr val="FFD700">
              <a:alpha val="34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126480" y="4114800"/>
            <a:ext cx="91440" cy="91440"/>
          </a:xfrm>
          <a:prstGeom prst="ellipse">
            <a:avLst/>
          </a:prstGeom>
          <a:solidFill>
            <a:srgbClr val="FFD700">
              <a:alpha val="2199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