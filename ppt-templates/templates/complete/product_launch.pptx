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 rot="900000">
            <a:off x="457200" y="274320"/>
            <a:ext cx="2286000" cy="2286000"/>
          </a:xfrm>
          <a:prstGeom prst="diamond">
            <a:avLst/>
          </a:prstGeom>
          <a:solidFill>
            <a:srgbClr val="90E0E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943600" y="457200"/>
            <a:ext cx="1828800" cy="1828800"/>
          </a:xfrm>
          <a:prstGeom prst="diamond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 rot="-600000">
            <a:off x="6400800" y="4114800"/>
            <a:ext cx="2560320" cy="2560320"/>
          </a:xfrm>
          <a:prstGeom prst="diamond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731520" y="4572000"/>
            <a:ext cx="1645920" cy="1645920"/>
          </a:xfrm>
          <a:prstGeom prst="diamond">
            <a:avLst/>
          </a:prstGeom>
          <a:solidFill>
            <a:srgbClr val="90E0E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 rot="2700000">
            <a:off x="3657600" y="5029200"/>
            <a:ext cx="1371600" cy="1371600"/>
          </a:xfrm>
          <a:prstGeom prst="diamond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148840"/>
            <a:ext cx="5486400" cy="2560320"/>
          </a:xfrm>
          <a:prstGeom prst="round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Product Launch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3429000"/>
            <a:ext cx="228600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Mục lục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Phân tích bài toán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37160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Giải pháp đột phá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37160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Tính năng sản phẩm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37160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137160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Trình diễn sản phẩm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88036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Khách hàng tiêu biểu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288036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Bảng giá dịch vụ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288036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So sánh đối thủ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12280" y="2880360"/>
            <a:ext cx="18288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0E0EF"/>
                </a:solidFill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Kế hoạch ra mắt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Phân tích 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Pain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Phân tích bài toán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840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4433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Hiệu suất thấp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Quy trình làm việc truyền thống rườm rà</a:t>
            </a:r>
            <a:br/>
            <a:r>
              <a:t>Thao tác thủ công lặp lại tốn thời gian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3840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645920"/>
            <a:ext cx="548640" cy="548640"/>
          </a:xfrm>
          <a:prstGeom prst="ellipse">
            <a:avLst/>
          </a:prstGeom>
          <a:solidFill>
            <a:srgbClr val="F4433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Chi phí đắt đỏ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Chi phí nhân sự liên tục gia tăng</a:t>
            </a:r>
            <a:br/>
            <a:r>
              <a:t>Chi phí vận hành IT duy trì ở mức cao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840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F4433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Dữ liệu phân mảnh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Dữ liệu các phòng ban không liên thông</a:t>
            </a:r>
            <a:br/>
            <a:r>
              <a:t>Ra quyết định thiếu góc nhìn toàn cục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840480"/>
            <a:ext cx="3840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384048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0" y="4114800"/>
            <a:ext cx="548640" cy="548640"/>
          </a:xfrm>
          <a:prstGeom prst="ellipse">
            <a:avLst/>
          </a:prstGeom>
          <a:solidFill>
            <a:srgbClr val="F4433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Trải nghiệm kém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Giao diện phức tạp khó sử dụng</a:t>
            </a:r>
            <a:br/>
            <a:r>
              <a:t>Chi phí học tập làm quen quá cao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Giải pháp đột phá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377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377440" cy="109728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7B6"/>
                </a:solidFill>
              </a:defRPr>
            </a:pPr>
            <a:r>
              <a:t>Động cơ AI thông minh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7B6"/>
                </a:solidFill>
              </a:defRPr>
            </a:pPr>
            <a:r>
              <a:t>Phân tích và ra quyết định</a:t>
            </a:r>
            <a:br/>
            <a:r>
              <a:t>dựa trên học sâu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377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377440" cy="109728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7B6"/>
                </a:solidFill>
              </a:defRPr>
            </a:pPr>
            <a:r>
              <a:t>Nền tảng hợp nhất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7B6"/>
                </a:solidFill>
              </a:defRPr>
            </a:pPr>
            <a:r>
              <a:t>Xóa bỏ rào cản dữ liệu</a:t>
            </a:r>
            <a:br/>
            <a:r>
              <a:t>Cổng quản trị tập trung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377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377440" cy="109728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7B6"/>
                </a:solidFill>
              </a:defRPr>
            </a:pPr>
            <a:r>
              <a:t>Thiết kế tối giản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7B6"/>
                </a:solidFill>
              </a:defRPr>
            </a:pPr>
            <a:r>
              <a:t>Làm quen nhanh chóng</a:t>
            </a:r>
            <a:br/>
            <a:r>
              <a:t>Trải nghiệm trực quan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Tính năng 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Product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Tính năng sản phẩm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Phân tích dữ liệu thông minh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Tạo báo cáo trực quan trong 1 chạm</a:t>
            </a:r>
            <a:br/>
            <a:r>
              <a:t>AI tự động phát hiện hiểu biết sâu</a:t>
            </a:r>
            <a:br/>
            <a:r>
              <a:t>Hỗ trợ bảng điều khiển tùy biến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Luồng công việc tự động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Kéo thả thiết kế quy trình dễ dàng</a:t>
            </a:r>
            <a:br/>
            <a:r>
              <a:t>Hỗ trợ 500+ quy tắc tự động hóa</a:t>
            </a:r>
            <a:br/>
            <a:r>
              <a:t>Đồng bộ dữ liệu liên hệ thống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Tính năng sản phẩm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Trung tâm cộng tác nhóm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Cộng tác thời gian thực nhiều người</a:t>
            </a:r>
            <a:br/>
            <a:r>
              <a:t>Quy trình bình luận &amp; phê duyệt chuẩn</a:t>
            </a:r>
            <a:br/>
            <a:r>
              <a:t>Phân công và theo dõi tiến độ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Bảo mật &amp; Tuân thủ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Mã hóa dữ liệu cấp doanh nghiệp</a:t>
            </a:r>
            <a:br/>
            <a:r>
              <a:t>Phân quyền chi tiết nhiều cấp</a:t>
            </a:r>
            <a:br/>
            <a:r>
              <a:t>Bảo đảm tuân thủ chuẩn quốc tế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Tính năng sản phẩm - Phần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Nền tảng API mở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Giao diện lập trình RESTful API</a:t>
            </a:r>
            <a:br/>
            <a:r>
              <a:t>Thông báo sự kiện qua Webhook</a:t>
            </a:r>
            <a:br/>
            <a:r>
              <a:t>Tài liệu thân thiện lập trình viên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Trải nghiệm trên di động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Ứng dụng gốc iOS/Android mượt mà</a:t>
            </a:r>
            <a:br/>
            <a:r>
              <a:t>Đồng bộ dữ liệu ngoại tuyến tức thời</a:t>
            </a:r>
            <a:br/>
            <a:r>
              <a:t>Thông báo đẩy theo thời gian thực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Tính năng sản phẩm - Phần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Gợi ý thông minh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Cá nhân hóa nội dung khuyến nghị</a:t>
            </a:r>
            <a:br/>
            <a:r>
              <a:t>Dự đoán hành vi người dùng</a:t>
            </a:r>
            <a:br/>
            <a:r>
              <a:t>Hỗ trợ kiểm thử A/B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276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B6"/>
                </a:solidFill>
              </a:defRPr>
            </a:pPr>
            <a:r>
              <a:t>Hỗ trợ đa ngôn ngữ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Hỗ trợ hơn 12 ngôn ngữ phổ biến</a:t>
            </a:r>
            <a:br/>
            <a:r>
              <a:t>Tùy biến bản địa hóa tối ưu</a:t>
            </a:r>
            <a:br/>
            <a:r>
              <a:t>Tương thích văn hóa người dùng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Trình diễn &amp; Điển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Demo &amp;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Trình diễn sản phẩm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7498080" cy="429768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444752"/>
            <a:ext cx="182880" cy="1828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444752"/>
            <a:ext cx="182880" cy="1828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1444752"/>
            <a:ext cx="182880" cy="18288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737360"/>
            <a:ext cx="1371600" cy="3749040"/>
          </a:xfrm>
          <a:prstGeom prst="rect">
            <a:avLst/>
          </a:prstGeom>
          <a:solidFill>
            <a:srgbClr val="0077B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Giao diện trình diễn sản phẩm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468880"/>
            <a:ext cx="3200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7B6"/>
                </a:solidFill>
              </a:defRPr>
            </a:pPr>
            <a:r>
              <a:t>Khu vực trực quan hóa dữ liệu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18288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7B6"/>
                </a:solidFill>
              </a:defRPr>
            </a:pPr>
            <a:r>
              <a:t>Xử lý dữ liệu thời gian thực | Phân tích thông minh | Xuất báo cáo 1 chạm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Khách hàng tiêu biểu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7772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4864" cy="2011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Tập đoàn Sản xuất Quy mô lớn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03120"/>
            <a:ext cx="1097280" cy="2743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0E0EF"/>
                </a:solidFill>
              </a:defRPr>
            </a:pPr>
            <a:r>
              <a:t>Sản xuất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Ứng dụng luồng công việc tự động, rút ngắn thời gian lập lịch sản xuất từ 3 ngày xuống 4 giờ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2286000" cy="1280160"/>
          </a:xfrm>
          <a:prstGeom prst="round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Hiệu suất tăng 40%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49040"/>
            <a:ext cx="7772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49040"/>
            <a:ext cx="54864" cy="2011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Công ty Công nghệ Internet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1097280" cy="2743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0E0EF"/>
                </a:solidFill>
              </a:defRPr>
            </a:pPr>
            <a:r>
              <a:t>Internet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Hợp nhất nền tảng dữ liệu, xóa bỏ trùng lặp xử lý, tiết kiệm đáng kể chi phí nhân lực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114800"/>
            <a:ext cx="2286000" cy="1280160"/>
          </a:xfrm>
          <a:prstGeom prst="round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Chi phí giảm 30%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Khách hàng tiêu biểu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7772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4864" cy="2011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Tổ chức Tài chính Ngân hàng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03120"/>
            <a:ext cx="1097280" cy="2743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0E0EF"/>
                </a:solidFill>
              </a:defRPr>
            </a:pPr>
            <a:r>
              <a:t>Tài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AI phân tích dữ liệu tức thời hỗ trợ ban điều hành đưa ra quyết định đầu tư chính xác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2286000" cy="1280160"/>
          </a:xfrm>
          <a:prstGeom prst="round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Ra quyết định nhanh hơn 50%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49040"/>
            <a:ext cx="7772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49040"/>
            <a:ext cx="54864" cy="2011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6"/>
                </a:solidFill>
              </a:defRPr>
            </a:pPr>
            <a:r>
              <a:t>Tập đoàn Bán lẻ Chuỗi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1097280" cy="27432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0E0EF"/>
                </a:solidFill>
              </a:defRPr>
            </a:pPr>
            <a:r>
              <a:t>Bán lẻ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7B6"/>
                </a:solidFill>
              </a:defRPr>
            </a:pPr>
            <a:r>
              <a:t>Chân dung khách hàng chuẩn xác kết hợp gợi ý cá nhân hóa, nâng cao tỷ lệ chuyển đổi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114800"/>
            <a:ext cx="2286000" cy="1280160"/>
          </a:xfrm>
          <a:prstGeom prst="round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Doanh thu tăng 25%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Hợp tác thương mại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Bảng giá dịch vụ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6"/>
                </a:solidFill>
              </a:defRPr>
            </a:pPr>
            <a:r>
              <a:t>Bản Cơ bản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7B6"/>
                </a:solidFill>
              </a:defRPr>
            </a:pPr>
            <a:r>
              <a:t>Miễn phí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1828800" cy="127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5 người dùng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10GB lưu trữ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Phân tích cơ bản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Hỗ trợ qua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188720"/>
            <a:ext cx="23774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005840"/>
            <a:ext cx="914400" cy="3200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005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Phổ biến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6"/>
                </a:solidFill>
              </a:defRPr>
            </a:pPr>
            <a:r>
              <a:t>Bản Chuyên nghiệp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0E0EF"/>
                </a:solidFill>
              </a:defRPr>
            </a:pPr>
            <a:r>
              <a:t>999.000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đ/tháng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834640"/>
            <a:ext cx="1828800" cy="127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50 người dùng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100GB lưu trữ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Phân tích nâng 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Hỗ trợ ưu tiên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6"/>
                </a:solidFill>
              </a:defRPr>
            </a:pPr>
            <a:r>
              <a:t>Bản Doanh nghiệp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7B6"/>
                </a:solidFill>
              </a:defRPr>
            </a:pPr>
            <a:r>
              <a:t>Liên hệ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34640"/>
            <a:ext cx="1828800" cy="127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Không giới hạn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Lưu trữ vô hạn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Tính năng riêng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7B6"/>
                </a:solidFill>
              </a:defRPr>
            </a:pPr>
            <a:r>
              <a:t>  Chuyên viên tận nơi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 sánh đối thủ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828800" cy="457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Tính năng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280160"/>
            <a:ext cx="21031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Chúng tôi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280160"/>
            <a:ext cx="21031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Đối thủ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80160"/>
            <a:ext cx="21031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Đối thủ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Phân tích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73736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Tích hợp sẵn động cơ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73736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Thu phụ phí đắt đỏ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3736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Không có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24028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Cộng tác nhóm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24028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Cộng tác thời gian thực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24028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Cộng tác cơ bản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24028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Không có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Nền tảng API mở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74320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Mở hoàn toàn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274320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Mở một phần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74320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Không hỗ trợ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461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246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Bảo mật dữ liệu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24612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Mã hóa cấp doanh nghiệp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324612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Mã hóa cơ bản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Mã hóa tiêu chuẩn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749040"/>
            <a:ext cx="182880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7B6"/>
                </a:solidFill>
              </a:defRPr>
            </a:pPr>
            <a:r>
              <a:t>Mức giá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374904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Tối ưu và cạnh tranh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374904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Khá đắt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749040"/>
            <a:ext cx="210312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7B6"/>
                </a:solidFill>
              </a:defRPr>
            </a:pPr>
            <a:r>
              <a:t>Thấp nhưng ít tính năng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90E0E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7B6"/>
                </a:solidFill>
              </a:defRPr>
            </a:pPr>
            <a:r>
              <a:t>Kế hoạch ra mắt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7B6"/>
                </a:solidFill>
              </a:defRPr>
            </a:pPr>
            <a:r>
              <a:t>Launch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Kế hoạch ra mắt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7680960" cy="381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97180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8872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0E0EF"/>
                </a:solidFill>
              </a:defRPr>
            </a:pPr>
            <a:r>
              <a:t>Quý 3/2025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Thử nghiệm nội bộ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7B6"/>
                </a:solidFill>
              </a:defRPr>
            </a:pPr>
            <a:r>
              <a:t>Phát triển tính năng lõi</a:t>
            </a:r>
            <a:br/>
            <a:r>
              <a:t>Mời người dùng thử nghiệm</a:t>
            </a:r>
            <a:br/>
            <a:r>
              <a:t>Sửa lỗi và tinh chỉnh hiệu năng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97180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74904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0E0EF"/>
                </a:solidFill>
              </a:defRPr>
            </a:pPr>
            <a:r>
              <a:t>Quý 4/2025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Thử nghiệm công khai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7B6"/>
                </a:solidFill>
              </a:defRPr>
            </a:pPr>
            <a:r>
              <a:t>Mở đăng ký cộng đồng</a:t>
            </a:r>
            <a:br/>
            <a:r>
              <a:t>Hoàn thiện tính năng</a:t>
            </a:r>
            <a:br/>
            <a:r>
              <a:t>Thu thập phản hồi đóng góp</a:t>
            </a:r>
          </a:p>
        </p:txBody>
      </p:sp>
      <p:sp>
        <p:nvSpPr>
          <p:cNvPr id="18" name="Oval 17"/>
          <p:cNvSpPr/>
          <p:nvPr/>
        </p:nvSpPr>
        <p:spPr>
          <a:xfrm>
            <a:off x="6995160" y="297180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18872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0E0EF"/>
                </a:solidFill>
              </a:defRPr>
            </a:pPr>
            <a:r>
              <a:t>Quý 1/2026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7B6"/>
                </a:solidFill>
              </a:defRPr>
            </a:pPr>
            <a:r>
              <a:t>Phát hành chính thức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7B6"/>
                </a:solidFill>
              </a:defRPr>
            </a:pPr>
            <a:r>
              <a:t>Chiến dịch truyền thông lớn</a:t>
            </a:r>
            <a:br/>
            <a:r>
              <a:t>Kết nối đối tác phân phối</a:t>
            </a:r>
            <a:br/>
            <a:r>
              <a:t>Vận hành quy mô mở rộng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</a:defRPr>
            </a:pPr>
            <a:r>
              <a:t>Sản phẩm hoàn toàn mới, sắp chính thức ra mắt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971800"/>
            <a:ext cx="182880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B5F6"/>
                </a:solidFill>
              </a:defRPr>
            </a:pPr>
            <a:r>
              <a:t>Kính mời đón chờ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