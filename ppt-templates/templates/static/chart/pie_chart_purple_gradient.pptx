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Phân tích tỷ trọng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4302433" y="320774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38.0%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3154680" y="489661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24.0%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1949970" y="393145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19.0%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2228713" y="2845823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11.0%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2847688" y="246651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8.0%</a:t>
            </a:r>
          </a:p>
        </p:txBody>
      </p:sp>
      <p:sp>
        <p:nvSpPr>
          <p:cNvPr id="1011" name="Rounded Rectangle 1010"/>
          <p:cNvSpPr/>
          <p:nvPr/>
        </p:nvSpPr>
        <p:spPr>
          <a:xfrm>
            <a:off x="6583680" y="1714500"/>
            <a:ext cx="22860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TextBox 1011"/>
          <p:cNvSpPr txBox="1"/>
          <p:nvPr/>
        </p:nvSpPr>
        <p:spPr>
          <a:xfrm>
            <a:off x="6903720" y="16962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Miền Bắc  38.0%</a:t>
            </a:r>
          </a:p>
        </p:txBody>
      </p:sp>
      <p:sp>
        <p:nvSpPr>
          <p:cNvPr id="1013" name="Rounded Rectangle 1012"/>
          <p:cNvSpPr/>
          <p:nvPr/>
        </p:nvSpPr>
        <p:spPr>
          <a:xfrm>
            <a:off x="6583680" y="2080260"/>
            <a:ext cx="228600" cy="228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6903720" y="20619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Miền Nam  24.0%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6583680" y="2446020"/>
            <a:ext cx="22860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6903720" y="24277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Miền Trung  19.0%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6583680" y="2811780"/>
            <a:ext cx="228600" cy="228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TextBox 1017"/>
          <p:cNvSpPr txBox="1"/>
          <p:nvPr/>
        </p:nvSpPr>
        <p:spPr>
          <a:xfrm>
            <a:off x="6903720" y="27934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Tây Nguyên  11.0%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6583680" y="3177540"/>
            <a:ext cx="228600" cy="22860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6903720" y="31592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Khác  8.0%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3017520" y="35890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100</a:t>
            </a:r>
          </a:p>
        </p:txBody>
      </p:sp>
    </p:spTree>
  </p:cSld>
  <p:clrMapOvr>
    <a:masterClrMapping/>
  </p:clrMapOvr>
  <p:sp>
    <p:nvSpPr>
      <p:cNvPr id="1001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3474720" y="1714500"/>
            </a:lnTo>
            <a:arcTo wR="2057400" hR="2057400" stAng="0" swAng="8207999"/>
            <a:close/>
          </a:path>
        </a:pathLst>
      </a:custGeom>
      <a:solidFill>
        <a:srgbClr val="3498DB"/>
      </a:solidFill>
      <a:ln>
        <a:solidFill>
          <a:srgbClr val="FFFFFF"/>
        </a:solidFill>
        <a:width val="12700"/>
      </a:ln>
    </p:spPr>
    <p:txBody>
      <a:bodyPr/>
      <a:lstStyle/>
      <a:p>
        <a:endParaRPr lang="vi-VN"/>
      </a:p>
    </p:txBody>
  </p:sp>
  <p:sp>
    <p:nvSpPr>
      <p:cNvPr id="1002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4883107" y="5271680"/>
            </a:lnTo>
            <a:arcTo wR="2057400" hR="2057400" stAng="0" swAng="5183999"/>
            <a:close/>
          </a:path>
        </a:pathLst>
      </a:custGeom>
      <a:solidFill>
        <a:srgbClr val="E74C3C"/>
      </a:solidFill>
      <a:ln>
        <a:solidFill>
          <a:srgbClr val="FFFFFF"/>
        </a:solidFill>
        <a:width val="12700"/>
      </a:ln>
    </p:spPr>
    <p:txBody>
      <a:bodyPr/>
      <a:lstStyle/>
      <a:p>
        <a:endParaRPr lang="vi-VN"/>
      </a:p>
    </p:txBody>
  </p:sp>
  <p:sp>
    <p:nvSpPr>
      <p:cNvPr id="1003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2066333" y="5271680"/>
            </a:lnTo>
            <a:arcTo wR="2057400" hR="2057400" stAng="0" swAng="4103999"/>
            <a:close/>
          </a:path>
        </a:pathLst>
      </a:custGeom>
      <a:solidFill>
        <a:srgbClr val="2ECC71"/>
      </a:solidFill>
      <a:ln>
        <a:solidFill>
          <a:srgbClr val="FFFFFF"/>
        </a:solidFill>
        <a:width val="12700"/>
      </a:ln>
    </p:spPr>
    <p:txBody>
      <a:bodyPr/>
      <a:lstStyle/>
      <a:p>
        <a:endParaRPr lang="vi-VN"/>
      </a:p>
    </p:txBody>
  </p:sp>
  <p:sp>
    <p:nvSpPr>
      <p:cNvPr id="1004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1561798" y="3014521"/>
            </a:lnTo>
            <a:arcTo wR="2057400" hR="2057400" stAng="0" swAng="2375999"/>
            <a:close/>
          </a:path>
        </a:pathLst>
      </a:custGeom>
      <a:solidFill>
        <a:srgbClr val="9B59B6"/>
      </a:solidFill>
      <a:ln>
        <a:solidFill>
          <a:srgbClr val="FFFFFF"/>
        </a:solidFill>
        <a:width val="12700"/>
      </a:ln>
    </p:spPr>
    <p:txBody>
      <a:bodyPr/>
      <a:lstStyle/>
      <a:p>
        <a:endParaRPr lang="vi-VN"/>
      </a:p>
    </p:txBody>
  </p:sp>
  <p:sp>
    <p:nvSpPr>
      <p:cNvPr id="1005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2483560" y="1968987"/>
            </a:lnTo>
            <a:arcTo wR="2057400" hR="2057400" stAng="0" swAng="1727999"/>
            <a:close/>
          </a:path>
        </a:pathLst>
      </a:custGeom>
      <a:solidFill>
        <a:srgbClr val="F1C40F"/>
      </a:solidFill>
      <a:ln>
        <a:solidFill>
          <a:srgbClr val="FFFFFF"/>
        </a:solidFill>
        <a:width val="12700"/>
      </a:ln>
    </p:spPr>
    <p:txBody>
      <a:bodyPr/>
      <a:lstStyle/>
      <a:p>
        <a:endParaRPr lang="vi-VN"/>
      </a:p>
    </p:txBody>
  </p:sp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