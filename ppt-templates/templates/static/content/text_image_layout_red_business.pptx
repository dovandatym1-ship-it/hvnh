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914400" cy="457200"/>
          </a:xfrm>
          <a:prstGeom prst="rect">
            <a:avLst/>
          </a:prstGeom>
          <a:noFill/>
        </p:spPr>
        <p:txBody>
          <a:bodyPr wrap="square">
            <a:spAutoFit/>
          </a:bodyPr>
          <a:lstStyle/>
          <a:p>
            <a:pPr algn="l">
              <a:defRPr sz="3600" b="1">
                <a:solidFill>
                  <a:srgbClr val="E0E0E0"/>
                </a:solidFill>
              </a:defRPr>
            </a:pPr>
            <a:r>
              <a:t>01</a:t>
            </a:r>
          </a:p>
        </p:txBody>
      </p:sp>
      <p:sp>
        <p:nvSpPr>
          <p:cNvPr id="5" name="Rounded Rectangle 4"/>
          <p:cNvSpPr/>
          <p:nvPr/>
        </p:nvSpPr>
        <p:spPr>
          <a:xfrm>
            <a:off x="457200" y="1097280"/>
            <a:ext cx="4114800" cy="5029200"/>
          </a:xfrm>
          <a:prstGeom prst="round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57400" y="3154680"/>
            <a:ext cx="914400" cy="914400"/>
          </a:xfrm>
          <a:prstGeom prst="ellipse">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57400" y="3337560"/>
            <a:ext cx="914400" cy="457200"/>
          </a:xfrm>
          <a:prstGeom prst="rect">
            <a:avLst/>
          </a:prstGeom>
          <a:noFill/>
        </p:spPr>
        <p:txBody>
          <a:bodyPr wrap="square">
            <a:spAutoFit/>
          </a:bodyPr>
          <a:lstStyle/>
          <a:p>
            <a:pPr algn="ctr">
              <a:defRPr sz="1400" b="1">
                <a:solidFill>
                  <a:srgbClr val="1976D2"/>
                </a:solidFill>
              </a:defRPr>
            </a:pPr>
            <a:r>
              <a:t>IMG</a:t>
            </a:r>
          </a:p>
        </p:txBody>
      </p:sp>
      <p:sp>
        <p:nvSpPr>
          <p:cNvPr id="8" name="Rectangle 7"/>
          <p:cNvSpPr/>
          <p:nvPr/>
        </p:nvSpPr>
        <p:spPr>
          <a:xfrm>
            <a:off x="4892040" y="1371600"/>
            <a:ext cx="45720" cy="914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0" y="1371600"/>
            <a:ext cx="3657600" cy="457200"/>
          </a:xfrm>
          <a:prstGeom prst="rect">
            <a:avLst/>
          </a:prstGeom>
          <a:noFill/>
        </p:spPr>
        <p:txBody>
          <a:bodyPr wrap="square">
            <a:spAutoFit/>
          </a:bodyPr>
          <a:lstStyle/>
          <a:p>
            <a:pPr algn="l">
              <a:defRPr sz="2400" b="1">
                <a:solidFill>
                  <a:srgbClr val="212121"/>
                </a:solidFill>
              </a:defRPr>
            </a:pPr>
            <a:r>
              <a:t>Bối cảnh dự án</a:t>
            </a:r>
          </a:p>
        </p:txBody>
      </p:sp>
      <p:sp>
        <p:nvSpPr>
          <p:cNvPr id="10" name="TextBox 9"/>
          <p:cNvSpPr txBox="1"/>
          <p:nvPr/>
        </p:nvSpPr>
        <p:spPr>
          <a:xfrm>
            <a:off x="5029200" y="2011680"/>
            <a:ext cx="3657600" cy="3200400"/>
          </a:xfrm>
          <a:prstGeom prst="rect">
            <a:avLst/>
          </a:prstGeom>
          <a:noFill/>
        </p:spPr>
        <p:txBody>
          <a:bodyPr wrap="square">
            <a:spAutoFit/>
          </a:bodyPr>
          <a:lstStyle/>
          <a:p>
            <a:pPr algn="l">
              <a:defRPr sz="1400" b="0">
                <a:solidFill>
                  <a:srgbClr val="616161"/>
                </a:solidFill>
              </a:defRPr>
            </a:pPr>
            <a:r>
              <a:t>Quy mô kinh doanh liên tục mở rộng, phương thức sản xuất thủ công không còn đáp ứng kịp tốc độ bàn giao, cần một giải pháp tạo bản trình bày có thể tham số hóa và tái sử dụng.</a:t>
            </a:r>
          </a:p>
        </p:txBody>
      </p:sp>
      <p:sp>
        <p:nvSpPr>
          <p:cNvPr id="11" name="Oval 10"/>
          <p:cNvSpPr/>
          <p:nvPr/>
        </p:nvSpPr>
        <p:spPr>
          <a:xfrm>
            <a:off x="5029200" y="5669280"/>
            <a:ext cx="73152" cy="73152"/>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257800" y="5669280"/>
            <a:ext cx="73152" cy="73152"/>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0" y="5669280"/>
            <a:ext cx="73152" cy="73152"/>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914400" cy="457200"/>
          </a:xfrm>
          <a:prstGeom prst="rect">
            <a:avLst/>
          </a:prstGeom>
          <a:noFill/>
        </p:spPr>
        <p:txBody>
          <a:bodyPr wrap="square">
            <a:spAutoFit/>
          </a:bodyPr>
          <a:lstStyle/>
          <a:p>
            <a:pPr algn="l">
              <a:defRPr sz="3600" b="1">
                <a:solidFill>
                  <a:srgbClr val="E0E0E0"/>
                </a:solidFill>
              </a:defRPr>
            </a:pPr>
            <a:r>
              <a:t>02</a:t>
            </a:r>
          </a:p>
        </p:txBody>
      </p:sp>
      <p:sp>
        <p:nvSpPr>
          <p:cNvPr id="5" name="Rectangle 4"/>
          <p:cNvSpPr/>
          <p:nvPr/>
        </p:nvSpPr>
        <p:spPr>
          <a:xfrm>
            <a:off x="457200" y="1371600"/>
            <a:ext cx="45720" cy="914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3657600" cy="457200"/>
          </a:xfrm>
          <a:prstGeom prst="rect">
            <a:avLst/>
          </a:prstGeom>
          <a:noFill/>
        </p:spPr>
        <p:txBody>
          <a:bodyPr wrap="square">
            <a:spAutoFit/>
          </a:bodyPr>
          <a:lstStyle/>
          <a:p>
            <a:pPr algn="l">
              <a:defRPr sz="2400" b="1">
                <a:solidFill>
                  <a:srgbClr val="212121"/>
                </a:solidFill>
              </a:defRPr>
            </a:pPr>
            <a:r>
              <a:t>Giải pháp cốt lõi</a:t>
            </a:r>
          </a:p>
        </p:txBody>
      </p:sp>
      <p:sp>
        <p:nvSpPr>
          <p:cNvPr id="7" name="TextBox 6"/>
          <p:cNvSpPr txBox="1"/>
          <p:nvPr/>
        </p:nvSpPr>
        <p:spPr>
          <a:xfrm>
            <a:off x="640080" y="2011680"/>
            <a:ext cx="3657600" cy="3200400"/>
          </a:xfrm>
          <a:prstGeom prst="rect">
            <a:avLst/>
          </a:prstGeom>
          <a:noFill/>
        </p:spPr>
        <p:txBody>
          <a:bodyPr wrap="square">
            <a:spAutoFit/>
          </a:bodyPr>
          <a:lstStyle/>
          <a:p>
            <a:pPr algn="l">
              <a:defRPr sz="1400" b="0">
                <a:solidFill>
                  <a:srgbClr val="616161"/>
                </a:solidFill>
              </a:defRPr>
            </a:pPr>
            <a:r>
              <a:t>Tách biệt nội dung và kiểu dáng thông qua hệ thống chủ đề và các họ bộ sinh, một nguồn dữ liệu có thể điều khiển kết xuất trên cả Python và TypeScript.</a:t>
            </a:r>
          </a:p>
        </p:txBody>
      </p:sp>
      <p:sp>
        <p:nvSpPr>
          <p:cNvPr id="8" name="Rounded Rectangle 7"/>
          <p:cNvSpPr/>
          <p:nvPr/>
        </p:nvSpPr>
        <p:spPr>
          <a:xfrm>
            <a:off x="4572000" y="1097280"/>
            <a:ext cx="4114800" cy="5029200"/>
          </a:xfrm>
          <a:prstGeom prst="roundRect">
            <a:avLst/>
          </a:prstGeom>
          <a:solidFill>
            <a:srgbClr val="FFF3E0"/>
          </a:solidFill>
          <a:ln w="12700">
            <a:solidFill>
              <a:srgbClr val="FFE0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72200" y="3154680"/>
            <a:ext cx="914400" cy="914400"/>
          </a:xfrm>
          <a:prstGeom prst="ellipse">
            <a:avLst/>
          </a:prstGeom>
          <a:solidFill>
            <a:srgbClr val="FF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3337560"/>
            <a:ext cx="914400" cy="457200"/>
          </a:xfrm>
          <a:prstGeom prst="rect">
            <a:avLst/>
          </a:prstGeom>
          <a:noFill/>
        </p:spPr>
        <p:txBody>
          <a:bodyPr wrap="square">
            <a:spAutoFit/>
          </a:bodyPr>
          <a:lstStyle/>
          <a:p>
            <a:pPr algn="ctr">
              <a:defRPr sz="1400" b="1">
                <a:solidFill>
                  <a:srgbClr val="E65100"/>
                </a:solidFill>
              </a:defRPr>
            </a:pPr>
            <a:r>
              <a:t>IMG</a:t>
            </a:r>
          </a:p>
        </p:txBody>
      </p:sp>
      <p:sp>
        <p:nvSpPr>
          <p:cNvPr id="11" name="Oval 10"/>
          <p:cNvSpPr/>
          <p:nvPr/>
        </p:nvSpPr>
        <p:spPr>
          <a:xfrm>
            <a:off x="640080" y="5669280"/>
            <a:ext cx="73152" cy="73152"/>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5669280"/>
            <a:ext cx="73152" cy="73152"/>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97280" y="5669280"/>
            <a:ext cx="73152" cy="73152"/>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