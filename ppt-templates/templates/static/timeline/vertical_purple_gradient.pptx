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C3E50"/>
                </a:solidFill>
              </a:defRPr>
            </a:pPr>
            <a:r>
              <a:t>Lộ trình phát triển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011680" y="1097280"/>
            <a:ext cx="0" cy="5394960"/>
          </a:xfrm>
          <a:prstGeom prst="line">
            <a:avLst/>
          </a:prstGeom>
          <a:ln w="38100">
            <a:solidFill>
              <a:srgbClr val="BDC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Oval 3"/>
          <p:cNvSpPr/>
          <p:nvPr/>
        </p:nvSpPr>
        <p:spPr>
          <a:xfrm>
            <a:off x="1901952" y="1527048"/>
            <a:ext cx="219456" cy="219456"/>
          </a:xfrm>
          <a:prstGeom prst="ellipse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2167128" y="1636776"/>
            <a:ext cx="758952" cy="0"/>
          </a:xfrm>
          <a:prstGeom prst="line">
            <a:avLst/>
          </a:prstGeom>
          <a:ln w="19050">
            <a:solidFill>
              <a:srgbClr val="3498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274320" y="1499616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3498DB"/>
                </a:solidFill>
              </a:defRPr>
            </a:pPr>
            <a:r>
              <a:t>2020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0" y="1408176"/>
            <a:ext cx="5852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C3E50"/>
                </a:solidFill>
              </a:defRPr>
            </a:pPr>
            <a:r>
              <a:t>Thành lập công 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1682496"/>
            <a:ext cx="5852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F8C8D"/>
                </a:solidFill>
              </a:defRPr>
            </a:pPr>
            <a:r>
              <a:t>Xây dựng đội ngũ sáng lập</a:t>
            </a:r>
          </a:p>
        </p:txBody>
      </p:sp>
      <p:sp>
        <p:nvSpPr>
          <p:cNvPr id="9" name="Oval 8"/>
          <p:cNvSpPr/>
          <p:nvPr/>
        </p:nvSpPr>
        <p:spPr>
          <a:xfrm>
            <a:off x="1901952" y="2606040"/>
            <a:ext cx="219456" cy="219456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2167128" y="2715768"/>
            <a:ext cx="758952" cy="0"/>
          </a:xfrm>
          <a:prstGeom prst="line">
            <a:avLst/>
          </a:prstGeom>
          <a:ln w="19050">
            <a:solidFill>
              <a:srgbClr val="E74C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274320" y="257860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E74C3C"/>
                </a:solidFill>
              </a:defRPr>
            </a:pPr>
            <a:r>
              <a:t>2021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2487168"/>
            <a:ext cx="5852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C3E50"/>
                </a:solidFill>
              </a:defRPr>
            </a:pPr>
            <a:r>
              <a:t>Nghiên cứu sản phẩm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2761488"/>
            <a:ext cx="5852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F8C8D"/>
                </a:solidFill>
              </a:defRPr>
            </a:pPr>
            <a:r>
              <a:t>Ra mắt sản phẩm cốt lõi</a:t>
            </a:r>
          </a:p>
        </p:txBody>
      </p:sp>
      <p:sp>
        <p:nvSpPr>
          <p:cNvPr id="14" name="Oval 13"/>
          <p:cNvSpPr/>
          <p:nvPr/>
        </p:nvSpPr>
        <p:spPr>
          <a:xfrm>
            <a:off x="1901952" y="3685032"/>
            <a:ext cx="219456" cy="219456"/>
          </a:xfrm>
          <a:prstGeom prst="ellipse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2167128" y="3794760"/>
            <a:ext cx="758952" cy="0"/>
          </a:xfrm>
          <a:prstGeom prst="line">
            <a:avLst/>
          </a:prstGeom>
          <a:ln w="19050">
            <a:solidFill>
              <a:srgbClr val="2ECC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274320" y="365760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2ECC71"/>
                </a:solidFill>
              </a:defRPr>
            </a:pPr>
            <a:r>
              <a:t>2022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17520" y="3566160"/>
            <a:ext cx="5852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C3E50"/>
                </a:solidFill>
              </a:defRPr>
            </a:pPr>
            <a:r>
              <a:t>Mở rộng thị trường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17520" y="3840480"/>
            <a:ext cx="5852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F8C8D"/>
                </a:solidFill>
              </a:defRPr>
            </a:pPr>
            <a:r>
              <a:t>Phủ sóng thị trường toàn quốc</a:t>
            </a:r>
          </a:p>
        </p:txBody>
      </p:sp>
      <p:sp>
        <p:nvSpPr>
          <p:cNvPr id="19" name="Oval 18"/>
          <p:cNvSpPr/>
          <p:nvPr/>
        </p:nvSpPr>
        <p:spPr>
          <a:xfrm>
            <a:off x="1901952" y="4764024"/>
            <a:ext cx="219456" cy="219456"/>
          </a:xfrm>
          <a:prstGeom prst="ellipse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2167128" y="4873752"/>
            <a:ext cx="758952" cy="0"/>
          </a:xfrm>
          <a:prstGeom prst="line">
            <a:avLst/>
          </a:prstGeom>
          <a:ln w="19050">
            <a:solidFill>
              <a:srgbClr val="9B59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274320" y="4736592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9B59B6"/>
                </a:solidFill>
              </a:defRPr>
            </a:pPr>
            <a:r>
              <a:t>2023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17520" y="4645152"/>
            <a:ext cx="5852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C3E50"/>
                </a:solidFill>
              </a:defRPr>
            </a:pPr>
            <a:r>
              <a:t>Gọi vốn Vòng 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17520" y="4919472"/>
            <a:ext cx="5852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F8C8D"/>
                </a:solidFill>
              </a:defRPr>
            </a:pPr>
            <a:r>
              <a:t>Hoàn thành gọi vốn triệu USD</a:t>
            </a:r>
          </a:p>
        </p:txBody>
      </p:sp>
      <p:sp>
        <p:nvSpPr>
          <p:cNvPr id="24" name="Oval 23"/>
          <p:cNvSpPr/>
          <p:nvPr/>
        </p:nvSpPr>
        <p:spPr>
          <a:xfrm>
            <a:off x="1901952" y="5843016"/>
            <a:ext cx="219456" cy="219456"/>
          </a:xfrm>
          <a:prstGeom prst="ellipse">
            <a:avLst/>
          </a:prstGeom>
          <a:solidFill>
            <a:srgbClr val="F1C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" name="Connector 24"/>
          <p:cNvCxnSpPr/>
          <p:nvPr/>
        </p:nvCxnSpPr>
        <p:spPr>
          <a:xfrm>
            <a:off x="2167128" y="5952744"/>
            <a:ext cx="758952" cy="0"/>
          </a:xfrm>
          <a:prstGeom prst="line">
            <a:avLst/>
          </a:prstGeom>
          <a:ln w="19050">
            <a:solidFill>
              <a:srgbClr val="F1C40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274320" y="5815584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F1C40F"/>
                </a:solidFill>
              </a:defRPr>
            </a:pPr>
            <a:r>
              <a:t>2024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17520" y="5724144"/>
            <a:ext cx="5852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C3E50"/>
                </a:solidFill>
              </a:defRPr>
            </a:pPr>
            <a:r>
              <a:t>Vươn ra quốc tế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017520" y="5998464"/>
            <a:ext cx="5852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F8C8D"/>
                </a:solidFill>
              </a:defRPr>
            </a:pPr>
            <a:r>
              <a:t>Khai phá thị trường nước ngoài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