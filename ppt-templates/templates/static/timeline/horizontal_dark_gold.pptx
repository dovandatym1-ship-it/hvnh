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3E50"/>
                </a:solidFill>
              </a:defRPr>
            </a:pPr>
            <a:r>
              <a:t>Lịch sử phát triển doanh nghiệp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31520" y="3771900"/>
            <a:ext cx="7680960" cy="0"/>
          </a:xfrm>
          <a:prstGeom prst="line">
            <a:avLst/>
          </a:prstGeom>
          <a:ln w="38100">
            <a:solidFill>
              <a:srgbClr val="BDC3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594360" y="3634740"/>
            <a:ext cx="274320" cy="274320"/>
          </a:xfrm>
          <a:prstGeom prst="ellipse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V="1">
            <a:off x="731520" y="2400300"/>
            <a:ext cx="0" cy="1188720"/>
          </a:xfrm>
          <a:prstGeom prst="line">
            <a:avLst/>
          </a:prstGeom>
          <a:ln w="19050">
            <a:solidFill>
              <a:srgbClr val="3498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-91440" y="176022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498DB"/>
                </a:solidFill>
              </a:defRPr>
            </a:pPr>
            <a:r>
              <a:t>2020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-91440" y="196138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C3E50"/>
                </a:solidFill>
              </a:defRPr>
            </a:pPr>
            <a:r>
              <a:t>Thành lập công 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-91440" y="22174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F8C8D"/>
                </a:solidFill>
              </a:defRPr>
            </a:pPr>
            <a:r>
              <a:t>Xây dựng đội ngũ sáng lập</a:t>
            </a:r>
          </a:p>
        </p:txBody>
      </p:sp>
      <p:sp>
        <p:nvSpPr>
          <p:cNvPr id="9" name="Oval 8"/>
          <p:cNvSpPr/>
          <p:nvPr/>
        </p:nvSpPr>
        <p:spPr>
          <a:xfrm>
            <a:off x="2514600" y="3634740"/>
            <a:ext cx="274320" cy="27432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2651760" y="3954780"/>
            <a:ext cx="0" cy="1188720"/>
          </a:xfrm>
          <a:prstGeom prst="line">
            <a:avLst/>
          </a:prstGeom>
          <a:ln w="19050">
            <a:solidFill>
              <a:srgbClr val="E74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828800" y="518922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74C3C"/>
                </a:solidFill>
              </a:defRPr>
            </a:pPr>
            <a:r>
              <a:t>2021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539038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C3E50"/>
                </a:solidFill>
              </a:defRPr>
            </a:pPr>
            <a:r>
              <a:t>Nghiên cứu sản phẩm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56464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F8C8D"/>
                </a:solidFill>
              </a:defRPr>
            </a:pPr>
            <a:r>
              <a:t>Ra mắt sản phẩm cốt lõi</a:t>
            </a:r>
          </a:p>
        </p:txBody>
      </p:sp>
      <p:sp>
        <p:nvSpPr>
          <p:cNvPr id="14" name="Oval 13"/>
          <p:cNvSpPr/>
          <p:nvPr/>
        </p:nvSpPr>
        <p:spPr>
          <a:xfrm>
            <a:off x="4434840" y="3634740"/>
            <a:ext cx="274320" cy="274320"/>
          </a:xfrm>
          <a:prstGeom prst="ellipse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 flipV="1">
            <a:off x="4572000" y="2400300"/>
            <a:ext cx="0" cy="1188720"/>
          </a:xfrm>
          <a:prstGeom prst="line">
            <a:avLst/>
          </a:prstGeom>
          <a:ln w="19050">
            <a:solidFill>
              <a:srgbClr val="2ECC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749040" y="176022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ECC71"/>
                </a:solidFill>
              </a:defRPr>
            </a:pPr>
            <a:r>
              <a:t>2022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40" y="196138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C3E50"/>
                </a:solidFill>
              </a:defRPr>
            </a:pPr>
            <a:r>
              <a:t>Mở rộng thị trường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40" y="22174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F8C8D"/>
                </a:solidFill>
              </a:defRPr>
            </a:pPr>
            <a:r>
              <a:t>Phủ sóng thị trường toàn quốc</a:t>
            </a:r>
          </a:p>
        </p:txBody>
      </p:sp>
      <p:sp>
        <p:nvSpPr>
          <p:cNvPr id="19" name="Oval 18"/>
          <p:cNvSpPr/>
          <p:nvPr/>
        </p:nvSpPr>
        <p:spPr>
          <a:xfrm>
            <a:off x="6355080" y="3634740"/>
            <a:ext cx="274320" cy="274320"/>
          </a:xfrm>
          <a:prstGeom prst="ellipse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6492240" y="3954780"/>
            <a:ext cx="0" cy="1188720"/>
          </a:xfrm>
          <a:prstGeom prst="line">
            <a:avLst/>
          </a:prstGeom>
          <a:ln w="19050">
            <a:solidFill>
              <a:srgbClr val="9B59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669280" y="518922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9B59B6"/>
                </a:solidFill>
              </a:defRPr>
            </a:pPr>
            <a:r>
              <a:t>2023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539038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C3E50"/>
                </a:solidFill>
              </a:defRPr>
            </a:pPr>
            <a:r>
              <a:t>Gọi vốn Vòng 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56464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F8C8D"/>
                </a:solidFill>
              </a:defRPr>
            </a:pPr>
            <a:r>
              <a:t>Hoàn thành gọi vốn triệu USD</a:t>
            </a:r>
          </a:p>
        </p:txBody>
      </p:sp>
      <p:sp>
        <p:nvSpPr>
          <p:cNvPr id="24" name="Oval 23"/>
          <p:cNvSpPr/>
          <p:nvPr/>
        </p:nvSpPr>
        <p:spPr>
          <a:xfrm>
            <a:off x="8275320" y="3634740"/>
            <a:ext cx="274320" cy="274320"/>
          </a:xfrm>
          <a:prstGeom prst="ellipse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 flipV="1">
            <a:off x="8412480" y="2400300"/>
            <a:ext cx="0" cy="1188720"/>
          </a:xfrm>
          <a:prstGeom prst="line">
            <a:avLst/>
          </a:prstGeom>
          <a:ln w="19050">
            <a:solidFill>
              <a:srgbClr val="F1C40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589520" y="176022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1C40F"/>
                </a:solidFill>
              </a:defRPr>
            </a:pPr>
            <a:r>
              <a:t>2024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196138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C3E50"/>
                </a:solidFill>
              </a:defRPr>
            </a:pPr>
            <a:r>
              <a:t>Vươn ra quốc tế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22174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7F8C8D"/>
                </a:solidFill>
              </a:defRPr>
            </a:pPr>
            <a:r>
              <a:t>Khai phá thị trường nước ngoài</a:t>
            </a:r>
          </a:p>
        </p:txBody>
      </p:sp>
      <p:sp>
        <p:nvSpPr>
          <p:cNvPr id="29" name="Isosceles Triangle 28"/>
          <p:cNvSpPr/>
          <p:nvPr/>
        </p:nvSpPr>
        <p:spPr>
          <a:xfrm>
            <a:off x="8458200" y="3703320"/>
            <a:ext cx="137160" cy="137160"/>
          </a:xfrm>
          <a:prstGeom prst="triangle">
            <a:avLst/>
          </a:prstGeom>
          <a:solidFill>
            <a:srgbClr val="BDC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