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Đội ngũ nòng cốt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7" name="Oval 6"/>
          <p:cNvSpPr/>
          <p:nvPr/>
        </p:nvSpPr>
        <p:spPr>
          <a:xfrm>
            <a:off x="1280160" y="1005840"/>
            <a:ext cx="1097280" cy="1097280"/>
          </a:xfrm>
          <a:prstGeom prst="ellipse">
            <a:avLst/>
          </a:prstGeom>
          <a:solidFill>
            <a:srgbClr val="3F51B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Minh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CEO Giám đốc điều hành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14" name="Oval 13"/>
          <p:cNvSpPr/>
          <p:nvPr/>
        </p:nvSpPr>
        <p:spPr>
          <a:xfrm>
            <a:off x="4023360" y="1005840"/>
            <a:ext cx="1097280" cy="1097280"/>
          </a:xfrm>
          <a:prstGeom prst="ellipse">
            <a:avLst/>
          </a:prstGeom>
          <a:solidFill>
            <a:srgbClr val="5C6BC0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Lê Hoa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CTO Giám đốc công nghệ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73152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1" name="Oval 20"/>
          <p:cNvSpPr/>
          <p:nvPr/>
        </p:nvSpPr>
        <p:spPr>
          <a:xfrm>
            <a:off x="6766560" y="1005840"/>
            <a:ext cx="1097280" cy="1097280"/>
          </a:xfrm>
          <a:prstGeom prst="ellipse">
            <a:avLst/>
          </a:prstGeom>
          <a:solidFill>
            <a:srgbClr val="7986CB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6600" y="118872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03720" y="164592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240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Vương Phương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697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CPO Giám đốc sản phẩm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306324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28" name="Oval 27"/>
          <p:cNvSpPr/>
          <p:nvPr/>
        </p:nvSpPr>
        <p:spPr>
          <a:xfrm>
            <a:off x="1280160" y="4480560"/>
            <a:ext cx="1097280" cy="1097280"/>
          </a:xfrm>
          <a:prstGeom prst="ellipse">
            <a:avLst/>
          </a:prstGeom>
          <a:solidFill>
            <a:srgbClr val="1E88E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002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173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Triệu Cường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CFO Giám đốc tài chính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35" name="Oval 34"/>
          <p:cNvSpPr/>
          <p:nvPr/>
        </p:nvSpPr>
        <p:spPr>
          <a:xfrm>
            <a:off x="4023360" y="4480560"/>
            <a:ext cx="1097280" cy="1097280"/>
          </a:xfrm>
          <a:prstGeom prst="ellipse">
            <a:avLst/>
          </a:prstGeom>
          <a:solidFill>
            <a:srgbClr val="42A5F5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434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605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Trần Tĩnh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COO Giám đốc vận hành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26480" y="4206240"/>
            <a:ext cx="2377440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50800" dist="25400" dir="5400000" algn="tl">
              <a:srgbClr val="000000">
                <a:alpha val="12000"/>
              </a:srgbClr>
            </a:outerShdw>
          </a:effectLst>
        </p:spPr>
      </p:sp>
      <p:sp>
        <p:nvSpPr>
          <p:cNvPr id="42" name="Oval 41"/>
          <p:cNvSpPr/>
          <p:nvPr/>
        </p:nvSpPr>
        <p:spPr>
          <a:xfrm>
            <a:off x="6766560" y="4480560"/>
            <a:ext cx="1097280" cy="1097280"/>
          </a:xfrm>
          <a:prstGeom prst="ellipse">
            <a:avLst/>
          </a:prstGeom>
          <a:solidFill>
            <a:srgbClr val="64B5F6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86600" y="4663440"/>
            <a:ext cx="457200" cy="4572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5120640"/>
            <a:ext cx="822960" cy="457200"/>
          </a:xfrm>
          <a:prstGeom prst="ellipse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715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Lưu Vĩ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6172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4D8"/>
                </a:solidFill>
              </a:defRPr>
            </a:pPr>
            <a:r>
              <a:t>CMO Giám đốc tiếp thị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6537960"/>
            <a:ext cx="731520" cy="22860"/>
          </a:xfrm>
          <a:prstGeom prst="rect">
            <a:avLst/>
          </a:prstGeom>
          <a:solidFill>
            <a:srgbClr val="C5CA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2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40"/>
                  </p:stCondLst>
                  <p:duration>500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60"/>
                  </p:stCondLst>
                  <p:duration>500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3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80"/>
                  </p:stCondLst>
                  <p:duration>500</p:duration>
                  <p:tgtEl>
                    <p:spTgt spid="3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500</p:duration>
                  <p:tgtEl>
                    <p:spTgt spid="4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