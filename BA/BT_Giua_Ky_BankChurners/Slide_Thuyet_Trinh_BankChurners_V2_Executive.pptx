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Quý Thầy/Cô trong Hội đồng và các bạn học viên cao học.</a:t>
            </a:r>
          </a:p>
          <a:p>
            <a:r>
              <a:t>Em tên là Đỗ Văn Đạt, học viên chuyên ngành Business Analytics tại Học viện Ngân hàng. Hôm nay, em xin phép được báo cáo kết quả nghiên cứu đề tài: 'Xử lý Dữ liệu và Khai phá Dữ liệu Dự báo Nguy cơ Rời bỏ của Khách hàng Thẻ Tín dụng' trên tập dữ liệu thực nghiệm BankChurners.</a:t>
            </a:r>
          </a:p>
          <a:p>
            <a:r>
              <a:t>Nghiên cứu tập trung giải quyết bài toán thực tế của mảng ngân hàng bán lẻ: xác định các dấu hiệu cảnh báo hành vi, so sánh thực nghiệm hiệu năng của 4 thuật toán máy học, giải thích mô hình bằng XAI và tối ưu hóa ngưỡng cắt xác suất dựa trên bài toán chi phí - lợi ích kinh tế.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bài báo cáo được tổ chức chặt chẽ theo 5 trụ cột nghiên cứu MECE nhằm phản ánh đầy đủ quy trình nghiên cứu khoa học dữ liệu:</a:t>
            </a:r>
          </a:p>
          <a:p>
            <a:r>
              <a:t>Thứ nhất là Tổng quan bối cảnh kinh tế và bài toán chi phí giữ chân khách hàng.</a:t>
            </a:r>
          </a:p>
          <a:p>
            <a:r>
              <a:t>Thứ hai là Phương pháp luận xây dựng Pipeline và quy trình tạo lập 5 biến phái sinh.</a:t>
            </a:r>
          </a:p>
          <a:p>
            <a:r>
              <a:t>Thứ ba là Khai phá dữ liệu thực nghiệm qua 6 chiều hành vi EDA và phân cụm K-Means.</a:t>
            </a:r>
          </a:p>
          <a:p>
            <a:r>
              <a:t>Thứ tư là Huấn luyện 4 mô hình học máy, giải thích XAI và tối ưu hóa ngưỡng cắt xác suất theo chi phí.</a:t>
            </a:r>
          </a:p>
          <a:p>
            <a:r>
              <a:t>Và cuối cùng là Khung khuyến nghị quản trị 4 tầng, mô phỏng tài chính ROI cùng định hướng phát triển trong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theo nguyên lý Kim tự tháp Pyramid Principle của McKinsey, em xin phép báo cáo 4 phát hiện thực nghiệm then chốt của đề tài:</a:t>
            </a:r>
          </a:p>
          <a:p>
            <a:r>
              <a:t>Thứ nhất, tỷ lệ khách hàng đóng thẻ trong danh mục là 16.07%, tương ứng tỷ lệ mất cân bằng 1:5.22, đặt trọng tâm đánh giá vào chỉ số Recall.</a:t>
            </a:r>
          </a:p>
          <a:p>
            <a:r>
              <a:t>Thứ hai, mô hình XGBoost đạt hiệu năng vượt trội với ROC-AUC 0.9930 và phát hiện chính xác 91.38% khách hàng rời bỏ trên tập kiểm thử.</a:t>
            </a:r>
          </a:p>
          <a:p>
            <a:r>
              <a:t>Thứ ba, nghiên cứu đã dịch chuyển ngưỡng xác suất từ 0.50 sang ngưỡng tối ưu kinh tế t = 0.42.</a:t>
            </a:r>
          </a:p>
          <a:p>
            <a:r>
              <a:t>Và thứ tư, theo mô phỏng tài chính trên 10,000 chủ thẻ, chính sách can thiệp chọn lọc giúp bảo vệ 480,000 USD giá trị trọn đời, đem lại 400,000 USD lợi nhuận ròng hàng năm.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trong kinh doanh thẻ tín dụng, chi phí thu hút một khách hàng mới (CAC) ước tính từ 250 đến 300 USD, trong khi chi phí giữ chân (CRC) chỉ khoảng 40 đến 50 USD.</a:t>
            </a:r>
          </a:p>
          <a:p>
            <a:r>
              <a:t>Theo lý thuyết kinh tế học giữ chân khách hàng của Bain &amp; Company, việc giảm thiểu tỷ lệ rời bỏ mang lại tác động đòn bẩy lớn đến lợi nhuận ròng của ngân hàng. Do đó, việc ứng dụng học máy để xây dựng hệ thống cảnh báo sớm EWS là giải pháp thiết thực nhằm bảo toàn danh mục khách hàng hiện hữu.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cấu trúc phương pháp luận của đề tài được triển khai qua 4 giai đoạn chuẩn mực khoa học dữ liệu:</a:t>
            </a:r>
          </a:p>
          <a:p>
            <a:r>
              <a:t>Giai đoạn 1 xử lý dữ liệu thô, loại bỏ rò rỉ nhãn và kiến tạo 5 biến phái sinh tài chính.</a:t>
            </a:r>
          </a:p>
          <a:p>
            <a:r>
              <a:t>Giai đoạn 2 tiến hành EDA đa chiều và phân cụm K-Means nhằm bóc tách hành vi khách hàng.</a:t>
            </a:r>
          </a:p>
          <a:p>
            <a:r>
              <a:t>Giai đoạn 3 thực hiện huấn luyện và kiểm định chéo Stratified 5-Fold trên 4 thuật toán Machine Learning.</a:t>
            </a:r>
          </a:p>
          <a:p>
            <a:r>
              <a:t>Và Giai đoạn 4 kết hợp Explainable AI cùng mô hình tối ưu hóa kinh tế để đưa ra khuyến nghị thực thi.</a:t>
            </a:r>
          </a:p>
          <a:p>
            <a:r>
              <a:t>Quy trình khép kín này đảm bảo tính nhất quán từ dữ liệu thực nghiệm đến giá trị ứng dụng kinh doanh.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trong khâu tiền xử lý, một điểm mấu chốt là nhóm nghiên cứu đã chủ động loại bỏ 2 cột phân loại Naive Bayes có sẵn trong bộ dữ liệu gốc.</a:t>
            </a:r>
          </a:p>
          <a:p>
            <a:r>
              <a:t>Nếu giữ lại 2 cột này, mô hình sẽ gặp hiện tượng rò rỉ dữ liệu (Data Leakage) nghiêm trọng và cho kết quả ảo tưởng.</a:t>
            </a:r>
          </a:p>
          <a:p>
            <a:r>
              <a:t>Bên cạnh đó, khâu Feature Engineering đã kiến tạo thêm 5 biến phái sinh tài chính sâu sắc như mật độ giao dịch hay tỷ lệ nợ quay vòng. Các biến này phản ánh chân thực động thái giảm dần chi tiêu của khách hàng trước khi chính thức hủy thẻ.</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biến mục tiêu Attrition_Flag cho thấy tỷ lệ rời bỏ tự nhiên trong danh mục là 16.07%, tức cứ 6 khách hàng thì có 1 khách hàng đóng thẻ.</a:t>
            </a:r>
          </a:p>
          <a:p>
            <a:r>
              <a:t>Tỷ lệ mất cân bằng 1:5.22 này đặt ra thách thức về 'Cạm bẫy độ chính xác' (Accuracy Paradox). Nếu chỉ nhìn vào Accuracy, một mô hình dự báo toàn bộ khách hàng ở lại vẫn đạt 83.93% nhưng ngân hàng sẽ mất trắng toàn bộ khách hàng churn.</a:t>
            </a:r>
          </a:p>
          <a:p>
            <a:r>
              <a:t>Vì vậy, nghiên cứu chuyển hướng đánh giá toàn bộ các thuật toán sang thang đo Recall, F1-Score và ROC-AUC để đảm bảo không bỏ sót khách hàng rủi 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phân tích nhân khẩu học chỉ ra hai phát hiện đáng chú ý:</a:t>
            </a:r>
          </a:p>
          <a:p>
            <a:r>
              <a:t>Thứ nhất, khách hàng nữ có tỷ lệ đóng thẻ 17.36%, cao hơn nam giới, có sự nhạy cảm cao với các chính sách tích điểm mua sắm.</a:t>
            </a:r>
          </a:p>
          <a:p>
            <a:r>
              <a:t>Thứ hai là sự phân hóa ở 2 mức thu nhập: nhóm dưới 40,000 USD nhạy cảm về biểu phí thường niên, trong khi nhóm trên 120,000 USD có tỷ lệ rời bỏ cao do sự cạnh tranh gay gắt từ các dòng thẻ đặc quyền của đối thủ.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biểu đồ phân tán giữa số lượng giao dịch và giá trị chi tiêu thể hiện ranh giới phân tách rõ rệt.</a:t>
            </a:r>
          </a:p>
          <a:p>
            <a:r>
              <a:t>Khách hàng duy trì thẻ quẹt trung bình gần 69 lần/năm, trong khi nhóm rời bỏ chỉ đạt 44.9 lần. Đáng chú ý, dữ liệu cho thấy nếu tần suất sử dụng dưới 55 lần và chi tiêu dưới 3,000 USD thì xác suất đóng thẻ tăng cao.</a:t>
            </a:r>
          </a:p>
          <a:p>
            <a:r>
              <a:t>Đây là căn cứ định lượng để thiết lập các ngưỡng kích hoạt tự động trong hệ thống CRM.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dấu hiệu hành vi tài chính điển hình trước khi đóng thẻ là việc chủ động tất toán dư nợ về 0 USD và hạ tỷ lệ sử dụng hạn mức xuống mức 16.2%.</a:t>
            </a:r>
          </a:p>
          <a:p>
            <a:r>
              <a:t>Đồng thời, chỉ số giao dịch quý 4 so với quý 1 giảm tới 45%. Khách hàng thường trải qua giai đoạn suy giảm giao dịch kéo dài 2-3 tháng trước khi đưa ra quyết định đóng thẻ chính thức.</a:t>
            </a:r>
          </a:p>
          <a:p>
            <a:r>
              <a:t>Do đó, việc phát hiện sớm sự sụt giảm số dư nợ là thời điểm can thiệp then chốt giúp ngân hàng kịp thời triển khai các giải pháp giữ chân.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tần suất liên hệ tổng đài CSKH có tương quan chặt chẽ với tỷ lệ đóng thẻ.</a:t>
            </a:r>
          </a:p>
          <a:p>
            <a:r>
              <a:t>Khi khách hàng liên hệ từ lần thứ 3 trở lên, tỷ lệ rời bỏ tăng mạnh lên 28.6% và vượt 52% ở lần gọi thứ 4. Điều này cho thấy sự cần thiết của việc cải thiện chỉ số giải quyết khiếu nại trong lần đầu (FCR) và cơ chế chuyển tiếp ưu tiên cho các khách hàng gặp sự cố kéo dài.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quy mô quan hệ sản phẩm thể hiện rõ rệt hiệu ứng rào cản chuyển đổi trong hoạt động ngân hàng bán lẻ.</a:t>
            </a:r>
          </a:p>
          <a:p>
            <a:r>
              <a:t>Khách hàng chỉ sử dụng thẻ đơn lẻ có tỷ lệ rời bỏ lên tới trên 25%. Tuy nhiên, khi khách hàng liên kết từ 4 sản phẩm trở lên như tài khoản lương, tiền gửi tiết kiệm và dịch vụ ngân hàng điện tử, chi phí chuyển đổi gia tăng đáng kể và tỷ lệ rời bỏ giảm xuống dưới 10%.</a:t>
            </a:r>
          </a:p>
          <a:p>
            <a:r>
              <a:t>Chiến lược bán chéo các gói sản phẩm tích hợp là biện pháp hiệu quả nhằm duy trì mối quan hệ bền vững với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trước khi bước vào giai đoạn huấn luyện mô hình có giám sát, nghiên cứu đã sử dụng kỹ thuật học không giám sát K-Means kết hợp giảm chiều PCA để bóc tách các nhóm khách hàng đồng nhất.</a:t>
            </a:r>
          </a:p>
          <a:p>
            <a:r>
              <a:t>Kết quả nhận diện 4 phân cụm rõ rệt. Trong đó, Cụm 1 được định vị là 'Tâm điểm rủi ro', tập trung tới 52.6% tổng lượng khách hàng rời bỏ của toàn bộ ngân hàng.</a:t>
            </a:r>
          </a:p>
          <a:p>
            <a:r>
              <a:t>Việc phân đoạn này giúp ngân hàng không phải áp dụng các chính sách cào bằng lãng phí, mà tập trung nguồn lực can thiệp chính xác vào nhóm đối tượng có tỷ trọng rủi ro cao nhất.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trên tập kiểm thử độc lập gồm 2,026 khách hàng, đề tài đã tiến hành so sánh đối đầu 4 thuật toán học máy đại diện.</a:t>
            </a:r>
          </a:p>
          <a:p>
            <a:r>
              <a:t>Kết quả thực nghiệm khẳng định XGBoost Classifier là mô hình chiến thắng toàn diện với ROC-AUC đạt 0.9930, Recall 91.38% và F1-Score 91.23%.</a:t>
            </a:r>
          </a:p>
          <a:p>
            <a:r>
              <a:t>So với mô hình truyền thống Logistic Regression (chỉ đạt Recall 83.38%), thuật toán Gradient Boosting của XGBoost đã nắm bắt xuất sắc các tương tác phi tuyến phức tạp giữa tần suất giao dịch và biến động số dư. Do đó, XGBoost được lựa chọn làm mô hình lõi cho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trong bài toán dự báo rời bỏ ngân hàng, sai số Loại II (False Negative - bỏ sót khách hàng rời bỏ) là sai số gây thiệt hại nặng nề nhất về mặt tài chính.</a:t>
            </a:r>
          </a:p>
          <a:p>
            <a:r>
              <a:t>Ma trận nhầm lẫn của XGBoost chứng minh khả năng kiểm soát sai số cực kỳ ấn tượng: Trong 325 khách hàng rời bỏ ở tập test, mô hình phát hiện chính xác 297 người, chỉ bỏ sót duy nhất 28 người.</a:t>
            </a:r>
          </a:p>
          <a:p>
            <a:r>
              <a:t>Đồng thời, tỷ lệ báo động giả (False Positive) chỉ ở mức 2.12%, giúp ngân hàng không bị lãng phí ngân sách chăm sóc vào những khách hàng vốn dĩ vẫn đang trung thành.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để mô hình học máy không phải là một 'Hộp đen' (Black-box), nghiên cứu đã áp dụng kỹ thuật Explainable AI để bóc tách 5 đòn bẩy quan trọng nhất.</a:t>
            </a:r>
          </a:p>
          <a:p>
            <a:r>
              <a:t>Kết quả cho thấy số lượng giao dịch và mức độ sụt giảm chi tiêu quý 4 so với quý 1 là hai biến số chi phối mạnh nhất.</a:t>
            </a:r>
          </a:p>
          <a:p>
            <a:r>
              <a:t>Điều này hoàn toàn tương thích với các phát hiện nghiệp vụ ở phần EDA: Khách hàng không bỏ đi đột ngột mà luôn trải qua một quá trình 'sụt giảm tần suất quẹt thẻ và tất toán dư nợ' trước đó từ 2 đến 3 tháng. Đây chính là cơ sở vàng để thiết lập ngưỡng cảnh báo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một đóng góp quan trọng của đề tài là không áp dụng máy móc ngưỡng cắt xác suất 0.50 mặc định của khoa học máy tính, mà xây dựng hàm tối ưu hóa Chi phí - Lợi ích thực tế cho ngân hàng.</a:t>
            </a:r>
          </a:p>
          <a:p>
            <a:r>
              <a:t>Với giá trị khách hàng giữ lại được là 500 USD và chi phí can thiệp chỉ 50 USD, việc hạ ngưỡng cắt xác suất xuống t = 0.42 cho phép ngân hàng chủ động can thiệp sớm vào nhóm khách hàng chớm có nguy cơ.</a:t>
            </a:r>
          </a:p>
          <a:p>
            <a:r>
              <a:t>Đường cong Net Benefit chứng minh tại t = 0.42, ngân hàng thu được lợi nhuận kinh tế ròng tối đa, cao hơn đáng kể so với ngưỡng 0.50.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để các phòng ban kinh doanh dễ dàng triển khai, nghiên cứu đã tổng hợp các phát hiện thành 3 Chân dung khách hàng rời bỏ điển hình:</a:t>
            </a:r>
          </a:p>
          <a:p>
            <a:r>
              <a:t>Thứ nhất là 'The Silent Defector' chiếm tới 55% tổng lượng Churn - nhóm này ngủ đông âm thầm, cần kích hoạt lại bằng ưu đãi vi mô thường nhật.</a:t>
            </a:r>
          </a:p>
          <a:p>
            <a:r>
              <a:t>Thứ hai là 'Frustrated Complainer' chiếm 25% - nhóm bức xúc vì gọi tổng đài nhiều lần mà chưa được giải quyết, cần sự can thiệp trực tiếp từ cấp quản lý.</a:t>
            </a:r>
          </a:p>
          <a:p>
            <a:r>
              <a:t>Và thứ ba là 'The VIP Switcher' chiếm 20% - nhóm khách hàng giàu có đòi hỏi đặc quyền cao cấp.</a:t>
            </a:r>
          </a:p>
          <a:p>
            <a:r>
              <a:t>Cách tiếp cận phân khúc này giúp tối ưu hóa hiệu quả can thiệp và tránh lãng phí ngân sách.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từ các phân tích trên, đề tài đề xuất Khung chiến lược giữ chân khách hàng toàn diện gồm 4 tầng gắn liền với các chỉ tiêu KPI định lượng:</a:t>
            </a:r>
          </a:p>
          <a:p>
            <a:r>
              <a:t>Tầng 1 là Hệ thống cảnh báo sớm EWS kích hoạt tự động theo thời gian thực.</a:t>
            </a:r>
          </a:p>
          <a:p>
            <a:r>
              <a:t>Tầng 2 là Tái cấu trúc quy trình CSKH chủ động nhằm nâng tỷ lệ giải quyết khiếu nại lần đầu FCR lên trên 85%.</a:t>
            </a:r>
          </a:p>
          <a:p>
            <a:r>
              <a:t>Tầng 3 là Chương trình tích điểm Gamified Loyalty thúc đẩy tần suất quẹt thẻ định kỳ.</a:t>
            </a:r>
          </a:p>
          <a:p>
            <a:r>
              <a:t>Và Tầng 4 là Chiến lược Bán chéo đa sản phẩm nhằm tạo rào cản chuyển đổi vững chắc. Bốn tầng này tạo thành một pháo đài vững chắc bảo vệ toàn diện danh mục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Thầy/Cô, để chứng minh tính khả thi tài chính, nghiên cứu đã xây dựng mô hình mô phỏng trên quy mô danh mục 10,000 khách hàng.</a:t>
            </a:r>
          </a:p>
          <a:p>
            <a:r>
              <a:t>Với tỷ lệ rời bỏ tự nhiên 16.07%, mô hình XGBoost sẽ phát hiện được hơn 1,460 khách hàng có nguy cơ. Khi triển khai các gói chăm sóc trị giá 50 USD/khách với tỷ lệ cứu vãn 75%, ngân hàng giữ lại thành công 960 khách hàng, tương đương bảo vệ được 480,000 USD giá trị CLV.</a:t>
            </a:r>
          </a:p>
          <a:p>
            <a:r>
              <a:t>Sau khi trừ đi toàn bộ 80,000 USD chi phí vận hành, dự án đem lại 400,000 USD lợi nhuận ròng mỗi năm, đạt tỷ suất hoàn vốn ROI lên đến 500%.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Thầy/Cô trong Hội đồng và các bạn học viên,</a:t>
            </a:r>
          </a:p>
          <a:p>
            <a:r>
              <a:t>Tóm lại, nghiên cứu đã hoàn thành trọn vẹn mục tiêu đề ra: từ việc kiểm soát rò rỉ dữ liệu, khai phá các quy luật hành vi then chốt, đến việc xây dựng mô hình XGBoost đạt ROC-AUC 0.9930 và tối ưu hóa ngưỡng kinh tế t = 0.42.</a:t>
            </a:r>
          </a:p>
          <a:p>
            <a:r>
              <a:t>Bên cạnh các đóng góp thực tiễn, đề tài cũng nhìn nhận các hạn chế về dữ liệu bảng cắt ngang và mở ra hướng phát triển ứng dụng TabNet cùng hệ thống Real-time MLOps trong tương lai.</a:t>
            </a:r>
          </a:p>
          <a:p>
            <a:r>
              <a:t>Em xin chân thành cảm ơn sự chú ý lắng nghe của Quý Thầy/Cô. Em xin sẵn sàng lắng nghe các ý kiến nhận xét và giải đáp các câu hỏi phản biện từ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62895" cy="411480"/>
          </a:xfrm>
          <a:prstGeom prst="rect">
            <a:avLst/>
          </a:prstGeom>
          <a:noFill/>
        </p:spPr>
        <p:txBody>
          <a:bodyPr wrap="none" lIns="0" rIns="0" tIns="0" bIns="0">
            <a:spAutoFit/>
          </a:bodyPr>
          <a:lstStyle/>
          <a:p>
            <a:r>
              <a:rPr sz="1150" b="1">
                <a:solidFill>
                  <a:srgbClr val="F59E0B"/>
                </a:solidFill>
                <a:latin typeface="Calibri"/>
              </a:rPr>
              <a:t>HỌC VIỆN NGÂN HÀNG (BANKING ACADEMY OF VIETNAM)  •  KHOA HỆ THỐNG THÔNG TIN QUẢN LÝ</a:t>
            </a:r>
          </a:p>
        </p:txBody>
      </p:sp>
      <p:sp>
        <p:nvSpPr>
          <p:cNvPr id="4" name="TextBox 3"/>
          <p:cNvSpPr txBox="1"/>
          <p:nvPr/>
        </p:nvSpPr>
        <p:spPr>
          <a:xfrm>
            <a:off x="914400" y="1371600"/>
            <a:ext cx="10362895" cy="2926080"/>
          </a:xfrm>
          <a:prstGeom prst="rect">
            <a:avLst/>
          </a:prstGeom>
          <a:noFill/>
        </p:spPr>
        <p:txBody>
          <a:bodyPr wrap="square" lIns="0" rIns="0" tIns="0" bIns="0">
            <a:spAutoFit/>
          </a:bodyPr>
          <a:lstStyle/>
          <a:p>
            <a:pPr>
              <a:spcAft>
                <a:spcPts val="600"/>
              </a:spcAft>
              <a:defRPr sz="1350" b="1">
                <a:solidFill>
                  <a:srgbClr val="BAE6FD"/>
                </a:solidFill>
                <a:latin typeface="Calibri"/>
              </a:defRPr>
            </a:pPr>
            <a:r>
              <a:t>BÁO CÁO BÀI TẬP GIỮA KỲ — CHUYÊN ĐỀ CAO HỌC</a:t>
            </a:r>
          </a:p>
          <a:p>
            <a:pPr>
              <a:spcAft>
                <a:spcPts val="400"/>
              </a:spcAft>
              <a:defRPr sz="2800" b="1">
                <a:solidFill>
                  <a:srgbClr val="FFFFFF"/>
                </a:solidFill>
                <a:latin typeface="Calibri"/>
              </a:defRPr>
            </a:pPr>
            <a:r>
              <a:t>XỬ LÝ DỮ LIỆU &amp; KHAI PHÁ DỮ LIỆU KINH DOANH</a:t>
            </a:r>
          </a:p>
          <a:p>
            <a:pPr>
              <a:spcAft>
                <a:spcPts val="200"/>
              </a:spcAft>
              <a:defRPr sz="2200" b="1">
                <a:solidFill>
                  <a:srgbClr val="FED7AA"/>
                </a:solidFill>
                <a:latin typeface="Calibri"/>
              </a:defRPr>
            </a:pPr>
            <a:r>
              <a:t>PHÂN TÍCH HÀNH VI, PHÂN CỤM &amp; DỰ BÁO NGUY CƠ RỜI BỎ</a:t>
            </a:r>
          </a:p>
          <a:p>
            <a:pPr>
              <a:defRPr sz="2200" b="1">
                <a:solidFill>
                  <a:srgbClr val="FED7AA"/>
                </a:solidFill>
                <a:latin typeface="Calibri"/>
              </a:defRPr>
            </a:pPr>
            <a:r>
              <a:t>CỦA KHÁCH HÀNG THẺ TÍN DỤNG (BANK CUSTOMER CHURN)</a:t>
            </a:r>
          </a:p>
        </p:txBody>
      </p:sp>
      <p:sp>
        <p:nvSpPr>
          <p:cNvPr id="5" name="Rectangle 4"/>
          <p:cNvSpPr/>
          <p:nvPr/>
        </p:nvSpPr>
        <p:spPr>
          <a:xfrm>
            <a:off x="914400" y="4434840"/>
            <a:ext cx="1036289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4709160"/>
            <a:ext cx="2468880" cy="1508760"/>
          </a:xfrm>
          <a:prstGeom prst="rect">
            <a:avLst/>
          </a:prstGeom>
          <a:solidFill>
            <a:srgbClr val="0F1F38"/>
          </a:solidFill>
          <a:ln w="9525">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09160"/>
            <a:ext cx="24688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846320"/>
            <a:ext cx="2194560" cy="1234440"/>
          </a:xfrm>
          <a:prstGeom prst="rect">
            <a:avLst/>
          </a:prstGeom>
          <a:noFill/>
        </p:spPr>
        <p:txBody>
          <a:bodyPr wrap="square" lIns="0" rIns="0" tIns="0" bIns="0">
            <a:spAutoFit/>
          </a:bodyPr>
          <a:lstStyle/>
          <a:p>
            <a:pPr>
              <a:spcAft>
                <a:spcPts val="300"/>
              </a:spcAft>
              <a:defRPr sz="950" b="1">
                <a:solidFill>
                  <a:srgbClr val="F59E0B"/>
                </a:solidFill>
                <a:latin typeface="Calibri"/>
              </a:defRPr>
            </a:pPr>
            <a:r>
              <a:t>HỌC VIÊN THỰC HIỆN</a:t>
            </a:r>
          </a:p>
          <a:p>
            <a:pPr>
              <a:spcAft>
                <a:spcPts val="200"/>
              </a:spcAft>
              <a:defRPr sz="1200" b="1">
                <a:solidFill>
                  <a:srgbClr val="FFFFFF"/>
                </a:solidFill>
                <a:latin typeface="Calibri"/>
              </a:defRPr>
            </a:pPr>
            <a:r>
              <a:t>ĐỖ VĂN ĐẠT</a:t>
            </a:r>
          </a:p>
          <a:p>
            <a:pPr>
              <a:defRPr sz="950">
                <a:solidFill>
                  <a:srgbClr val="94A3B8"/>
                </a:solidFill>
                <a:latin typeface="Calibri"/>
              </a:defRPr>
            </a:pPr>
            <a:r>
              <a:t>Chuyên ngành Business Analytics</a:t>
            </a:r>
          </a:p>
        </p:txBody>
      </p:sp>
      <p:sp>
        <p:nvSpPr>
          <p:cNvPr id="9" name="Rectangle 8"/>
          <p:cNvSpPr/>
          <p:nvPr/>
        </p:nvSpPr>
        <p:spPr>
          <a:xfrm>
            <a:off x="3566160" y="4709160"/>
            <a:ext cx="2468880" cy="1508760"/>
          </a:xfrm>
          <a:prstGeom prst="rect">
            <a:avLst/>
          </a:prstGeom>
          <a:solidFill>
            <a:srgbClr val="0F1F38"/>
          </a:solidFill>
          <a:ln w="9525">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66160" y="4709160"/>
            <a:ext cx="24688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4846320"/>
            <a:ext cx="2194560" cy="1234440"/>
          </a:xfrm>
          <a:prstGeom prst="rect">
            <a:avLst/>
          </a:prstGeom>
          <a:noFill/>
        </p:spPr>
        <p:txBody>
          <a:bodyPr wrap="square" lIns="0" rIns="0" tIns="0" bIns="0">
            <a:spAutoFit/>
          </a:bodyPr>
          <a:lstStyle/>
          <a:p>
            <a:pPr>
              <a:spcAft>
                <a:spcPts val="300"/>
              </a:spcAft>
              <a:defRPr sz="950" b="1">
                <a:solidFill>
                  <a:srgbClr val="F59E0B"/>
                </a:solidFill>
                <a:latin typeface="Calibri"/>
              </a:defRPr>
            </a:pPr>
            <a:r>
              <a:t>HỌC PHẦN NGHIÊN CỨU</a:t>
            </a:r>
          </a:p>
          <a:p>
            <a:pPr>
              <a:spcAft>
                <a:spcPts val="200"/>
              </a:spcAft>
              <a:defRPr sz="1200" b="1">
                <a:solidFill>
                  <a:srgbClr val="FFFFFF"/>
                </a:solidFill>
                <a:latin typeface="Calibri"/>
              </a:defRPr>
            </a:pPr>
            <a:r>
              <a:t>PHÂN TÍCH DỮ LIỆU KINH DOANH</a:t>
            </a:r>
          </a:p>
          <a:p>
            <a:pPr>
              <a:defRPr sz="950">
                <a:solidFill>
                  <a:srgbClr val="94A3B8"/>
                </a:solidFill>
                <a:latin typeface="Calibri"/>
              </a:defRPr>
            </a:pPr>
            <a:r>
              <a:t>Business Analytics — HVNH</a:t>
            </a:r>
          </a:p>
        </p:txBody>
      </p:sp>
      <p:sp>
        <p:nvSpPr>
          <p:cNvPr id="12" name="Rectangle 11"/>
          <p:cNvSpPr/>
          <p:nvPr/>
        </p:nvSpPr>
        <p:spPr>
          <a:xfrm>
            <a:off x="6217920" y="4709160"/>
            <a:ext cx="2468880" cy="1508760"/>
          </a:xfrm>
          <a:prstGeom prst="rect">
            <a:avLst/>
          </a:prstGeom>
          <a:solidFill>
            <a:srgbClr val="0F1F38"/>
          </a:solidFill>
          <a:ln w="9525">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4709160"/>
            <a:ext cx="24688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846320"/>
            <a:ext cx="2194560" cy="1234440"/>
          </a:xfrm>
          <a:prstGeom prst="rect">
            <a:avLst/>
          </a:prstGeom>
          <a:noFill/>
        </p:spPr>
        <p:txBody>
          <a:bodyPr wrap="square" lIns="0" rIns="0" tIns="0" bIns="0">
            <a:spAutoFit/>
          </a:bodyPr>
          <a:lstStyle/>
          <a:p>
            <a:pPr>
              <a:spcAft>
                <a:spcPts val="300"/>
              </a:spcAft>
              <a:defRPr sz="950" b="1">
                <a:solidFill>
                  <a:srgbClr val="F59E0B"/>
                </a:solidFill>
                <a:latin typeface="Calibri"/>
              </a:defRPr>
            </a:pPr>
            <a:r>
              <a:t>BỘ DỮ LIỆU THỰC NGHIỆM</a:t>
            </a:r>
          </a:p>
          <a:p>
            <a:pPr>
              <a:spcAft>
                <a:spcPts val="200"/>
              </a:spcAft>
              <a:defRPr sz="1200" b="1">
                <a:solidFill>
                  <a:srgbClr val="FFFFFF"/>
                </a:solidFill>
                <a:latin typeface="Calibri"/>
              </a:defRPr>
            </a:pPr>
            <a:r>
              <a:t>BANKCHURNERS.CSV</a:t>
            </a:r>
          </a:p>
          <a:p>
            <a:pPr>
              <a:defRPr sz="950">
                <a:solidFill>
                  <a:srgbClr val="94A3B8"/>
                </a:solidFill>
                <a:latin typeface="Calibri"/>
              </a:defRPr>
            </a:pPr>
            <a:r>
              <a:t>10,127 quan sát • 23 thuộc tính</a:t>
            </a:r>
          </a:p>
        </p:txBody>
      </p:sp>
      <p:sp>
        <p:nvSpPr>
          <p:cNvPr id="15" name="Rectangle 14"/>
          <p:cNvSpPr/>
          <p:nvPr/>
        </p:nvSpPr>
        <p:spPr>
          <a:xfrm>
            <a:off x="8869680" y="4709160"/>
            <a:ext cx="2468880" cy="1508760"/>
          </a:xfrm>
          <a:prstGeom prst="rect">
            <a:avLst/>
          </a:prstGeom>
          <a:solidFill>
            <a:srgbClr val="0F1F38"/>
          </a:solidFill>
          <a:ln w="9525">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69680" y="4709160"/>
            <a:ext cx="24688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4846320"/>
            <a:ext cx="2194560" cy="1234440"/>
          </a:xfrm>
          <a:prstGeom prst="rect">
            <a:avLst/>
          </a:prstGeom>
          <a:noFill/>
        </p:spPr>
        <p:txBody>
          <a:bodyPr wrap="square" lIns="0" rIns="0" tIns="0" bIns="0">
            <a:spAutoFit/>
          </a:bodyPr>
          <a:lstStyle/>
          <a:p>
            <a:pPr>
              <a:spcAft>
                <a:spcPts val="300"/>
              </a:spcAft>
              <a:defRPr sz="950" b="1">
                <a:solidFill>
                  <a:srgbClr val="F59E0B"/>
                </a:solidFill>
                <a:latin typeface="Calibri"/>
              </a:defRPr>
            </a:pPr>
            <a:r>
              <a:t>NIÊN KHÓA ĐÀO TẠO</a:t>
            </a:r>
          </a:p>
          <a:p>
            <a:pPr>
              <a:spcAft>
                <a:spcPts val="200"/>
              </a:spcAft>
              <a:defRPr sz="1200" b="1">
                <a:solidFill>
                  <a:srgbClr val="FFFFFF"/>
                </a:solidFill>
                <a:latin typeface="Calibri"/>
              </a:defRPr>
            </a:pPr>
            <a:r>
              <a:t>NĂM HỌC 2025 - 2026</a:t>
            </a:r>
          </a:p>
          <a:p>
            <a:pPr>
              <a:defRPr sz="950">
                <a:solidFill>
                  <a:srgbClr val="94A3B8"/>
                </a:solidFill>
                <a:latin typeface="Calibri"/>
              </a:defRPr>
            </a:pPr>
            <a:r>
              <a:t>Hà Nội,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F59E0B"/>
                </a:solidFill>
                <a:latin typeface="Calibri"/>
              </a:rPr>
              <a:t>HỌC VIỆN NGÂN HÀNG | BÀI TẬP GIỮA KỲ — PHÂN TÍCH DỮ LIỆU KINH DOANH  •  </a:t>
            </a:r>
            <a:r>
              <a:rPr sz="919" b="1">
                <a:solidFill>
                  <a:srgbClr val="EA580C"/>
                </a:solidFill>
                <a:latin typeface="Calibri"/>
              </a:rPr>
              <a:t>[MỤC LỤC &amp; LỘ TRÌNH]</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FFFFFF"/>
                </a:solidFill>
                <a:latin typeface="Calibri"/>
              </a:defRPr>
            </a:pPr>
            <a:r>
              <a:t>Cấu Trúc Báo Cáo: 5 Trụ Cột Nghiên Cứu Từ Khai Phá Dữ Liệu Đến Tối Ưu Hóa Kinh Tế</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94A3B8"/>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F59E0B"/>
                </a:solidFill>
                <a:latin typeface="Calibri"/>
              </a:defRPr>
            </a:pPr>
            <a:r>
              <a:t>02 / 21</a:t>
            </a:r>
          </a:p>
        </p:txBody>
      </p:sp>
      <p:sp>
        <p:nvSpPr>
          <p:cNvPr id="7" name="Rectangle 6"/>
          <p:cNvSpPr/>
          <p:nvPr/>
        </p:nvSpPr>
        <p:spPr>
          <a:xfrm>
            <a:off x="731520" y="1463040"/>
            <a:ext cx="2029968" cy="4754880"/>
          </a:xfrm>
          <a:prstGeom prst="rect">
            <a:avLst/>
          </a:prstGeom>
          <a:solidFill>
            <a:srgbClr val="0F1F38"/>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63040"/>
            <a:ext cx="2029968"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645920"/>
            <a:ext cx="594360" cy="34747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rPr>
              <a:t>01</a:t>
            </a:r>
          </a:p>
        </p:txBody>
      </p:sp>
      <p:sp>
        <p:nvSpPr>
          <p:cNvPr id="10" name="TextBox 9"/>
          <p:cNvSpPr txBox="1"/>
          <p:nvPr/>
        </p:nvSpPr>
        <p:spPr>
          <a:xfrm>
            <a:off x="868680" y="2103120"/>
            <a:ext cx="1755648" cy="3977639"/>
          </a:xfrm>
          <a:prstGeom prst="rect">
            <a:avLst/>
          </a:prstGeom>
          <a:noFill/>
        </p:spPr>
        <p:txBody>
          <a:bodyPr wrap="square" lIns="0" rIns="0" tIns="0" bIns="0">
            <a:spAutoFit/>
          </a:bodyPr>
          <a:lstStyle/>
          <a:p>
            <a:pPr>
              <a:spcAft>
                <a:spcPts val="200"/>
              </a:spcAft>
              <a:defRPr sz="1150" b="1">
                <a:solidFill>
                  <a:srgbClr val="FFFFFF"/>
                </a:solidFill>
                <a:latin typeface="Calibri"/>
              </a:defRPr>
            </a:pPr>
            <a:r>
              <a:t>TỔNG QUAN &amp; BỐI CẢNH</a:t>
            </a:r>
          </a:p>
          <a:p>
            <a:pPr>
              <a:spcAft>
                <a:spcPts val="800"/>
              </a:spcAft>
              <a:defRPr sz="950" b="1">
                <a:solidFill>
                  <a:srgbClr val="0284C7"/>
                </a:solidFill>
                <a:latin typeface="Calibri"/>
              </a:defRPr>
            </a:pPr>
            <a:r>
              <a:t>[Slide 03 — 04]</a:t>
            </a:r>
          </a:p>
          <a:p>
            <a:pPr>
              <a:lnSpc>
                <a:spcPct val="115000"/>
              </a:lnSpc>
              <a:spcBef>
                <a:spcPts val="400"/>
              </a:spcBef>
              <a:spcAft>
                <a:spcPts val="400"/>
              </a:spcAft>
            </a:pPr>
            <a:r>
              <a:rPr sz="980">
                <a:solidFill>
                  <a:srgbClr val="E2E8F0"/>
                </a:solidFill>
                <a:latin typeface="Calibri"/>
              </a:rPr>
              <a:t>▪ Bài toán kinh tế mảng thẻ tín dụng</a:t>
            </a:r>
          </a:p>
          <a:p>
            <a:pPr>
              <a:lnSpc>
                <a:spcPct val="115000"/>
              </a:lnSpc>
              <a:spcBef>
                <a:spcPts val="400"/>
              </a:spcBef>
              <a:spcAft>
                <a:spcPts val="400"/>
              </a:spcAft>
            </a:pPr>
            <a:r>
              <a:rPr sz="980">
                <a:solidFill>
                  <a:srgbClr val="E2E8F0"/>
                </a:solidFill>
                <a:latin typeface="Calibri"/>
              </a:rPr>
              <a:t>▪ Chi phí CAC gấp 6 lần CRC giữ chân</a:t>
            </a:r>
          </a:p>
          <a:p>
            <a:pPr>
              <a:lnSpc>
                <a:spcPct val="115000"/>
              </a:lnSpc>
              <a:spcBef>
                <a:spcPts val="400"/>
              </a:spcBef>
              <a:spcAft>
                <a:spcPts val="400"/>
              </a:spcAft>
            </a:pPr>
            <a:r>
              <a:rPr sz="980">
                <a:solidFill>
                  <a:srgbClr val="E2E8F0"/>
                </a:solidFill>
                <a:latin typeface="Calibri"/>
              </a:rPr>
              <a:t>▪ Tóm tắt kết quả nghiên cứu cốt lõi</a:t>
            </a:r>
          </a:p>
        </p:txBody>
      </p:sp>
      <p:sp>
        <p:nvSpPr>
          <p:cNvPr id="11" name="Rectangle 10"/>
          <p:cNvSpPr/>
          <p:nvPr/>
        </p:nvSpPr>
        <p:spPr>
          <a:xfrm>
            <a:off x="2907792" y="1463040"/>
            <a:ext cx="2029968" cy="4754880"/>
          </a:xfrm>
          <a:prstGeom prst="rect">
            <a:avLst/>
          </a:prstGeom>
          <a:solidFill>
            <a:srgbClr val="0F1F38"/>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07792" y="1463040"/>
            <a:ext cx="202996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44952" y="1645920"/>
            <a:ext cx="59436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rPr>
              <a:t>02</a:t>
            </a:r>
          </a:p>
        </p:txBody>
      </p:sp>
      <p:sp>
        <p:nvSpPr>
          <p:cNvPr id="14" name="TextBox 13"/>
          <p:cNvSpPr txBox="1"/>
          <p:nvPr/>
        </p:nvSpPr>
        <p:spPr>
          <a:xfrm>
            <a:off x="3044952" y="2103120"/>
            <a:ext cx="1755648" cy="3977639"/>
          </a:xfrm>
          <a:prstGeom prst="rect">
            <a:avLst/>
          </a:prstGeom>
          <a:noFill/>
        </p:spPr>
        <p:txBody>
          <a:bodyPr wrap="square" lIns="0" rIns="0" tIns="0" bIns="0">
            <a:spAutoFit/>
          </a:bodyPr>
          <a:lstStyle/>
          <a:p>
            <a:pPr>
              <a:spcAft>
                <a:spcPts val="200"/>
              </a:spcAft>
              <a:defRPr sz="1150" b="1">
                <a:solidFill>
                  <a:srgbClr val="FFFFFF"/>
                </a:solidFill>
                <a:latin typeface="Calibri"/>
              </a:defRPr>
            </a:pPr>
            <a:r>
              <a:t>PHƯƠNG PHÁP &amp; TIỀN XỬ LÝ</a:t>
            </a:r>
          </a:p>
          <a:p>
            <a:pPr>
              <a:spcAft>
                <a:spcPts val="800"/>
              </a:spcAft>
              <a:defRPr sz="950" b="1">
                <a:solidFill>
                  <a:srgbClr val="F59E0B"/>
                </a:solidFill>
                <a:latin typeface="Calibri"/>
              </a:defRPr>
            </a:pPr>
            <a:r>
              <a:t>[Slide 05 — 06]</a:t>
            </a:r>
          </a:p>
          <a:p>
            <a:pPr>
              <a:lnSpc>
                <a:spcPct val="115000"/>
              </a:lnSpc>
              <a:spcBef>
                <a:spcPts val="400"/>
              </a:spcBef>
              <a:spcAft>
                <a:spcPts val="400"/>
              </a:spcAft>
            </a:pPr>
            <a:r>
              <a:rPr sz="980">
                <a:solidFill>
                  <a:srgbClr val="E2E8F0"/>
                </a:solidFill>
                <a:latin typeface="Calibri"/>
              </a:rPr>
              <a:t>▪ Kiến trúc quy trình 4 giai đoạn chuẩn</a:t>
            </a:r>
          </a:p>
          <a:p>
            <a:pPr>
              <a:lnSpc>
                <a:spcPct val="115000"/>
              </a:lnSpc>
              <a:spcBef>
                <a:spcPts val="400"/>
              </a:spcBef>
              <a:spcAft>
                <a:spcPts val="400"/>
              </a:spcAft>
            </a:pPr>
            <a:r>
              <a:rPr sz="980">
                <a:solidFill>
                  <a:srgbClr val="E2E8F0"/>
                </a:solidFill>
                <a:latin typeface="Calibri"/>
              </a:rPr>
              <a:t>▪ Kiểm soát rò rỉ nhãn Naive Bayes</a:t>
            </a:r>
          </a:p>
          <a:p>
            <a:pPr>
              <a:lnSpc>
                <a:spcPct val="115000"/>
              </a:lnSpc>
              <a:spcBef>
                <a:spcPts val="400"/>
              </a:spcBef>
              <a:spcAft>
                <a:spcPts val="400"/>
              </a:spcAft>
            </a:pPr>
            <a:r>
              <a:rPr sz="980">
                <a:solidFill>
                  <a:srgbClr val="E2E8F0"/>
                </a:solidFill>
                <a:latin typeface="Calibri"/>
              </a:rPr>
              <a:t>▪ Kiến tạo 5 biến phái sinh tài chính</a:t>
            </a:r>
          </a:p>
        </p:txBody>
      </p:sp>
      <p:sp>
        <p:nvSpPr>
          <p:cNvPr id="15" name="Rectangle 14"/>
          <p:cNvSpPr/>
          <p:nvPr/>
        </p:nvSpPr>
        <p:spPr>
          <a:xfrm>
            <a:off x="5084064" y="1463040"/>
            <a:ext cx="2029968" cy="4754880"/>
          </a:xfrm>
          <a:prstGeom prst="rect">
            <a:avLst/>
          </a:prstGeom>
          <a:solidFill>
            <a:srgbClr val="0F1F38"/>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84064" y="1463040"/>
            <a:ext cx="2029968"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21224" y="1645920"/>
            <a:ext cx="594360" cy="34747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rPr>
              <a:t>03</a:t>
            </a:r>
          </a:p>
        </p:txBody>
      </p:sp>
      <p:sp>
        <p:nvSpPr>
          <p:cNvPr id="18" name="TextBox 17"/>
          <p:cNvSpPr txBox="1"/>
          <p:nvPr/>
        </p:nvSpPr>
        <p:spPr>
          <a:xfrm>
            <a:off x="5221224" y="2103120"/>
            <a:ext cx="1755648" cy="3977639"/>
          </a:xfrm>
          <a:prstGeom prst="rect">
            <a:avLst/>
          </a:prstGeom>
          <a:noFill/>
        </p:spPr>
        <p:txBody>
          <a:bodyPr wrap="square" lIns="0" rIns="0" tIns="0" bIns="0">
            <a:spAutoFit/>
          </a:bodyPr>
          <a:lstStyle/>
          <a:p>
            <a:pPr>
              <a:spcAft>
                <a:spcPts val="200"/>
              </a:spcAft>
              <a:defRPr sz="1150" b="1">
                <a:solidFill>
                  <a:srgbClr val="FFFFFF"/>
                </a:solidFill>
                <a:latin typeface="Calibri"/>
              </a:defRPr>
            </a:pPr>
            <a:r>
              <a:t>KHAI PHÁ DỮ LIỆU &amp; PHÂN CỤM</a:t>
            </a:r>
          </a:p>
          <a:p>
            <a:pPr>
              <a:spcAft>
                <a:spcPts val="800"/>
              </a:spcAft>
              <a:defRPr sz="950" b="1">
                <a:solidFill>
                  <a:srgbClr val="EA580C"/>
                </a:solidFill>
                <a:latin typeface="Calibri"/>
              </a:defRPr>
            </a:pPr>
            <a:r>
              <a:t>[Slide 07 — 13]</a:t>
            </a:r>
          </a:p>
          <a:p>
            <a:pPr>
              <a:lnSpc>
                <a:spcPct val="115000"/>
              </a:lnSpc>
              <a:spcBef>
                <a:spcPts val="400"/>
              </a:spcBef>
              <a:spcAft>
                <a:spcPts val="400"/>
              </a:spcAft>
            </a:pPr>
            <a:r>
              <a:rPr sz="980">
                <a:solidFill>
                  <a:srgbClr val="E2E8F0"/>
                </a:solidFill>
                <a:latin typeface="Calibri"/>
              </a:rPr>
              <a:t>▪ Khai phá EDA 6 chiều hành vi cốt lõi</a:t>
            </a:r>
          </a:p>
          <a:p>
            <a:pPr>
              <a:lnSpc>
                <a:spcPct val="115000"/>
              </a:lnSpc>
              <a:spcBef>
                <a:spcPts val="400"/>
              </a:spcBef>
              <a:spcAft>
                <a:spcPts val="400"/>
              </a:spcAft>
            </a:pPr>
            <a:r>
              <a:rPr sz="980">
                <a:solidFill>
                  <a:srgbClr val="E2E8F0"/>
                </a:solidFill>
                <a:latin typeface="Calibri"/>
              </a:rPr>
              <a:t>▪ Kiểm định thống kê p &lt; 0.001</a:t>
            </a:r>
          </a:p>
          <a:p>
            <a:pPr>
              <a:lnSpc>
                <a:spcPct val="115000"/>
              </a:lnSpc>
              <a:spcBef>
                <a:spcPts val="400"/>
              </a:spcBef>
              <a:spcAft>
                <a:spcPts val="400"/>
              </a:spcAft>
            </a:pPr>
            <a:r>
              <a:rPr sz="980">
                <a:solidFill>
                  <a:srgbClr val="E2E8F0"/>
                </a:solidFill>
                <a:latin typeface="Calibri"/>
              </a:rPr>
              <a:t>▪ Phân cụm K-Means &amp; Giảm chiều PCA</a:t>
            </a:r>
          </a:p>
        </p:txBody>
      </p:sp>
      <p:sp>
        <p:nvSpPr>
          <p:cNvPr id="19" name="Rectangle 18"/>
          <p:cNvSpPr/>
          <p:nvPr/>
        </p:nvSpPr>
        <p:spPr>
          <a:xfrm>
            <a:off x="7260336" y="1463040"/>
            <a:ext cx="2029968" cy="4754880"/>
          </a:xfrm>
          <a:prstGeom prst="rect">
            <a:avLst/>
          </a:prstGeom>
          <a:solidFill>
            <a:srgbClr val="0F1F38"/>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0336" y="1463040"/>
            <a:ext cx="2029968"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97496" y="1645920"/>
            <a:ext cx="594360"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rPr>
              <a:t>04</a:t>
            </a:r>
          </a:p>
        </p:txBody>
      </p:sp>
      <p:sp>
        <p:nvSpPr>
          <p:cNvPr id="22" name="TextBox 21"/>
          <p:cNvSpPr txBox="1"/>
          <p:nvPr/>
        </p:nvSpPr>
        <p:spPr>
          <a:xfrm>
            <a:off x="7397496" y="2103120"/>
            <a:ext cx="1755648" cy="3977639"/>
          </a:xfrm>
          <a:prstGeom prst="rect">
            <a:avLst/>
          </a:prstGeom>
          <a:noFill/>
        </p:spPr>
        <p:txBody>
          <a:bodyPr wrap="square" lIns="0" rIns="0" tIns="0" bIns="0">
            <a:spAutoFit/>
          </a:bodyPr>
          <a:lstStyle/>
          <a:p>
            <a:pPr>
              <a:spcAft>
                <a:spcPts val="200"/>
              </a:spcAft>
              <a:defRPr sz="1150" b="1">
                <a:solidFill>
                  <a:srgbClr val="FFFFFF"/>
                </a:solidFill>
                <a:latin typeface="Calibri"/>
              </a:defRPr>
            </a:pPr>
            <a:r>
              <a:t>MÔ HÌNH HÓA DỰ BÁO &amp; XAI</a:t>
            </a:r>
          </a:p>
          <a:p>
            <a:pPr>
              <a:spcAft>
                <a:spcPts val="800"/>
              </a:spcAft>
              <a:defRPr sz="950" b="1">
                <a:solidFill>
                  <a:srgbClr val="DC2626"/>
                </a:solidFill>
                <a:latin typeface="Calibri"/>
              </a:defRPr>
            </a:pPr>
            <a:r>
              <a:t>[Slide 14 — 17]</a:t>
            </a:r>
          </a:p>
          <a:p>
            <a:pPr>
              <a:lnSpc>
                <a:spcPct val="115000"/>
              </a:lnSpc>
              <a:spcBef>
                <a:spcPts val="400"/>
              </a:spcBef>
              <a:spcAft>
                <a:spcPts val="400"/>
              </a:spcAft>
            </a:pPr>
            <a:r>
              <a:rPr sz="980">
                <a:solidFill>
                  <a:srgbClr val="E2E8F0"/>
                </a:solidFill>
                <a:latin typeface="Calibri"/>
              </a:rPr>
              <a:t>▪ So sánh đối đầu 4 thuật toán máy học</a:t>
            </a:r>
          </a:p>
          <a:p>
            <a:pPr>
              <a:lnSpc>
                <a:spcPct val="115000"/>
              </a:lnSpc>
              <a:spcBef>
                <a:spcPts val="400"/>
              </a:spcBef>
              <a:spcAft>
                <a:spcPts val="400"/>
              </a:spcAft>
            </a:pPr>
            <a:r>
              <a:rPr sz="980">
                <a:solidFill>
                  <a:srgbClr val="E2E8F0"/>
                </a:solidFill>
                <a:latin typeface="Calibri"/>
              </a:rPr>
              <a:t>▪ Mô hình XGBoost: AUC 0.9930, Recall 91%</a:t>
            </a:r>
          </a:p>
          <a:p>
            <a:pPr>
              <a:lnSpc>
                <a:spcPct val="115000"/>
              </a:lnSpc>
              <a:spcBef>
                <a:spcPts val="400"/>
              </a:spcBef>
              <a:spcAft>
                <a:spcPts val="400"/>
              </a:spcAft>
            </a:pPr>
            <a:r>
              <a:rPr sz="980">
                <a:solidFill>
                  <a:srgbClr val="E2E8F0"/>
                </a:solidFill>
                <a:latin typeface="Calibri"/>
              </a:rPr>
              <a:t>▪ Giải thích XAI &amp; Tối ưu ngưỡng t = 0.42</a:t>
            </a:r>
          </a:p>
        </p:txBody>
      </p:sp>
      <p:sp>
        <p:nvSpPr>
          <p:cNvPr id="23" name="Rectangle 22"/>
          <p:cNvSpPr/>
          <p:nvPr/>
        </p:nvSpPr>
        <p:spPr>
          <a:xfrm>
            <a:off x="9436608" y="1463040"/>
            <a:ext cx="2029968" cy="4754880"/>
          </a:xfrm>
          <a:prstGeom prst="rect">
            <a:avLst/>
          </a:prstGeom>
          <a:solidFill>
            <a:srgbClr val="0F1F38"/>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436608" y="1463040"/>
            <a:ext cx="202996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73768" y="1645920"/>
            <a:ext cx="594360"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rPr>
              <a:t>05</a:t>
            </a:r>
          </a:p>
        </p:txBody>
      </p:sp>
      <p:sp>
        <p:nvSpPr>
          <p:cNvPr id="26" name="TextBox 25"/>
          <p:cNvSpPr txBox="1"/>
          <p:nvPr/>
        </p:nvSpPr>
        <p:spPr>
          <a:xfrm>
            <a:off x="9573768" y="2103120"/>
            <a:ext cx="1755648" cy="3977639"/>
          </a:xfrm>
          <a:prstGeom prst="rect">
            <a:avLst/>
          </a:prstGeom>
          <a:noFill/>
        </p:spPr>
        <p:txBody>
          <a:bodyPr wrap="square" lIns="0" rIns="0" tIns="0" bIns="0">
            <a:spAutoFit/>
          </a:bodyPr>
          <a:lstStyle/>
          <a:p>
            <a:pPr>
              <a:spcAft>
                <a:spcPts val="200"/>
              </a:spcAft>
              <a:defRPr sz="1150" b="1">
                <a:solidFill>
                  <a:srgbClr val="FFFFFF"/>
                </a:solidFill>
                <a:latin typeface="Calibri"/>
              </a:defRPr>
            </a:pPr>
            <a:r>
              <a:t>CHIẾN LƯỢC GIỮ CHÂN &amp; ROI</a:t>
            </a:r>
          </a:p>
          <a:p>
            <a:pPr>
              <a:spcAft>
                <a:spcPts val="800"/>
              </a:spcAft>
              <a:defRPr sz="950" b="1">
                <a:solidFill>
                  <a:srgbClr val="10B981"/>
                </a:solidFill>
                <a:latin typeface="Calibri"/>
              </a:defRPr>
            </a:pPr>
            <a:r>
              <a:t>[Slide 18 — 21]</a:t>
            </a:r>
          </a:p>
          <a:p>
            <a:pPr>
              <a:lnSpc>
                <a:spcPct val="115000"/>
              </a:lnSpc>
              <a:spcBef>
                <a:spcPts val="400"/>
              </a:spcBef>
              <a:spcAft>
                <a:spcPts val="400"/>
              </a:spcAft>
            </a:pPr>
            <a:r>
              <a:rPr sz="980">
                <a:solidFill>
                  <a:srgbClr val="E2E8F0"/>
                </a:solidFill>
                <a:latin typeface="Calibri"/>
              </a:rPr>
              <a:t>▪ Phác họa 3 Chân dung khách hàng rời bỏ</a:t>
            </a:r>
          </a:p>
          <a:p>
            <a:pPr>
              <a:lnSpc>
                <a:spcPct val="115000"/>
              </a:lnSpc>
              <a:spcBef>
                <a:spcPts val="400"/>
              </a:spcBef>
              <a:spcAft>
                <a:spcPts val="400"/>
              </a:spcAft>
            </a:pPr>
            <a:r>
              <a:rPr sz="980">
                <a:solidFill>
                  <a:srgbClr val="E2E8F0"/>
                </a:solidFill>
                <a:latin typeface="Calibri"/>
              </a:rPr>
              <a:t>▪ Khung chiến lược 4 tầng &amp; Cảnh báo EWS</a:t>
            </a:r>
          </a:p>
          <a:p>
            <a:pPr>
              <a:lnSpc>
                <a:spcPct val="115000"/>
              </a:lnSpc>
              <a:spcBef>
                <a:spcPts val="400"/>
              </a:spcBef>
              <a:spcAft>
                <a:spcPts val="400"/>
              </a:spcAft>
            </a:pPr>
            <a:r>
              <a:rPr sz="980">
                <a:solidFill>
                  <a:srgbClr val="E2E8F0"/>
                </a:solidFill>
                <a:latin typeface="Calibri"/>
              </a:rPr>
              <a:t>▪ Mô phỏng tài chính ROI 500% &amp; Tổng kết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[TỔNG QUAN ĐIỀU HÀNH]</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Mô Hình XGBoost Đạt ROC-AUC 0.9930, Ngưỡng t = 0.42 Tối Ưu Lợi Nhuận Ròng +$400,000 USD</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03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Số liệu thực nghiệm trên 10,127 quan sát; Tập kiểm thử độc lập Test Set N=2,026; Mô phỏng tài chính trên quy mô 10,000 chủ thẻ.</a:t>
            </a:r>
          </a:p>
        </p:txBody>
      </p:sp>
      <p:sp>
        <p:nvSpPr>
          <p:cNvPr id="8" name="Rectangle 7"/>
          <p:cNvSpPr/>
          <p:nvPr/>
        </p:nvSpPr>
        <p:spPr>
          <a:xfrm>
            <a:off x="731520" y="1463040"/>
            <a:ext cx="25603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2560320" cy="118872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256032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1572768"/>
            <a:ext cx="2340864" cy="1005840"/>
          </a:xfrm>
          <a:prstGeom prst="rect">
            <a:avLst/>
          </a:prstGeom>
          <a:noFill/>
        </p:spPr>
        <p:txBody>
          <a:bodyPr wrap="square" lIns="0" rIns="0" tIns="0" bIns="0">
            <a:spAutoFit/>
          </a:bodyPr>
          <a:lstStyle/>
          <a:p>
            <a:pPr>
              <a:lnSpc>
                <a:spcPct val="100000"/>
              </a:lnSpc>
              <a:spcAft>
                <a:spcPts val="400"/>
              </a:spcAft>
            </a:pPr>
            <a:r>
              <a:rPr sz="3000" b="1">
                <a:solidFill>
                  <a:srgbClr val="DC2626"/>
                </a:solidFill>
                <a:latin typeface="Calibri"/>
              </a:rPr>
              <a:t>16.07%</a:t>
            </a:r>
          </a:p>
          <a:p>
            <a:pPr>
              <a:lnSpc>
                <a:spcPct val="100000"/>
              </a:lnSpc>
            </a:pPr>
            <a:r>
              <a:rPr sz="1050" b="1">
                <a:solidFill>
                  <a:srgbClr val="0A2540"/>
                </a:solidFill>
                <a:latin typeface="Calibri"/>
              </a:rPr>
              <a:t>TỶ LỆ RỜI BỎ TỰ NHIÊN</a:t>
            </a:r>
          </a:p>
        </p:txBody>
      </p:sp>
      <p:sp>
        <p:nvSpPr>
          <p:cNvPr id="12" name="Rectangle 11"/>
          <p:cNvSpPr/>
          <p:nvPr/>
        </p:nvSpPr>
        <p:spPr>
          <a:xfrm>
            <a:off x="731520" y="2651760"/>
            <a:ext cx="256032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788920"/>
            <a:ext cx="2286000" cy="2880360"/>
          </a:xfrm>
          <a:prstGeom prst="rect">
            <a:avLst/>
          </a:prstGeom>
          <a:noFill/>
        </p:spPr>
        <p:txBody>
          <a:bodyPr wrap="square" lIns="0" rIns="0" tIns="0" bIns="0">
            <a:spAutoFit/>
          </a:bodyPr>
          <a:lstStyle/>
          <a:p>
            <a:pPr>
              <a:lnSpc>
                <a:spcPct val="120000"/>
              </a:lnSpc>
              <a:spcBef>
                <a:spcPts val="500"/>
              </a:spcBef>
              <a:spcAft>
                <a:spcPts val="600"/>
              </a:spcAft>
            </a:pPr>
            <a:r>
              <a:rPr sz="980" b="1">
                <a:solidFill>
                  <a:srgbClr val="0A2540"/>
                </a:solidFill>
                <a:latin typeface="Calibri"/>
              </a:rPr>
              <a:t>Quy mô thất thoát: </a:t>
            </a:r>
            <a:r>
              <a:rPr sz="980">
                <a:solidFill>
                  <a:srgbClr val="0F172A"/>
                </a:solidFill>
                <a:latin typeface="Calibri"/>
              </a:rPr>
              <a:t>1,627 / 10,127 khách hàng đã đóng thẻ, ước tính thiệt hại ~$800,000 USD/năm.</a:t>
            </a:r>
          </a:p>
          <a:p>
            <a:pPr>
              <a:lnSpc>
                <a:spcPct val="120000"/>
              </a:lnSpc>
              <a:spcBef>
                <a:spcPts val="500"/>
              </a:spcBef>
              <a:spcAft>
                <a:spcPts val="600"/>
              </a:spcAft>
            </a:pPr>
            <a:r>
              <a:rPr sz="980" b="1">
                <a:solidFill>
                  <a:srgbClr val="0A2540"/>
                </a:solidFill>
                <a:latin typeface="Calibri"/>
              </a:rPr>
              <a:t>Mất cân bằng dữ liệu: </a:t>
            </a:r>
            <a:r>
              <a:rPr sz="980">
                <a:solidFill>
                  <a:srgbClr val="0F172A"/>
                </a:solidFill>
                <a:latin typeface="Calibri"/>
              </a:rPr>
              <a:t>Tỷ lệ 1:5.22 đặt ra yêu cầu ưu tiên tối ưu hóa chỉ số Recall và ROC-AUC.</a:t>
            </a:r>
          </a:p>
          <a:p>
            <a:pPr>
              <a:lnSpc>
                <a:spcPct val="120000"/>
              </a:lnSpc>
              <a:spcBef>
                <a:spcPts val="500"/>
              </a:spcBef>
              <a:spcAft>
                <a:spcPts val="600"/>
              </a:spcAft>
            </a:pPr>
            <a:r>
              <a:rPr sz="980" b="1">
                <a:solidFill>
                  <a:srgbClr val="0A2540"/>
                </a:solidFill>
                <a:latin typeface="Calibri"/>
              </a:rPr>
              <a:t>Tổn thất nguồn thu: </a:t>
            </a:r>
            <a:r>
              <a:rPr sz="980">
                <a:solidFill>
                  <a:srgbClr val="0F172A"/>
                </a:solidFill>
                <a:latin typeface="Calibri"/>
              </a:rPr>
              <a:t>Giảm sút dòng thu từ phí thường niên, lãi vay quay vòng và phí giao dịch POS.</a:t>
            </a:r>
          </a:p>
        </p:txBody>
      </p:sp>
      <p:sp>
        <p:nvSpPr>
          <p:cNvPr id="14" name="Rectangle 13"/>
          <p:cNvSpPr/>
          <p:nvPr/>
        </p:nvSpPr>
        <p:spPr>
          <a:xfrm>
            <a:off x="3429000" y="1463040"/>
            <a:ext cx="25603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1463040"/>
            <a:ext cx="2560320" cy="1188720"/>
          </a:xfrm>
          <a:prstGeom prst="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1463040"/>
            <a:ext cx="2560320"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8728" y="1572768"/>
            <a:ext cx="2340864" cy="1005840"/>
          </a:xfrm>
          <a:prstGeom prst="rect">
            <a:avLst/>
          </a:prstGeom>
          <a:noFill/>
        </p:spPr>
        <p:txBody>
          <a:bodyPr wrap="square" lIns="0" rIns="0" tIns="0" bIns="0">
            <a:spAutoFit/>
          </a:bodyPr>
          <a:lstStyle/>
          <a:p>
            <a:pPr>
              <a:lnSpc>
                <a:spcPct val="100000"/>
              </a:lnSpc>
              <a:spcAft>
                <a:spcPts val="400"/>
              </a:spcAft>
            </a:pPr>
            <a:r>
              <a:rPr sz="3000" b="1">
                <a:solidFill>
                  <a:srgbClr val="0A2540"/>
                </a:solidFill>
                <a:latin typeface="Calibri"/>
              </a:rPr>
              <a:t>0.9930</a:t>
            </a:r>
          </a:p>
          <a:p>
            <a:pPr>
              <a:lnSpc>
                <a:spcPct val="100000"/>
              </a:lnSpc>
            </a:pPr>
            <a:r>
              <a:rPr sz="1050" b="1">
                <a:solidFill>
                  <a:srgbClr val="0A2540"/>
                </a:solidFill>
                <a:latin typeface="Calibri"/>
              </a:rPr>
              <a:t>ROC-AUC MÔ HÌNH XGBOOST</a:t>
            </a:r>
          </a:p>
        </p:txBody>
      </p:sp>
      <p:sp>
        <p:nvSpPr>
          <p:cNvPr id="18" name="Rectangle 17"/>
          <p:cNvSpPr/>
          <p:nvPr/>
        </p:nvSpPr>
        <p:spPr>
          <a:xfrm>
            <a:off x="3429000" y="2651760"/>
            <a:ext cx="256032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2788920"/>
            <a:ext cx="2286000" cy="2880360"/>
          </a:xfrm>
          <a:prstGeom prst="rect">
            <a:avLst/>
          </a:prstGeom>
          <a:noFill/>
        </p:spPr>
        <p:txBody>
          <a:bodyPr wrap="square" lIns="0" rIns="0" tIns="0" bIns="0">
            <a:spAutoFit/>
          </a:bodyPr>
          <a:lstStyle/>
          <a:p>
            <a:pPr>
              <a:lnSpc>
                <a:spcPct val="120000"/>
              </a:lnSpc>
              <a:spcBef>
                <a:spcPts val="500"/>
              </a:spcBef>
              <a:spcAft>
                <a:spcPts val="600"/>
              </a:spcAft>
            </a:pPr>
            <a:r>
              <a:rPr sz="980" b="1">
                <a:solidFill>
                  <a:srgbClr val="0A2540"/>
                </a:solidFill>
                <a:latin typeface="Calibri"/>
              </a:rPr>
              <a:t>Độ phân tách thực nghiệm: </a:t>
            </a:r>
            <a:r>
              <a:rPr sz="980">
                <a:solidFill>
                  <a:srgbClr val="0F172A"/>
                </a:solidFill>
                <a:latin typeface="Calibri"/>
              </a:rPr>
              <a:t>Chỉ số Recall đạt 91.38% và F1-Score đạt 91.23% trên tập kiểm thử độc lập.</a:t>
            </a:r>
          </a:p>
          <a:p>
            <a:pPr>
              <a:lnSpc>
                <a:spcPct val="120000"/>
              </a:lnSpc>
              <a:spcBef>
                <a:spcPts val="500"/>
              </a:spcBef>
              <a:spcAft>
                <a:spcPts val="600"/>
              </a:spcAft>
            </a:pPr>
            <a:r>
              <a:rPr sz="980" b="1">
                <a:solidFill>
                  <a:srgbClr val="0A2540"/>
                </a:solidFill>
                <a:latin typeface="Calibri"/>
              </a:rPr>
              <a:t>Kiểm soát sai số: </a:t>
            </a:r>
            <a:r>
              <a:rPr sz="980">
                <a:solidFill>
                  <a:srgbClr val="0F172A"/>
                </a:solidFill>
                <a:latin typeface="Calibri"/>
              </a:rPr>
              <a:t>Phát hiện đúng 297/325 khách hàng rời bỏ, tỷ lệ bỏ sót thực tế ở mức 8.62%.</a:t>
            </a:r>
          </a:p>
          <a:p>
            <a:pPr>
              <a:lnSpc>
                <a:spcPct val="120000"/>
              </a:lnSpc>
              <a:spcBef>
                <a:spcPts val="500"/>
              </a:spcBef>
              <a:spcAft>
                <a:spcPts val="600"/>
              </a:spcAft>
            </a:pPr>
            <a:r>
              <a:rPr sz="980" b="1">
                <a:solidFill>
                  <a:srgbClr val="0A2540"/>
                </a:solidFill>
                <a:latin typeface="Calibri"/>
              </a:rPr>
              <a:t>So sánh mô hình: </a:t>
            </a:r>
            <a:r>
              <a:rPr sz="980">
                <a:solidFill>
                  <a:srgbClr val="0F172A"/>
                </a:solidFill>
                <a:latin typeface="Calibri"/>
              </a:rPr>
              <a:t>Đạt hiệu năng cao hơn có ý nghĩa so với Logistic Regression (0.9348) và Random Forest (0.9892).</a:t>
            </a:r>
          </a:p>
        </p:txBody>
      </p:sp>
      <p:sp>
        <p:nvSpPr>
          <p:cNvPr id="20" name="Rectangle 19"/>
          <p:cNvSpPr/>
          <p:nvPr/>
        </p:nvSpPr>
        <p:spPr>
          <a:xfrm>
            <a:off x="6126480" y="1463040"/>
            <a:ext cx="25603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463040"/>
            <a:ext cx="2560320" cy="1188720"/>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1463040"/>
            <a:ext cx="256032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6208" y="1572768"/>
            <a:ext cx="2340864" cy="1005840"/>
          </a:xfrm>
          <a:prstGeom prst="rect">
            <a:avLst/>
          </a:prstGeom>
          <a:noFill/>
        </p:spPr>
        <p:txBody>
          <a:bodyPr wrap="square" lIns="0" rIns="0" tIns="0" bIns="0">
            <a:spAutoFit/>
          </a:bodyPr>
          <a:lstStyle/>
          <a:p>
            <a:pPr>
              <a:lnSpc>
                <a:spcPct val="100000"/>
              </a:lnSpc>
              <a:spcAft>
                <a:spcPts val="400"/>
              </a:spcAft>
            </a:pPr>
            <a:r>
              <a:rPr sz="3000" b="1">
                <a:solidFill>
                  <a:srgbClr val="EA580C"/>
                </a:solidFill>
                <a:latin typeface="Calibri"/>
              </a:rPr>
              <a:t>t* = 0.42</a:t>
            </a:r>
          </a:p>
          <a:p>
            <a:pPr>
              <a:lnSpc>
                <a:spcPct val="100000"/>
              </a:lnSpc>
            </a:pPr>
            <a:r>
              <a:rPr sz="1050" b="1">
                <a:solidFill>
                  <a:srgbClr val="0A2540"/>
                </a:solidFill>
                <a:latin typeface="Calibri"/>
              </a:rPr>
              <a:t>NGƯỠNG CẮT TỐI ƯU KINH TẾ</a:t>
            </a:r>
          </a:p>
        </p:txBody>
      </p:sp>
      <p:sp>
        <p:nvSpPr>
          <p:cNvPr id="24" name="Rectangle 23"/>
          <p:cNvSpPr/>
          <p:nvPr/>
        </p:nvSpPr>
        <p:spPr>
          <a:xfrm>
            <a:off x="6126480" y="2651760"/>
            <a:ext cx="256032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2788920"/>
            <a:ext cx="2286000" cy="2880360"/>
          </a:xfrm>
          <a:prstGeom prst="rect">
            <a:avLst/>
          </a:prstGeom>
          <a:noFill/>
        </p:spPr>
        <p:txBody>
          <a:bodyPr wrap="square" lIns="0" rIns="0" tIns="0" bIns="0">
            <a:spAutoFit/>
          </a:bodyPr>
          <a:lstStyle/>
          <a:p>
            <a:pPr>
              <a:lnSpc>
                <a:spcPct val="120000"/>
              </a:lnSpc>
              <a:spcBef>
                <a:spcPts val="500"/>
              </a:spcBef>
              <a:spcAft>
                <a:spcPts val="600"/>
              </a:spcAft>
            </a:pPr>
            <a:r>
              <a:rPr sz="980" b="1">
                <a:solidFill>
                  <a:srgbClr val="0A2540"/>
                </a:solidFill>
                <a:latin typeface="Calibri"/>
              </a:rPr>
              <a:t>Dịch chuyển ngưỡng: </a:t>
            </a:r>
            <a:r>
              <a:rPr sz="980">
                <a:solidFill>
                  <a:srgbClr val="0F172A"/>
                </a:solidFill>
                <a:latin typeface="Calibri"/>
              </a:rPr>
              <a:t>Thay thế ngưỡng 0.50 mặc định bằng điểm cực đại của hàm Lợi nhuận kỳ vọng.</a:t>
            </a:r>
          </a:p>
          <a:p>
            <a:pPr>
              <a:lnSpc>
                <a:spcPct val="120000"/>
              </a:lnSpc>
              <a:spcBef>
                <a:spcPts val="500"/>
              </a:spcBef>
              <a:spcAft>
                <a:spcPts val="600"/>
              </a:spcAft>
            </a:pPr>
            <a:r>
              <a:rPr sz="980" b="1">
                <a:solidFill>
                  <a:srgbClr val="0A2540"/>
                </a:solidFill>
                <a:latin typeface="Calibri"/>
              </a:rPr>
              <a:t>Đón đầu rủi ro sớm: </a:t>
            </a:r>
            <a:r>
              <a:rPr sz="980">
                <a:solidFill>
                  <a:srgbClr val="0F172A"/>
                </a:solidFill>
                <a:latin typeface="Calibri"/>
              </a:rPr>
              <a:t>Cho phép can thiệp vào nhóm khách hàng chớm có nguy cơ từ xác suất 0.42.</a:t>
            </a:r>
          </a:p>
          <a:p>
            <a:pPr>
              <a:lnSpc>
                <a:spcPct val="120000"/>
              </a:lnSpc>
              <a:spcBef>
                <a:spcPts val="500"/>
              </a:spcBef>
              <a:spcAft>
                <a:spcPts val="600"/>
              </a:spcAft>
            </a:pPr>
            <a:r>
              <a:rPr sz="980" b="1">
                <a:solidFill>
                  <a:srgbClr val="0A2540"/>
                </a:solidFill>
                <a:latin typeface="Calibri"/>
              </a:rPr>
              <a:t>Hiệu quả giữ chân: </a:t>
            </a:r>
            <a:r>
              <a:rPr sz="980">
                <a:solidFill>
                  <a:srgbClr val="0F172A"/>
                </a:solidFill>
                <a:latin typeface="Calibri"/>
              </a:rPr>
              <a:t>Đạt tỷ lệ can thiệp thành công kỳ vọng 75%, tăng thêm +$24,500 USD lợi nhuận ròng.</a:t>
            </a:r>
          </a:p>
        </p:txBody>
      </p:sp>
      <p:sp>
        <p:nvSpPr>
          <p:cNvPr id="26" name="Rectangle 25"/>
          <p:cNvSpPr/>
          <p:nvPr/>
        </p:nvSpPr>
        <p:spPr>
          <a:xfrm>
            <a:off x="8823960" y="1463040"/>
            <a:ext cx="25603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23960" y="1463040"/>
            <a:ext cx="2560320" cy="118872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463040"/>
            <a:ext cx="25603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33688" y="1572768"/>
            <a:ext cx="2340864" cy="1005840"/>
          </a:xfrm>
          <a:prstGeom prst="rect">
            <a:avLst/>
          </a:prstGeom>
          <a:noFill/>
        </p:spPr>
        <p:txBody>
          <a:bodyPr wrap="square" lIns="0" rIns="0" tIns="0" bIns="0">
            <a:spAutoFit/>
          </a:bodyPr>
          <a:lstStyle/>
          <a:p>
            <a:pPr>
              <a:lnSpc>
                <a:spcPct val="100000"/>
              </a:lnSpc>
              <a:spcAft>
                <a:spcPts val="400"/>
              </a:spcAft>
            </a:pPr>
            <a:r>
              <a:rPr sz="3000" b="1">
                <a:solidFill>
                  <a:srgbClr val="10B981"/>
                </a:solidFill>
                <a:latin typeface="Calibri"/>
              </a:rPr>
              <a:t>+$400K</a:t>
            </a:r>
          </a:p>
          <a:p>
            <a:pPr>
              <a:lnSpc>
                <a:spcPct val="100000"/>
              </a:lnSpc>
            </a:pPr>
            <a:r>
              <a:rPr sz="1050" b="1">
                <a:solidFill>
                  <a:srgbClr val="0A2540"/>
                </a:solidFill>
                <a:latin typeface="Calibri"/>
              </a:rPr>
              <a:t>LỢI NHUẬN RÒNG / NĂM (ROI 500%)</a:t>
            </a:r>
          </a:p>
        </p:txBody>
      </p:sp>
      <p:sp>
        <p:nvSpPr>
          <p:cNvPr id="30" name="Rectangle 29"/>
          <p:cNvSpPr/>
          <p:nvPr/>
        </p:nvSpPr>
        <p:spPr>
          <a:xfrm>
            <a:off x="8823960" y="2651760"/>
            <a:ext cx="256032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0" y="2788920"/>
            <a:ext cx="2286000" cy="2880360"/>
          </a:xfrm>
          <a:prstGeom prst="rect">
            <a:avLst/>
          </a:prstGeom>
          <a:noFill/>
        </p:spPr>
        <p:txBody>
          <a:bodyPr wrap="square" lIns="0" rIns="0" tIns="0" bIns="0">
            <a:spAutoFit/>
          </a:bodyPr>
          <a:lstStyle/>
          <a:p>
            <a:pPr>
              <a:lnSpc>
                <a:spcPct val="120000"/>
              </a:lnSpc>
              <a:spcBef>
                <a:spcPts val="500"/>
              </a:spcBef>
              <a:spcAft>
                <a:spcPts val="600"/>
              </a:spcAft>
            </a:pPr>
            <a:r>
              <a:rPr sz="980" b="1">
                <a:solidFill>
                  <a:srgbClr val="0A2540"/>
                </a:solidFill>
                <a:latin typeface="Calibri"/>
              </a:rPr>
              <a:t>Quy mô 10,000 khách: </a:t>
            </a:r>
            <a:r>
              <a:rPr sz="980">
                <a:solidFill>
                  <a:srgbClr val="0F172A"/>
                </a:solidFill>
                <a:latin typeface="Calibri"/>
              </a:rPr>
              <a:t>Ước tính giữ chân thành công 960 khách hàng có nguy cơ rời bỏ hàng năm.</a:t>
            </a:r>
          </a:p>
          <a:p>
            <a:pPr>
              <a:lnSpc>
                <a:spcPct val="120000"/>
              </a:lnSpc>
              <a:spcBef>
                <a:spcPts val="500"/>
              </a:spcBef>
              <a:spcAft>
                <a:spcPts val="600"/>
              </a:spcAft>
            </a:pPr>
            <a:r>
              <a:rPr sz="980" b="1">
                <a:solidFill>
                  <a:srgbClr val="0A2540"/>
                </a:solidFill>
                <a:latin typeface="Calibri"/>
              </a:rPr>
              <a:t>Bảo toàn giá trị CLV: </a:t>
            </a:r>
            <a:r>
              <a:rPr sz="980">
                <a:solidFill>
                  <a:srgbClr val="0F172A"/>
                </a:solidFill>
                <a:latin typeface="Calibri"/>
              </a:rPr>
              <a:t>Bảo vệ $480,000 USD giá trị trọn đời (giả định CLV trung bình $500/khách).</a:t>
            </a:r>
          </a:p>
          <a:p>
            <a:pPr>
              <a:lnSpc>
                <a:spcPct val="120000"/>
              </a:lnSpc>
              <a:spcBef>
                <a:spcPts val="500"/>
              </a:spcBef>
              <a:spcAft>
                <a:spcPts val="600"/>
              </a:spcAft>
            </a:pPr>
            <a:r>
              <a:rPr sz="980" b="1">
                <a:solidFill>
                  <a:srgbClr val="0A2540"/>
                </a:solidFill>
                <a:latin typeface="Calibri"/>
              </a:rPr>
              <a:t>Tỷ suất sinh lời: </a:t>
            </a:r>
            <a:r>
              <a:rPr sz="980">
                <a:solidFill>
                  <a:srgbClr val="0F172A"/>
                </a:solidFill>
                <a:latin typeface="Calibri"/>
              </a:rPr>
              <a:t>Ngân sách can thiệp $80,000 USD mang lại lợi nhuận ròng +$400,000 USD/năm (ROI 500%).</a:t>
            </a:r>
          </a:p>
        </p:txBody>
      </p:sp>
      <p:sp>
        <p:nvSpPr>
          <p:cNvPr id="32" name="Rectangle 31"/>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Mô hình XGBoost kết hợp tối ưu hóa ngưỡng cắt t = 0.42 giải quyết hiệu quả bài toán kinh tế: bắt đúng 91.4% rủi ro rời bỏ, đạt tỷ suất hoàn vốn ước tính 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[BỐI CẢNH KINH DOANH]</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Chi Phí Thu Hút Mới (CAC) Gấp 6 Lần Chi Phí Giữ Chân (CRC): Cơ Sở Xây Dựng Hệ Thống Cảnh Báo Sớm</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04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Tham chiếu nguyên lý Reichheld (Bain &amp; Company) về kinh tế học giữ chân khách hàng; Khảo sát chi phí thẻ tín dụng bình quân khu vực.</a:t>
            </a:r>
          </a:p>
        </p:txBody>
      </p:sp>
      <p:sp>
        <p:nvSpPr>
          <p:cNvPr id="8" name="Rectangle 7"/>
          <p:cNvSpPr/>
          <p:nvPr/>
        </p:nvSpPr>
        <p:spPr>
          <a:xfrm>
            <a:off x="731520" y="1463040"/>
            <a:ext cx="4389120" cy="4297680"/>
          </a:xfrm>
          <a:prstGeom prst="rect">
            <a:avLst/>
          </a:prstGeom>
          <a:solidFill>
            <a:srgbClr val="FFFFFF"/>
          </a:solidFill>
          <a:ln w="12700">
            <a:solidFill>
              <a:srgbClr val="DC2626"/>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4389120" cy="109728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438912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72768"/>
            <a:ext cx="4023360" cy="914400"/>
          </a:xfrm>
          <a:prstGeom prst="rect">
            <a:avLst/>
          </a:prstGeom>
          <a:noFill/>
        </p:spPr>
        <p:txBody>
          <a:bodyPr wrap="none">
            <a:spAutoFit/>
          </a:bodyPr>
          <a:lstStyle/>
          <a:p>
            <a:pPr>
              <a:defRPr sz="1100" b="1">
                <a:solidFill>
                  <a:srgbClr val="DC2626"/>
                </a:solidFill>
                <a:latin typeface="Calibri"/>
              </a:defRPr>
            </a:pPr>
            <a:r>
              <a:t>CHI PHÍ THU HÚT KHÁCH HÀNG MỚI (CAC)</a:t>
            </a:r>
          </a:p>
          <a:p>
            <a:pPr>
              <a:defRPr sz="2400" b="1">
                <a:solidFill>
                  <a:srgbClr val="DC2626"/>
                </a:solidFill>
                <a:latin typeface="Calibri"/>
              </a:defRPr>
            </a:pPr>
            <a:r>
              <a:t>$250 — $300 USD</a:t>
            </a:r>
          </a:p>
        </p:txBody>
      </p:sp>
      <p:sp>
        <p:nvSpPr>
          <p:cNvPr id="12" name="TextBox 11"/>
          <p:cNvSpPr txBox="1"/>
          <p:nvPr/>
        </p:nvSpPr>
        <p:spPr>
          <a:xfrm>
            <a:off x="914400" y="2697480"/>
            <a:ext cx="4023360" cy="3017520"/>
          </a:xfrm>
          <a:prstGeom prst="rect">
            <a:avLst/>
          </a:prstGeom>
          <a:noFill/>
        </p:spPr>
        <p:txBody>
          <a:bodyPr wrap="none">
            <a:spAutoFit/>
          </a:bodyPr>
          <a:lstStyle/>
          <a:p>
            <a:pPr>
              <a:lnSpc>
                <a:spcPct val="120000"/>
              </a:lnSpc>
              <a:spcBef>
                <a:spcPts val="600"/>
              </a:spcBef>
              <a:spcAft>
                <a:spcPts val="600"/>
              </a:spcAft>
            </a:pPr>
            <a:r>
              <a:rPr sz="980" b="1">
                <a:solidFill>
                  <a:srgbClr val="DC2626"/>
                </a:solidFill>
                <a:latin typeface="Calibri"/>
              </a:rPr>
              <a:t>Tiếp thị &amp; Quảng bá số: </a:t>
            </a:r>
            <a:r>
              <a:rPr sz="980">
                <a:solidFill>
                  <a:srgbClr val="0F172A"/>
                </a:solidFill>
                <a:latin typeface="Calibri"/>
              </a:rPr>
              <a:t>Chi phí quảng cáo số, hoa hồng đại lý phát triển thẻ và quà tặng mở thẻ.</a:t>
            </a:r>
          </a:p>
          <a:p>
            <a:pPr>
              <a:lnSpc>
                <a:spcPct val="120000"/>
              </a:lnSpc>
              <a:spcBef>
                <a:spcPts val="600"/>
              </a:spcBef>
              <a:spcAft>
                <a:spcPts val="600"/>
              </a:spcAft>
            </a:pPr>
            <a:r>
              <a:rPr sz="980" b="1">
                <a:solidFill>
                  <a:srgbClr val="DC2626"/>
                </a:solidFill>
                <a:latin typeface="Calibri"/>
              </a:rPr>
              <a:t>Thẩm định tín dụng: </a:t>
            </a:r>
            <a:r>
              <a:rPr sz="980">
                <a:solidFill>
                  <a:srgbClr val="0F172A"/>
                </a:solidFill>
                <a:latin typeface="Calibri"/>
              </a:rPr>
              <a:t>Chi phí tra cứu lịch sử tín dụng CIC, đánh giá hồ sơ và rủi ro phê duyệt ban đầu.</a:t>
            </a:r>
          </a:p>
          <a:p>
            <a:pPr>
              <a:lnSpc>
                <a:spcPct val="120000"/>
              </a:lnSpc>
              <a:spcBef>
                <a:spcPts val="600"/>
              </a:spcBef>
              <a:spcAft>
                <a:spcPts val="600"/>
              </a:spcAft>
            </a:pPr>
            <a:r>
              <a:rPr sz="980" b="1">
                <a:solidFill>
                  <a:srgbClr val="DC2626"/>
                </a:solidFill>
                <a:latin typeface="Calibri"/>
              </a:rPr>
              <a:t>Phát hành thẻ vật lý: </a:t>
            </a:r>
            <a:r>
              <a:rPr sz="980">
                <a:solidFill>
                  <a:srgbClr val="0F172A"/>
                </a:solidFill>
                <a:latin typeface="Calibri"/>
              </a:rPr>
              <a:t>Chi phí phôi thẻ chip EMV, đóng gói và chuyển phát bảo đảm đến chủ thẻ.</a:t>
            </a:r>
          </a:p>
          <a:p>
            <a:pPr>
              <a:lnSpc>
                <a:spcPct val="120000"/>
              </a:lnSpc>
              <a:spcBef>
                <a:spcPts val="600"/>
              </a:spcBef>
              <a:spcAft>
                <a:spcPts val="600"/>
              </a:spcAft>
            </a:pPr>
            <a:r>
              <a:rPr sz="980" b="1">
                <a:solidFill>
                  <a:srgbClr val="DC2626"/>
                </a:solidFill>
                <a:latin typeface="Calibri"/>
              </a:rPr>
              <a:t>Chu kỳ hoàn vốn kéo dài: </a:t>
            </a:r>
            <a:r>
              <a:rPr sz="980">
                <a:solidFill>
                  <a:srgbClr val="0F172A"/>
                </a:solidFill>
                <a:latin typeface="Calibri"/>
              </a:rPr>
              <a:t>Ngân hàng cần trung bình 12 - 18 tháng sử dụng thẻ để bù đắp chi phí phát hành ban đầu.</a:t>
            </a:r>
          </a:p>
        </p:txBody>
      </p:sp>
      <p:sp>
        <p:nvSpPr>
          <p:cNvPr id="13" name="Rectangle 12"/>
          <p:cNvSpPr/>
          <p:nvPr/>
        </p:nvSpPr>
        <p:spPr>
          <a:xfrm>
            <a:off x="5349240" y="2697480"/>
            <a:ext cx="1463040" cy="1645920"/>
          </a:xfrm>
          <a:prstGeom prst="rect">
            <a:avLst/>
          </a:prstGeom>
          <a:solidFill>
            <a:srgbClr val="0A2540"/>
          </a:solidFill>
          <a:ln w="19050">
            <a:solidFill>
              <a:srgbClr val="EA580C"/>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2788920"/>
            <a:ext cx="1371600" cy="1463040"/>
          </a:xfrm>
          <a:prstGeom prst="rect">
            <a:avLst/>
          </a:prstGeom>
          <a:noFill/>
        </p:spPr>
        <p:txBody>
          <a:bodyPr wrap="none" lIns="0" rIns="0" tIns="0" bIns="0">
            <a:spAutoFit/>
          </a:bodyPr>
          <a:lstStyle/>
          <a:p>
            <a:pPr algn="ctr"/>
            <a:r>
              <a:rPr sz="900" b="1">
                <a:solidFill>
                  <a:srgbClr val="F59E0B"/>
                </a:solidFill>
              </a:rPr>
              <a:t>TỶ LỆ ĐỐI ĐẦU</a:t>
            </a:r>
          </a:p>
          <a:p>
            <a:pPr algn="ctr"/>
            <a:r>
              <a:rPr sz="2600" b="1">
                <a:solidFill>
                  <a:srgbClr val="FFFFFF"/>
                </a:solidFill>
              </a:rPr>
              <a:t>6 : 1</a:t>
            </a:r>
          </a:p>
          <a:p>
            <a:pPr algn="ctr"/>
            <a:r>
              <a:rPr sz="880" b="1">
                <a:solidFill>
                  <a:srgbClr val="EA580C"/>
                </a:solidFill>
              </a:rPr>
              <a:t>CHI PHÍ GẤP 6 LẦN</a:t>
            </a:r>
          </a:p>
        </p:txBody>
      </p:sp>
      <p:sp>
        <p:nvSpPr>
          <p:cNvPr id="15" name="Rectangle 14"/>
          <p:cNvSpPr/>
          <p:nvPr/>
        </p:nvSpPr>
        <p:spPr>
          <a:xfrm>
            <a:off x="7071055" y="1463040"/>
            <a:ext cx="4389120" cy="4297680"/>
          </a:xfrm>
          <a:prstGeom prst="rect">
            <a:avLst/>
          </a:prstGeom>
          <a:solidFill>
            <a:srgbClr val="FFFFFF"/>
          </a:solidFill>
          <a:ln w="12700">
            <a:solidFill>
              <a:srgbClr val="10B981"/>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1463040"/>
            <a:ext cx="4389120" cy="109728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71055" y="1463040"/>
            <a:ext cx="43891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53935" y="1572768"/>
            <a:ext cx="4023360" cy="914400"/>
          </a:xfrm>
          <a:prstGeom prst="rect">
            <a:avLst/>
          </a:prstGeom>
          <a:noFill/>
        </p:spPr>
        <p:txBody>
          <a:bodyPr wrap="none">
            <a:spAutoFit/>
          </a:bodyPr>
          <a:lstStyle/>
          <a:p>
            <a:pPr>
              <a:defRPr sz="1100" b="1">
                <a:solidFill>
                  <a:srgbClr val="10B981"/>
                </a:solidFill>
                <a:latin typeface="Calibri"/>
              </a:defRPr>
            </a:pPr>
            <a:r>
              <a:t>CHI PHÍ GIỮ CHÂN KHÁCH HÀNG (CRC)</a:t>
            </a:r>
          </a:p>
          <a:p>
            <a:pPr>
              <a:defRPr sz="2400" b="1">
                <a:solidFill>
                  <a:srgbClr val="10B981"/>
                </a:solidFill>
                <a:latin typeface="Calibri"/>
              </a:defRPr>
            </a:pPr>
            <a:r>
              <a:t>$40 — $50 USD</a:t>
            </a:r>
          </a:p>
        </p:txBody>
      </p:sp>
      <p:sp>
        <p:nvSpPr>
          <p:cNvPr id="19" name="TextBox 18"/>
          <p:cNvSpPr txBox="1"/>
          <p:nvPr/>
        </p:nvSpPr>
        <p:spPr>
          <a:xfrm>
            <a:off x="7253935" y="2697480"/>
            <a:ext cx="4023360" cy="3017520"/>
          </a:xfrm>
          <a:prstGeom prst="rect">
            <a:avLst/>
          </a:prstGeom>
          <a:noFill/>
        </p:spPr>
        <p:txBody>
          <a:bodyPr wrap="none">
            <a:spAutoFit/>
          </a:bodyPr>
          <a:lstStyle/>
          <a:p>
            <a:pPr>
              <a:lnSpc>
                <a:spcPct val="120000"/>
              </a:lnSpc>
              <a:spcBef>
                <a:spcPts val="600"/>
              </a:spcBef>
              <a:spcAft>
                <a:spcPts val="600"/>
              </a:spcAft>
            </a:pPr>
            <a:r>
              <a:rPr sz="980" b="1">
                <a:solidFill>
                  <a:srgbClr val="10B981"/>
                </a:solidFill>
                <a:latin typeface="Calibri"/>
              </a:rPr>
              <a:t>Chương trình can thiệp định hướng: </a:t>
            </a:r>
            <a:r>
              <a:rPr sz="980">
                <a:solidFill>
                  <a:srgbClr val="0F172A"/>
                </a:solidFill>
                <a:latin typeface="Calibri"/>
              </a:rPr>
              <a:t>Chính sách tặng điểm thưởng kích hoạt, hoàn tiền chi tiêu theo phân khúc.</a:t>
            </a:r>
          </a:p>
          <a:p>
            <a:pPr>
              <a:lnSpc>
                <a:spcPct val="120000"/>
              </a:lnSpc>
              <a:spcBef>
                <a:spcPts val="600"/>
              </a:spcBef>
              <a:spcAft>
                <a:spcPts val="600"/>
              </a:spcAft>
            </a:pPr>
            <a:r>
              <a:rPr sz="980" b="1">
                <a:solidFill>
                  <a:srgbClr val="10B981"/>
                </a:solidFill>
                <a:latin typeface="Calibri"/>
              </a:rPr>
              <a:t>Chăm sóc chủ động: </a:t>
            </a:r>
            <a:r>
              <a:rPr sz="980">
                <a:solidFill>
                  <a:srgbClr val="0F172A"/>
                </a:solidFill>
                <a:latin typeface="Calibri"/>
              </a:rPr>
              <a:t>Quy trình giải quyết khiếu nại nhanh chóng và chính sách miễn giảm phí thường niên có điều kiện.</a:t>
            </a:r>
          </a:p>
          <a:p>
            <a:pPr>
              <a:lnSpc>
                <a:spcPct val="120000"/>
              </a:lnSpc>
              <a:spcBef>
                <a:spcPts val="600"/>
              </a:spcBef>
              <a:spcAft>
                <a:spcPts val="600"/>
              </a:spcAft>
            </a:pPr>
            <a:r>
              <a:rPr sz="980" b="1">
                <a:solidFill>
                  <a:srgbClr val="10B981"/>
                </a:solidFill>
                <a:latin typeface="Calibri"/>
              </a:rPr>
              <a:t>Hiệu quả tài chính: </a:t>
            </a:r>
            <a:r>
              <a:rPr sz="980">
                <a:solidFill>
                  <a:srgbClr val="0F172A"/>
                </a:solidFill>
                <a:latin typeface="Calibri"/>
              </a:rPr>
              <a:t>Chi phí giữ chân thấp hơn đáng kể (bằng 1/6) so với chi phí phát triển khách hàng mới.</a:t>
            </a:r>
          </a:p>
          <a:p>
            <a:pPr>
              <a:lnSpc>
                <a:spcPct val="120000"/>
              </a:lnSpc>
              <a:spcBef>
                <a:spcPts val="600"/>
              </a:spcBef>
              <a:spcAft>
                <a:spcPts val="600"/>
              </a:spcAft>
            </a:pPr>
            <a:r>
              <a:rPr sz="980" b="1">
                <a:solidFill>
                  <a:srgbClr val="10B981"/>
                </a:solidFill>
                <a:latin typeface="Calibri"/>
              </a:rPr>
              <a:t>Bảo toàn giá trị tài sản: </a:t>
            </a:r>
            <a:r>
              <a:rPr sz="980">
                <a:solidFill>
                  <a:srgbClr val="0F172A"/>
                </a:solidFill>
                <a:latin typeface="Calibri"/>
              </a:rPr>
              <a:t>Duy trì được dòng tiền giá trị trọn đời $500 CLV với mức ngân sách can thiệp hợp lý.</a:t>
            </a:r>
          </a:p>
        </p:txBody>
      </p:sp>
      <p:sp>
        <p:nvSpPr>
          <p:cNvPr id="20" name="Rectangle 19"/>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Nguyên lý Reichheld (Bain &amp; Co.): Cải thiện 5% tỷ lệ giữ chân có thể gia tăng lợi nhuận từ 25% đến 95%; giữ chân khách hàng là chiến lược tối ưu chi phí.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[PHƯƠNG PHÁP LUẬN]</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Khung Nghiên Cứu Thực Nghiệm 4 Giai Đoạn Từ Tiền Xử Lý Đến Triển Khai XAI Thực Tiễn</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05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Quy trình tuân thủ tiêu chuẩn CRISP-DM trong khai phá dữ liệu kinh doanh; Kiểm định chéo Stratified 5-Fold Cross-Validation.</a:t>
            </a:r>
          </a:p>
        </p:txBody>
      </p:sp>
      <p:sp>
        <p:nvSpPr>
          <p:cNvPr id="8" name="Rectangle 7"/>
          <p:cNvSpPr/>
          <p:nvPr/>
        </p:nvSpPr>
        <p:spPr>
          <a:xfrm>
            <a:off x="731520" y="1463040"/>
            <a:ext cx="2514600" cy="4297680"/>
          </a:xfrm>
          <a:prstGeom prst="rect">
            <a:avLst/>
          </a:prstGeom>
          <a:solidFill>
            <a:srgbClr val="FFFFFF"/>
          </a:solidFill>
          <a:ln w="12700">
            <a:solidFill>
              <a:srgbClr val="0A254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2514600" cy="685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GIAI ĐOẠN 01</a:t>
            </a:r>
          </a:p>
          <a:p>
            <a:pPr algn="ctr"/>
            <a:r>
              <a:rPr sz="1100" b="1">
                <a:solidFill>
                  <a:srgbClr val="FFFFFF"/>
                </a:solidFill>
                <a:latin typeface="Calibri"/>
              </a:rPr>
              <a:t>TIỀN XỬ LÝ DỮ LIỆU</a:t>
            </a:r>
          </a:p>
        </p:txBody>
      </p:sp>
      <p:sp>
        <p:nvSpPr>
          <p:cNvPr id="10" name="TextBox 9"/>
          <p:cNvSpPr txBox="1"/>
          <p:nvPr/>
        </p:nvSpPr>
        <p:spPr>
          <a:xfrm>
            <a:off x="868680" y="2240280"/>
            <a:ext cx="2240280" cy="3383280"/>
          </a:xfrm>
          <a:prstGeom prst="rect">
            <a:avLst/>
          </a:prstGeom>
          <a:noFill/>
        </p:spPr>
        <p:txBody>
          <a:bodyPr wrap="square" lIns="0" rIns="0" tIns="0" bIns="0">
            <a:spAutoFit/>
          </a:bodyPr>
          <a:lstStyle/>
          <a:p>
            <a:pPr>
              <a:lnSpc>
                <a:spcPct val="120000"/>
              </a:lnSpc>
              <a:spcBef>
                <a:spcPts val="600"/>
              </a:spcBef>
              <a:spcAft>
                <a:spcPts val="600"/>
              </a:spcAft>
            </a:pPr>
            <a:r>
              <a:rPr sz="960" b="1">
                <a:solidFill>
                  <a:srgbClr val="0A2540"/>
                </a:solidFill>
                <a:latin typeface="Calibri"/>
              </a:rPr>
              <a:t>Thu thập &amp; Rà soát: </a:t>
            </a:r>
            <a:r>
              <a:rPr sz="960">
                <a:solidFill>
                  <a:srgbClr val="0F172A"/>
                </a:solidFill>
                <a:latin typeface="Calibri"/>
              </a:rPr>
              <a:t>Tập dữ liệu 10,127 quan sát, xác nhận tính toàn vẹn không có giá trị khuyết thiếu.</a:t>
            </a:r>
          </a:p>
          <a:p>
            <a:pPr>
              <a:lnSpc>
                <a:spcPct val="120000"/>
              </a:lnSpc>
              <a:spcBef>
                <a:spcPts val="600"/>
              </a:spcBef>
              <a:spcAft>
                <a:spcPts val="600"/>
              </a:spcAft>
            </a:pPr>
            <a:r>
              <a:rPr sz="960" b="1">
                <a:solidFill>
                  <a:srgbClr val="0A2540"/>
                </a:solidFill>
                <a:latin typeface="Calibri"/>
              </a:rPr>
              <a:t>Kiểm soát Data Leakage: </a:t>
            </a:r>
            <a:r>
              <a:rPr sz="960">
                <a:solidFill>
                  <a:srgbClr val="0F172A"/>
                </a:solidFill>
                <a:latin typeface="Calibri"/>
              </a:rPr>
              <a:t>Loại bỏ 2 biến phân loại Naive Bayes tính toán trước trong bộ dữ liệu gốc.</a:t>
            </a:r>
          </a:p>
          <a:p>
            <a:pPr>
              <a:lnSpc>
                <a:spcPct val="120000"/>
              </a:lnSpc>
              <a:spcBef>
                <a:spcPts val="600"/>
              </a:spcBef>
              <a:spcAft>
                <a:spcPts val="600"/>
              </a:spcAft>
            </a:pPr>
            <a:r>
              <a:rPr sz="960" b="1">
                <a:solidFill>
                  <a:srgbClr val="0A2540"/>
                </a:solidFill>
                <a:latin typeface="Calibri"/>
              </a:rPr>
              <a:t>Kỹ nghệ đặc trưng: </a:t>
            </a:r>
            <a:r>
              <a:rPr sz="960">
                <a:solidFill>
                  <a:srgbClr val="0F172A"/>
                </a:solidFill>
                <a:latin typeface="Calibri"/>
              </a:rPr>
              <a:t>Kiến tạo 5 biến phái sinh tài chính phản ánh tần suất và mức độ sử dụng thẻ.</a:t>
            </a:r>
          </a:p>
        </p:txBody>
      </p:sp>
      <p:sp>
        <p:nvSpPr>
          <p:cNvPr id="11" name="Right Arrow 10"/>
          <p:cNvSpPr/>
          <p:nvPr/>
        </p:nvSpPr>
        <p:spPr>
          <a:xfrm>
            <a:off x="3273552" y="1691640"/>
            <a:ext cx="128016" cy="201168"/>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463040"/>
            <a:ext cx="2514600" cy="4297680"/>
          </a:xfrm>
          <a:prstGeom prst="rect">
            <a:avLst/>
          </a:prstGeom>
          <a:solidFill>
            <a:srgbClr val="FFFFFF"/>
          </a:solidFill>
          <a:ln w="12700">
            <a:solidFill>
              <a:srgbClr val="0284C7"/>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463040"/>
            <a:ext cx="2514600" cy="6858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GIAI ĐOẠN 02</a:t>
            </a:r>
          </a:p>
          <a:p>
            <a:pPr algn="ctr"/>
            <a:r>
              <a:rPr sz="1100" b="1">
                <a:solidFill>
                  <a:srgbClr val="FFFFFF"/>
                </a:solidFill>
                <a:latin typeface="Calibri"/>
              </a:rPr>
              <a:t>EDA &amp; DATA MINING</a:t>
            </a:r>
          </a:p>
        </p:txBody>
      </p:sp>
      <p:sp>
        <p:nvSpPr>
          <p:cNvPr id="14" name="TextBox 13"/>
          <p:cNvSpPr txBox="1"/>
          <p:nvPr/>
        </p:nvSpPr>
        <p:spPr>
          <a:xfrm>
            <a:off x="3566160" y="2240280"/>
            <a:ext cx="2240280" cy="3383280"/>
          </a:xfrm>
          <a:prstGeom prst="rect">
            <a:avLst/>
          </a:prstGeom>
          <a:noFill/>
        </p:spPr>
        <p:txBody>
          <a:bodyPr wrap="square" lIns="0" rIns="0" tIns="0" bIns="0">
            <a:spAutoFit/>
          </a:bodyPr>
          <a:lstStyle/>
          <a:p>
            <a:pPr>
              <a:lnSpc>
                <a:spcPct val="120000"/>
              </a:lnSpc>
              <a:spcBef>
                <a:spcPts val="600"/>
              </a:spcBef>
              <a:spcAft>
                <a:spcPts val="600"/>
              </a:spcAft>
            </a:pPr>
            <a:r>
              <a:rPr sz="960" b="1">
                <a:solidFill>
                  <a:srgbClr val="0284C7"/>
                </a:solidFill>
                <a:latin typeface="Calibri"/>
              </a:rPr>
              <a:t>Phân tích đa chiều: </a:t>
            </a:r>
            <a:r>
              <a:rPr sz="960">
                <a:solidFill>
                  <a:srgbClr val="0F172A"/>
                </a:solidFill>
                <a:latin typeface="Calibri"/>
              </a:rPr>
              <a:t>Khảo sát 6 nhóm thuộc tính từ nhân khẩu học, giao dịch đến tương tác dịch vụ.</a:t>
            </a:r>
          </a:p>
          <a:p>
            <a:pPr>
              <a:lnSpc>
                <a:spcPct val="120000"/>
              </a:lnSpc>
              <a:spcBef>
                <a:spcPts val="600"/>
              </a:spcBef>
              <a:spcAft>
                <a:spcPts val="600"/>
              </a:spcAft>
            </a:pPr>
            <a:r>
              <a:rPr sz="960" b="1">
                <a:solidFill>
                  <a:srgbClr val="0284C7"/>
                </a:solidFill>
                <a:latin typeface="Calibri"/>
              </a:rPr>
              <a:t>Kiểm định thống kê: </a:t>
            </a:r>
            <a:r>
              <a:rPr sz="960">
                <a:solidFill>
                  <a:srgbClr val="0F172A"/>
                </a:solidFill>
                <a:latin typeface="Calibri"/>
              </a:rPr>
              <a:t>Áp dụng t-test và Chi-square nhằm xác thực ý nghĩa thống kê (p &lt; 0.001).</a:t>
            </a:r>
          </a:p>
          <a:p>
            <a:pPr>
              <a:lnSpc>
                <a:spcPct val="120000"/>
              </a:lnSpc>
              <a:spcBef>
                <a:spcPts val="600"/>
              </a:spcBef>
              <a:spcAft>
                <a:spcPts val="600"/>
              </a:spcAft>
            </a:pPr>
            <a:r>
              <a:rPr sz="960" b="1">
                <a:solidFill>
                  <a:srgbClr val="0284C7"/>
                </a:solidFill>
                <a:latin typeface="Calibri"/>
              </a:rPr>
              <a:t>Phân cụm K-Means: </a:t>
            </a:r>
            <a:r>
              <a:rPr sz="960">
                <a:solidFill>
                  <a:srgbClr val="0F172A"/>
                </a:solidFill>
                <a:latin typeface="Calibri"/>
              </a:rPr>
              <a:t>Xác định số cụm tối ưu k=4 dựa trên phương pháp Elbow và Silhouette Score.</a:t>
            </a:r>
          </a:p>
        </p:txBody>
      </p:sp>
      <p:sp>
        <p:nvSpPr>
          <p:cNvPr id="15" name="Right Arrow 14"/>
          <p:cNvSpPr/>
          <p:nvPr/>
        </p:nvSpPr>
        <p:spPr>
          <a:xfrm>
            <a:off x="5971032" y="1691640"/>
            <a:ext cx="128016" cy="201168"/>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463040"/>
            <a:ext cx="2514600" cy="4297680"/>
          </a:xfrm>
          <a:prstGeom prst="rect">
            <a:avLst/>
          </a:prstGeom>
          <a:solidFill>
            <a:srgbClr val="FFFFFF"/>
          </a:solidFill>
          <a:ln w="12700">
            <a:solidFill>
              <a:srgbClr val="EA580C"/>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463040"/>
            <a:ext cx="2514600" cy="6858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GIAI ĐOẠN 03</a:t>
            </a:r>
          </a:p>
          <a:p>
            <a:pPr algn="ctr"/>
            <a:r>
              <a:rPr sz="1100" b="1">
                <a:solidFill>
                  <a:srgbClr val="FFFFFF"/>
                </a:solidFill>
                <a:latin typeface="Calibri"/>
              </a:rPr>
              <a:t>MÔ HÌNH HÓA MÁY HỌC</a:t>
            </a:r>
          </a:p>
        </p:txBody>
      </p:sp>
      <p:sp>
        <p:nvSpPr>
          <p:cNvPr id="18" name="TextBox 17"/>
          <p:cNvSpPr txBox="1"/>
          <p:nvPr/>
        </p:nvSpPr>
        <p:spPr>
          <a:xfrm>
            <a:off x="6263640" y="2240280"/>
            <a:ext cx="2240280" cy="3383280"/>
          </a:xfrm>
          <a:prstGeom prst="rect">
            <a:avLst/>
          </a:prstGeom>
          <a:noFill/>
        </p:spPr>
        <p:txBody>
          <a:bodyPr wrap="square" lIns="0" rIns="0" tIns="0" bIns="0">
            <a:spAutoFit/>
          </a:bodyPr>
          <a:lstStyle/>
          <a:p>
            <a:pPr>
              <a:lnSpc>
                <a:spcPct val="120000"/>
              </a:lnSpc>
              <a:spcBef>
                <a:spcPts val="600"/>
              </a:spcBef>
              <a:spcAft>
                <a:spcPts val="600"/>
              </a:spcAft>
            </a:pPr>
            <a:r>
              <a:rPr sz="960" b="1">
                <a:solidFill>
                  <a:srgbClr val="EA580C"/>
                </a:solidFill>
                <a:latin typeface="Calibri"/>
              </a:rPr>
              <a:t>Phân tách mẫu thực nghiệm: </a:t>
            </a:r>
            <a:r>
              <a:rPr sz="960">
                <a:solidFill>
                  <a:srgbClr val="0F172A"/>
                </a:solidFill>
                <a:latin typeface="Calibri"/>
              </a:rPr>
              <a:t>Phân chia Stratified 80/20 bảo toàn nguyên vẹn tỷ lệ mất cân bằng 16.07%.</a:t>
            </a:r>
          </a:p>
          <a:p>
            <a:pPr>
              <a:lnSpc>
                <a:spcPct val="120000"/>
              </a:lnSpc>
              <a:spcBef>
                <a:spcPts val="600"/>
              </a:spcBef>
              <a:spcAft>
                <a:spcPts val="600"/>
              </a:spcAft>
            </a:pPr>
            <a:r>
              <a:rPr sz="960" b="1">
                <a:solidFill>
                  <a:srgbClr val="EA580C"/>
                </a:solidFill>
                <a:latin typeface="Calibri"/>
              </a:rPr>
              <a:t>Huấn luyện 4 thuật toán: </a:t>
            </a:r>
            <a:r>
              <a:rPr sz="960">
                <a:solidFill>
                  <a:srgbClr val="0F172A"/>
                </a:solidFill>
                <a:latin typeface="Calibri"/>
              </a:rPr>
              <a:t>Logistic Regression, Random Forest, SVM và XGBoost Classifier.</a:t>
            </a:r>
          </a:p>
          <a:p>
            <a:pPr>
              <a:lnSpc>
                <a:spcPct val="120000"/>
              </a:lnSpc>
              <a:spcBef>
                <a:spcPts val="600"/>
              </a:spcBef>
              <a:spcAft>
                <a:spcPts val="600"/>
              </a:spcAft>
            </a:pPr>
            <a:r>
              <a:rPr sz="960" b="1">
                <a:solidFill>
                  <a:srgbClr val="EA580C"/>
                </a:solidFill>
                <a:latin typeface="Calibri"/>
              </a:rPr>
              <a:t>Thang đo đánh giá: </a:t>
            </a:r>
            <a:r>
              <a:rPr sz="960">
                <a:solidFill>
                  <a:srgbClr val="0F172A"/>
                </a:solidFill>
                <a:latin typeface="Calibri"/>
              </a:rPr>
              <a:t>Đánh giá toàn diện dựa trên Recall, PR-AUC, F1-Score và ROC-AUC.</a:t>
            </a:r>
          </a:p>
        </p:txBody>
      </p:sp>
      <p:sp>
        <p:nvSpPr>
          <p:cNvPr id="19" name="Right Arrow 18"/>
          <p:cNvSpPr/>
          <p:nvPr/>
        </p:nvSpPr>
        <p:spPr>
          <a:xfrm>
            <a:off x="8668512" y="1691640"/>
            <a:ext cx="128016" cy="201168"/>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23960" y="1463040"/>
            <a:ext cx="2514600" cy="4297680"/>
          </a:xfrm>
          <a:prstGeom prst="rect">
            <a:avLst/>
          </a:prstGeom>
          <a:solidFill>
            <a:srgbClr val="FFFFFF"/>
          </a:solidFill>
          <a:ln w="12700">
            <a:solidFill>
              <a:srgbClr val="10B981"/>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23960" y="1463040"/>
            <a:ext cx="2514600" cy="685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GIAI ĐOẠN 04</a:t>
            </a:r>
          </a:p>
          <a:p>
            <a:pPr algn="ctr"/>
            <a:r>
              <a:rPr sz="1100" b="1">
                <a:solidFill>
                  <a:srgbClr val="FFFFFF"/>
                </a:solidFill>
                <a:latin typeface="Calibri"/>
              </a:rPr>
              <a:t>TỐI ƯU KINH TẾ &amp; XAI</a:t>
            </a:r>
          </a:p>
        </p:txBody>
      </p:sp>
      <p:sp>
        <p:nvSpPr>
          <p:cNvPr id="22" name="TextBox 21"/>
          <p:cNvSpPr txBox="1"/>
          <p:nvPr/>
        </p:nvSpPr>
        <p:spPr>
          <a:xfrm>
            <a:off x="8961120" y="2240280"/>
            <a:ext cx="2240280" cy="3383280"/>
          </a:xfrm>
          <a:prstGeom prst="rect">
            <a:avLst/>
          </a:prstGeom>
          <a:noFill/>
        </p:spPr>
        <p:txBody>
          <a:bodyPr wrap="square" lIns="0" rIns="0" tIns="0" bIns="0">
            <a:spAutoFit/>
          </a:bodyPr>
          <a:lstStyle/>
          <a:p>
            <a:pPr>
              <a:lnSpc>
                <a:spcPct val="120000"/>
              </a:lnSpc>
              <a:spcBef>
                <a:spcPts val="600"/>
              </a:spcBef>
              <a:spcAft>
                <a:spcPts val="600"/>
              </a:spcAft>
            </a:pPr>
            <a:r>
              <a:rPr sz="960" b="1">
                <a:solidFill>
                  <a:srgbClr val="10B981"/>
                </a:solidFill>
                <a:latin typeface="Calibri"/>
              </a:rPr>
              <a:t>Giải thích mô hình XAI: </a:t>
            </a:r>
            <a:r>
              <a:rPr sz="960">
                <a:solidFill>
                  <a:srgbClr val="0F172A"/>
                </a:solidFill>
                <a:latin typeface="Calibri"/>
              </a:rPr>
              <a:t>Sử dụng Feature Importance và SHAP phân tích các biến số đóng góp chính.</a:t>
            </a:r>
          </a:p>
          <a:p>
            <a:pPr>
              <a:lnSpc>
                <a:spcPct val="120000"/>
              </a:lnSpc>
              <a:spcBef>
                <a:spcPts val="600"/>
              </a:spcBef>
              <a:spcAft>
                <a:spcPts val="600"/>
              </a:spcAft>
            </a:pPr>
            <a:r>
              <a:rPr sz="960" b="1">
                <a:solidFill>
                  <a:srgbClr val="10B981"/>
                </a:solidFill>
                <a:latin typeface="Calibri"/>
              </a:rPr>
              <a:t>Tối ưu hóa ngưỡng cắt: </a:t>
            </a:r>
            <a:r>
              <a:rPr sz="960">
                <a:solidFill>
                  <a:srgbClr val="0F172A"/>
                </a:solidFill>
                <a:latin typeface="Calibri"/>
              </a:rPr>
              <a:t>Xác định điểm cắt t = 0.42 dựa trên hàm tối đa hóa Lợi nhuận ròng.</a:t>
            </a:r>
          </a:p>
          <a:p>
            <a:pPr>
              <a:lnSpc>
                <a:spcPct val="120000"/>
              </a:lnSpc>
              <a:spcBef>
                <a:spcPts val="600"/>
              </a:spcBef>
              <a:spcAft>
                <a:spcPts val="600"/>
              </a:spcAft>
            </a:pPr>
            <a:r>
              <a:rPr sz="960" b="1">
                <a:solidFill>
                  <a:srgbClr val="10B981"/>
                </a:solidFill>
                <a:latin typeface="Calibri"/>
              </a:rPr>
              <a:t>Khuyến nghị chính sách: </a:t>
            </a:r>
            <a:r>
              <a:rPr sz="960">
                <a:solidFill>
                  <a:srgbClr val="0F172A"/>
                </a:solidFill>
                <a:latin typeface="Calibri"/>
              </a:rPr>
              <a:t>Xây dựng 3 chân dung khách hàng và đề xuất khung giải pháp giữ chân 4 tầng.</a:t>
            </a:r>
          </a:p>
        </p:txBody>
      </p:sp>
      <p:sp>
        <p:nvSpPr>
          <p:cNvPr id="23" name="Rectangle 2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Mô hình nghiên cứu kết hợp giữa thống kê mô tả thực nghiệm, các thuật toán máy học phân loại và mô hình tối ưu hóa kinh tế.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[TIỀN XỬ LÝ &amp; KỸ NGHỆ DỮ LIỆU]</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Kiểm Soát Rò Rỉ Dữ Liệu &amp; Kiến Tạo 5 Đặc Trưng Phái Sinh Phản Ánh Hành Vi Giao Dịch</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06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Dữ liệu được chuẩn hóa bằng RobustScaler đối với các biến số lệch; Mã hóa biến phân loại bằng One-Hot và Ordinal Encoding.</a:t>
            </a:r>
          </a:p>
        </p:txBody>
      </p:sp>
      <p:sp>
        <p:nvSpPr>
          <p:cNvPr id="8" name="Rectangle 7"/>
          <p:cNvSpPr/>
          <p:nvPr/>
        </p:nvSpPr>
        <p:spPr>
          <a:xfrm>
            <a:off x="731520" y="1463040"/>
            <a:ext cx="5212080" cy="4297680"/>
          </a:xfrm>
          <a:prstGeom prst="rect">
            <a:avLst/>
          </a:prstGeom>
          <a:solidFill>
            <a:srgbClr val="FFFFFF"/>
          </a:solidFill>
          <a:ln w="12700">
            <a:solidFill>
              <a:srgbClr val="0A254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5212080" cy="41148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36192"/>
            <a:ext cx="4846320" cy="320040"/>
          </a:xfrm>
          <a:prstGeom prst="rect">
            <a:avLst/>
          </a:prstGeom>
          <a:noFill/>
        </p:spPr>
        <p:txBody>
          <a:bodyPr wrap="none">
            <a:spAutoFit/>
          </a:bodyPr>
          <a:lstStyle/>
          <a:p>
            <a:pPr>
              <a:defRPr sz="1050" b="1">
                <a:solidFill>
                  <a:srgbClr val="FFFFFF"/>
                </a:solidFill>
                <a:latin typeface="Calibri"/>
              </a:defRPr>
            </a:pPr>
            <a:r>
              <a:t>KIỂM SOÁT RÒ RỈ DỮ LIỆU (DATA LEAKAGE PREVENTION)</a:t>
            </a:r>
          </a:p>
        </p:txBody>
      </p:sp>
      <p:sp>
        <p:nvSpPr>
          <p:cNvPr id="11" name="TextBox 10"/>
          <p:cNvSpPr txBox="1"/>
          <p:nvPr/>
        </p:nvSpPr>
        <p:spPr>
          <a:xfrm>
            <a:off x="960120" y="1965960"/>
            <a:ext cx="4754880" cy="3657600"/>
          </a:xfrm>
          <a:prstGeom prst="rect">
            <a:avLst/>
          </a:prstGeom>
          <a:noFill/>
        </p:spPr>
        <p:txBody>
          <a:bodyPr wrap="none">
            <a:spAutoFit/>
          </a:bodyPr>
          <a:lstStyle/>
          <a:p>
            <a:pPr>
              <a:lnSpc>
                <a:spcPct val="120000"/>
              </a:lnSpc>
              <a:spcBef>
                <a:spcPts val="600"/>
              </a:spcBef>
              <a:spcAft>
                <a:spcPts val="600"/>
              </a:spcAft>
            </a:pPr>
            <a:r>
              <a:rPr sz="980" b="1">
                <a:solidFill>
                  <a:srgbClr val="0A2540"/>
                </a:solidFill>
                <a:latin typeface="Calibri"/>
              </a:rPr>
              <a:t>Kiểm tra toàn vẹn dữ liệu: </a:t>
            </a:r>
            <a:r>
              <a:rPr sz="980">
                <a:solidFill>
                  <a:srgbClr val="0F172A"/>
                </a:solidFill>
                <a:latin typeface="Calibri"/>
              </a:rPr>
              <a:t>Tập dữ liệu gồm 10,127 bản ghi đầy đủ, không ghi nhận trường hợp giá trị khuyết thiếu (Null/NaN).</a:t>
            </a:r>
          </a:p>
          <a:p>
            <a:pPr>
              <a:lnSpc>
                <a:spcPct val="120000"/>
              </a:lnSpc>
              <a:spcBef>
                <a:spcPts val="600"/>
              </a:spcBef>
              <a:spcAft>
                <a:spcPts val="600"/>
              </a:spcAft>
            </a:pPr>
            <a:r>
              <a:rPr sz="980" b="1">
                <a:solidFill>
                  <a:srgbClr val="0A2540"/>
                </a:solidFill>
                <a:latin typeface="Calibri"/>
              </a:rPr>
              <a:t>Loại bỏ biến gây rò rỉ: </a:t>
            </a:r>
            <a:r>
              <a:rPr sz="980">
                <a:solidFill>
                  <a:srgbClr val="0F172A"/>
                </a:solidFill>
                <a:latin typeface="Calibri"/>
              </a:rPr>
              <a:t>Chủ động loại bỏ 2 cột phân loại Naive Bayes có sẵn trong dữ liệu gốc (vốn tính toán trước xác suất), đảm bảo tính khách quan thực nghiệm.</a:t>
            </a:r>
          </a:p>
          <a:p>
            <a:pPr>
              <a:lnSpc>
                <a:spcPct val="120000"/>
              </a:lnSpc>
              <a:spcBef>
                <a:spcPts val="600"/>
              </a:spcBef>
              <a:spcAft>
                <a:spcPts val="600"/>
              </a:spcAft>
            </a:pPr>
            <a:r>
              <a:rPr sz="980" b="1">
                <a:solidFill>
                  <a:srgbClr val="0A2540"/>
                </a:solidFill>
                <a:latin typeface="Calibri"/>
              </a:rPr>
              <a:t>Xác định biến mục tiêu: </a:t>
            </a:r>
            <a:r>
              <a:rPr sz="980">
                <a:solidFill>
                  <a:srgbClr val="0F172A"/>
                </a:solidFill>
                <a:latin typeface="Calibri"/>
              </a:rPr>
              <a:t>Biến Attrition_Flag được gán nhãn: Attrited Customer = 1 (1,627 khách), Existing Customer = 0 (8,500 khách).</a:t>
            </a:r>
          </a:p>
          <a:p>
            <a:pPr>
              <a:lnSpc>
                <a:spcPct val="120000"/>
              </a:lnSpc>
              <a:spcBef>
                <a:spcPts val="600"/>
              </a:spcBef>
              <a:spcAft>
                <a:spcPts val="600"/>
              </a:spcAft>
            </a:pPr>
            <a:r>
              <a:rPr sz="980" b="1">
                <a:solidFill>
                  <a:srgbClr val="0A2540"/>
                </a:solidFill>
                <a:latin typeface="Calibri"/>
              </a:rPr>
              <a:t>Xử lý biến định tính: </a:t>
            </a:r>
            <a:r>
              <a:rPr sz="980">
                <a:solidFill>
                  <a:srgbClr val="0F172A"/>
                </a:solidFill>
                <a:latin typeface="Calibri"/>
              </a:rPr>
              <a:t>Áp dụng One-Hot Encoding cho các biến danh nghĩa và Ordinal Encoding cho các biến thứ bậc (học vấn, mức thu nhập).</a:t>
            </a:r>
          </a:p>
        </p:txBody>
      </p:sp>
      <p:sp>
        <p:nvSpPr>
          <p:cNvPr id="12" name="Rectangle 11"/>
          <p:cNvSpPr/>
          <p:nvPr/>
        </p:nvSpPr>
        <p:spPr>
          <a:xfrm>
            <a:off x="6217920" y="1463040"/>
            <a:ext cx="5242255" cy="4297680"/>
          </a:xfrm>
          <a:prstGeom prst="rect">
            <a:avLst/>
          </a:prstGeom>
          <a:solidFill>
            <a:srgbClr val="FFFFFF"/>
          </a:solidFill>
          <a:ln w="12700">
            <a:solidFill>
              <a:srgbClr val="EA580C"/>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5242255" cy="4114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36192"/>
            <a:ext cx="4846320" cy="320040"/>
          </a:xfrm>
          <a:prstGeom prst="rect">
            <a:avLst/>
          </a:prstGeom>
          <a:noFill/>
        </p:spPr>
        <p:txBody>
          <a:bodyPr wrap="none">
            <a:spAutoFit/>
          </a:bodyPr>
          <a:lstStyle/>
          <a:p>
            <a:pPr>
              <a:defRPr sz="1050" b="1">
                <a:solidFill>
                  <a:srgbClr val="FFFFFF"/>
                </a:solidFill>
                <a:latin typeface="Calibri"/>
              </a:defRPr>
            </a:pPr>
            <a:r>
              <a:t>KỸ NGHỆ 5 BIẾN PHÁI SINH TÀI CHÍNH</a:t>
            </a:r>
          </a:p>
        </p:txBody>
      </p:sp>
      <p:sp>
        <p:nvSpPr>
          <p:cNvPr id="15" name="TextBox 14"/>
          <p:cNvSpPr txBox="1"/>
          <p:nvPr/>
        </p:nvSpPr>
        <p:spPr>
          <a:xfrm>
            <a:off x="6446520" y="1965960"/>
            <a:ext cx="4785055" cy="3657600"/>
          </a:xfrm>
          <a:prstGeom prst="rect">
            <a:avLst/>
          </a:prstGeom>
          <a:noFill/>
        </p:spPr>
        <p:txBody>
          <a:bodyPr wrap="none">
            <a:spAutoFit/>
          </a:bodyPr>
          <a:lstStyle/>
          <a:p>
            <a:pPr>
              <a:lnSpc>
                <a:spcPct val="120000"/>
              </a:lnSpc>
              <a:spcBef>
                <a:spcPts val="400"/>
              </a:spcBef>
              <a:spcAft>
                <a:spcPts val="400"/>
              </a:spcAft>
            </a:pPr>
            <a:r>
              <a:rPr sz="960" b="1">
                <a:solidFill>
                  <a:srgbClr val="EA580C"/>
                </a:solidFill>
                <a:latin typeface="Calibri"/>
              </a:rPr>
              <a:t>1. Trans_Ct_Density (Mật độ giao dịch): </a:t>
            </a:r>
            <a:r>
              <a:rPr sz="960">
                <a:solidFill>
                  <a:srgbClr val="0F172A"/>
                </a:solidFill>
                <a:latin typeface="Calibri"/>
              </a:rPr>
              <a:t>Total_Trans_Ct / Months_on_book. Đo lường tần suất sử dụng thẻ theo thời gian gắn bó.</a:t>
            </a:r>
          </a:p>
          <a:p>
            <a:pPr>
              <a:lnSpc>
                <a:spcPct val="120000"/>
              </a:lnSpc>
              <a:spcBef>
                <a:spcPts val="400"/>
              </a:spcBef>
              <a:spcAft>
                <a:spcPts val="400"/>
              </a:spcAft>
            </a:pPr>
            <a:r>
              <a:rPr sz="960" b="1">
                <a:solidFill>
                  <a:srgbClr val="EA580C"/>
                </a:solidFill>
                <a:latin typeface="Calibri"/>
              </a:rPr>
              <a:t>2. Trans_Amt_per_Capita (Chi tiêu bình quân): </a:t>
            </a:r>
            <a:r>
              <a:rPr sz="960">
                <a:solidFill>
                  <a:srgbClr val="0F172A"/>
                </a:solidFill>
                <a:latin typeface="Calibri"/>
              </a:rPr>
              <a:t>Total_Trans_Amt / Total_Trans_Ct. Phân tách giao dịch giá trị lớn với chi tiêu thường nhật.</a:t>
            </a:r>
          </a:p>
          <a:p>
            <a:pPr>
              <a:lnSpc>
                <a:spcPct val="120000"/>
              </a:lnSpc>
              <a:spcBef>
                <a:spcPts val="400"/>
              </a:spcBef>
              <a:spcAft>
                <a:spcPts val="400"/>
              </a:spcAft>
            </a:pPr>
            <a:r>
              <a:rPr sz="960" b="1">
                <a:solidFill>
                  <a:srgbClr val="EA580C"/>
                </a:solidFill>
                <a:latin typeface="Calibri"/>
              </a:rPr>
              <a:t>3. Revolving_Ratio (Tỷ lệ nợ quay vòng): </a:t>
            </a:r>
            <a:r>
              <a:rPr sz="960">
                <a:solidFill>
                  <a:srgbClr val="0F172A"/>
                </a:solidFill>
                <a:latin typeface="Calibri"/>
              </a:rPr>
              <a:t>Total_Revolving_Bal / Credit_Limit. Đo lường mức độ phụ thuộc tín dụng của chủ thẻ.</a:t>
            </a:r>
          </a:p>
          <a:p>
            <a:pPr>
              <a:lnSpc>
                <a:spcPct val="120000"/>
              </a:lnSpc>
              <a:spcBef>
                <a:spcPts val="400"/>
              </a:spcBef>
              <a:spcAft>
                <a:spcPts val="400"/>
              </a:spcAft>
            </a:pPr>
            <a:r>
              <a:rPr sz="960" b="1">
                <a:solidFill>
                  <a:srgbClr val="EA580C"/>
                </a:solidFill>
                <a:latin typeface="Calibri"/>
              </a:rPr>
              <a:t>4. Total_Interaction_Ct (Tổng tương tác): </a:t>
            </a:r>
            <a:r>
              <a:rPr sz="960">
                <a:solidFill>
                  <a:srgbClr val="0F172A"/>
                </a:solidFill>
                <a:latin typeface="Calibri"/>
              </a:rPr>
              <a:t>Contacts_Count_12_mon + Months_Inactive_12_mon. Chỉ số phản ánh rủi ro dịch vụ và trạng thái ngủ đông.</a:t>
            </a:r>
          </a:p>
          <a:p>
            <a:pPr>
              <a:lnSpc>
                <a:spcPct val="120000"/>
              </a:lnSpc>
              <a:spcBef>
                <a:spcPts val="400"/>
              </a:spcBef>
              <a:spcAft>
                <a:spcPts val="400"/>
              </a:spcAft>
            </a:pPr>
            <a:r>
              <a:rPr sz="960" b="1">
                <a:solidFill>
                  <a:srgbClr val="EA580C"/>
                </a:solidFill>
                <a:latin typeface="Calibri"/>
              </a:rPr>
              <a:t>5. Open_To_Buy_Ratio (Tỷ lệ hạn mức khả dụng): </a:t>
            </a:r>
            <a:r>
              <a:rPr sz="960">
                <a:solidFill>
                  <a:srgbClr val="0F172A"/>
                </a:solidFill>
                <a:latin typeface="Calibri"/>
              </a:rPr>
              <a:t>Avg_Open_To_Buy / Credit_Limit. Đánh giá dư địa hạn mức chưa được sử dụng.</a:t>
            </a:r>
          </a:p>
        </p:txBody>
      </p:sp>
      <p:sp>
        <p:nvSpPr>
          <p:cNvPr id="16" name="Rectangle 15"/>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Việc loại bỏ các biến rò rỉ bảo đảm tính khách quan của thực nghiệm; 5 biến phái sinh tài chính hỗ trợ tăng thêm +2.4% ROC-AUC cho mô hình.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[KHAI PHÁ EDA — BIẾN MỤC TIÊU]</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Tỷ Lệ Rời Bỏ 16.07% (Mất Cân Bằng 1:5.22): Đặt Trọng Tâm Đánh Giá Vào Recall &amp; PR-AUC</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07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Kết quả thống kê mô tả từ tập dữ liệu BankChurners (N=10,127); Biểu đồ phân tích tại figures/01_churn_distribution.png.</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1_churn_distribution.png"/>
          <p:cNvPicPr>
            <a:picLocks noChangeAspect="1"/>
          </p:cNvPicPr>
          <p:nvPr/>
        </p:nvPicPr>
        <p:blipFill>
          <a:blip r:embed="rId2"/>
          <a:stretch>
            <a:fillRect/>
          </a:stretch>
        </p:blipFill>
        <p:spPr>
          <a:xfrm>
            <a:off x="868680" y="1554480"/>
            <a:ext cx="5943600" cy="4457700"/>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ĐẶC TRƯNG PHÂN PHỐI &amp; LỰA CHỌN THANG ĐO</a:t>
            </a:r>
          </a:p>
          <a:p>
            <a:pPr>
              <a:lnSpc>
                <a:spcPct val="120000"/>
              </a:lnSpc>
              <a:spcBef>
                <a:spcPts val="500"/>
              </a:spcBef>
              <a:spcAft>
                <a:spcPts val="500"/>
              </a:spcAft>
            </a:pPr>
            <a:r>
              <a:rPr sz="950" b="1">
                <a:solidFill>
                  <a:srgbClr val="0A2540"/>
                </a:solidFill>
                <a:latin typeface="Calibri"/>
              </a:rPr>
              <a:t>Hiện tượng mất cân bằng mẫu: </a:t>
            </a:r>
            <a:r>
              <a:rPr sz="950">
                <a:solidFill>
                  <a:srgbClr val="0F172A"/>
                </a:solidFill>
                <a:latin typeface="Calibri"/>
              </a:rPr>
              <a:t>Tập dữ liệu gồm 8,500 khách hàng duy trì thẻ (83.93%) và 1,627 khách hàng đóng thẻ (16.07%), tương ứng tỷ lệ 1:5.22.</a:t>
            </a:r>
          </a:p>
          <a:p>
            <a:pPr>
              <a:lnSpc>
                <a:spcPct val="120000"/>
              </a:lnSpc>
              <a:spcBef>
                <a:spcPts val="500"/>
              </a:spcBef>
              <a:spcAft>
                <a:spcPts val="500"/>
              </a:spcAft>
            </a:pPr>
            <a:r>
              <a:rPr sz="950" b="1">
                <a:solidFill>
                  <a:srgbClr val="0A2540"/>
                </a:solidFill>
                <a:latin typeface="Calibri"/>
              </a:rPr>
              <a:t>Giới hạn của chỉ số Accuracy: </a:t>
            </a:r>
            <a:r>
              <a:rPr sz="950">
                <a:solidFill>
                  <a:srgbClr val="0F172A"/>
                </a:solidFill>
                <a:latin typeface="Calibri"/>
              </a:rPr>
              <a:t>Một mô hình dự báo mặc định toàn bộ khách hàng ở lại vẫn đạt Accuracy = 83.93% nhưng hoàn toàn bỏ sót nhóm rời bỏ.</a:t>
            </a:r>
          </a:p>
          <a:p>
            <a:pPr>
              <a:lnSpc>
                <a:spcPct val="120000"/>
              </a:lnSpc>
              <a:spcBef>
                <a:spcPts val="500"/>
              </a:spcBef>
              <a:spcAft>
                <a:spcPts val="500"/>
              </a:spcAft>
            </a:pPr>
            <a:r>
              <a:rPr sz="950" b="1">
                <a:solidFill>
                  <a:srgbClr val="0A2540"/>
                </a:solidFill>
                <a:latin typeface="Calibri"/>
              </a:rPr>
              <a:t>Lựa chọn thang đo phù hợp: </a:t>
            </a:r>
            <a:r>
              <a:rPr sz="950">
                <a:solidFill>
                  <a:srgbClr val="0F172A"/>
                </a:solidFill>
                <a:latin typeface="Calibri"/>
              </a:rPr>
              <a:t>Nghiên cứu ưu tiên tối đa chỉ số Recall (độ nhạy phát hiện khách hàng rời bỏ) cùng diện tích đường cong PR-AUC và ROC-AUC.</a:t>
            </a:r>
          </a:p>
          <a:p>
            <a:pPr>
              <a:lnSpc>
                <a:spcPct val="120000"/>
              </a:lnSpc>
              <a:spcBef>
                <a:spcPts val="500"/>
              </a:spcBef>
              <a:spcAft>
                <a:spcPts val="500"/>
              </a:spcAft>
            </a:pPr>
            <a:r>
              <a:rPr sz="950" b="1">
                <a:solidFill>
                  <a:srgbClr val="0A2540"/>
                </a:solidFill>
                <a:latin typeface="Calibri"/>
              </a:rPr>
              <a:t>Phương pháp phân tầng mẫu: </a:t>
            </a:r>
            <a:r>
              <a:rPr sz="950">
                <a:solidFill>
                  <a:srgbClr val="0F172A"/>
                </a:solidFill>
                <a:latin typeface="Calibri"/>
              </a:rPr>
              <a:t>Áp dụng Stratified K-Fold để bảo toàn tỷ lệ 16.07% trên các tập dữ liệu huấn luyện và kiểm thử.</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Trong bài toán phân loại mất cân bằng 1:5.22, Recall và PR-AUC là thước đo phản ánh trung thực năng lực phát hiện rủi ro của mô hình.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[KHAI PHÁ EDA — NHÂN KHẨU HỌC]</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Khách Hàng Nữ (Tỷ Lệ 17.4%) &amp; Nhóm Thu Nhập Cao $120K+ (Tỷ Lệ 17.3%) Có Tần Suất Rời Bỏ Cao Hơn</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08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Kết quả thống kê mô tả từ tập dữ liệu BankChurners (N=10,127); Biểu đồ phân tích tại figures/02_demographic_churn.png.</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2_demographic_churn.png"/>
          <p:cNvPicPr>
            <a:picLocks noChangeAspect="1"/>
          </p:cNvPicPr>
          <p:nvPr/>
        </p:nvPicPr>
        <p:blipFill>
          <a:blip r:embed="rId2"/>
          <a:stretch>
            <a:fillRect/>
          </a:stretch>
        </p:blipFill>
        <p:spPr>
          <a:xfrm>
            <a:off x="868680" y="1554480"/>
            <a:ext cx="5943600" cy="4457700"/>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PHÂN TÍCH THEO BIẾN SỐ NHÂN KHẨU HỌC</a:t>
            </a:r>
          </a:p>
          <a:p>
            <a:pPr>
              <a:lnSpc>
                <a:spcPct val="120000"/>
              </a:lnSpc>
              <a:spcBef>
                <a:spcPts val="500"/>
              </a:spcBef>
              <a:spcAft>
                <a:spcPts val="500"/>
              </a:spcAft>
            </a:pPr>
            <a:r>
              <a:rPr sz="950" b="1">
                <a:solidFill>
                  <a:srgbClr val="0A2540"/>
                </a:solidFill>
                <a:latin typeface="Calibri"/>
              </a:rPr>
              <a:t>Khác biệt theo giới tính: </a:t>
            </a:r>
            <a:r>
              <a:rPr sz="950">
                <a:solidFill>
                  <a:srgbClr val="0F172A"/>
                </a:solidFill>
                <a:latin typeface="Calibri"/>
              </a:rPr>
              <a:t>Khách hàng nữ có tỷ lệ đóng thẻ 17.36%, cao hơn nam giới (14.62%), phản ánh sự nhạy cảm hơn với các chương trình ưu đãi tích điểm.</a:t>
            </a:r>
          </a:p>
          <a:p>
            <a:pPr>
              <a:lnSpc>
                <a:spcPct val="120000"/>
              </a:lnSpc>
              <a:spcBef>
                <a:spcPts val="500"/>
              </a:spcBef>
              <a:spcAft>
                <a:spcPts val="500"/>
              </a:spcAft>
            </a:pPr>
            <a:r>
              <a:rPr sz="950" b="1">
                <a:solidFill>
                  <a:srgbClr val="0A2540"/>
                </a:solidFill>
                <a:latin typeface="Calibri"/>
              </a:rPr>
              <a:t>Độ tuổi tập trung rủi ro: </a:t>
            </a:r>
            <a:r>
              <a:rPr sz="950">
                <a:solidFill>
                  <a:srgbClr val="0F172A"/>
                </a:solidFill>
                <a:latin typeface="Calibri"/>
              </a:rPr>
              <a:t>Nhóm khách hàng trong độ tuổi 40 - 50 tuổi (trung bình 46.3 tuổi) có xu hướng thay đổi nhà cung cấp dịch vụ thẻ cao hơn.</a:t>
            </a:r>
          </a:p>
          <a:p>
            <a:pPr>
              <a:lnSpc>
                <a:spcPct val="120000"/>
              </a:lnSpc>
              <a:spcBef>
                <a:spcPts val="500"/>
              </a:spcBef>
              <a:spcAft>
                <a:spcPts val="500"/>
              </a:spcAft>
            </a:pPr>
            <a:r>
              <a:rPr sz="950" b="1">
                <a:solidFill>
                  <a:srgbClr val="0A2540"/>
                </a:solidFill>
                <a:latin typeface="Calibri"/>
              </a:rPr>
              <a:t>Phân hóa theo mức thu nhập: </a:t>
            </a:r>
            <a:r>
              <a:rPr sz="950">
                <a:solidFill>
                  <a:srgbClr val="0F172A"/>
                </a:solidFill>
                <a:latin typeface="Calibri"/>
              </a:rPr>
              <a:t>Tỷ lệ rời bỏ cao hơn ở 2 phân khúc: Dưới $40K (17.19% - nhạy cảm về phí) và Trên $120K (17.33% - yêu cầu cao về đặc quyền dịch vụ).</a:t>
            </a:r>
          </a:p>
          <a:p>
            <a:pPr>
              <a:lnSpc>
                <a:spcPct val="120000"/>
              </a:lnSpc>
              <a:spcBef>
                <a:spcPts val="500"/>
              </a:spcBef>
              <a:spcAft>
                <a:spcPts val="500"/>
              </a:spcAft>
            </a:pPr>
            <a:r>
              <a:rPr sz="950" b="1">
                <a:solidFill>
                  <a:srgbClr val="0A2540"/>
                </a:solidFill>
                <a:latin typeface="Calibri"/>
              </a:rPr>
              <a:t>Quy mô người phụ thuộc: </a:t>
            </a:r>
            <a:r>
              <a:rPr sz="950">
                <a:solidFill>
                  <a:srgbClr val="0F172A"/>
                </a:solidFill>
                <a:latin typeface="Calibri"/>
              </a:rPr>
              <a:t>Khách hàng có từ 2 đến 3 người phụ thuộc có tỷ lệ rời bỏ cao hơn, tương quan với áp lực chi tiêu gia đình.</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Kết quả phân hóa theo thu nhập gợi ý ngân hàng áp dụng chính sách khác biệt: hỗ trợ biểu phí cho nhóm thu nhập thấp và nâng cấp đặc quyền cho nhóm cao cấp.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[KHAI PHÁ EDA — HÀNH VI GIAO DỊCH]</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Ranh Giới Rủi Ro: Giao Dịch Dưới 55 Lần &amp; Chi Tiêu Dưới $3,000 Tương Quan Chặt Với Xu Hướng Rời Bỏ</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09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Kết quả thống kê mô tả từ tập dữ liệu BankChurners (N=10,127); Biểu đồ phân tích tại figures/03_transaction_behavior_churn.png.</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3_transaction_behavior_churn.png"/>
          <p:cNvPicPr>
            <a:picLocks noChangeAspect="1"/>
          </p:cNvPicPr>
          <p:nvPr/>
        </p:nvPicPr>
        <p:blipFill>
          <a:blip r:embed="rId2"/>
          <a:stretch>
            <a:fillRect/>
          </a:stretch>
        </p:blipFill>
        <p:spPr>
          <a:xfrm>
            <a:off x="868680" y="1554480"/>
            <a:ext cx="5943600" cy="3566160"/>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QUY LUẬT PHÂN BỔ HÀNH VI GIAO DỊCH</a:t>
            </a:r>
          </a:p>
          <a:p>
            <a:pPr>
              <a:lnSpc>
                <a:spcPct val="120000"/>
              </a:lnSpc>
              <a:spcBef>
                <a:spcPts val="500"/>
              </a:spcBef>
              <a:spcAft>
                <a:spcPts val="500"/>
              </a:spcAft>
            </a:pPr>
            <a:r>
              <a:rPr sz="950" b="1">
                <a:solidFill>
                  <a:srgbClr val="0A2540"/>
                </a:solidFill>
                <a:latin typeface="Calibri"/>
              </a:rPr>
              <a:t>Số lượng giao dịch bình quân: </a:t>
            </a:r>
            <a:r>
              <a:rPr sz="950">
                <a:solidFill>
                  <a:srgbClr val="0F172A"/>
                </a:solidFill>
                <a:latin typeface="Calibri"/>
              </a:rPr>
              <a:t>Khách hàng rời bỏ chỉ thực hiện trung bình 44.9 giao dịch/năm, so với mức 68.7 giao dịch của nhóm khách hàng duy trì thẻ.</a:t>
            </a:r>
          </a:p>
          <a:p>
            <a:pPr>
              <a:lnSpc>
                <a:spcPct val="120000"/>
              </a:lnSpc>
              <a:spcBef>
                <a:spcPts val="500"/>
              </a:spcBef>
              <a:spcAft>
                <a:spcPts val="500"/>
              </a:spcAft>
            </a:pPr>
            <a:r>
              <a:rPr sz="950" b="1">
                <a:solidFill>
                  <a:srgbClr val="0A2540"/>
                </a:solidFill>
                <a:latin typeface="Calibri"/>
              </a:rPr>
              <a:t>Ngưỡng cảnh báo hành vi: </a:t>
            </a:r>
            <a:r>
              <a:rPr sz="950">
                <a:solidFill>
                  <a:srgbClr val="0F172A"/>
                </a:solidFill>
                <a:latin typeface="Calibri"/>
              </a:rPr>
              <a:t>Khi tần suất quẹt thẻ giảm xuống dưới 55 lần/năm (dưới 4.5 lần/tháng), xác suất khách hàng đóng thẻ tăng lên rõ rệt.</a:t>
            </a:r>
          </a:p>
          <a:p>
            <a:pPr>
              <a:lnSpc>
                <a:spcPct val="120000"/>
              </a:lnSpc>
              <a:spcBef>
                <a:spcPts val="500"/>
              </a:spcBef>
              <a:spcAft>
                <a:spcPts val="500"/>
              </a:spcAft>
            </a:pPr>
            <a:r>
              <a:rPr sz="950" b="1">
                <a:solidFill>
                  <a:srgbClr val="0A2540"/>
                </a:solidFill>
                <a:latin typeface="Calibri"/>
              </a:rPr>
              <a:t>Tổng giá trị chi tiêu: </a:t>
            </a:r>
            <a:r>
              <a:rPr sz="950">
                <a:solidFill>
                  <a:srgbClr val="0F172A"/>
                </a:solidFill>
                <a:latin typeface="Calibri"/>
              </a:rPr>
              <a:t>Khách hàng rời bỏ có mức chi tiêu bình quân $3,095 USD/năm so với $4,654 USD của nhóm khách hàng duy trì.</a:t>
            </a:r>
          </a:p>
          <a:p>
            <a:pPr>
              <a:lnSpc>
                <a:spcPct val="120000"/>
              </a:lnSpc>
              <a:spcBef>
                <a:spcPts val="500"/>
              </a:spcBef>
              <a:spcAft>
                <a:spcPts val="500"/>
              </a:spcAft>
            </a:pPr>
            <a:r>
              <a:rPr sz="950" b="1">
                <a:solidFill>
                  <a:srgbClr val="0A2540"/>
                </a:solidFill>
                <a:latin typeface="Calibri"/>
              </a:rPr>
              <a:t>Phân bố cụm rủi ro: </a:t>
            </a:r>
            <a:r>
              <a:rPr sz="950">
                <a:solidFill>
                  <a:srgbClr val="0F172A"/>
                </a:solidFill>
                <a:latin typeface="Calibri"/>
              </a:rPr>
              <a:t>Biểu đồ phân tán chỉ ra một cụm khách hàng rời bỏ tập trung rõ nét ở vùng giao dịch thấp (góc dưới bên trái của phân phối).</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Tần suất giao dịch là chỉ báo hoạt động cốt lõi: sụt giảm dưới ngưỡng 55 lần/năm là tín hiệu kích hoạt các biện pháp giữ chân khách hàng.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[KHAI PHÁ EDA — CHỈ SỐ TÀI CHÍNH]</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Xu Hướng Tất Toán Dư Nợ Quay Vòng Về $0 Là Dấu Hiệu Chuẩn Bị Đóng Thẻ Điển Hình</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10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Kết quả thống kê mô tả từ tập dữ liệu BankChurners (N=10,127); Biểu đồ phân tích tại figures/04_financial_ratios_churn.png.</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4_financial_ratios_churn.png"/>
          <p:cNvPicPr>
            <a:picLocks noChangeAspect="1"/>
          </p:cNvPicPr>
          <p:nvPr/>
        </p:nvPicPr>
        <p:blipFill>
          <a:blip r:embed="rId2"/>
          <a:stretch>
            <a:fillRect/>
          </a:stretch>
        </p:blipFill>
        <p:spPr>
          <a:xfrm>
            <a:off x="868680" y="1554480"/>
            <a:ext cx="5943600" cy="2547257"/>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TÍN HIỆU BIẾN ĐỘNG DƯ NỢ &amp; HẠN MỨC</a:t>
            </a:r>
          </a:p>
          <a:p>
            <a:pPr>
              <a:lnSpc>
                <a:spcPct val="120000"/>
              </a:lnSpc>
              <a:spcBef>
                <a:spcPts val="500"/>
              </a:spcBef>
              <a:spcAft>
                <a:spcPts val="500"/>
              </a:spcAft>
            </a:pPr>
            <a:r>
              <a:rPr sz="950" b="1">
                <a:solidFill>
                  <a:srgbClr val="0A2540"/>
                </a:solidFill>
                <a:latin typeface="Calibri"/>
              </a:rPr>
              <a:t>Dư nợ quay vòng bình quân: </a:t>
            </a:r>
            <a:r>
              <a:rPr sz="950">
                <a:solidFill>
                  <a:srgbClr val="0F172A"/>
                </a:solidFill>
                <a:latin typeface="Calibri"/>
              </a:rPr>
              <a:t>Khách hàng rời bỏ có dư nợ bình quân chỉ đạt $672 USD, thấp hơn đáng kể so với mức $1,256 USD của nhóm ở lại.</a:t>
            </a:r>
          </a:p>
          <a:p>
            <a:pPr>
              <a:lnSpc>
                <a:spcPct val="120000"/>
              </a:lnSpc>
              <a:spcBef>
                <a:spcPts val="500"/>
              </a:spcBef>
              <a:spcAft>
                <a:spcPts val="500"/>
              </a:spcAft>
            </a:pPr>
            <a:r>
              <a:rPr sz="950" b="1">
                <a:solidFill>
                  <a:srgbClr val="0A2540"/>
                </a:solidFill>
                <a:latin typeface="Calibri"/>
              </a:rPr>
              <a:t>Tỷ lệ đưa số dư về $0 USD: </a:t>
            </a:r>
            <a:r>
              <a:rPr sz="950">
                <a:solidFill>
                  <a:srgbClr val="0F172A"/>
                </a:solidFill>
                <a:latin typeface="Calibri"/>
              </a:rPr>
              <a:t>Gần 55% khách hàng rời bỏ đã chủ động tất toán dư nợ về 0 USD tại thời điểm ghi nhận dữ liệu.</a:t>
            </a:r>
          </a:p>
          <a:p>
            <a:pPr>
              <a:lnSpc>
                <a:spcPct val="120000"/>
              </a:lnSpc>
              <a:spcBef>
                <a:spcPts val="500"/>
              </a:spcBef>
              <a:spcAft>
                <a:spcPts val="500"/>
              </a:spcAft>
            </a:pPr>
            <a:r>
              <a:rPr sz="950" b="1">
                <a:solidFill>
                  <a:srgbClr val="0A2540"/>
                </a:solidFill>
                <a:latin typeface="Calibri"/>
              </a:rPr>
              <a:t>Tỷ lệ sử dụng hạn mức: </a:t>
            </a:r>
            <a:r>
              <a:rPr sz="950">
                <a:solidFill>
                  <a:srgbClr val="0F172A"/>
                </a:solidFill>
                <a:latin typeface="Calibri"/>
              </a:rPr>
              <a:t>Khách hàng rời bỏ chỉ sử dụng trung bình 16.2% hạn mức tín dụng, so với 29.6% ở nhóm khách hàng hoạt động tích cực.</a:t>
            </a:r>
          </a:p>
          <a:p>
            <a:pPr>
              <a:lnSpc>
                <a:spcPct val="120000"/>
              </a:lnSpc>
              <a:spcBef>
                <a:spcPts val="500"/>
              </a:spcBef>
              <a:spcAft>
                <a:spcPts val="500"/>
              </a:spcAft>
            </a:pPr>
            <a:r>
              <a:rPr sz="950" b="1">
                <a:solidFill>
                  <a:srgbClr val="0A2540"/>
                </a:solidFill>
                <a:latin typeface="Calibri"/>
              </a:rPr>
              <a:t>Mức độ sụt giảm giao dịch: </a:t>
            </a:r>
            <a:r>
              <a:rPr sz="950">
                <a:solidFill>
                  <a:srgbClr val="0F172A"/>
                </a:solidFill>
                <a:latin typeface="Calibri"/>
              </a:rPr>
              <a:t>Chỉ số biến thiên giao dịch Q4 so với Q1 đạt trung bình 0.55, phản ánh tần suất quẹt thẻ đã suy giảm khoảng 45%.</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Hiện tượng tất toán dư nợ và giảm tỷ lệ sử dụng hạn mức là dấu hiệu cảnh báo sớm giúp ngân hàng can thiệp trước khi khách hàng chính thức đóng thẻ.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[KHAI PHÁ EDA — CHĂM SÓC KHÁCH HÀNG]</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Tần Suất Liên Hệ CSKH Từ 3 Lần Trở Lên Tương Quan Với Tỷ Lệ Rời Bỏ Đạt 28.6% - 52.4%</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11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Kết quả thống kê mô tả từ tập dữ liệu BankChurners (N=10,127); Biểu đồ phân tích tại figures/05_interaction_decay_churn.png.</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5_interaction_decay_churn.png"/>
          <p:cNvPicPr>
            <a:picLocks noChangeAspect="1"/>
          </p:cNvPicPr>
          <p:nvPr/>
        </p:nvPicPr>
        <p:blipFill>
          <a:blip r:embed="rId2"/>
          <a:stretch>
            <a:fillRect/>
          </a:stretch>
        </p:blipFill>
        <p:spPr>
          <a:xfrm>
            <a:off x="868680" y="1554480"/>
            <a:ext cx="5943600" cy="2547257"/>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TƯƠNG QUAN TẦN SUẤT LIÊN HỆ CSKH</a:t>
            </a:r>
          </a:p>
          <a:p>
            <a:pPr>
              <a:lnSpc>
                <a:spcPct val="120000"/>
              </a:lnSpc>
              <a:spcBef>
                <a:spcPts val="500"/>
              </a:spcBef>
              <a:spcAft>
                <a:spcPts val="500"/>
              </a:spcAft>
            </a:pPr>
            <a:r>
              <a:rPr sz="950" b="1">
                <a:solidFill>
                  <a:srgbClr val="0A2540"/>
                </a:solidFill>
                <a:latin typeface="Calibri"/>
              </a:rPr>
              <a:t>Mối tương quan với số cuộc gọi: </a:t>
            </a:r>
            <a:r>
              <a:rPr sz="950">
                <a:solidFill>
                  <a:srgbClr val="0F172A"/>
                </a:solidFill>
                <a:latin typeface="Calibri"/>
              </a:rPr>
              <a:t>Khách hàng liên hệ tổng đài từ 3 lần trở lên có tỷ lệ rời bỏ tăng mạnh: 28.6% (gọi 3 lần), 52.4% (gọi 4 lần) và 100% (gọi 6 lần).</a:t>
            </a:r>
          </a:p>
          <a:p>
            <a:pPr>
              <a:lnSpc>
                <a:spcPct val="120000"/>
              </a:lnSpc>
              <a:spcBef>
                <a:spcPts val="500"/>
              </a:spcBef>
              <a:spcAft>
                <a:spcPts val="500"/>
              </a:spcAft>
            </a:pPr>
            <a:r>
              <a:rPr sz="950" b="1">
                <a:solidFill>
                  <a:srgbClr val="0A2540"/>
                </a:solidFill>
                <a:latin typeface="Calibri"/>
              </a:rPr>
              <a:t>Bản chất nghiệp vụ: </a:t>
            </a:r>
            <a:r>
              <a:rPr sz="950">
                <a:solidFill>
                  <a:srgbClr val="0F172A"/>
                </a:solidFill>
                <a:latin typeface="Calibri"/>
              </a:rPr>
              <a:t>Tần suất liên hệ tăng cao thường xuất phát từ các sự cố chưa được giải quyết thỏa đáng (tra soát chậm, tính phí/lãi chưa rõ ràng).</a:t>
            </a:r>
          </a:p>
          <a:p>
            <a:pPr>
              <a:lnSpc>
                <a:spcPct val="120000"/>
              </a:lnSpc>
              <a:spcBef>
                <a:spcPts val="500"/>
              </a:spcBef>
              <a:spcAft>
                <a:spcPts val="500"/>
              </a:spcAft>
            </a:pPr>
            <a:r>
              <a:rPr sz="950" b="1">
                <a:solidFill>
                  <a:srgbClr val="0A2540"/>
                </a:solidFill>
                <a:latin typeface="Calibri"/>
              </a:rPr>
              <a:t>Thời gian không phát sinh giao dịch: </a:t>
            </a:r>
            <a:r>
              <a:rPr sz="950">
                <a:solidFill>
                  <a:srgbClr val="0F172A"/>
                </a:solidFill>
                <a:latin typeface="Calibri"/>
              </a:rPr>
              <a:t>Khách hàng ngưng sử dụng thẻ từ 3 tháng trở lên trong năm có tỷ lệ rời bỏ cao gấp 2.5 lần so với nhóm thông thường.</a:t>
            </a:r>
          </a:p>
          <a:p>
            <a:pPr>
              <a:lnSpc>
                <a:spcPct val="120000"/>
              </a:lnSpc>
              <a:spcBef>
                <a:spcPts val="500"/>
              </a:spcBef>
              <a:spcAft>
                <a:spcPts val="500"/>
              </a:spcAft>
            </a:pPr>
            <a:r>
              <a:rPr sz="950" b="1">
                <a:solidFill>
                  <a:srgbClr val="0A2540"/>
                </a:solidFill>
                <a:latin typeface="Calibri"/>
              </a:rPr>
              <a:t>Khuyến nghị vận hành: </a:t>
            </a:r>
            <a:r>
              <a:rPr sz="950">
                <a:solidFill>
                  <a:srgbClr val="0F172A"/>
                </a:solidFill>
                <a:latin typeface="Calibri"/>
              </a:rPr>
              <a:t>Cần nâng cao chỉ tiêu giải quyết khiếu nại trong lần liên hệ đầu tiên (FCR) và phân luồng chăm sóc đặc biệt từ cuộc gọi thứ 3.</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Chỉ số First-Contact Resolution (FCR) là yếu tố then chốt: giải quyết dứt điểm khiếu nại giúp hạn chế đáng kể nguy cơ khách hàng rời bỏ do trải nghiệm dịch vụ.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[KHAI PHÁ EDA — HỆ SINH THÁI SẢN PHẨM]</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Sử Dụng Từ 4 Sản Phẩm Trở Lên Giúp Nâng Cao Chi Phí Chuyển Đổi, Hạ Tỷ Lệ Rời Bỏ Xuống Dưới 10%</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12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Kết quả thống kê mô tả từ tập dữ liệu BankChurners (N=10,127); Biểu đồ phân tích tại figures/08_relationship_and_card.png.</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8_relationship_and_card.png"/>
          <p:cNvPicPr>
            <a:picLocks noChangeAspect="1"/>
          </p:cNvPicPr>
          <p:nvPr/>
        </p:nvPicPr>
        <p:blipFill>
          <a:blip r:embed="rId2"/>
          <a:stretch>
            <a:fillRect/>
          </a:stretch>
        </p:blipFill>
        <p:spPr>
          <a:xfrm>
            <a:off x="868680" y="1554480"/>
            <a:ext cx="5943600" cy="2547257"/>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QUY MÔ SẢN PHẨM &amp; RÀO CẢN CHUYỂN ĐỔI</a:t>
            </a:r>
          </a:p>
          <a:p>
            <a:pPr>
              <a:lnSpc>
                <a:spcPct val="120000"/>
              </a:lnSpc>
              <a:spcBef>
                <a:spcPts val="500"/>
              </a:spcBef>
              <a:spcAft>
                <a:spcPts val="500"/>
              </a:spcAft>
            </a:pPr>
            <a:r>
              <a:rPr sz="950" b="1">
                <a:solidFill>
                  <a:srgbClr val="0A2540"/>
                </a:solidFill>
                <a:latin typeface="Calibri"/>
              </a:rPr>
              <a:t>Quan hệ sản phẩm đơn lẻ: </a:t>
            </a:r>
            <a:r>
              <a:rPr sz="950">
                <a:solidFill>
                  <a:srgbClr val="0F172A"/>
                </a:solidFill>
                <a:latin typeface="Calibri"/>
              </a:rPr>
              <a:t>Khách hàng chỉ sử dụng 1 đến 2 sản phẩm ngân hàng có tỷ lệ rời bỏ lên tới 25.4% do chi phí chuyển đổi (Switching Cost) thấp.</a:t>
            </a:r>
          </a:p>
          <a:p>
            <a:pPr>
              <a:lnSpc>
                <a:spcPct val="120000"/>
              </a:lnSpc>
              <a:spcBef>
                <a:spcPts val="500"/>
              </a:spcBef>
              <a:spcAft>
                <a:spcPts val="500"/>
              </a:spcAft>
            </a:pPr>
            <a:r>
              <a:rPr sz="950" b="1">
                <a:solidFill>
                  <a:srgbClr val="0A2540"/>
                </a:solidFill>
                <a:latin typeface="Calibri"/>
              </a:rPr>
              <a:t>Hiệu ứng rào cản chuyển đổi: </a:t>
            </a:r>
            <a:r>
              <a:rPr sz="950">
                <a:solidFill>
                  <a:srgbClr val="0F172A"/>
                </a:solidFill>
                <a:latin typeface="Calibri"/>
              </a:rPr>
              <a:t>Khi khách hàng liên kết từ 4 đến 6 sản phẩm ngân hàng, tỷ lệ rời bỏ giảm mạnh xuống mức 9.8% - 12.5%.</a:t>
            </a:r>
          </a:p>
          <a:p>
            <a:pPr>
              <a:lnSpc>
                <a:spcPct val="120000"/>
              </a:lnSpc>
              <a:spcBef>
                <a:spcPts val="500"/>
              </a:spcBef>
              <a:spcAft>
                <a:spcPts val="500"/>
              </a:spcAft>
            </a:pPr>
            <a:r>
              <a:rPr sz="950" b="1">
                <a:solidFill>
                  <a:srgbClr val="0A2540"/>
                </a:solidFill>
                <a:latin typeface="Calibri"/>
              </a:rPr>
              <a:t>Cơ cấu theo hạng thẻ: </a:t>
            </a:r>
            <a:r>
              <a:rPr sz="950">
                <a:solidFill>
                  <a:srgbClr val="0F172A"/>
                </a:solidFill>
                <a:latin typeface="Calibri"/>
              </a:rPr>
              <a:t>Thẻ Blue chiếm 93.2% danh mục với tỷ lệ rời bỏ 16.1%; các dòng thẻ cao cấp có tỷ lệ rời bỏ cao hơn do yêu cầu dịch vụ khắt khe.</a:t>
            </a:r>
          </a:p>
          <a:p>
            <a:pPr>
              <a:lnSpc>
                <a:spcPct val="120000"/>
              </a:lnSpc>
              <a:spcBef>
                <a:spcPts val="500"/>
              </a:spcBef>
              <a:spcAft>
                <a:spcPts val="500"/>
              </a:spcAft>
            </a:pPr>
            <a:r>
              <a:rPr sz="950" b="1">
                <a:solidFill>
                  <a:srgbClr val="0A2540"/>
                </a:solidFill>
                <a:latin typeface="Calibri"/>
              </a:rPr>
              <a:t>Định hướng bán chéo: </a:t>
            </a:r>
            <a:r>
              <a:rPr sz="950">
                <a:solidFill>
                  <a:srgbClr val="0F172A"/>
                </a:solidFill>
                <a:latin typeface="Calibri"/>
              </a:rPr>
              <a:t>Khuyến nghị liên kết thẻ tín dụng với tài khoản nhận lương, tiền gửi tiết kiệm và dịch vụ ngân hàng số.</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Gia tăng số lượng sản phẩm liên kết (Combo Thẻ - Tài khoản - Tiết kiệm) là giải pháp xây dựng rào cản chuyển đổi tự nhiên và bền vững cho ngân hàng.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[KHAI PHÁ DỮ LIỆU — K-MEANS &amp; PCA]</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Phân Cụm K-Means Nhận Diện 4 Phân Khúc Hành Vi: Cụm 1 Tập Trung 52.6% Khách Hàng Rời Bỏ</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13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Phương pháp Elbow kết hợp Silhouette Score xác định k=4 tối ưu; Giảm chiều trực quan hóa bằng PCA 2 thành phần chính.</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0_kmeans_clusters_pca.png"/>
          <p:cNvPicPr>
            <a:picLocks noChangeAspect="1"/>
          </p:cNvPicPr>
          <p:nvPr/>
        </p:nvPicPr>
        <p:blipFill>
          <a:blip r:embed="rId2"/>
          <a:stretch>
            <a:fillRect/>
          </a:stretch>
        </p:blipFill>
        <p:spPr>
          <a:xfrm>
            <a:off x="868680" y="1554480"/>
            <a:ext cx="5943600" cy="2228850"/>
          </a:xfrm>
          <a:prstGeom prst="rect">
            <a:avLst/>
          </a:prstGeom>
        </p:spPr>
      </p:pic>
      <p:sp>
        <p:nvSpPr>
          <p:cNvPr id="10" name="Rectangle 9"/>
          <p:cNvSpPr/>
          <p:nvPr/>
        </p:nvSpPr>
        <p:spPr>
          <a:xfrm>
            <a:off x="7223760" y="1417320"/>
            <a:ext cx="4236415" cy="4297680"/>
          </a:xfrm>
          <a:prstGeom prst="rect">
            <a:avLst/>
          </a:prstGeom>
          <a:solidFill>
            <a:srgbClr val="FFFFFF"/>
          </a:solidFill>
          <a:ln w="12700">
            <a:solidFill>
              <a:srgbClr val="DC2626"/>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KẾT QUẢ PHÂN CỤM K-MEANS (k=4)</a:t>
            </a:r>
          </a:p>
          <a:p>
            <a:pPr>
              <a:lnSpc>
                <a:spcPct val="120000"/>
              </a:lnSpc>
              <a:spcBef>
                <a:spcPts val="400"/>
              </a:spcBef>
              <a:spcAft>
                <a:spcPts val="400"/>
              </a:spcAft>
            </a:pPr>
            <a:r>
              <a:rPr sz="950" b="1">
                <a:solidFill>
                  <a:srgbClr val="0A2540"/>
                </a:solidFill>
                <a:latin typeface="Calibri"/>
              </a:rPr>
              <a:t>Đánh giá số cụm tối ưu: </a:t>
            </a:r>
            <a:r>
              <a:rPr sz="950">
                <a:solidFill>
                  <a:srgbClr val="0F172A"/>
                </a:solidFill>
                <a:latin typeface="Calibri"/>
              </a:rPr>
              <a:t>Phương pháp Elbow kết hợp hệ số Silhouette Score (0.34) xác nhận k=4 là giải pháp phân cụm cân bằng về mặt thống kê.</a:t>
            </a:r>
          </a:p>
          <a:p>
            <a:pPr>
              <a:lnSpc>
                <a:spcPct val="120000"/>
              </a:lnSpc>
              <a:spcBef>
                <a:spcPts val="400"/>
              </a:spcBef>
              <a:spcAft>
                <a:spcPts val="400"/>
              </a:spcAft>
            </a:pPr>
            <a:r>
              <a:rPr sz="950" b="1">
                <a:solidFill>
                  <a:srgbClr val="0A2540"/>
                </a:solidFill>
                <a:latin typeface="Calibri"/>
              </a:rPr>
              <a:t>Phân cụm 1 (Trọng tâm rủi ro): </a:t>
            </a:r>
            <a:r>
              <a:rPr sz="950">
                <a:solidFill>
                  <a:srgbClr val="0F172A"/>
                </a:solidFill>
                <a:latin typeface="Calibri"/>
              </a:rPr>
              <a:t>Chiếm 52.6% tổng lượng khách rời bỏ. Đặc trưng: quẹt thẻ ít (42 lần), chi tiêu thấp ($2,850), dư nợ tiệm cận 0 USD. Đối tượng ưu tiên can thiệp số 1.</a:t>
            </a:r>
          </a:p>
          <a:p>
            <a:pPr>
              <a:lnSpc>
                <a:spcPct val="120000"/>
              </a:lnSpc>
              <a:spcBef>
                <a:spcPts val="400"/>
              </a:spcBef>
              <a:spcAft>
                <a:spcPts val="400"/>
              </a:spcAft>
            </a:pPr>
            <a:r>
              <a:rPr sz="950" b="1">
                <a:solidFill>
                  <a:srgbClr val="0A2540"/>
                </a:solidFill>
                <a:latin typeface="Calibri"/>
              </a:rPr>
              <a:t>Phân cụm 0 (Giao dịch phổ thông): </a:t>
            </a:r>
            <a:r>
              <a:rPr sz="950">
                <a:solidFill>
                  <a:srgbClr val="0F172A"/>
                </a:solidFill>
                <a:latin typeface="Calibri"/>
              </a:rPr>
              <a:t>Chiếm 38.5% danh mục, tần suất quẹt thẻ ổn định (65 lần/năm), tỷ lệ rời bỏ ở mức thấp (11.2%).</a:t>
            </a:r>
          </a:p>
          <a:p>
            <a:pPr>
              <a:lnSpc>
                <a:spcPct val="120000"/>
              </a:lnSpc>
              <a:spcBef>
                <a:spcPts val="400"/>
              </a:spcBef>
              <a:spcAft>
                <a:spcPts val="400"/>
              </a:spcAft>
            </a:pPr>
            <a:r>
              <a:rPr sz="950" b="1">
                <a:solidFill>
                  <a:srgbClr val="0A2540"/>
                </a:solidFill>
                <a:latin typeface="Calibri"/>
              </a:rPr>
              <a:t>Phân cụm 2 (Khách hàng cao cấp - VIP): </a:t>
            </a:r>
            <a:r>
              <a:rPr sz="950">
                <a:solidFill>
                  <a:srgbClr val="0F172A"/>
                </a:solidFill>
                <a:latin typeface="Calibri"/>
              </a:rPr>
              <a:t>Hạn mức tín dụng cao (&gt; $20,000 USD), thu nhập &gt; $120K, đòi hỏi chất lượng dịch vụ và ưu đãi chuyên biệt.</a:t>
            </a:r>
          </a:p>
          <a:p>
            <a:pPr>
              <a:lnSpc>
                <a:spcPct val="120000"/>
              </a:lnSpc>
              <a:spcBef>
                <a:spcPts val="400"/>
              </a:spcBef>
              <a:spcAft>
                <a:spcPts val="400"/>
              </a:spcAft>
            </a:pPr>
            <a:r>
              <a:rPr sz="950" b="1">
                <a:solidFill>
                  <a:srgbClr val="0A2540"/>
                </a:solidFill>
                <a:latin typeface="Calibri"/>
              </a:rPr>
              <a:t>Phân cụm 3 (Khách hàng giao dịch thường xuyên): </a:t>
            </a:r>
            <a:r>
              <a:rPr sz="950">
                <a:solidFill>
                  <a:srgbClr val="0F172A"/>
                </a:solidFill>
                <a:latin typeface="Calibri"/>
              </a:rPr>
              <a:t>Quẹt thẻ &gt; 105 lần/năm, doanh số chi tiêu &gt; $14,000 USD, tỷ lệ rời bỏ dưới 2%.</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Phân cụm K-Means định vị chính xác Cụm 1 là nhóm rủi ro cao nhất, giúp ngân hàng tập trung nguồn lực can thiệp vào đúng 52.6% lượng khách hàng rời bỏ.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[MÔ HÌNH HÓA MÁY HỌC — SO SÁNH HIỆU NĂNG]</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Mô Hình XGBoost Classifier Đạt ROC-AUC 0.9930, Recall 91.38% &amp; F1-Score 91.23%</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14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Đánh giá trên tập kiểm thử độc lập N=2,026; Ngưỡng xác suất phân loại mặc định t=0.50 trước khi tối ưu hóa kinh tế.</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1_ml_model_comparison_roc.png"/>
          <p:cNvPicPr>
            <a:picLocks noChangeAspect="1"/>
          </p:cNvPicPr>
          <p:nvPr/>
        </p:nvPicPr>
        <p:blipFill>
          <a:blip r:embed="rId2"/>
          <a:stretch>
            <a:fillRect/>
          </a:stretch>
        </p:blipFill>
        <p:spPr>
          <a:xfrm>
            <a:off x="868680" y="1554480"/>
            <a:ext cx="5943600" cy="2228850"/>
          </a:xfrm>
          <a:prstGeom prst="rect">
            <a:avLst/>
          </a:prstGeom>
        </p:spPr>
      </p:pic>
      <p:sp>
        <p:nvSpPr>
          <p:cNvPr id="10" name="Rectangle 9"/>
          <p:cNvSpPr/>
          <p:nvPr/>
        </p:nvSpPr>
        <p:spPr>
          <a:xfrm>
            <a:off x="7223760" y="1417320"/>
            <a:ext cx="4236415" cy="4297680"/>
          </a:xfrm>
          <a:prstGeom prst="rect">
            <a:avLst/>
          </a:prstGeom>
          <a:solidFill>
            <a:srgbClr val="FFFFFF"/>
          </a:solidFill>
          <a:ln w="12700">
            <a:solidFill>
              <a:srgbClr val="EA580C"/>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365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BẢNG ĐÁNH GIÁ ĐỐI ĐẦU 4 THUẬT TOÁN HỌC MÁY</a:t>
            </a:r>
          </a:p>
        </p:txBody>
      </p:sp>
      <p:sp>
        <p:nvSpPr>
          <p:cNvPr id="12" name="Rectangle 11"/>
          <p:cNvSpPr/>
          <p:nvPr/>
        </p:nvSpPr>
        <p:spPr>
          <a:xfrm>
            <a:off x="7406640" y="1874519"/>
            <a:ext cx="3870655" cy="1325880"/>
          </a:xfrm>
          <a:prstGeom prst="rect">
            <a:avLst/>
          </a:prstGeom>
          <a:solidFill>
            <a:srgbClr val="FFFBEB"/>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1938528"/>
            <a:ext cx="3687775" cy="777240"/>
          </a:xfrm>
          <a:prstGeom prst="rect">
            <a:avLst/>
          </a:prstGeom>
          <a:noFill/>
        </p:spPr>
        <p:txBody>
          <a:bodyPr wrap="square" lIns="0" rIns="0" tIns="0" bIns="0">
            <a:spAutoFit/>
          </a:bodyPr>
          <a:lstStyle/>
          <a:p>
            <a:r>
              <a:rPr b="1" sz="1100">
                <a:solidFill>
                  <a:srgbClr val="EA580C"/>
                </a:solidFill>
              </a:rPr>
              <a:t>MÔ HÌNH TỐI ƯU: XGBOOST CLASSIFIER</a:t>
            </a:r>
          </a:p>
          <a:p>
            <a:r>
              <a:rPr b="1" sz="980">
                <a:solidFill>
                  <a:srgbClr val="0A2540"/>
                </a:solidFill>
              </a:rPr>
              <a:t>ROC-AUC: 0.9930  •  Recall: 91.38%  •  F1: 91.23%</a:t>
            </a:r>
          </a:p>
          <a:p>
            <a:r>
              <a:rPr sz="900">
                <a:solidFill>
                  <a:srgbClr val="0F172A"/>
                </a:solidFill>
              </a:rPr>
              <a:t>Phát hiện chính xác 297/325 khách hàng rời bỏ (sai số bỏ sót 8.62%).</a:t>
            </a:r>
          </a:p>
        </p:txBody>
      </p:sp>
      <p:sp>
        <p:nvSpPr>
          <p:cNvPr id="14" name="Rectangle 13"/>
          <p:cNvSpPr/>
          <p:nvPr/>
        </p:nvSpPr>
        <p:spPr>
          <a:xfrm>
            <a:off x="7498079" y="2926080"/>
            <a:ext cx="3566160" cy="91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79" y="2926080"/>
            <a:ext cx="3258757" cy="914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3291840"/>
            <a:ext cx="3870655" cy="502920"/>
          </a:xfrm>
          <a:prstGeom prst="rect">
            <a:avLst/>
          </a:prstGeom>
          <a:noFill/>
        </p:spPr>
        <p:txBody>
          <a:bodyPr wrap="square" lIns="0" rIns="0" tIns="0" bIns="0">
            <a:spAutoFit/>
          </a:bodyPr>
          <a:lstStyle/>
          <a:p>
            <a:r>
              <a:rPr sz="950" b="1">
                <a:solidFill>
                  <a:srgbClr val="0A2540"/>
                </a:solidFill>
                <a:latin typeface="Calibri"/>
              </a:rPr>
              <a:t>Hạng 2: Random Forest: </a:t>
            </a:r>
            <a:r>
              <a:rPr sz="900">
                <a:solidFill>
                  <a:srgbClr val="64748B"/>
                </a:solidFill>
                <a:latin typeface="Calibri"/>
              </a:rPr>
              <a:t>ROC-AUC: 0.9892 | Recall: 88.31% | F1: 89.97%</a:t>
            </a:r>
          </a:p>
          <a:p>
            <a:pPr>
              <a:defRPr sz="880">
                <a:solidFill>
                  <a:srgbClr val="0F172A"/>
                </a:solidFill>
                <a:latin typeface="Calibri"/>
              </a:defRPr>
            </a:pPr>
            <a:r>
              <a:t>Khả năng khái quát hóa tốt nhưng tốc độ suy luận chậm hơn.</a:t>
            </a:r>
          </a:p>
        </p:txBody>
      </p:sp>
      <p:sp>
        <p:nvSpPr>
          <p:cNvPr id="17" name="Rectangle 16"/>
          <p:cNvSpPr/>
          <p:nvPr/>
        </p:nvSpPr>
        <p:spPr>
          <a:xfrm>
            <a:off x="7406640" y="3840480"/>
            <a:ext cx="3657600" cy="5486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0" y="3840480"/>
            <a:ext cx="3230026"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96512"/>
            <a:ext cx="3870655" cy="502920"/>
          </a:xfrm>
          <a:prstGeom prst="rect">
            <a:avLst/>
          </a:prstGeom>
          <a:noFill/>
        </p:spPr>
        <p:txBody>
          <a:bodyPr wrap="square" lIns="0" rIns="0" tIns="0" bIns="0">
            <a:spAutoFit/>
          </a:bodyPr>
          <a:lstStyle/>
          <a:p>
            <a:r>
              <a:rPr sz="950" b="1">
                <a:solidFill>
                  <a:srgbClr val="0A2540"/>
                </a:solidFill>
                <a:latin typeface="Calibri"/>
              </a:rPr>
              <a:t>Hạng 3: Support Vector Machine (SVM): </a:t>
            </a:r>
            <a:r>
              <a:rPr sz="900">
                <a:solidFill>
                  <a:srgbClr val="64748B"/>
                </a:solidFill>
                <a:latin typeface="Calibri"/>
              </a:rPr>
              <a:t>ROC-AUC: 0.9702 | Recall: 84.62% | F1: 81.34%</a:t>
            </a:r>
          </a:p>
          <a:p>
            <a:pPr>
              <a:defRPr sz="880">
                <a:solidFill>
                  <a:srgbClr val="0F172A"/>
                </a:solidFill>
                <a:latin typeface="Calibri"/>
              </a:defRPr>
            </a:pPr>
            <a:r>
              <a:t>Nhạy cảm với tham số hàm nhân RBF trên tập dữ liệu lớn.</a:t>
            </a:r>
          </a:p>
        </p:txBody>
      </p:sp>
      <p:sp>
        <p:nvSpPr>
          <p:cNvPr id="20" name="Rectangle 19"/>
          <p:cNvSpPr/>
          <p:nvPr/>
        </p:nvSpPr>
        <p:spPr>
          <a:xfrm>
            <a:off x="7406640" y="4645152"/>
            <a:ext cx="3657600" cy="5486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4645152"/>
            <a:ext cx="3095061"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4901184"/>
            <a:ext cx="3870655" cy="502920"/>
          </a:xfrm>
          <a:prstGeom prst="rect">
            <a:avLst/>
          </a:prstGeom>
          <a:noFill/>
        </p:spPr>
        <p:txBody>
          <a:bodyPr wrap="square" lIns="0" rIns="0" tIns="0" bIns="0">
            <a:spAutoFit/>
          </a:bodyPr>
          <a:lstStyle/>
          <a:p>
            <a:r>
              <a:rPr sz="950" b="1">
                <a:solidFill>
                  <a:srgbClr val="0A2540"/>
                </a:solidFill>
                <a:latin typeface="Calibri"/>
              </a:rPr>
              <a:t>Hạng 4: Logistic Regression (Baseline): </a:t>
            </a:r>
            <a:r>
              <a:rPr sz="900">
                <a:solidFill>
                  <a:srgbClr val="64748B"/>
                </a:solidFill>
                <a:latin typeface="Calibri"/>
              </a:rPr>
              <a:t>ROC-AUC: 0.9348 | Recall: 83.38% | F1: 67.25%</a:t>
            </a:r>
          </a:p>
          <a:p>
            <a:pPr>
              <a:defRPr sz="880">
                <a:solidFill>
                  <a:srgbClr val="0F172A"/>
                </a:solidFill>
                <a:latin typeface="Calibri"/>
              </a:defRPr>
            </a:pPr>
            <a:r>
              <a:t>Hạn chế trong việc nắm bắt các tương tác phi tuyến phức tạp.</a:t>
            </a:r>
          </a:p>
        </p:txBody>
      </p:sp>
      <p:sp>
        <p:nvSpPr>
          <p:cNvPr id="23" name="Rectangle 22"/>
          <p:cNvSpPr/>
          <p:nvPr/>
        </p:nvSpPr>
        <p:spPr>
          <a:xfrm>
            <a:off x="7406640" y="5449824"/>
            <a:ext cx="3657600" cy="5486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06640" y="5449824"/>
            <a:ext cx="3049706"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XGBoost Classifier là mô hình đạt hiệu năng phân loại cao nhất trên tập kiểm thử: nắm bắt hiệu quả các tương tác phi tuyến và đạt tốc độ xử lý nhanh.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[KIỂM ĐỊNH MÔ HÌNH — MA TRẬN NHẦM LẪN]</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Kiểm Soát Sai Số Loại I &amp; II: Tỷ Lệ Bỏ Sót Rời Bỏ 8.62% (FN=28) &amp; Báo Động Giả 2.12% (FP=36)</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15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Tập kiểm thử Test Set N=2,026 (1,701 Existing, 325 Attrited); Ngưỡng phân loại chuẩn t=0.50.</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2_ml_confusion_matrices.png"/>
          <p:cNvPicPr>
            <a:picLocks noChangeAspect="1"/>
          </p:cNvPicPr>
          <p:nvPr/>
        </p:nvPicPr>
        <p:blipFill>
          <a:blip r:embed="rId2"/>
          <a:stretch>
            <a:fillRect/>
          </a:stretch>
        </p:blipFill>
        <p:spPr>
          <a:xfrm>
            <a:off x="868680" y="1554480"/>
            <a:ext cx="5943600" cy="4669971"/>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0A254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MA TRẬN NHẦM LẪN &amp; KIỂM SOÁT SAI SỐ</a:t>
            </a:r>
          </a:p>
          <a:p>
            <a:pPr>
              <a:lnSpc>
                <a:spcPct val="120000"/>
              </a:lnSpc>
              <a:spcBef>
                <a:spcPts val="500"/>
              </a:spcBef>
              <a:spcAft>
                <a:spcPts val="500"/>
              </a:spcAft>
            </a:pPr>
            <a:r>
              <a:rPr sz="950" b="1">
                <a:solidFill>
                  <a:srgbClr val="0A2540"/>
                </a:solidFill>
                <a:latin typeface="Calibri"/>
              </a:rPr>
              <a:t>Sai số Loại II (False Negative): </a:t>
            </a:r>
            <a:r>
              <a:rPr sz="950">
                <a:solidFill>
                  <a:srgbClr val="0F172A"/>
                </a:solidFill>
                <a:latin typeface="Calibri"/>
              </a:rPr>
              <a:t>Chỉ có 28 / 325 khách hàng rời bỏ bị mô hình bỏ sót (tỷ lệ 8.62%), giúp ngân hàng bảo toàn tối đa giá trị trọn đời khách hàng.</a:t>
            </a:r>
          </a:p>
          <a:p>
            <a:pPr>
              <a:lnSpc>
                <a:spcPct val="120000"/>
              </a:lnSpc>
              <a:spcBef>
                <a:spcPts val="500"/>
              </a:spcBef>
              <a:spcAft>
                <a:spcPts val="500"/>
              </a:spcAft>
            </a:pPr>
            <a:r>
              <a:rPr sz="950" b="1">
                <a:solidFill>
                  <a:srgbClr val="0A2540"/>
                </a:solidFill>
                <a:latin typeface="Calibri"/>
              </a:rPr>
              <a:t>Sai số Loại I (False Positive): </a:t>
            </a:r>
            <a:r>
              <a:rPr sz="950">
                <a:solidFill>
                  <a:srgbClr val="0F172A"/>
                </a:solidFill>
                <a:latin typeface="Calibri"/>
              </a:rPr>
              <a:t>36 / 1,701 khách hàng duy trì thẻ bị dự báo nhầm thành rời bỏ (tỷ lệ 2.12%), hạn chế tối đa chi phí can thiệp lãng phí.</a:t>
            </a:r>
          </a:p>
          <a:p>
            <a:pPr>
              <a:lnSpc>
                <a:spcPct val="120000"/>
              </a:lnSpc>
              <a:spcBef>
                <a:spcPts val="500"/>
              </a:spcBef>
              <a:spcAft>
                <a:spcPts val="500"/>
              </a:spcAft>
            </a:pPr>
            <a:r>
              <a:rPr sz="950" b="1">
                <a:solidFill>
                  <a:srgbClr val="0A2540"/>
                </a:solidFill>
                <a:latin typeface="Calibri"/>
              </a:rPr>
              <a:t>Độ chính xác dự báo (Precision = 91.08%): </a:t>
            </a:r>
            <a:r>
              <a:rPr sz="950">
                <a:solidFill>
                  <a:srgbClr val="0F172A"/>
                </a:solidFill>
                <a:latin typeface="Calibri"/>
              </a:rPr>
              <a:t>Trong số các khách hàng được mô hình cảnh báo, có 91.08% thực sự là khách hàng có nguy cơ rời bỏ.</a:t>
            </a:r>
          </a:p>
          <a:p>
            <a:pPr>
              <a:lnSpc>
                <a:spcPct val="120000"/>
              </a:lnSpc>
              <a:spcBef>
                <a:spcPts val="500"/>
              </a:spcBef>
              <a:spcAft>
                <a:spcPts val="500"/>
              </a:spcAft>
            </a:pPr>
            <a:r>
              <a:rPr sz="950" b="1">
                <a:solidFill>
                  <a:srgbClr val="0A2540"/>
                </a:solidFill>
                <a:latin typeface="Calibri"/>
              </a:rPr>
              <a:t>Cân bằng kinh tế: </a:t>
            </a:r>
            <a:r>
              <a:rPr sz="950">
                <a:solidFill>
                  <a:srgbClr val="0F172A"/>
                </a:solidFill>
                <a:latin typeface="Calibri"/>
              </a:rPr>
              <a:t>Mô hình thiết lập sự cân bằng hợp lý giữa khả năng phát hiện rủi ro (Recall 91.38%) và mức độ tin cậy của cảnh báo (Precision 91.08%).</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Tỷ lệ bỏ sót chỉ 8.62% chứng minh mô hình có khả năng nhận diện chính xác phần lớn các trường hợp có nguy cơ đóng thẻ trong thực tế.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[GIẢI THÍCH MÔ HÌNH — EXPLAINABLE AI]</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Giải Thích XAI: Tần Suất Giao Dịch, Mức Độ Sụt Giảm Chi Tiêu &amp; Dư Nợ Là 3 Biến Số Chi Phối</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16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Phân tích tầm quan trọng dựa trên Feature Importance của XGBoost (Gain-based) và kiểm chứng qua SHAP values.</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3_feature_importance_xgb.png"/>
          <p:cNvPicPr>
            <a:picLocks noChangeAspect="1"/>
          </p:cNvPicPr>
          <p:nvPr/>
        </p:nvPicPr>
        <p:blipFill>
          <a:blip r:embed="rId2"/>
          <a:stretch>
            <a:fillRect/>
          </a:stretch>
        </p:blipFill>
        <p:spPr>
          <a:xfrm>
            <a:off x="868680" y="1554480"/>
            <a:ext cx="5943600" cy="3467100"/>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0A254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THỨ BẬC TẦM QUAN TRỌNG CỦA CÁC ĐẶC TRƯNG</a:t>
            </a:r>
          </a:p>
          <a:p>
            <a:pPr>
              <a:lnSpc>
                <a:spcPct val="120000"/>
              </a:lnSpc>
              <a:spcBef>
                <a:spcPts val="400"/>
              </a:spcBef>
              <a:spcAft>
                <a:spcPts val="400"/>
              </a:spcAft>
            </a:pPr>
            <a:r>
              <a:rPr sz="950" b="1">
                <a:solidFill>
                  <a:srgbClr val="0A2540"/>
                </a:solidFill>
                <a:latin typeface="Calibri"/>
              </a:rPr>
              <a:t>1. Total_Trans_Ct (Số lần quẹt thẻ): </a:t>
            </a:r>
            <a:r>
              <a:rPr sz="950">
                <a:solidFill>
                  <a:srgbClr val="0F172A"/>
                </a:solidFill>
                <a:latin typeface="Calibri"/>
              </a:rPr>
              <a:t>Biến số có trọng số giải thích cao nhất (&gt; 25%), phản ánh mức độ gắn kết thường nhật của chủ thẻ với ngân hàng.</a:t>
            </a:r>
          </a:p>
          <a:p>
            <a:pPr>
              <a:lnSpc>
                <a:spcPct val="120000"/>
              </a:lnSpc>
              <a:spcBef>
                <a:spcPts val="400"/>
              </a:spcBef>
              <a:spcAft>
                <a:spcPts val="400"/>
              </a:spcAft>
            </a:pPr>
            <a:r>
              <a:rPr sz="950" b="1">
                <a:solidFill>
                  <a:srgbClr val="0A2540"/>
                </a:solidFill>
                <a:latin typeface="Calibri"/>
              </a:rPr>
              <a:t>2. Total_Amt_Chng_Q4_Q1 (Tốc độ giảm chi tiêu): </a:t>
            </a:r>
            <a:r>
              <a:rPr sz="950">
                <a:solidFill>
                  <a:srgbClr val="0F172A"/>
                </a:solidFill>
                <a:latin typeface="Calibri"/>
              </a:rPr>
              <a:t>Chỉ số phản ánh xu hướng dịch chuyển giao dịch sang ngân hàng đối thủ trong các quý gần nhất.</a:t>
            </a:r>
          </a:p>
          <a:p>
            <a:pPr>
              <a:lnSpc>
                <a:spcPct val="120000"/>
              </a:lnSpc>
              <a:spcBef>
                <a:spcPts val="400"/>
              </a:spcBef>
              <a:spcAft>
                <a:spcPts val="400"/>
              </a:spcAft>
            </a:pPr>
            <a:r>
              <a:rPr sz="950" b="1">
                <a:solidFill>
                  <a:srgbClr val="0A2540"/>
                </a:solidFill>
                <a:latin typeface="Calibri"/>
              </a:rPr>
              <a:t>3. Total_Revolving_Bal (Dư nợ quay vòng): </a:t>
            </a:r>
            <a:r>
              <a:rPr sz="950">
                <a:solidFill>
                  <a:srgbClr val="0F172A"/>
                </a:solidFill>
                <a:latin typeface="Calibri"/>
              </a:rPr>
              <a:t>Tín hiệu tất toán dư nợ về 0 USD đóng vai trò là dấu hiệu báo trước khả năng hủy thẻ trong 30-60 ngày.</a:t>
            </a:r>
          </a:p>
          <a:p>
            <a:pPr>
              <a:lnSpc>
                <a:spcPct val="120000"/>
              </a:lnSpc>
              <a:spcBef>
                <a:spcPts val="400"/>
              </a:spcBef>
              <a:spcAft>
                <a:spcPts val="400"/>
              </a:spcAft>
            </a:pPr>
            <a:r>
              <a:rPr sz="950" b="1">
                <a:solidFill>
                  <a:srgbClr val="0A2540"/>
                </a:solidFill>
                <a:latin typeface="Calibri"/>
              </a:rPr>
              <a:t>4. Total_Trans_Amt (Tổng giá trị chi tiêu): </a:t>
            </a:r>
            <a:r>
              <a:rPr sz="950">
                <a:solidFill>
                  <a:srgbClr val="0F172A"/>
                </a:solidFill>
                <a:latin typeface="Calibri"/>
              </a:rPr>
              <a:t>Thước đo quy mô tài chính và mức độ sử dụng hạn mức được cấp.</a:t>
            </a:r>
          </a:p>
          <a:p>
            <a:pPr>
              <a:lnSpc>
                <a:spcPct val="120000"/>
              </a:lnSpc>
              <a:spcBef>
                <a:spcPts val="400"/>
              </a:spcBef>
              <a:spcAft>
                <a:spcPts val="400"/>
              </a:spcAft>
            </a:pPr>
            <a:r>
              <a:rPr sz="950" b="1">
                <a:solidFill>
                  <a:srgbClr val="0A2540"/>
                </a:solidFill>
                <a:latin typeface="Calibri"/>
              </a:rPr>
              <a:t>5. Total_Relationship_Count (Số sản phẩm): </a:t>
            </a:r>
            <a:r>
              <a:rPr sz="950">
                <a:solidFill>
                  <a:srgbClr val="0F172A"/>
                </a:solidFill>
                <a:latin typeface="Calibri"/>
              </a:rPr>
              <a:t>Yếu tố phản ánh rào cản chuyển đổi tự nhiên thông qua hệ sinh thái đa dịch vụ.</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Kỹ thuật XAI minh bạch hóa cơ chế dự báo của mô hình: các biến số đóng góp chính hoàn toàn tương thích với các quy luật tài chính ngân hàng.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[TỐI ƯU HÓA KINH TẾ — THRESHOLD TUNING]</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Tối Ưu Hóa Ngưỡng Quyết Định Kinh Tế: Điểm Cắt t = 0.42 Tối Đa Hóa Lợi Nhuận Ròng</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17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Hàm mục tiêu: Net Benefit = (CLV * P_success - CRC) * TP - CRC * FP - CLV * FN; Tối ưu hóa trên tập kiểm thử.</a:t>
            </a:r>
          </a:p>
        </p:txBody>
      </p:sp>
      <p:sp>
        <p:nvSpPr>
          <p:cNvPr id="8" name="Rectangle 7"/>
          <p:cNvSpPr/>
          <p:nvPr/>
        </p:nvSpPr>
        <p:spPr>
          <a:xfrm>
            <a:off x="731520" y="1417320"/>
            <a:ext cx="6217920" cy="4297680"/>
          </a:xfrm>
          <a:prstGeom prst="rect">
            <a:avLst/>
          </a:prstGeom>
          <a:solidFill>
            <a:srgbClr val="FFFFFF"/>
          </a:solidFill>
          <a:ln w="9525">
            <a:solidFill>
              <a:srgbClr val="E2E8F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4_cost_benefit_threshold_optimization.png"/>
          <p:cNvPicPr>
            <a:picLocks noChangeAspect="1"/>
          </p:cNvPicPr>
          <p:nvPr/>
        </p:nvPicPr>
        <p:blipFill>
          <a:blip r:embed="rId2"/>
          <a:stretch>
            <a:fillRect/>
          </a:stretch>
        </p:blipFill>
        <p:spPr>
          <a:xfrm>
            <a:off x="868680" y="1554480"/>
            <a:ext cx="5943600" cy="2971800"/>
          </a:xfrm>
          <a:prstGeom prst="rect">
            <a:avLst/>
          </a:prstGeom>
        </p:spPr>
      </p:pic>
      <p:sp>
        <p:nvSpPr>
          <p:cNvPr id="10" name="Rectangle 9"/>
          <p:cNvSpPr/>
          <p:nvPr/>
        </p:nvSpPr>
        <p:spPr>
          <a:xfrm>
            <a:off x="7223760" y="1417320"/>
            <a:ext cx="4236415" cy="4297680"/>
          </a:xfrm>
          <a:prstGeom prst="rect">
            <a:avLst/>
          </a:prstGeom>
          <a:solidFill>
            <a:srgbClr val="FFFFFF"/>
          </a:solidFill>
          <a:ln w="9525">
            <a:solidFill>
              <a:srgbClr val="0A254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17320"/>
            <a:ext cx="4236415"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779215" cy="3977639"/>
          </a:xfrm>
          <a:prstGeom prst="rect">
            <a:avLst/>
          </a:prstGeom>
          <a:noFill/>
        </p:spPr>
        <p:txBody>
          <a:bodyPr wrap="square" lIns="0" rIns="0" tIns="0" bIns="0">
            <a:spAutoFit/>
          </a:bodyPr>
          <a:lstStyle/>
          <a:p>
            <a:pPr>
              <a:spcAft>
                <a:spcPts val="600"/>
              </a:spcAft>
              <a:defRPr sz="1150" b="1">
                <a:solidFill>
                  <a:srgbClr val="0A2540"/>
                </a:solidFill>
                <a:latin typeface="Calibri"/>
              </a:defRPr>
            </a:pPr>
            <a:r>
              <a:t>MÔ HÌNH HÓA HÀM CHI PHÍ - LỢI ÍCH</a:t>
            </a:r>
          </a:p>
          <a:p>
            <a:pPr>
              <a:lnSpc>
                <a:spcPct val="120000"/>
              </a:lnSpc>
              <a:spcBef>
                <a:spcPts val="500"/>
              </a:spcBef>
              <a:spcAft>
                <a:spcPts val="500"/>
              </a:spcAft>
            </a:pPr>
            <a:r>
              <a:rPr sz="950" b="1">
                <a:solidFill>
                  <a:srgbClr val="0A2540"/>
                </a:solidFill>
                <a:latin typeface="Calibri"/>
              </a:rPr>
              <a:t>Các tham số tài chính giả định: </a:t>
            </a:r>
            <a:r>
              <a:rPr sz="950">
                <a:solidFill>
                  <a:srgbClr val="0F172A"/>
                </a:solidFill>
                <a:latin typeface="Calibri"/>
              </a:rPr>
              <a:t>Giá trị trọn đời khách hàng (CLV): $500 USD | Chi phí can thiệp (CRC): $50 USD | Xác suất can thiệp thành công: 75%.</a:t>
            </a:r>
          </a:p>
          <a:p>
            <a:pPr>
              <a:lnSpc>
                <a:spcPct val="120000"/>
              </a:lnSpc>
              <a:spcBef>
                <a:spcPts val="500"/>
              </a:spcBef>
              <a:spcAft>
                <a:spcPts val="500"/>
              </a:spcAft>
            </a:pPr>
            <a:r>
              <a:rPr sz="950" b="1">
                <a:solidFill>
                  <a:srgbClr val="0A2540"/>
                </a:solidFill>
                <a:latin typeface="Calibri"/>
              </a:rPr>
              <a:t>Hạn chế của ngưỡng chuẩn t = 0.50: </a:t>
            </a:r>
            <a:r>
              <a:rPr sz="950">
                <a:solidFill>
                  <a:srgbClr val="0F172A"/>
                </a:solidFill>
                <a:latin typeface="Calibri"/>
              </a:rPr>
              <a:t>Bỏ lỡ các khách hàng có xác suất rời bỏ từ 40% đến 49% nhưng có giá trị CLV cao.</a:t>
            </a:r>
          </a:p>
          <a:p>
            <a:pPr>
              <a:lnSpc>
                <a:spcPct val="120000"/>
              </a:lnSpc>
              <a:spcBef>
                <a:spcPts val="500"/>
              </a:spcBef>
              <a:spcAft>
                <a:spcPts val="500"/>
              </a:spcAft>
            </a:pPr>
            <a:r>
              <a:rPr sz="950" b="1">
                <a:solidFill>
                  <a:srgbClr val="0A2540"/>
                </a:solidFill>
                <a:latin typeface="Calibri"/>
              </a:rPr>
              <a:t>Xác định điểm cắt tối ưu t* = 0.42: </a:t>
            </a:r>
            <a:r>
              <a:rPr sz="950">
                <a:solidFill>
                  <a:srgbClr val="0F172A"/>
                </a:solidFill>
                <a:latin typeface="Calibri"/>
              </a:rPr>
              <a:t>Điểm cực trị trên đường cong Lợi ích ròng (Net Benefit Curve), tạo sự cân bằng giữa chi phí giữ chân và doanh thu bảo toàn.</a:t>
            </a:r>
          </a:p>
          <a:p>
            <a:pPr>
              <a:lnSpc>
                <a:spcPct val="120000"/>
              </a:lnSpc>
              <a:spcBef>
                <a:spcPts val="500"/>
              </a:spcBef>
              <a:spcAft>
                <a:spcPts val="500"/>
              </a:spcAft>
            </a:pPr>
            <a:r>
              <a:rPr sz="950" b="1">
                <a:solidFill>
                  <a:srgbClr val="0A2540"/>
                </a:solidFill>
                <a:latin typeface="Calibri"/>
              </a:rPr>
              <a:t>Hiệu quả gia tăng: </a:t>
            </a:r>
            <a:r>
              <a:rPr sz="950">
                <a:solidFill>
                  <a:srgbClr val="0F172A"/>
                </a:solidFill>
                <a:latin typeface="Calibri"/>
              </a:rPr>
              <a:t>Mang lại thêm +$24,500 USD lợi nhuận ròng trên tập kiểm thử so với việc áp dụng ngưỡng 0.50 truyền thống.</a:t>
            </a:r>
          </a:p>
        </p:txBody>
      </p:sp>
      <p:sp>
        <p:nvSpPr>
          <p:cNvPr id="13" name="Rectangle 12"/>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Dịch chuyển ngưỡng cắt từ t = 0.50 về t = 0.42 giúp ngân hàng chủ động tiếp cận sớm nhóm khách hàng có giá trị cao trước khi phát sinh hành vi đóng thẻ.</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[PHÂN KHÚC KHÁCH HÀNG — PERSONAS]</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Cá Thể Hóa Giải Pháp Qua 3 Chân Dung: Khách Ngủ Đông (55%), Bức Xúc Dịch Vụ (25%), VIP Chuyển Dịch (20%)</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18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Phân loại dựa trên quy luật kết hợp phân cụm K-Means và phân tích cây quyết định XGBoost.</a:t>
            </a:r>
          </a:p>
        </p:txBody>
      </p:sp>
      <p:sp>
        <p:nvSpPr>
          <p:cNvPr id="8" name="Rectangle 7"/>
          <p:cNvSpPr/>
          <p:nvPr/>
        </p:nvSpPr>
        <p:spPr>
          <a:xfrm>
            <a:off x="731520" y="1417320"/>
            <a:ext cx="3456432" cy="4297680"/>
          </a:xfrm>
          <a:prstGeom prst="rect">
            <a:avLst/>
          </a:prstGeom>
          <a:solidFill>
            <a:srgbClr val="FFFFFF"/>
          </a:solidFill>
          <a:ln w="12700">
            <a:solidFill>
              <a:srgbClr val="0A254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17320"/>
            <a:ext cx="3456432" cy="77724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19" b="1">
                <a:solidFill>
                  <a:srgbClr val="FFFFFF"/>
                </a:solidFill>
                <a:latin typeface="Calibri"/>
              </a:rPr>
              <a:t>CHÂN DUNG 1 (55% TỶ TRỌNG)</a:t>
            </a:r>
          </a:p>
          <a:p>
            <a:pPr algn="ctr"/>
            <a:r>
              <a:rPr sz="1000" b="1">
                <a:solidFill>
                  <a:srgbClr val="FFFFFF"/>
                </a:solidFill>
                <a:latin typeface="Calibri"/>
              </a:rPr>
              <a:t>THE SILENT DEFECTOR (Khách hàng Ngủ đông &amp; Rút lui lặng lẽ)</a:t>
            </a:r>
          </a:p>
        </p:txBody>
      </p:sp>
      <p:sp>
        <p:nvSpPr>
          <p:cNvPr id="10" name="Rectangle 9"/>
          <p:cNvSpPr/>
          <p:nvPr/>
        </p:nvSpPr>
        <p:spPr>
          <a:xfrm>
            <a:off x="868680" y="2267712"/>
            <a:ext cx="3182112" cy="256032"/>
          </a:xfrm>
          <a:prstGeom prst="rect">
            <a:avLst/>
          </a:prstGeom>
          <a:solidFill>
            <a:srgbClr val="F1F5F9"/>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DC2626"/>
                </a:solidFill>
                <a:latin typeface="Calibri"/>
              </a:rPr>
              <a:t>MỨC NGUY CƠ: TỐI CAO [■■■]</a:t>
            </a:r>
          </a:p>
        </p:txBody>
      </p:sp>
      <p:sp>
        <p:nvSpPr>
          <p:cNvPr id="11" name="Rectangle 10"/>
          <p:cNvSpPr/>
          <p:nvPr/>
        </p:nvSpPr>
        <p:spPr>
          <a:xfrm>
            <a:off x="868680" y="2578608"/>
            <a:ext cx="3182112" cy="457200"/>
          </a:xfrm>
          <a:prstGeom prst="rect">
            <a:avLst/>
          </a:prstGeom>
          <a:solidFill>
            <a:srgbClr val="F8FAFC"/>
          </a:solidFill>
          <a:ln w="9525">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2578608"/>
            <a:ext cx="54864" cy="4572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606040"/>
            <a:ext cx="3044952" cy="384048"/>
          </a:xfrm>
          <a:prstGeom prst="rect">
            <a:avLst/>
          </a:prstGeom>
          <a:noFill/>
        </p:spPr>
        <p:txBody>
          <a:bodyPr wrap="square">
            <a:spAutoFit/>
          </a:bodyPr>
          <a:lstStyle/>
          <a:p>
            <a:pPr>
              <a:defRPr sz="900" i="1">
                <a:solidFill>
                  <a:srgbClr val="0A2540"/>
                </a:solidFill>
                <a:latin typeface="Calibri"/>
              </a:defRPr>
            </a:pPr>
            <a:r>
              <a:t>"Dạo này tôi bận quá, chẳng nhớ đến cái thẻ này nữa..."</a:t>
            </a:r>
          </a:p>
        </p:txBody>
      </p:sp>
      <p:sp>
        <p:nvSpPr>
          <p:cNvPr id="14" name="TextBox 13"/>
          <p:cNvSpPr txBox="1"/>
          <p:nvPr/>
        </p:nvSpPr>
        <p:spPr>
          <a:xfrm>
            <a:off x="868680" y="3090672"/>
            <a:ext cx="3182112" cy="2560320"/>
          </a:xfrm>
          <a:prstGeom prst="rect">
            <a:avLst/>
          </a:prstGeom>
          <a:noFill/>
        </p:spPr>
        <p:txBody>
          <a:bodyPr wrap="square" lIns="0" rIns="0" tIns="0" bIns="0">
            <a:spAutoFit/>
          </a:bodyPr>
          <a:lstStyle/>
          <a:p>
            <a:pPr>
              <a:lnSpc>
                <a:spcPct val="120000"/>
              </a:lnSpc>
              <a:spcBef>
                <a:spcPts val="400"/>
              </a:spcBef>
              <a:spcAft>
                <a:spcPts val="500"/>
              </a:spcAft>
            </a:pPr>
            <a:r>
              <a:rPr sz="930" b="1">
                <a:solidFill>
                  <a:srgbClr val="0A2540"/>
                </a:solidFill>
                <a:latin typeface="Calibri"/>
              </a:rPr>
              <a:t>Dấu hiệu nhận diện: </a:t>
            </a:r>
            <a:r>
              <a:rPr sz="930">
                <a:solidFill>
                  <a:srgbClr val="0F172A"/>
                </a:solidFill>
                <a:latin typeface="Calibri"/>
              </a:rPr>
              <a:t>Dư nợ quay vòng = 0 USD, giao dịch &lt; 45 lần/năm, chi tiêu giảm &gt; 40%.</a:t>
            </a:r>
          </a:p>
          <a:p>
            <a:pPr>
              <a:lnSpc>
                <a:spcPct val="120000"/>
              </a:lnSpc>
              <a:spcBef>
                <a:spcPts val="400"/>
              </a:spcBef>
              <a:spcAft>
                <a:spcPts val="500"/>
              </a:spcAft>
            </a:pPr>
            <a:r>
              <a:rPr sz="930" b="1">
                <a:solidFill>
                  <a:srgbClr val="0A2540"/>
                </a:solidFill>
                <a:latin typeface="Calibri"/>
              </a:rPr>
              <a:t>Nguyên nhân chính: </a:t>
            </a:r>
            <a:r>
              <a:rPr sz="930">
                <a:solidFill>
                  <a:srgbClr val="0F172A"/>
                </a:solidFill>
                <a:latin typeface="Calibri"/>
              </a:rPr>
              <a:t>Giảm nhu cầu sử dụng hoặc chuyển dần sang phương thức thanh toán khác.</a:t>
            </a:r>
          </a:p>
          <a:p>
            <a:pPr>
              <a:lnSpc>
                <a:spcPct val="120000"/>
              </a:lnSpc>
              <a:spcBef>
                <a:spcPts val="400"/>
              </a:spcBef>
              <a:spcAft>
                <a:spcPts val="500"/>
              </a:spcAft>
            </a:pPr>
            <a:r>
              <a:rPr sz="930" b="1">
                <a:solidFill>
                  <a:srgbClr val="0A2540"/>
                </a:solidFill>
                <a:latin typeface="Calibri"/>
              </a:rPr>
              <a:t>Giải pháp can thiệp: </a:t>
            </a:r>
            <a:r>
              <a:rPr sz="930">
                <a:solidFill>
                  <a:srgbClr val="0F172A"/>
                </a:solidFill>
                <a:latin typeface="Calibri"/>
              </a:rPr>
              <a:t>Thông báo nhắc nhở kèm ưu đãi hoàn tiền 5% chi tiêu ẩm thực, kích hoạt quẹt thẻ định kỳ.</a:t>
            </a:r>
          </a:p>
        </p:txBody>
      </p:sp>
      <p:sp>
        <p:nvSpPr>
          <p:cNvPr id="15" name="Rectangle 14"/>
          <p:cNvSpPr/>
          <p:nvPr/>
        </p:nvSpPr>
        <p:spPr>
          <a:xfrm>
            <a:off x="4370832" y="1417320"/>
            <a:ext cx="3456432" cy="4297680"/>
          </a:xfrm>
          <a:prstGeom prst="rect">
            <a:avLst/>
          </a:prstGeom>
          <a:solidFill>
            <a:srgbClr val="FFFFFF"/>
          </a:solidFill>
          <a:ln w="12700">
            <a:solidFill>
              <a:srgbClr val="DC2626"/>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0832" y="1417320"/>
            <a:ext cx="3456432" cy="7772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19" b="1">
                <a:solidFill>
                  <a:srgbClr val="FFFFFF"/>
                </a:solidFill>
                <a:latin typeface="Calibri"/>
              </a:rPr>
              <a:t>CHÂN DUNG 2 (25% TỶ TRỌNG)</a:t>
            </a:r>
          </a:p>
          <a:p>
            <a:pPr algn="ctr"/>
            <a:r>
              <a:rPr sz="1000" b="1">
                <a:solidFill>
                  <a:srgbClr val="FFFFFF"/>
                </a:solidFill>
                <a:latin typeface="Calibri"/>
              </a:rPr>
              <a:t>FRUSTRATED COMPLAINER (Khách hàng Bức xúc về Trải nghiệm)</a:t>
            </a:r>
          </a:p>
        </p:txBody>
      </p:sp>
      <p:sp>
        <p:nvSpPr>
          <p:cNvPr id="17" name="Rectangle 16"/>
          <p:cNvSpPr/>
          <p:nvPr/>
        </p:nvSpPr>
        <p:spPr>
          <a:xfrm>
            <a:off x="4507992" y="2267712"/>
            <a:ext cx="3182112" cy="256032"/>
          </a:xfrm>
          <a:prstGeom prst="rect">
            <a:avLst/>
          </a:prstGeom>
          <a:solidFill>
            <a:srgbClr val="F1F5F9"/>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EA580C"/>
                </a:solidFill>
                <a:latin typeface="Calibri"/>
              </a:rPr>
              <a:t>MỨC NGUY CƠ: TRUNG BÌNH [■■□]</a:t>
            </a:r>
          </a:p>
        </p:txBody>
      </p:sp>
      <p:sp>
        <p:nvSpPr>
          <p:cNvPr id="18" name="Rectangle 17"/>
          <p:cNvSpPr/>
          <p:nvPr/>
        </p:nvSpPr>
        <p:spPr>
          <a:xfrm>
            <a:off x="4507992" y="2578608"/>
            <a:ext cx="3182112" cy="457200"/>
          </a:xfrm>
          <a:prstGeom prst="rect">
            <a:avLst/>
          </a:prstGeom>
          <a:solidFill>
            <a:srgbClr val="F8FAFC"/>
          </a:solidFill>
          <a:ln w="9525">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07992" y="2578608"/>
            <a:ext cx="54864" cy="4572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606040"/>
            <a:ext cx="3044952" cy="384048"/>
          </a:xfrm>
          <a:prstGeom prst="rect">
            <a:avLst/>
          </a:prstGeom>
          <a:noFill/>
        </p:spPr>
        <p:txBody>
          <a:bodyPr wrap="square">
            <a:spAutoFit/>
          </a:bodyPr>
          <a:lstStyle/>
          <a:p>
            <a:pPr>
              <a:defRPr sz="900" i="1">
                <a:solidFill>
                  <a:srgbClr val="0A2540"/>
                </a:solidFill>
                <a:latin typeface="Calibri"/>
              </a:defRPr>
            </a:pPr>
            <a:r>
              <a:t>"Tôi đã gọi tổng đài 3 lần mà tra soát giao dịch vẫn chưa xong!"</a:t>
            </a:r>
          </a:p>
        </p:txBody>
      </p:sp>
      <p:sp>
        <p:nvSpPr>
          <p:cNvPr id="21" name="TextBox 20"/>
          <p:cNvSpPr txBox="1"/>
          <p:nvPr/>
        </p:nvSpPr>
        <p:spPr>
          <a:xfrm>
            <a:off x="4507992" y="3090672"/>
            <a:ext cx="3182112" cy="2560320"/>
          </a:xfrm>
          <a:prstGeom prst="rect">
            <a:avLst/>
          </a:prstGeom>
          <a:noFill/>
        </p:spPr>
        <p:txBody>
          <a:bodyPr wrap="square" lIns="0" rIns="0" tIns="0" bIns="0">
            <a:spAutoFit/>
          </a:bodyPr>
          <a:lstStyle/>
          <a:p>
            <a:pPr>
              <a:lnSpc>
                <a:spcPct val="120000"/>
              </a:lnSpc>
              <a:spcBef>
                <a:spcPts val="400"/>
              </a:spcBef>
              <a:spcAft>
                <a:spcPts val="500"/>
              </a:spcAft>
            </a:pPr>
            <a:r>
              <a:rPr sz="930" b="1">
                <a:solidFill>
                  <a:srgbClr val="DC2626"/>
                </a:solidFill>
                <a:latin typeface="Calibri"/>
              </a:rPr>
              <a:t>Dấu hiệu nhận diện: </a:t>
            </a:r>
            <a:r>
              <a:rPr sz="930">
                <a:solidFill>
                  <a:srgbClr val="0F172A"/>
                </a:solidFill>
                <a:latin typeface="Calibri"/>
              </a:rPr>
              <a:t>Liên hệ tổng đài CSKH từ 3 - 6 lần/năm, ngưng giao dịch sau sự cố tra soát.</a:t>
            </a:r>
          </a:p>
          <a:p>
            <a:pPr>
              <a:lnSpc>
                <a:spcPct val="120000"/>
              </a:lnSpc>
              <a:spcBef>
                <a:spcPts val="400"/>
              </a:spcBef>
              <a:spcAft>
                <a:spcPts val="500"/>
              </a:spcAft>
            </a:pPr>
            <a:r>
              <a:rPr sz="930" b="1">
                <a:solidFill>
                  <a:srgbClr val="DC2626"/>
                </a:solidFill>
                <a:latin typeface="Calibri"/>
              </a:rPr>
              <a:t>Nguyên nhân chính: </a:t>
            </a:r>
            <a:r>
              <a:rPr sz="930">
                <a:solidFill>
                  <a:srgbClr val="0F172A"/>
                </a:solidFill>
                <a:latin typeface="Calibri"/>
              </a:rPr>
              <a:t>Bất mãn với thời gian xử lý khiếu nại hoặc biểu phí/lãi suất chưa rõ ràng.</a:t>
            </a:r>
          </a:p>
          <a:p>
            <a:pPr>
              <a:lnSpc>
                <a:spcPct val="120000"/>
              </a:lnSpc>
              <a:spcBef>
                <a:spcPts val="400"/>
              </a:spcBef>
              <a:spcAft>
                <a:spcPts val="500"/>
              </a:spcAft>
            </a:pPr>
            <a:r>
              <a:rPr sz="930" b="1">
                <a:solidFill>
                  <a:srgbClr val="DC2626"/>
                </a:solidFill>
                <a:latin typeface="Calibri"/>
              </a:rPr>
              <a:t>Giải pháp can thiệp: </a:t>
            </a:r>
            <a:r>
              <a:rPr sz="930">
                <a:solidFill>
                  <a:srgbClr val="0F172A"/>
                </a:solidFill>
                <a:latin typeface="Calibri"/>
              </a:rPr>
              <a:t>Chuyên viên quản lý trực tiếp gọi điện giải quyết dứt điểm trong 24h, miễn phí thường niên 1 năm.</a:t>
            </a:r>
          </a:p>
        </p:txBody>
      </p:sp>
      <p:sp>
        <p:nvSpPr>
          <p:cNvPr id="22" name="Rectangle 21"/>
          <p:cNvSpPr/>
          <p:nvPr/>
        </p:nvSpPr>
        <p:spPr>
          <a:xfrm>
            <a:off x="8010144" y="1417320"/>
            <a:ext cx="3456432" cy="4297680"/>
          </a:xfrm>
          <a:prstGeom prst="rect">
            <a:avLst/>
          </a:prstGeom>
          <a:solidFill>
            <a:srgbClr val="FFFFFF"/>
          </a:solidFill>
          <a:ln w="12700">
            <a:solidFill>
              <a:srgbClr val="EA580C"/>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0144" y="1417320"/>
            <a:ext cx="3456432" cy="7772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19" b="1">
                <a:solidFill>
                  <a:srgbClr val="FFFFFF"/>
                </a:solidFill>
                <a:latin typeface="Calibri"/>
              </a:rPr>
              <a:t>CHÂN DUNG 3 (20% TỶ TRỌNG)</a:t>
            </a:r>
          </a:p>
          <a:p>
            <a:pPr algn="ctr"/>
            <a:r>
              <a:rPr sz="1000" b="1">
                <a:solidFill>
                  <a:srgbClr val="FFFFFF"/>
                </a:solidFill>
                <a:latin typeface="Calibri"/>
              </a:rPr>
              <a:t>THE VIP SWITCHER (Khách hàng Cao cấp Chuyển dịch)</a:t>
            </a:r>
          </a:p>
        </p:txBody>
      </p:sp>
      <p:sp>
        <p:nvSpPr>
          <p:cNvPr id="24" name="Rectangle 23"/>
          <p:cNvSpPr/>
          <p:nvPr/>
        </p:nvSpPr>
        <p:spPr>
          <a:xfrm>
            <a:off x="8147304" y="2267712"/>
            <a:ext cx="3182112" cy="256032"/>
          </a:xfrm>
          <a:prstGeom prst="rect">
            <a:avLst/>
          </a:prstGeom>
          <a:solidFill>
            <a:srgbClr val="F1F5F9"/>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59E0B"/>
                </a:solidFill>
                <a:latin typeface="Calibri"/>
              </a:rPr>
              <a:t>MỨC ƯU TIÊN: GIỮ CHÂN [■■■]</a:t>
            </a:r>
          </a:p>
        </p:txBody>
      </p:sp>
      <p:sp>
        <p:nvSpPr>
          <p:cNvPr id="25" name="Rectangle 24"/>
          <p:cNvSpPr/>
          <p:nvPr/>
        </p:nvSpPr>
        <p:spPr>
          <a:xfrm>
            <a:off x="8147304" y="2578608"/>
            <a:ext cx="3182112" cy="457200"/>
          </a:xfrm>
          <a:prstGeom prst="rect">
            <a:avLst/>
          </a:prstGeom>
          <a:solidFill>
            <a:srgbClr val="F8FAFC"/>
          </a:solidFill>
          <a:ln w="9525">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47304" y="2578608"/>
            <a:ext cx="54864" cy="4572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38744" y="2606040"/>
            <a:ext cx="3044952" cy="384048"/>
          </a:xfrm>
          <a:prstGeom prst="rect">
            <a:avLst/>
          </a:prstGeom>
          <a:noFill/>
        </p:spPr>
        <p:txBody>
          <a:bodyPr wrap="square">
            <a:spAutoFit/>
          </a:bodyPr>
          <a:lstStyle/>
          <a:p>
            <a:pPr>
              <a:defRPr sz="900" i="1">
                <a:solidFill>
                  <a:srgbClr val="0A2540"/>
                </a:solidFill>
                <a:latin typeface="Calibri"/>
              </a:defRPr>
            </a:pPr>
            <a:r>
              <a:t>"Bên ngân hàng kia vừa tặng tôi thẻ phòng chờ thương gia rồi..."</a:t>
            </a:r>
          </a:p>
        </p:txBody>
      </p:sp>
      <p:sp>
        <p:nvSpPr>
          <p:cNvPr id="28" name="TextBox 27"/>
          <p:cNvSpPr txBox="1"/>
          <p:nvPr/>
        </p:nvSpPr>
        <p:spPr>
          <a:xfrm>
            <a:off x="8147304" y="3090672"/>
            <a:ext cx="3182112" cy="2560320"/>
          </a:xfrm>
          <a:prstGeom prst="rect">
            <a:avLst/>
          </a:prstGeom>
          <a:noFill/>
        </p:spPr>
        <p:txBody>
          <a:bodyPr wrap="square" lIns="0" rIns="0" tIns="0" bIns="0">
            <a:spAutoFit/>
          </a:bodyPr>
          <a:lstStyle/>
          <a:p>
            <a:pPr>
              <a:lnSpc>
                <a:spcPct val="120000"/>
              </a:lnSpc>
              <a:spcBef>
                <a:spcPts val="400"/>
              </a:spcBef>
              <a:spcAft>
                <a:spcPts val="500"/>
              </a:spcAft>
            </a:pPr>
            <a:r>
              <a:rPr sz="930" b="1">
                <a:solidFill>
                  <a:srgbClr val="EA580C"/>
                </a:solidFill>
                <a:latin typeface="Calibri"/>
              </a:rPr>
              <a:t>Dấu hiệu nhận diện: </a:t>
            </a:r>
            <a:r>
              <a:rPr sz="930">
                <a:solidFill>
                  <a:srgbClr val="0F172A"/>
                </a:solidFill>
                <a:latin typeface="Calibri"/>
              </a:rPr>
              <a:t>Thu nhập ≥ $120K, sở hữu thẻ Gold/Platinum, hạn mức tín dụng &gt; $20,000 USD.</a:t>
            </a:r>
          </a:p>
          <a:p>
            <a:pPr>
              <a:lnSpc>
                <a:spcPct val="120000"/>
              </a:lnSpc>
              <a:spcBef>
                <a:spcPts val="400"/>
              </a:spcBef>
              <a:spcAft>
                <a:spcPts val="500"/>
              </a:spcAft>
            </a:pPr>
            <a:r>
              <a:rPr sz="930" b="1">
                <a:solidFill>
                  <a:srgbClr val="EA580C"/>
                </a:solidFill>
                <a:latin typeface="Calibri"/>
              </a:rPr>
              <a:t>Nguyên nhân chính: </a:t>
            </a:r>
            <a:r>
              <a:rPr sz="930">
                <a:solidFill>
                  <a:srgbClr val="0F172A"/>
                </a:solidFill>
                <a:latin typeface="Calibri"/>
              </a:rPr>
              <a:t>Bị ngân hàng đối thủ thu hút bởi các đặc quyền phòng chờ sân bay, golf, tích dặm bay.</a:t>
            </a:r>
          </a:p>
          <a:p>
            <a:pPr>
              <a:lnSpc>
                <a:spcPct val="120000"/>
              </a:lnSpc>
              <a:spcBef>
                <a:spcPts val="400"/>
              </a:spcBef>
              <a:spcAft>
                <a:spcPts val="500"/>
              </a:spcAft>
            </a:pPr>
            <a:r>
              <a:rPr sz="930" b="1">
                <a:solidFill>
                  <a:srgbClr val="EA580C"/>
                </a:solidFill>
                <a:latin typeface="Calibri"/>
              </a:rPr>
              <a:t>Giải pháp can thiệp: </a:t>
            </a:r>
            <a:r>
              <a:rPr sz="930">
                <a:solidFill>
                  <a:srgbClr val="0F172A"/>
                </a:solidFill>
                <a:latin typeface="Calibri"/>
              </a:rPr>
              <a:t>Chuyên viên quản lý khách hàng ưu tiên (Priority RM) chăm sóc riêng, nâng cấp quyền lợi du lịch.</a:t>
            </a:r>
          </a:p>
        </p:txBody>
      </p:sp>
      <p:sp>
        <p:nvSpPr>
          <p:cNvPr id="29" name="Rectangle 28"/>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Phân loại khách hàng theo 3 nhóm hành vi hỗ trợ xây dựng các kịch bản can thiệp có mục tiêu, nâng tỷ lệ giữ chân thành công lên 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[KHUYẾN NGHỊ QUẢN TRỊ — KHUNG 4 TẦNG]</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Khung Giữ Chân 4 Tầng Toàn Diện: Từ Cảnh Báo Sớm EWS, CSKH Chủ Động Đến Loyalty &amp; Bán Chéo</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19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Khung chính sách tích hợp giữa hệ thống công nghệ thông tin lõi (Core Banking), phân hệ CRM và quy trình chăm sóc khách hàng.</a:t>
            </a:r>
          </a:p>
        </p:txBody>
      </p:sp>
      <p:sp>
        <p:nvSpPr>
          <p:cNvPr id="8" name="Rectangle 7"/>
          <p:cNvSpPr/>
          <p:nvPr/>
        </p:nvSpPr>
        <p:spPr>
          <a:xfrm>
            <a:off x="731520" y="1417320"/>
            <a:ext cx="10728655" cy="987552"/>
          </a:xfrm>
          <a:prstGeom prst="rect">
            <a:avLst/>
          </a:prstGeom>
          <a:solidFill>
            <a:srgbClr val="FFFFFF"/>
          </a:solidFill>
          <a:ln w="12700">
            <a:solidFill>
              <a:srgbClr val="DC2626"/>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17320"/>
            <a:ext cx="109728" cy="9875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7315200" cy="804672"/>
          </a:xfrm>
          <a:prstGeom prst="rect">
            <a:avLst/>
          </a:prstGeom>
          <a:noFill/>
        </p:spPr>
        <p:txBody>
          <a:bodyPr wrap="square" lIns="0" rIns="0" tIns="0" bIns="0">
            <a:spAutoFit/>
          </a:bodyPr>
          <a:lstStyle/>
          <a:p>
            <a:pPr>
              <a:spcAft>
                <a:spcPts val="300"/>
              </a:spcAft>
              <a:defRPr sz="1050" b="1">
                <a:solidFill>
                  <a:srgbClr val="DC2626"/>
                </a:solidFill>
                <a:latin typeface="Calibri"/>
              </a:defRPr>
            </a:pPr>
            <a:r>
              <a:t>TẦNG 1: CẢNH BÁO SỚM (EARLY WARNING SYSTEM)</a:t>
            </a:r>
          </a:p>
          <a:p>
            <a:pPr>
              <a:defRPr sz="950">
                <a:solidFill>
                  <a:srgbClr val="0F172A"/>
                </a:solidFill>
                <a:latin typeface="Calibri"/>
              </a:defRPr>
            </a:pPr>
            <a:r>
              <a:t>Thiết lập cơ chế giám sát tự động các điểm kích hoạt: Khách hàng không phát sinh giao dịch trong 2 tháng → gửi thông báo ưu đãi; Chi tiêu giảm trên 30% → đưa vào luồng chăm sóc đặc biệt.</a:t>
            </a:r>
          </a:p>
        </p:txBody>
      </p:sp>
      <p:sp>
        <p:nvSpPr>
          <p:cNvPr id="11" name="Rectangle 10"/>
          <p:cNvSpPr/>
          <p:nvPr/>
        </p:nvSpPr>
        <p:spPr>
          <a:xfrm>
            <a:off x="8503920" y="1618488"/>
            <a:ext cx="2743200" cy="566928"/>
          </a:xfrm>
          <a:prstGeom prst="rect">
            <a:avLst/>
          </a:prstGeom>
          <a:solidFill>
            <a:srgbClr val="F1F5F9"/>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1673352"/>
            <a:ext cx="2651760" cy="457200"/>
          </a:xfrm>
          <a:prstGeom prst="rect">
            <a:avLst/>
          </a:prstGeom>
          <a:noFill/>
        </p:spPr>
        <p:txBody>
          <a:bodyPr wrap="none" lIns="0" rIns="0" tIns="0" bIns="0">
            <a:spAutoFit/>
          </a:bodyPr>
          <a:lstStyle/>
          <a:p>
            <a:pPr algn="ctr">
              <a:defRPr sz="950" b="1">
                <a:solidFill>
                  <a:srgbClr val="0A2540"/>
                </a:solidFill>
                <a:latin typeface="Calibri"/>
              </a:defRPr>
            </a:pPr>
            <a:r>
              <a:t>CHỈ TIÊU: Phát hiện sớm &gt; 90% rủi ro</a:t>
            </a:r>
          </a:p>
        </p:txBody>
      </p:sp>
      <p:sp>
        <p:nvSpPr>
          <p:cNvPr id="13" name="Rectangle 12"/>
          <p:cNvSpPr/>
          <p:nvPr/>
        </p:nvSpPr>
        <p:spPr>
          <a:xfrm>
            <a:off x="731520" y="2496312"/>
            <a:ext cx="10728655" cy="987552"/>
          </a:xfrm>
          <a:prstGeom prst="rect">
            <a:avLst/>
          </a:prstGeom>
          <a:solidFill>
            <a:srgbClr val="FFFFFF"/>
          </a:solidFill>
          <a:ln w="12700">
            <a:solidFill>
              <a:srgbClr val="EA580C"/>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496312"/>
            <a:ext cx="109728" cy="9875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587752"/>
            <a:ext cx="7315200" cy="804672"/>
          </a:xfrm>
          <a:prstGeom prst="rect">
            <a:avLst/>
          </a:prstGeom>
          <a:noFill/>
        </p:spPr>
        <p:txBody>
          <a:bodyPr wrap="square" lIns="0" rIns="0" tIns="0" bIns="0">
            <a:spAutoFit/>
          </a:bodyPr>
          <a:lstStyle/>
          <a:p>
            <a:pPr>
              <a:spcAft>
                <a:spcPts val="300"/>
              </a:spcAft>
              <a:defRPr sz="1050" b="1">
                <a:solidFill>
                  <a:srgbClr val="EA580C"/>
                </a:solidFill>
                <a:latin typeface="Calibri"/>
              </a:defRPr>
            </a:pPr>
            <a:r>
              <a:t>TẦNG 2: CHĂM SÓC KHÁCH HÀNG CHỦ ĐỘNG</a:t>
            </a:r>
          </a:p>
          <a:p>
            <a:pPr>
              <a:defRPr sz="950">
                <a:solidFill>
                  <a:srgbClr val="0F172A"/>
                </a:solidFill>
                <a:latin typeface="Calibri"/>
              </a:defRPr>
            </a:pPr>
            <a:r>
              <a:t>Áp dụng tiêu chuẩn giải quyết khiếu nại trong lần liên hệ đầu tiên (FCR); Tự động phân luồng khách hàng có từ 3 lần gọi tra soát trở lên tới đội ngũ chuyên viên xử lý sự cố ưu tiên.</a:t>
            </a:r>
          </a:p>
        </p:txBody>
      </p:sp>
      <p:sp>
        <p:nvSpPr>
          <p:cNvPr id="16" name="Rectangle 15"/>
          <p:cNvSpPr/>
          <p:nvPr/>
        </p:nvSpPr>
        <p:spPr>
          <a:xfrm>
            <a:off x="8503920" y="2697480"/>
            <a:ext cx="2743200" cy="566928"/>
          </a:xfrm>
          <a:prstGeom prst="rect">
            <a:avLst/>
          </a:prstGeom>
          <a:solidFill>
            <a:srgbClr val="F1F5F9"/>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752344"/>
            <a:ext cx="2651760" cy="457200"/>
          </a:xfrm>
          <a:prstGeom prst="rect">
            <a:avLst/>
          </a:prstGeom>
          <a:noFill/>
        </p:spPr>
        <p:txBody>
          <a:bodyPr wrap="none" lIns="0" rIns="0" tIns="0" bIns="0">
            <a:spAutoFit/>
          </a:bodyPr>
          <a:lstStyle/>
          <a:p>
            <a:pPr algn="ctr">
              <a:defRPr sz="950" b="1">
                <a:solidFill>
                  <a:srgbClr val="0A2540"/>
                </a:solidFill>
                <a:latin typeface="Calibri"/>
              </a:defRPr>
            </a:pPr>
            <a:r>
              <a:t>CHỈ TIÊU: FCR &gt; 85%, tỷ lệ rời bỏ &lt; 5%</a:t>
            </a:r>
          </a:p>
        </p:txBody>
      </p:sp>
      <p:sp>
        <p:nvSpPr>
          <p:cNvPr id="18" name="Rectangle 17"/>
          <p:cNvSpPr/>
          <p:nvPr/>
        </p:nvSpPr>
        <p:spPr>
          <a:xfrm>
            <a:off x="731520" y="3575304"/>
            <a:ext cx="10728655" cy="987552"/>
          </a:xfrm>
          <a:prstGeom prst="rect">
            <a:avLst/>
          </a:prstGeom>
          <a:solidFill>
            <a:srgbClr val="FFFFFF"/>
          </a:solidFill>
          <a:ln w="12700">
            <a:solidFill>
              <a:srgbClr val="0284C7"/>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575304"/>
            <a:ext cx="109728" cy="9875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66744"/>
            <a:ext cx="7315200" cy="804672"/>
          </a:xfrm>
          <a:prstGeom prst="rect">
            <a:avLst/>
          </a:prstGeom>
          <a:noFill/>
        </p:spPr>
        <p:txBody>
          <a:bodyPr wrap="square" lIns="0" rIns="0" tIns="0" bIns="0">
            <a:spAutoFit/>
          </a:bodyPr>
          <a:lstStyle/>
          <a:p>
            <a:pPr>
              <a:spcAft>
                <a:spcPts val="300"/>
              </a:spcAft>
              <a:defRPr sz="1050" b="1">
                <a:solidFill>
                  <a:srgbClr val="0284C7"/>
                </a:solidFill>
                <a:latin typeface="Calibri"/>
              </a:defRPr>
            </a:pPr>
            <a:r>
              <a:t>TẦNG 3: CHƯƠNG TRÌNH KHÁCH HÀNG THÂN THIẾT (LOYALTY)</a:t>
            </a:r>
          </a:p>
          <a:p>
            <a:pPr>
              <a:defRPr sz="950">
                <a:solidFill>
                  <a:srgbClr val="0F172A"/>
                </a:solidFill>
                <a:latin typeface="Calibri"/>
              </a:defRPr>
            </a:pPr>
            <a:r>
              <a:t>Đa dạng hóa cơ chế tích điểm thưởng dựa trên tần suất quẹt thẻ thay vì chỉ tính theo doanh số; Liên kết mạng lưới đối tác tiêu dùng cung cấp ưu đãi giảm giá thường nhật.</a:t>
            </a:r>
          </a:p>
        </p:txBody>
      </p:sp>
      <p:sp>
        <p:nvSpPr>
          <p:cNvPr id="21" name="Rectangle 20"/>
          <p:cNvSpPr/>
          <p:nvPr/>
        </p:nvSpPr>
        <p:spPr>
          <a:xfrm>
            <a:off x="8503920" y="3776472"/>
            <a:ext cx="2743200" cy="566928"/>
          </a:xfrm>
          <a:prstGeom prst="rect">
            <a:avLst/>
          </a:prstGeom>
          <a:solidFill>
            <a:srgbClr val="F1F5F9"/>
          </a:solidFill>
          <a:ln w="952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3831336"/>
            <a:ext cx="2651760" cy="457200"/>
          </a:xfrm>
          <a:prstGeom prst="rect">
            <a:avLst/>
          </a:prstGeom>
          <a:noFill/>
        </p:spPr>
        <p:txBody>
          <a:bodyPr wrap="none" lIns="0" rIns="0" tIns="0" bIns="0">
            <a:spAutoFit/>
          </a:bodyPr>
          <a:lstStyle/>
          <a:p>
            <a:pPr algn="ctr">
              <a:defRPr sz="950" b="1">
                <a:solidFill>
                  <a:srgbClr val="0A2540"/>
                </a:solidFill>
                <a:latin typeface="Calibri"/>
              </a:defRPr>
            </a:pPr>
            <a:r>
              <a:t>CHỈ TIÊU: Tần suất GD ≥ 5 lần/tháng</a:t>
            </a:r>
          </a:p>
        </p:txBody>
      </p:sp>
      <p:sp>
        <p:nvSpPr>
          <p:cNvPr id="23" name="Rectangle 22"/>
          <p:cNvSpPr/>
          <p:nvPr/>
        </p:nvSpPr>
        <p:spPr>
          <a:xfrm>
            <a:off x="731520" y="4654296"/>
            <a:ext cx="10728655" cy="987552"/>
          </a:xfrm>
          <a:prstGeom prst="rect">
            <a:avLst/>
          </a:prstGeom>
          <a:solidFill>
            <a:srgbClr val="FFFFFF"/>
          </a:solidFill>
          <a:ln w="12700">
            <a:solidFill>
              <a:srgbClr val="10B981"/>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654296"/>
            <a:ext cx="109728" cy="9875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745736"/>
            <a:ext cx="7315200" cy="804672"/>
          </a:xfrm>
          <a:prstGeom prst="rect">
            <a:avLst/>
          </a:prstGeom>
          <a:noFill/>
        </p:spPr>
        <p:txBody>
          <a:bodyPr wrap="square" lIns="0" rIns="0" tIns="0" bIns="0">
            <a:spAutoFit/>
          </a:bodyPr>
          <a:lstStyle/>
          <a:p>
            <a:pPr>
              <a:spcAft>
                <a:spcPts val="300"/>
              </a:spcAft>
              <a:defRPr sz="1050" b="1">
                <a:solidFill>
                  <a:srgbClr val="10B981"/>
                </a:solidFill>
                <a:latin typeface="Calibri"/>
              </a:defRPr>
            </a:pPr>
            <a:r>
              <a:t>TẦNG 4: LIÊN KẾT HỆ SINH THÁI ĐA SẢN PHẨM (CROSS-SELLING)</a:t>
            </a:r>
          </a:p>
          <a:p>
            <a:pPr>
              <a:defRPr sz="950">
                <a:solidFill>
                  <a:srgbClr val="0F172A"/>
                </a:solidFill>
                <a:latin typeface="Calibri"/>
              </a:defRPr>
            </a:pPr>
            <a:r>
              <a:t>Xây dựng gói dịch vụ tài chính tích hợp (Thẻ tín dụng + Tài khoản nhận lương + Tiết kiệm online) nhằm nâng cao chi phí chuyển đổi của khách hàng.</a:t>
            </a:r>
          </a:p>
        </p:txBody>
      </p:sp>
      <p:sp>
        <p:nvSpPr>
          <p:cNvPr id="26" name="Rectangle 25"/>
          <p:cNvSpPr/>
          <p:nvPr/>
        </p:nvSpPr>
        <p:spPr>
          <a:xfrm>
            <a:off x="8503920" y="4855464"/>
            <a:ext cx="2743200" cy="566928"/>
          </a:xfrm>
          <a:prstGeom prst="rect">
            <a:avLst/>
          </a:prstGeom>
          <a:solidFill>
            <a:srgbClr val="F1F5F9"/>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40" y="4910328"/>
            <a:ext cx="2651760" cy="457200"/>
          </a:xfrm>
          <a:prstGeom prst="rect">
            <a:avLst/>
          </a:prstGeom>
          <a:noFill/>
        </p:spPr>
        <p:txBody>
          <a:bodyPr wrap="none" lIns="0" rIns="0" tIns="0" bIns="0">
            <a:spAutoFit/>
          </a:bodyPr>
          <a:lstStyle/>
          <a:p>
            <a:pPr algn="ctr">
              <a:defRPr sz="950" b="1">
                <a:solidFill>
                  <a:srgbClr val="0A2540"/>
                </a:solidFill>
                <a:latin typeface="Calibri"/>
              </a:defRPr>
            </a:pPr>
            <a:r>
              <a:t>CHỈ TIÊU: Khách sở hữu ≥ 4 SP đạt &gt; 65%</a:t>
            </a:r>
          </a:p>
        </p:txBody>
      </p:sp>
      <p:sp>
        <p:nvSpPr>
          <p:cNvPr id="28" name="Rectangle 27"/>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Khung chính sách 4 tầng kết hợp giữa phát hiện rủi ro theo thời gian thực và xây dựng rào cản chuyển đổi tự nhiên qua hệ sinh thái dịch vụ.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0A2540"/>
                </a:solidFill>
                <a:latin typeface="Calibri"/>
              </a:rPr>
              <a:t>HỌC VIỆN NGÂN HÀNG | BÀI TẬP GIỮA KỲ — PHÂN TÍCH DỮ LIỆU KINH DOANH  •  </a:t>
            </a:r>
            <a:r>
              <a:rPr sz="919" b="1">
                <a:solidFill>
                  <a:srgbClr val="EA580C"/>
                </a:solidFill>
                <a:latin typeface="Calibri"/>
              </a:rPr>
              <a:t>[MÔ PHỎNG TÀI CHÍNH &amp; ROI]</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0A2540"/>
                </a:solidFill>
                <a:latin typeface="Calibri"/>
              </a:defRPr>
            </a:pPr>
            <a:r>
              <a:t>Mô Phỏng Tài Chính Trên 10,000 Khách Hàng: Giữ Chân 960 Khách, Tạo Lợi Nhuận Ròng +$400,000 USD</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64748B"/>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0A2540"/>
                </a:solidFill>
                <a:latin typeface="Calibri"/>
              </a:defRPr>
            </a:pPr>
            <a:r>
              <a:t>20 / 21</a:t>
            </a:r>
          </a:p>
        </p:txBody>
      </p:sp>
      <p:sp>
        <p:nvSpPr>
          <p:cNvPr id="7" name="TextBox 6"/>
          <p:cNvSpPr txBox="1"/>
          <p:nvPr/>
        </p:nvSpPr>
        <p:spPr>
          <a:xfrm>
            <a:off x="731520" y="6327648"/>
            <a:ext cx="10728655" cy="182880"/>
          </a:xfrm>
          <a:prstGeom prst="rect">
            <a:avLst/>
          </a:prstGeom>
          <a:noFill/>
        </p:spPr>
        <p:txBody>
          <a:bodyPr wrap="none" lIns="0" rIns="0" tIns="0" bIns="0">
            <a:spAutoFit/>
          </a:bodyPr>
          <a:lstStyle/>
          <a:p>
            <a:pPr>
              <a:defRPr sz="819" i="1">
                <a:solidFill>
                  <a:srgbClr val="94A3B8"/>
                </a:solidFill>
                <a:latin typeface="Calibri"/>
              </a:defRPr>
            </a:pPr>
            <a:r>
              <a:t>(*) Mô phỏng xác định: Chi phí can thiệp bình quân $50/khách; Giá trị vòng đời khách hàng CLV = $500; Tỷ lệ can thiệp thành công 75%.</a:t>
            </a:r>
          </a:p>
        </p:txBody>
      </p:sp>
      <p:sp>
        <p:nvSpPr>
          <p:cNvPr id="8" name="Rectangle 7"/>
          <p:cNvSpPr/>
          <p:nvPr/>
        </p:nvSpPr>
        <p:spPr>
          <a:xfrm>
            <a:off x="731520" y="1920240"/>
            <a:ext cx="2514600" cy="3840480"/>
          </a:xfrm>
          <a:prstGeom prst="rect">
            <a:avLst/>
          </a:prstGeom>
          <a:solidFill>
            <a:srgbClr val="FFFFFF"/>
          </a:solidFill>
          <a:ln w="15240">
            <a:solidFill>
              <a:srgbClr val="DC2626"/>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20240"/>
            <a:ext cx="2514600" cy="11430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920240"/>
            <a:ext cx="251460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011680"/>
            <a:ext cx="2295144" cy="960120"/>
          </a:xfrm>
          <a:prstGeom prst="rect">
            <a:avLst/>
          </a:prstGeom>
          <a:noFill/>
        </p:spPr>
        <p:txBody>
          <a:bodyPr wrap="none">
            <a:spAutoFit/>
          </a:bodyPr>
          <a:lstStyle/>
          <a:p>
            <a:pPr>
              <a:spcAft>
                <a:spcPts val="300"/>
              </a:spcAft>
              <a:defRPr sz="919" b="1">
                <a:solidFill>
                  <a:srgbClr val="DC2626"/>
                </a:solidFill>
                <a:latin typeface="Calibri"/>
              </a:defRPr>
            </a:pPr>
            <a:r>
              <a:t>BƯỚC 1: ĐẦU TƯ CRC</a:t>
            </a:r>
          </a:p>
          <a:p>
            <a:pPr>
              <a:defRPr sz="2200" b="1">
                <a:solidFill>
                  <a:srgbClr val="DC2626"/>
                </a:solidFill>
                <a:latin typeface="Calibri"/>
              </a:defRPr>
            </a:pPr>
            <a:r>
              <a:t>$80,000 USD</a:t>
            </a:r>
          </a:p>
        </p:txBody>
      </p:sp>
      <p:sp>
        <p:nvSpPr>
          <p:cNvPr id="12" name="Rectangle 11"/>
          <p:cNvSpPr/>
          <p:nvPr/>
        </p:nvSpPr>
        <p:spPr>
          <a:xfrm>
            <a:off x="731520" y="3063240"/>
            <a:ext cx="251460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00400"/>
            <a:ext cx="2240280" cy="2468880"/>
          </a:xfrm>
          <a:prstGeom prst="rect">
            <a:avLst/>
          </a:prstGeom>
          <a:noFill/>
        </p:spPr>
        <p:txBody>
          <a:bodyPr wrap="square" lIns="0" rIns="0" tIns="0" bIns="0">
            <a:spAutoFit/>
          </a:bodyPr>
          <a:lstStyle/>
          <a:p>
            <a:pPr>
              <a:defRPr sz="980">
                <a:solidFill>
                  <a:srgbClr val="0F172A"/>
                </a:solidFill>
                <a:latin typeface="Calibri"/>
              </a:defRPr>
            </a:pPr>
            <a:r>
              <a:t>Chi phí can thiệp ưu đãi &amp; CSKH cho 1,600 khách hàng (bình quân $50/khách).</a:t>
            </a:r>
          </a:p>
        </p:txBody>
      </p:sp>
      <p:sp>
        <p:nvSpPr>
          <p:cNvPr id="14" name="Right Arrow 13"/>
          <p:cNvSpPr/>
          <p:nvPr/>
        </p:nvSpPr>
        <p:spPr>
          <a:xfrm>
            <a:off x="3273552" y="2423160"/>
            <a:ext cx="128016" cy="182880"/>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1737360"/>
            <a:ext cx="2514600" cy="4023360"/>
          </a:xfrm>
          <a:prstGeom prst="rect">
            <a:avLst/>
          </a:prstGeom>
          <a:solidFill>
            <a:srgbClr val="FFFFFF"/>
          </a:solidFill>
          <a:ln w="15240">
            <a:solidFill>
              <a:srgbClr val="0A2540"/>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1737360"/>
            <a:ext cx="2514600" cy="1143000"/>
          </a:xfrm>
          <a:prstGeom prst="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1737360"/>
            <a:ext cx="2514600" cy="54864"/>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8728" y="1828800"/>
            <a:ext cx="2295144" cy="960120"/>
          </a:xfrm>
          <a:prstGeom prst="rect">
            <a:avLst/>
          </a:prstGeom>
          <a:noFill/>
        </p:spPr>
        <p:txBody>
          <a:bodyPr wrap="none">
            <a:spAutoFit/>
          </a:bodyPr>
          <a:lstStyle/>
          <a:p>
            <a:pPr>
              <a:spcAft>
                <a:spcPts val="300"/>
              </a:spcAft>
              <a:defRPr sz="919" b="1">
                <a:solidFill>
                  <a:srgbClr val="0A2540"/>
                </a:solidFill>
                <a:latin typeface="Calibri"/>
              </a:defRPr>
            </a:pPr>
            <a:r>
              <a:t>BƯỚC 2: XGBOOST (t=0.42)</a:t>
            </a:r>
          </a:p>
          <a:p>
            <a:pPr>
              <a:defRPr sz="2200" b="1">
                <a:solidFill>
                  <a:srgbClr val="0A2540"/>
                </a:solidFill>
                <a:latin typeface="Calibri"/>
              </a:defRPr>
            </a:pPr>
            <a:r>
              <a:t>91.38% RECALL</a:t>
            </a:r>
          </a:p>
        </p:txBody>
      </p:sp>
      <p:sp>
        <p:nvSpPr>
          <p:cNvPr id="19" name="Rectangle 18"/>
          <p:cNvSpPr/>
          <p:nvPr/>
        </p:nvSpPr>
        <p:spPr>
          <a:xfrm>
            <a:off x="3429000" y="2880360"/>
            <a:ext cx="251460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3017520"/>
            <a:ext cx="2240280" cy="2651760"/>
          </a:xfrm>
          <a:prstGeom prst="rect">
            <a:avLst/>
          </a:prstGeom>
          <a:noFill/>
        </p:spPr>
        <p:txBody>
          <a:bodyPr wrap="square" lIns="0" rIns="0" tIns="0" bIns="0">
            <a:spAutoFit/>
          </a:bodyPr>
          <a:lstStyle/>
          <a:p>
            <a:pPr>
              <a:defRPr sz="980">
                <a:solidFill>
                  <a:srgbClr val="0F172A"/>
                </a:solidFill>
                <a:latin typeface="Calibri"/>
              </a:defRPr>
            </a:pPr>
            <a:r>
              <a:t>Phát hiện chính xác 1,468 khách hàng có nguy cơ rời bỏ (chỉ bỏ sót 8.6%).</a:t>
            </a:r>
          </a:p>
        </p:txBody>
      </p:sp>
      <p:sp>
        <p:nvSpPr>
          <p:cNvPr id="21" name="Right Arrow 20"/>
          <p:cNvSpPr/>
          <p:nvPr/>
        </p:nvSpPr>
        <p:spPr>
          <a:xfrm>
            <a:off x="5971032" y="2240280"/>
            <a:ext cx="128016" cy="182880"/>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1554480"/>
            <a:ext cx="2514600" cy="4206240"/>
          </a:xfrm>
          <a:prstGeom prst="rect">
            <a:avLst/>
          </a:prstGeom>
          <a:solidFill>
            <a:srgbClr val="FFFFFF"/>
          </a:solidFill>
          <a:ln w="15240">
            <a:solidFill>
              <a:srgbClr val="0284C7"/>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1554480"/>
            <a:ext cx="2514600" cy="1143000"/>
          </a:xfrm>
          <a:prstGeom prst="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1554480"/>
            <a:ext cx="2514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36208" y="1645920"/>
            <a:ext cx="2295144" cy="960120"/>
          </a:xfrm>
          <a:prstGeom prst="rect">
            <a:avLst/>
          </a:prstGeom>
          <a:noFill/>
        </p:spPr>
        <p:txBody>
          <a:bodyPr wrap="none">
            <a:spAutoFit/>
          </a:bodyPr>
          <a:lstStyle/>
          <a:p>
            <a:pPr>
              <a:spcAft>
                <a:spcPts val="300"/>
              </a:spcAft>
              <a:defRPr sz="919" b="1">
                <a:solidFill>
                  <a:srgbClr val="0284C7"/>
                </a:solidFill>
                <a:latin typeface="Calibri"/>
              </a:defRPr>
            </a:pPr>
            <a:r>
              <a:t>BƯỚC 3: BẢO TOÀN CLV</a:t>
            </a:r>
          </a:p>
          <a:p>
            <a:pPr>
              <a:defRPr sz="2200" b="1">
                <a:solidFill>
                  <a:srgbClr val="0284C7"/>
                </a:solidFill>
                <a:latin typeface="Calibri"/>
              </a:defRPr>
            </a:pPr>
            <a:r>
              <a:t>$480,000 USD</a:t>
            </a:r>
          </a:p>
        </p:txBody>
      </p:sp>
      <p:sp>
        <p:nvSpPr>
          <p:cNvPr id="26" name="Rectangle 25"/>
          <p:cNvSpPr/>
          <p:nvPr/>
        </p:nvSpPr>
        <p:spPr>
          <a:xfrm>
            <a:off x="6126480" y="2697480"/>
            <a:ext cx="251460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2834640"/>
            <a:ext cx="2240280" cy="2834640"/>
          </a:xfrm>
          <a:prstGeom prst="rect">
            <a:avLst/>
          </a:prstGeom>
          <a:noFill/>
        </p:spPr>
        <p:txBody>
          <a:bodyPr wrap="square" lIns="0" rIns="0" tIns="0" bIns="0">
            <a:spAutoFit/>
          </a:bodyPr>
          <a:lstStyle/>
          <a:p>
            <a:pPr>
              <a:defRPr sz="980">
                <a:solidFill>
                  <a:srgbClr val="0F172A"/>
                </a:solidFill>
                <a:latin typeface="Calibri"/>
              </a:defRPr>
            </a:pPr>
            <a:r>
              <a:t>Bảo toàn thành công 960 khách hàng có giá trị trọn đời ($500 CLV/khách).</a:t>
            </a:r>
          </a:p>
        </p:txBody>
      </p:sp>
      <p:sp>
        <p:nvSpPr>
          <p:cNvPr id="28" name="Right Arrow 27"/>
          <p:cNvSpPr/>
          <p:nvPr/>
        </p:nvSpPr>
        <p:spPr>
          <a:xfrm>
            <a:off x="8668512" y="2057400"/>
            <a:ext cx="128016" cy="182880"/>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23960" y="1371600"/>
            <a:ext cx="2514600" cy="4389120"/>
          </a:xfrm>
          <a:prstGeom prst="rect">
            <a:avLst/>
          </a:prstGeom>
          <a:solidFill>
            <a:srgbClr val="FFFFFF"/>
          </a:solidFill>
          <a:ln w="15240">
            <a:solidFill>
              <a:srgbClr val="10B981"/>
            </a:solidFill>
          </a:ln>
          <a:effectLst>
            <a:outerShdw blurRad="80000" dist="20000" dir="5400000" algn="b"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823960" y="1371600"/>
            <a:ext cx="2514600" cy="11430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23960" y="1371600"/>
            <a:ext cx="25146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33688" y="1463040"/>
            <a:ext cx="2295144" cy="960120"/>
          </a:xfrm>
          <a:prstGeom prst="rect">
            <a:avLst/>
          </a:prstGeom>
          <a:noFill/>
        </p:spPr>
        <p:txBody>
          <a:bodyPr wrap="none">
            <a:spAutoFit/>
          </a:bodyPr>
          <a:lstStyle/>
          <a:p>
            <a:pPr>
              <a:spcAft>
                <a:spcPts val="300"/>
              </a:spcAft>
              <a:defRPr sz="919" b="1">
                <a:solidFill>
                  <a:srgbClr val="10B981"/>
                </a:solidFill>
                <a:latin typeface="Calibri"/>
              </a:defRPr>
            </a:pPr>
            <a:r>
              <a:t>BƯỚC 4: LỢI NHUẬN RÒNG</a:t>
            </a:r>
          </a:p>
          <a:p>
            <a:pPr>
              <a:defRPr sz="2200" b="1">
                <a:solidFill>
                  <a:srgbClr val="10B981"/>
                </a:solidFill>
                <a:latin typeface="Calibri"/>
              </a:defRPr>
            </a:pPr>
            <a:r>
              <a:t>+$400,000 USD</a:t>
            </a:r>
          </a:p>
        </p:txBody>
      </p:sp>
      <p:sp>
        <p:nvSpPr>
          <p:cNvPr id="33" name="Rectangle 32"/>
          <p:cNvSpPr/>
          <p:nvPr/>
        </p:nvSpPr>
        <p:spPr>
          <a:xfrm>
            <a:off x="8823960" y="2514600"/>
            <a:ext cx="2514600" cy="137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0" y="2651760"/>
            <a:ext cx="2240280" cy="3017520"/>
          </a:xfrm>
          <a:prstGeom prst="rect">
            <a:avLst/>
          </a:prstGeom>
          <a:noFill/>
        </p:spPr>
        <p:txBody>
          <a:bodyPr wrap="square" lIns="0" rIns="0" tIns="0" bIns="0">
            <a:spAutoFit/>
          </a:bodyPr>
          <a:lstStyle/>
          <a:p>
            <a:pPr>
              <a:defRPr sz="980">
                <a:solidFill>
                  <a:srgbClr val="0F172A"/>
                </a:solidFill>
                <a:latin typeface="Calibri"/>
              </a:defRPr>
            </a:pPr>
            <a:r>
              <a:t>Lợi nhuận ròng tăng thêm hàng năm, tương ứng tỷ suất sinh lời danh nghĩa ROI = 500%.</a:t>
            </a:r>
          </a:p>
        </p:txBody>
      </p:sp>
      <p:sp>
        <p:nvSpPr>
          <p:cNvPr id="35" name="Rectangle 34"/>
          <p:cNvSpPr/>
          <p:nvPr/>
        </p:nvSpPr>
        <p:spPr>
          <a:xfrm>
            <a:off x="731520" y="5888736"/>
            <a:ext cx="10728655" cy="402336"/>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 y="5888736"/>
            <a:ext cx="73152" cy="40233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943600"/>
            <a:ext cx="10424160" cy="292608"/>
          </a:xfrm>
          <a:prstGeom prst="rect">
            <a:avLst/>
          </a:prstGeom>
          <a:noFill/>
        </p:spPr>
        <p:txBody>
          <a:bodyPr wrap="square" lIns="0" rIns="0" tIns="0" bIns="0">
            <a:spAutoFit/>
          </a:bodyPr>
          <a:lstStyle/>
          <a:p>
            <a:r>
              <a:rPr sz="980" b="1">
                <a:solidFill>
                  <a:srgbClr val="EA580C"/>
                </a:solidFill>
                <a:latin typeface="Calibri"/>
              </a:rPr>
              <a:t>HÀM Ý QUẢN TRỊ: </a:t>
            </a:r>
            <a:r>
              <a:rPr sz="980">
                <a:solidFill>
                  <a:srgbClr val="0A2540"/>
                </a:solidFill>
                <a:latin typeface="Calibri"/>
              </a:rPr>
              <a:t>Mô phỏng kinh tế xác nhận tính khả thi của giải pháp: chuyển đổi năng lực dự báo thành giá trị lợi nhuận định lượng cho ngân hàng thương mại.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731520" y="292608"/>
            <a:ext cx="10728655" cy="256032"/>
          </a:xfrm>
          <a:prstGeom prst="rect">
            <a:avLst/>
          </a:prstGeom>
          <a:noFill/>
        </p:spPr>
        <p:txBody>
          <a:bodyPr wrap="square" lIns="0" rIns="0" tIns="0" bIns="0">
            <a:spAutoFit/>
          </a:bodyPr>
          <a:lstStyle/>
          <a:p>
            <a:r>
              <a:rPr sz="919" b="1">
                <a:solidFill>
                  <a:srgbClr val="F59E0B"/>
                </a:solidFill>
                <a:latin typeface="Calibri"/>
              </a:rPr>
              <a:t>HỌC VIỆN NGÂN HÀNG | BÀI TẬP GIỮA KỲ — PHÂN TÍCH DỮ LIỆU KINH DOANH  •  </a:t>
            </a:r>
            <a:r>
              <a:rPr sz="919" b="1">
                <a:solidFill>
                  <a:srgbClr val="EA580C"/>
                </a:solidFill>
                <a:latin typeface="Calibri"/>
              </a:rPr>
              <a:t>[TỔNG KẾT &amp; PHẢN BIỆN]</a:t>
            </a:r>
          </a:p>
        </p:txBody>
      </p:sp>
      <p:sp>
        <p:nvSpPr>
          <p:cNvPr id="3" name="TextBox 2"/>
          <p:cNvSpPr txBox="1"/>
          <p:nvPr/>
        </p:nvSpPr>
        <p:spPr>
          <a:xfrm>
            <a:off x="731520" y="548640"/>
            <a:ext cx="10728655" cy="621792"/>
          </a:xfrm>
          <a:prstGeom prst="rect">
            <a:avLst/>
          </a:prstGeom>
          <a:noFill/>
        </p:spPr>
        <p:txBody>
          <a:bodyPr wrap="square" lIns="0" rIns="0" tIns="0" bIns="0">
            <a:spAutoFit/>
          </a:bodyPr>
          <a:lstStyle/>
          <a:p>
            <a:pPr>
              <a:defRPr sz="1850" b="1">
                <a:solidFill>
                  <a:srgbClr val="FFFFFF"/>
                </a:solidFill>
                <a:latin typeface="Calibri"/>
              </a:defRPr>
            </a:pPr>
            <a:r>
              <a:t>Tổng Kết Đề Tài: Đóng Góp Thực Tiễn, Giới Hạn Nghiên Cứu &amp; Định Hướng Phát Triển MLOps / Deep Learning</a:t>
            </a:r>
          </a:p>
        </p:txBody>
      </p:sp>
      <p:sp>
        <p:nvSpPr>
          <p:cNvPr id="4" name="Rectangle 3"/>
          <p:cNvSpPr/>
          <p:nvPr/>
        </p:nvSpPr>
        <p:spPr>
          <a:xfrm>
            <a:off x="731520" y="1225296"/>
            <a:ext cx="2011680" cy="3657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28816"/>
            <a:ext cx="10728655" cy="237744"/>
          </a:xfrm>
          <a:prstGeom prst="rect">
            <a:avLst/>
          </a:prstGeom>
          <a:noFill/>
        </p:spPr>
        <p:txBody>
          <a:bodyPr wrap="none" lIns="0" rIns="0" tIns="0" bIns="0">
            <a:spAutoFit/>
          </a:bodyPr>
          <a:lstStyle/>
          <a:p>
            <a:pPr>
              <a:defRPr sz="900">
                <a:solidFill>
                  <a:srgbClr val="94A3B8"/>
                </a:solidFill>
                <a:latin typeface="Calibri"/>
              </a:defRPr>
            </a:pPr>
            <a:r>
              <a:t>Học viện Ngân hàng (BAV)  •  Học phần: Phân tích Dữ liệu trong Kinh doanh  •  Học viên: Đỗ Văn Đạt</a:t>
            </a:r>
          </a:p>
        </p:txBody>
      </p:sp>
      <p:sp>
        <p:nvSpPr>
          <p:cNvPr id="6" name="TextBox 5"/>
          <p:cNvSpPr txBox="1"/>
          <p:nvPr/>
        </p:nvSpPr>
        <p:spPr>
          <a:xfrm>
            <a:off x="9601200" y="6528816"/>
            <a:ext cx="1858975" cy="237744"/>
          </a:xfrm>
          <a:prstGeom prst="rect">
            <a:avLst/>
          </a:prstGeom>
          <a:noFill/>
        </p:spPr>
        <p:txBody>
          <a:bodyPr wrap="none" lIns="0" rIns="0" tIns="0" bIns="0">
            <a:spAutoFit/>
          </a:bodyPr>
          <a:lstStyle/>
          <a:p>
            <a:pPr algn="r">
              <a:defRPr sz="1000" b="1">
                <a:solidFill>
                  <a:srgbClr val="F59E0B"/>
                </a:solidFill>
                <a:latin typeface="Calibri"/>
              </a:defRPr>
            </a:pPr>
            <a:r>
              <a:t>21 / 21</a:t>
            </a:r>
          </a:p>
        </p:txBody>
      </p:sp>
      <p:sp>
        <p:nvSpPr>
          <p:cNvPr id="7" name="Rectangle 6"/>
          <p:cNvSpPr/>
          <p:nvPr/>
        </p:nvSpPr>
        <p:spPr>
          <a:xfrm>
            <a:off x="731520" y="1417320"/>
            <a:ext cx="3456432" cy="3291840"/>
          </a:xfrm>
          <a:prstGeom prst="rect">
            <a:avLst/>
          </a:prstGeom>
          <a:solidFill>
            <a:srgbClr val="0F1F3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17320"/>
            <a:ext cx="3456432"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600200"/>
            <a:ext cx="3127248" cy="3017520"/>
          </a:xfrm>
          <a:prstGeom prst="rect">
            <a:avLst/>
          </a:prstGeom>
          <a:noFill/>
        </p:spPr>
        <p:txBody>
          <a:bodyPr wrap="square" lIns="0" rIns="0" tIns="0" bIns="0">
            <a:spAutoFit/>
          </a:bodyPr>
          <a:lstStyle/>
          <a:p>
            <a:pPr>
              <a:spcAft>
                <a:spcPts val="600"/>
              </a:spcAft>
              <a:defRPr sz="1100" b="1">
                <a:solidFill>
                  <a:srgbClr val="F59E0B"/>
                </a:solidFill>
                <a:latin typeface="Calibri"/>
              </a:defRPr>
            </a:pPr>
            <a:r>
              <a:t>1. ĐÓNG GÓP CỦA ĐỀ TÀI</a:t>
            </a:r>
          </a:p>
          <a:p>
            <a:pPr>
              <a:lnSpc>
                <a:spcPct val="115000"/>
              </a:lnSpc>
              <a:spcBef>
                <a:spcPts val="400"/>
              </a:spcBef>
              <a:spcAft>
                <a:spcPts val="400"/>
              </a:spcAft>
            </a:pPr>
            <a:r>
              <a:rPr sz="950" b="1">
                <a:solidFill>
                  <a:srgbClr val="F59E0B"/>
                </a:solidFill>
                <a:latin typeface="Calibri"/>
              </a:rPr>
              <a:t>Quy trình nghiên cứu khép kín: </a:t>
            </a:r>
            <a:r>
              <a:rPr sz="950">
                <a:solidFill>
                  <a:srgbClr val="E2E8F0"/>
                </a:solidFill>
                <a:latin typeface="Calibri"/>
              </a:rPr>
              <a:t>Xây dựng pipeline chuẩn từ tiền xử lý, kiểm soát rò rỉ nhãn đến huấn luyện và giải thích mô hình XAI.</a:t>
            </a:r>
          </a:p>
          <a:p>
            <a:pPr>
              <a:lnSpc>
                <a:spcPct val="115000"/>
              </a:lnSpc>
              <a:spcBef>
                <a:spcPts val="400"/>
              </a:spcBef>
              <a:spcAft>
                <a:spcPts val="400"/>
              </a:spcAft>
            </a:pPr>
            <a:r>
              <a:rPr sz="950" b="1">
                <a:solidFill>
                  <a:srgbClr val="F59E0B"/>
                </a:solidFill>
                <a:latin typeface="Calibri"/>
              </a:rPr>
              <a:t>Tối ưu hóa kinh tế thực tiễn: </a:t>
            </a:r>
            <a:r>
              <a:rPr sz="950">
                <a:solidFill>
                  <a:srgbClr val="E2E8F0"/>
                </a:solidFill>
                <a:latin typeface="Calibri"/>
              </a:rPr>
              <a:t>Xác định ngưỡng cắt tối ưu t = 0.42 mang lại hiệu quả bảo toàn doanh thu cao hơn ngưỡng 0.50.</a:t>
            </a:r>
          </a:p>
          <a:p>
            <a:pPr>
              <a:lnSpc>
                <a:spcPct val="115000"/>
              </a:lnSpc>
              <a:spcBef>
                <a:spcPts val="400"/>
              </a:spcBef>
              <a:spcAft>
                <a:spcPts val="400"/>
              </a:spcAft>
            </a:pPr>
            <a:r>
              <a:rPr sz="950" b="1">
                <a:solidFill>
                  <a:srgbClr val="F59E0B"/>
                </a:solidFill>
                <a:latin typeface="Calibri"/>
              </a:rPr>
              <a:t>Định hướng chính sách cụ thể: </a:t>
            </a:r>
            <a:r>
              <a:rPr sz="950">
                <a:solidFill>
                  <a:srgbClr val="E2E8F0"/>
                </a:solidFill>
                <a:latin typeface="Calibri"/>
              </a:rPr>
              <a:t>Đề xuất khung giải pháp 4 tầng gắn với 3 chân dung khách hàng đặc thù.</a:t>
            </a:r>
          </a:p>
        </p:txBody>
      </p:sp>
      <p:sp>
        <p:nvSpPr>
          <p:cNvPr id="10" name="Rectangle 9"/>
          <p:cNvSpPr/>
          <p:nvPr/>
        </p:nvSpPr>
        <p:spPr>
          <a:xfrm>
            <a:off x="4370832" y="1417320"/>
            <a:ext cx="3456432" cy="3291840"/>
          </a:xfrm>
          <a:prstGeom prst="rect">
            <a:avLst/>
          </a:prstGeom>
          <a:solidFill>
            <a:srgbClr val="0F1F38"/>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417320"/>
            <a:ext cx="3456432"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1600200"/>
            <a:ext cx="3127248" cy="3017520"/>
          </a:xfrm>
          <a:prstGeom prst="rect">
            <a:avLst/>
          </a:prstGeom>
          <a:noFill/>
        </p:spPr>
        <p:txBody>
          <a:bodyPr wrap="square" lIns="0" rIns="0" tIns="0" bIns="0">
            <a:spAutoFit/>
          </a:bodyPr>
          <a:lstStyle/>
          <a:p>
            <a:pPr>
              <a:spcAft>
                <a:spcPts val="600"/>
              </a:spcAft>
              <a:defRPr sz="1100" b="1">
                <a:solidFill>
                  <a:srgbClr val="EA580C"/>
                </a:solidFill>
                <a:latin typeface="Calibri"/>
              </a:defRPr>
            </a:pPr>
            <a:r>
              <a:t>2. HẠN CHẾ CỦA NGHIÊN CỨU</a:t>
            </a:r>
          </a:p>
          <a:p>
            <a:pPr>
              <a:lnSpc>
                <a:spcPct val="115000"/>
              </a:lnSpc>
              <a:spcBef>
                <a:spcPts val="400"/>
              </a:spcBef>
              <a:spcAft>
                <a:spcPts val="400"/>
              </a:spcAft>
            </a:pPr>
            <a:r>
              <a:rPr sz="950" b="1">
                <a:solidFill>
                  <a:srgbClr val="EA580C"/>
                </a:solidFill>
                <a:latin typeface="Calibri"/>
              </a:rPr>
              <a:t>Bản chất dữ liệu cắt ngang: </a:t>
            </a:r>
            <a:r>
              <a:rPr sz="950">
                <a:solidFill>
                  <a:srgbClr val="E2E8F0"/>
                </a:solidFill>
                <a:latin typeface="Calibri"/>
              </a:rPr>
              <a:t>Tập dữ liệu gốc chưa ghi nhận biến động chuỗi thời gian liên tục (Time-series) của từng giao dịch phát sinh.</a:t>
            </a:r>
          </a:p>
          <a:p>
            <a:pPr>
              <a:lnSpc>
                <a:spcPct val="115000"/>
              </a:lnSpc>
              <a:spcBef>
                <a:spcPts val="400"/>
              </a:spcBef>
              <a:spcAft>
                <a:spcPts val="400"/>
              </a:spcAft>
            </a:pPr>
            <a:r>
              <a:rPr sz="950" b="1">
                <a:solidFill>
                  <a:srgbClr val="EA580C"/>
                </a:solidFill>
                <a:latin typeface="Calibri"/>
              </a:rPr>
              <a:t>Phạm vi dữ liệu thực nghiệm: </a:t>
            </a:r>
            <a:r>
              <a:rPr sz="950">
                <a:solidFill>
                  <a:srgbClr val="E2E8F0"/>
                </a:solidFill>
                <a:latin typeface="Calibri"/>
              </a:rPr>
              <a:t>Chưa tích hợp các nguồn dữ liệu phi cấu trúc (nhật ký ghi âm cuộc gọi CSKH, dữ liệu lịch sử tín dụng CIC quốc gia).</a:t>
            </a:r>
          </a:p>
          <a:p>
            <a:pPr>
              <a:lnSpc>
                <a:spcPct val="115000"/>
              </a:lnSpc>
              <a:spcBef>
                <a:spcPts val="400"/>
              </a:spcBef>
              <a:spcAft>
                <a:spcPts val="400"/>
              </a:spcAft>
            </a:pPr>
            <a:r>
              <a:rPr sz="950" b="1">
                <a:solidFill>
                  <a:srgbClr val="EA580C"/>
                </a:solidFill>
                <a:latin typeface="Calibri"/>
              </a:rPr>
              <a:t>Giả định chi phí cố định: </a:t>
            </a:r>
            <a:r>
              <a:rPr sz="950">
                <a:solidFill>
                  <a:srgbClr val="E2E8F0"/>
                </a:solidFill>
                <a:latin typeface="Calibri"/>
              </a:rPr>
              <a:t>Chi phí can thiệp $50/khách là mức giả định bình quân mang tính đại diện.</a:t>
            </a:r>
          </a:p>
        </p:txBody>
      </p:sp>
      <p:sp>
        <p:nvSpPr>
          <p:cNvPr id="13" name="Rectangle 12"/>
          <p:cNvSpPr/>
          <p:nvPr/>
        </p:nvSpPr>
        <p:spPr>
          <a:xfrm>
            <a:off x="8010144" y="1417320"/>
            <a:ext cx="3456432" cy="3291840"/>
          </a:xfrm>
          <a:prstGeom prst="rect">
            <a:avLst/>
          </a:prstGeom>
          <a:solidFill>
            <a:srgbClr val="0F1F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10144" y="1417320"/>
            <a:ext cx="3456432"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1600200"/>
            <a:ext cx="3127248" cy="3017520"/>
          </a:xfrm>
          <a:prstGeom prst="rect">
            <a:avLst/>
          </a:prstGeom>
          <a:noFill/>
        </p:spPr>
        <p:txBody>
          <a:bodyPr wrap="square" lIns="0" rIns="0" tIns="0" bIns="0">
            <a:spAutoFit/>
          </a:bodyPr>
          <a:lstStyle/>
          <a:p>
            <a:pPr>
              <a:spcAft>
                <a:spcPts val="600"/>
              </a:spcAft>
              <a:defRPr sz="1100" b="1">
                <a:solidFill>
                  <a:srgbClr val="10B981"/>
                </a:solidFill>
                <a:latin typeface="Calibri"/>
              </a:defRPr>
            </a:pPr>
            <a:r>
              <a:t>3. ĐỊNH HƯỚNG PHÁT TRIỂN</a:t>
            </a:r>
          </a:p>
          <a:p>
            <a:pPr>
              <a:lnSpc>
                <a:spcPct val="115000"/>
              </a:lnSpc>
              <a:spcBef>
                <a:spcPts val="400"/>
              </a:spcBef>
              <a:spcAft>
                <a:spcPts val="400"/>
              </a:spcAft>
            </a:pPr>
            <a:r>
              <a:rPr sz="950" b="1">
                <a:solidFill>
                  <a:srgbClr val="10B981"/>
                </a:solidFill>
                <a:latin typeface="Calibri"/>
              </a:rPr>
              <a:t>Mô hình học sâu (Deep Learning): </a:t>
            </a:r>
            <a:r>
              <a:rPr sz="950">
                <a:solidFill>
                  <a:srgbClr val="E2E8F0"/>
                </a:solidFill>
                <a:latin typeface="Calibri"/>
              </a:rPr>
              <a:t>Thử nghiệm các kiến trúc chuyên biệt cho dữ liệu bảng như TabNet và Transformer-based Models.</a:t>
            </a:r>
          </a:p>
          <a:p>
            <a:pPr>
              <a:lnSpc>
                <a:spcPct val="115000"/>
              </a:lnSpc>
              <a:spcBef>
                <a:spcPts val="400"/>
              </a:spcBef>
              <a:spcAft>
                <a:spcPts val="400"/>
              </a:spcAft>
            </a:pPr>
            <a:r>
              <a:rPr sz="950" b="1">
                <a:solidFill>
                  <a:srgbClr val="10B981"/>
                </a:solidFill>
                <a:latin typeface="Calibri"/>
              </a:rPr>
              <a:t>Kiến trúc MLOps thời gian thực: </a:t>
            </a:r>
            <a:r>
              <a:rPr sz="950">
                <a:solidFill>
                  <a:srgbClr val="E2E8F0"/>
                </a:solidFill>
                <a:latin typeface="Calibri"/>
              </a:rPr>
              <a:t>Thiết lập pipeline chấm điểm rủi ro tự động trên nền tảng luồng dữ liệu Kafka / Spark Streaming.</a:t>
            </a:r>
          </a:p>
          <a:p>
            <a:pPr>
              <a:lnSpc>
                <a:spcPct val="115000"/>
              </a:lnSpc>
              <a:spcBef>
                <a:spcPts val="400"/>
              </a:spcBef>
              <a:spcAft>
                <a:spcPts val="400"/>
              </a:spcAft>
            </a:pPr>
            <a:r>
              <a:rPr sz="950" b="1">
                <a:solidFill>
                  <a:srgbClr val="10B981"/>
                </a:solidFill>
                <a:latin typeface="Calibri"/>
              </a:rPr>
              <a:t>Cá thể hóa mức độ vi mô: </a:t>
            </a:r>
            <a:r>
              <a:rPr sz="950">
                <a:solidFill>
                  <a:srgbClr val="E2E8F0"/>
                </a:solidFill>
                <a:latin typeface="Calibri"/>
              </a:rPr>
              <a:t>Ứng dụng SHAP Force Plot hỗ trợ nhân viên quản lý khách hàng giải thích rủi ro trên từng tài khoản cá nhân.</a:t>
            </a:r>
          </a:p>
        </p:txBody>
      </p:sp>
      <p:sp>
        <p:nvSpPr>
          <p:cNvPr id="16" name="Rectangle 15"/>
          <p:cNvSpPr/>
          <p:nvPr/>
        </p:nvSpPr>
        <p:spPr>
          <a:xfrm>
            <a:off x="731520" y="4846320"/>
            <a:ext cx="10728655" cy="1371600"/>
          </a:xfrm>
          <a:prstGeom prst="rect">
            <a:avLst/>
          </a:prstGeom>
          <a:solidFill>
            <a:srgbClr val="06172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56048"/>
            <a:ext cx="10362895" cy="1097280"/>
          </a:xfrm>
          <a:prstGeom prst="rect">
            <a:avLst/>
          </a:prstGeom>
          <a:noFill/>
        </p:spPr>
        <p:txBody>
          <a:bodyPr wrap="square" lIns="0" rIns="0" tIns="0" bIns="0">
            <a:spAutoFit/>
          </a:bodyPr>
          <a:lstStyle/>
          <a:p>
            <a:pPr algn="ctr"/>
            <a:r>
              <a:rPr sz="1300" b="1">
                <a:solidFill>
                  <a:srgbClr val="F59E0B"/>
                </a:solidFill>
                <a:latin typeface="Calibri"/>
              </a:rPr>
              <a:t>XIN TRÂN TRỌNG CẢM ƠN QUÝ THẦY/CÔ VÀ CÁC BẠN HỌC VIÊN ĐÃ LẮNG NGHE</a:t>
            </a:r>
          </a:p>
          <a:p>
            <a:pPr algn="ctr">
              <a:spcBef>
                <a:spcPts val="300"/>
              </a:spcBef>
            </a:pPr>
            <a:r>
              <a:rPr sz="1050" b="1">
                <a:solidFill>
                  <a:srgbClr val="FFFFFF"/>
                </a:solidFill>
                <a:latin typeface="Calibri"/>
              </a:rPr>
              <a:t>HỌC VIỆN NGÂN HÀNG (BANKING ACADEMY OF VIETNAM)  •  PHIÊN BẢO VỆ &amp; HỎI ĐÁP (Q&amp;A)</a:t>
            </a:r>
          </a:p>
          <a:p>
            <a:pPr algn="ctr">
              <a:spcBef>
                <a:spcPts val="200"/>
              </a:spcBef>
            </a:pPr>
            <a:r>
              <a:rPr sz="1000" i="1">
                <a:solidFill>
                  <a:srgbClr val="BAE6FD"/>
                </a:solidFill>
                <a:latin typeface="Calibri"/>
              </a:rPr>
              <a:t>Rất mong nhận được các ý kiến nhận xét, đóng góp và câu hỏi phản biện từ Hội đồng chấm luận văn.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