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10"/>
    <p:sldId id="272" r:id="rId9"/>
    <p:sldId id="273" r:id="rId8"/>
    <p:sldId id="274" r:id="rId7"/>
    <p:sldId id="275" r:id="rId6"/>
    <p:sldId id="276" r:id="rId31"/>
  </p:sldIdLst>
  <p:sldSz cy="10287000" cx="18288000"/>
  <p:notesSz cx="6858000" cy="9144000"/>
  <p:embeddedFontLst>
    <p:embeddedFont>
      <p:font typeface="Arimo"/>
      <p:regular r:id="rId26"/>
      <p:bold r:id="rId27"/>
      <p:italic r:id="rId28"/>
      <p:boldItalic r:id="rId29"/>
    </p:embeddedFont>
    <p:embeddedFont>
      <p:font typeface="Bebas Neue"/>
      <p:regular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0.xml"/><Relationship Id="rId7" Type="http://schemas.openxmlformats.org/officeDocument/2006/relationships/slide" Target="slides/slide19.xml"/><Relationship Id="rId8" Type="http://schemas.openxmlformats.org/officeDocument/2006/relationships/slide" Target="slides/slide18.xml"/><Relationship Id="rId9" Type="http://schemas.openxmlformats.org/officeDocument/2006/relationships/slide" Target="slides/slide17.xml"/><Relationship Id="rId10" Type="http://schemas.openxmlformats.org/officeDocument/2006/relationships/slide" Target="slides/slide16.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font" Target="fonts/Arimo-regular.fntdata"/><Relationship Id="rId27" Type="http://schemas.openxmlformats.org/officeDocument/2006/relationships/font" Target="fonts/Arimo-bold.fntdata"/><Relationship Id="rId28" Type="http://schemas.openxmlformats.org/officeDocument/2006/relationships/font" Target="fonts/Arimo-italic.fntdata"/><Relationship Id="rId29" Type="http://schemas.openxmlformats.org/officeDocument/2006/relationships/font" Target="fonts/Arimo-boldItalic.fntdata"/><Relationship Id="rId30" Type="http://schemas.openxmlformats.org/officeDocument/2006/relationships/font" Target="fonts/BebasNeue-regular.fntdata"/><Relationship Id="rId31"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Kính thưa Thầy/Cô trong Hội đồng chấm bảo vệ và toàn thể các bạn học viên cao học.</a:t>
            </a:r>
          </a:p>
          <a:p>
            <a:r>
              <a:t>Hôm nay tôi xin phép được báo cáo kết quả nghiên cứu bài tập giữa kỳ môn Xử lý và Khai phá Dữ liệu với đề tài: 'Phân tích hành vi, Phân cụm và Dự báo nguy cơ rời bỏ của khách hàng thẻ tín dụng tại Ngân hàng thương mại'.</a:t>
            </a:r>
          </a:p>
          <a:p>
            <a:r>
              <a:t>Đề tài được thực hiện trên bộ dữ liệu thực tế 10,127 khách hàng với mục tiêu chuyển hóa năng lực dự báo Machine Learning thành giá trị kinh tế ròng cho ngân hàng.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Báo cáo được cấu trúc thành 5 trụ cột chiến lược logic và chặt chẽ theo nguyên lý Pyramid Principle:</a:t>
            </a:r>
          </a:p>
          <a:p>
            <a:r>
              <a:t>Bắt đầu từ Bối cảnh thị trường và Bài toán chi phí CAC vs CRC;</a:t>
            </a:r>
          </a:p>
          <a:p>
            <a:r>
              <a:t>Tiếp nối là Phương pháp luận và Tiền xử lý dữ liệu ngăn ngừa rò rỉ;</a:t>
            </a:r>
          </a:p>
          <a:p>
            <a:r>
              <a:t>Kế đến là Khai phá EDA 6 chiều hành vi then chốt và Phân cụm khách hàng;</a:t>
            </a:r>
          </a:p>
          <a:p>
            <a:r>
              <a:t>Trọng tâm thực nghiệm là Mô hình hóa dự báo với XGBoost và Giải thích XAI;</a:t>
            </a:r>
          </a:p>
          <a:p>
            <a:r>
              <a:t>Và cuối cùng là Tối ưu hóa ngưỡng quyết định kinh tế cùng Khung chiến lược giữ chân 4 tầng tạo ROI 500%.</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Tại slide Tóm tắt điều hành này, tôi xin nhấn mạnh 4 kết quả then chốt nhất của toàn bộ nghiên cứu:</a:t>
            </a:r>
          </a:p>
          <a:p>
            <a:r>
              <a:t>Thứ nhất: Tỷ lệ rời bỏ tự nhiên 16.07% với tỷ lệ mất cân bằng 1:5.22, đòi hỏi không thể dùng Accuracy mà phải tập trung vào Recall và ROC-AUC.</a:t>
            </a:r>
          </a:p>
          <a:p>
            <a:r>
              <a:t>Thứ hai: Mô hình XGBoost Classifier đạt ROC-AUC 0.9930 và Recall 91.38%, chỉ bỏ sót 28 khách hàng rời bỏ.</a:t>
            </a:r>
          </a:p>
          <a:p>
            <a:r>
              <a:t>Thứ ba: Thay vì áp dụng ngưỡng cắt 0.50 mặc định, đề tài xác lập điểm cắt tối ưu t* = 0.42 mang lại lợi nhuận cao nhất.</a:t>
            </a:r>
          </a:p>
          <a:p>
            <a:r>
              <a:t>Và thứ tư: Mô phỏng tài chính chứng minh giải pháp tạo ra 400,000 USD lợi nhuận ròng hàng năm trên 10,000 khách hàng, đạt tỷ suất sinh lời ROI lên tới 500%.</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hiểu rõ tại sao đề tài này có ý nghĩa sống còn đối với ngân hàng, chúng ta cần nhìn vào bài toán kinh tế học mảng thẻ:</a:t>
            </a:r>
          </a:p>
          <a:p>
            <a:r>
              <a:t>Quy tắc kinh tế 5:1 chỉ ra rằng chi phí thu hút một khách hàng thẻ mới (CAC) tiêu tốn tới 250 - 300 USD cho marketing, thẩm định CIC và phát hành thẻ.</a:t>
            </a:r>
          </a:p>
          <a:p>
            <a:r>
              <a:t>Trong khi đó, chi phí giữ chân một khách hàng cũ (CRC) chỉ tiêu tốn từ 40 - 50 USD.</a:t>
            </a:r>
          </a:p>
          <a:p>
            <a:r>
              <a:t>Nếu ngân hàng chỉ đợi khách hàng nộp đơn hủy thẻ mới can thiệp thì đã quá muộn. Mô hình Machine Learning đóng vai trò là một Hệ thống Cảnh báo sớm (EWS) giúp ngân hàng can thiệp trước 2 đến 3 tháng khi các tín hiệu sụt giảm giao dịch vừa chớm xuất hiện.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đảm bảo tính chặt chẽ về mặt khoa học dữ liệu, đề tài tuân thủ quy trình Pipeline 4 giai đoạn khép kín:</a:t>
            </a:r>
          </a:p>
          <a:p>
            <a:r>
              <a:t>Giai đoạn 1 tập trung vào Tiền xử lý dữ liệu và Ngăn chặn rò rỉ dữ liệu (Data Leakage) — một lỗi rất phổ biến khi sử dụng bộ dữ liệu BankChurners.</a:t>
            </a:r>
          </a:p>
          <a:p>
            <a:r>
              <a:t>Giai đoạn 2 thực hiện Khám phá EDA trên 6 chiều dữ liệu kết hợp Phân cụm K-Means để bóc tách phân khúc.</a:t>
            </a:r>
          </a:p>
          <a:p>
            <a:r>
              <a:t>Giai đoạn 3 là Huấn luyện và Đánh giá 4 thuật toán Machine Learning qua Stratified 5-Fold Cross Validation.</a:t>
            </a:r>
          </a:p>
          <a:p>
            <a:r>
              <a:t>Và Giai đoạn 4 là Chuyển giao ứng dụng quản trị: Giải thích XAI, Tối ưu ngưỡng cắt kinh tế và Đo lường ROI định lượng.</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Về mặt kỹ thuật dữ liệu, đề tài đặc biệt lưu ý đến tính hợp lệ của bài toán:</a:t>
            </a:r>
          </a:p>
          <a:p>
            <a:r>
              <a:t>Nhiều nghiên cứu trước đây đã mắc lỗi nghiêm trọng khi giữ lại 2 cột Naive Bayes ở cuối bảng BankChurners, dẫn đến hiện tượng Data Leakage làm mô hình đạt kết quả hoàn hảo giả tạo. Nghiên cứu của tôi đã loại bỏ triệt để 2 cột này trước mọi bước xử lý.</a:t>
            </a:r>
          </a:p>
          <a:p>
            <a:r>
              <a:t>Đồng thời, đề tài kiến tạo 5 biến phái sinh tài chính mới: nổi bật nhất là biến Mật độ quẹt thẻ (Trans_Ct_Density) và Tỷ lệ đòn bẩy nợ (Revolving_Ratio). Các biến này sau đó được chứng minh là có giá trị giải thích vượt trội trong mô hình XGBoost.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Kính thưa Hội đồng, bước vào phần Khám phá dữ liệu EDA, phát hiện đầu tiên là sự mất cân bằng lớp 1:5.22 với 16.07% khách hàng rời bỏ.</a:t>
            </a:r>
          </a:p>
          <a:p>
            <a:r>
              <a:t>Nếu chỉ nhìn vào Accuracy, một mô hình dự báo toàn bộ khách hàng ở lại vẫn đạt tới gần 84% độ chính xác nhưng hoàn toàn vô giá trị về mặt thực tiễn.</a:t>
            </a:r>
          </a:p>
          <a:p>
            <a:r>
              <a:t>Vì vậy, toàn bộ nghiên cứu này tập trung vào Recall (khả năng phát hiện đúng khách hàng churn) và diện tích dưới đường cong ROC-AUC.</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Khám phá nhân khẩu học chỉ ra một phát hiện rất thú vị: Hiện tượng rủi ro phân hóa 2 đầu thu nhập.</a:t>
            </a:r>
          </a:p>
          <a:p>
            <a:r>
              <a:t>Nhóm thu nhập thấp dưới 40K USD và nhóm thu nhập cao trên 120K USD đều có tỷ lệ đóng thẻ cao trên 17%, nhưng nguyên nhân hoàn toàn khác nhau.</a:t>
            </a:r>
          </a:p>
          <a:p>
            <a:r>
              <a:t>Nhóm thu nhập thấp nhạy cảm với biểu phí thường niên, trong khi nhóm VIP dễ bị ngân hàng đối thủ lôi kéo bởi các đặc quyền thẻ thượng lưu.</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Về hành vi giao dịch, tần suất quẹt thẻ chính là chiếc 'nhiệt kế' đo lường sức khỏe khách hàng.</a:t>
            </a:r>
          </a:p>
          <a:p>
            <a:r>
              <a:t>Khách hàng rời bỏ chỉ quẹt thẻ trung bình 44 lần một năm, sụt giảm tới 35%.</a:t>
            </a:r>
          </a:p>
          <a:p>
            <a:r>
              <a:t>Khi phân tích biểu đồ phân tán, chúng tôi phát hiện ra một 'Vùng báo động đỏ': Khách hàng có dưới 55 lần quẹt thẻ và chi tiêu dưới 3,000 USD có nguy cơ đóng thẻ lên tới hơn 60%.</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Khám phá thứ tư mang tên 'Hiện tượng rút lui lặng lẽ' (Silent Churn).</a:t>
            </a:r>
          </a:p>
          <a:p>
            <a:r>
              <a:t>Gần 55% khách hàng rời bỏ có dư nợ quay vòng bằng đúng 0 USD tại thời điểm ghi nhận dữ liệu.</a:t>
            </a:r>
          </a:p>
          <a:p>
            <a:r>
              <a:t>Họ không thông báo trước cho ngân hàng mà lặng lẽ trả hết nợ thẻ, ngưng quẹt thẻ mới, và sau đó 1-2 tháng mới chính thức yêu cầu đóng tài khoản. Đây là cơ hội bằng vàng để ngân hàng kích hoạt ưu đãi giữ chân.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Phân tích về kênh liên hệ tổng đài CSKH bộc lộ một sự thật nghiêm túc về mặt trải nghiệm khách hàng.</a:t>
            </a:r>
          </a:p>
          <a:p>
            <a:r>
              <a:t>Nếu khách hàng chỉ gọi 1-2 lần, tỷ lệ rời bỏ ở mức bình thường. Nhưng đến cuộc gọi thứ 3, tỷ lệ Churn tăng gấp đôi lên 28.6%, gọi lần 4 tăng lên 52% và gọi lần 6 thì 100% khách hàng đóng thẻ.</a:t>
            </a:r>
          </a:p>
          <a:p>
            <a:r>
              <a:t>Điều này phản ánh các khiếu nại của khách hàng bị đùn đẩy, xử lý chậm trễ khiến họ bức xúc và quyết định hủy thẻ.</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Điểm chạm cuối cùng của phần EDA là Hệ sinh thái sản phẩm và Hiệu ứng khóa chân (Lock-in Effect).</a:t>
            </a:r>
          </a:p>
          <a:p>
            <a:r>
              <a:t>Nếu khách hàng chỉ dùng 1-2 sản phẩm, chi phí chuyển đổi của họ bằng 0 nên tỷ lệ rời bỏ lên tới trên 25%.</a:t>
            </a:r>
          </a:p>
          <a:p>
            <a:r>
              <a:t>Ngược lại, nếu khách hàng sử dụng từ 4 sản phẩm trở lên, tỷ lệ rời bỏ giảm ngoạn mục xuống dưới 10%.</a:t>
            </a:r>
          </a:p>
          <a:p>
            <a:r>
              <a:t>Đây là bằng chứng đanh thép ủng hộ chiến lược bán chéo các sản phẩm gắn kết như tài khoản nhận lương và tiền gửi thanh toán.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Trước khi bước vào huấn luyện Machine Learning có giám sát, nghiên cứu áp dụng thuật toán học không giám sát K-Means kết hợp giảm chiều PCA.</a:t>
            </a:r>
          </a:p>
          <a:p>
            <a:r>
              <a:t>Kết quả chỉ ra cấu trúc 4 phân cụm tối ưu. Trong đó, Cụm 1 được định danh là 'Tâm điểm rủi ro' khi tập trung tới 52.6% tổng lượng khách hàng rời bỏ của toàn bộ ngân hàng.</a:t>
            </a:r>
          </a:p>
          <a:p>
            <a:r>
              <a:t>Nhờ phân đoạn này, ngân hàng tránh được việc áp dụng các chính sách chăm sóc cào bằng tốn kém, mà tập trung ngân sách chính xác vào Cụm 1.</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Kính thưa Hội đồng, đây là kết quả thực nghiệm mô hình hóa cốt lõi của đề tài.</a:t>
            </a:r>
          </a:p>
          <a:p>
            <a:r>
              <a:t>Bốn thuật toán Machine Learning đại diện đã được thử nghiệm độc lập trên tập kiểm thử 2,026 quan sát.</a:t>
            </a:r>
          </a:p>
          <a:p>
            <a:r>
              <a:t>Kết quả cho thấy XGBoost Classifier là mô hình chiến thắng toàn diện, đạt diện tích ROC-AUC lên tới 0.9930, Recall 91.38% và Precision 91.08%.</a:t>
            </a:r>
          </a:p>
          <a:p>
            <a:r>
              <a:t>Đường cong ROC màu cam của XGBoost áp sát góc trên bên trái, thể hiện năng lực phân tách thực nghiệm vượt trội so với Random Forest và Logistic Regression.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Trong bài toán ngân hàng, việc hiểu rõ Ma trận nhầm lẫn là yếu tố quyết định hiệu quả triển khai.</a:t>
            </a:r>
          </a:p>
          <a:p>
            <a:r>
              <a:t>Sai số Loại II (bỏ sót khách rời bỏ) là sai số gây tổn thất nặng nề nhất. Mô hình XGBoost đã kiểm soát sai số này ở mức ấn tượng: Trong 325 khách rời bỏ, chỉ bỏ sót duy nhất 28 khách (tỷ lệ 8.6%).</a:t>
            </a:r>
          </a:p>
          <a:p>
            <a:r>
              <a:t>Đồng thời, tỷ lệ báo động giả (Sai số Loại I) chỉ ở mức 2.12%, đảm bảo bộ phận CSKH không bị lãng phí công sức gọi điện chăm sóc những khách hàng vốn dĩ đang rất hài lòng.</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giải quyết vấn đề mô hình 'Hộp đen' (Black-box), nghiên cứu đã áp dụng kỹ thuật Explainable AI để trích xuất 5 đòn bẩy quan trọng nhất.</a:t>
            </a:r>
          </a:p>
          <a:p>
            <a:r>
              <a:t>Đứng đầu bảng với hơn 25% trọng số là Tổng số lần giao dịch, tiếp theo là Mức độ sụt giảm chi tiêu quý 4 so với quý 1 và Dư nợ quay vòng.</a:t>
            </a:r>
          </a:p>
          <a:p>
            <a:r>
              <a:t>Điều này hoàn toàn khớp với logic ngân hàng: Khách hàng không bao giờ bỏ đi đột ngột mà luôn trải qua quá trình giảm tần suất quẹt thẻ và thanh toán hết nợ trước đó vài tháng.</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đóng góp quan trọng của đề tài là không áp dụng máy móc ngưỡng cắt xác suất 0.50 mặc định, mà xây dựng hàm tối ưu hóa Chi phí - Lợi ích thực tế cho ngân hàng.</a:t>
            </a:r>
          </a:p>
          <a:p>
            <a:r>
              <a:t>Với giá trị khách hàng giữ lại được là 500 USD và chi phí can thiệp chỉ 50 USD, việc hạ ngưỡng cắt xác suất xuống t = 0.42 cho phép ngân hàng chủ động can thiệp sớm vào nhóm khách hàng chớm có nguy cơ.</a:t>
            </a:r>
          </a:p>
          <a:p>
            <a:r>
              <a:t>Đường cong Net Benefit chứng minh tại t = 0.42, ngân hàng thu được lợi nhuận kinh tế ròng tối đa, cao hơn 24,500 USD so với ngưỡng 0.50 trên tập test.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chính sách can thiệp đi vào thực tế của ngân hàng, nghiên cứu đã xây dựng 3 chân dung khách hàng rời bỏ điển hình:</a:t>
            </a:r>
          </a:p>
          <a:p>
            <a:r>
              <a:t>Thứ nhất là 'The Silent Defector' chiếm 55% Churn: nhóm này lặng lẽ đưa dư nợ về 0 USD và giảm quẹt thẻ. Giải pháp là tặng voucher hoàn tiền kích hoạt lại chi tiêu.</a:t>
            </a:r>
          </a:p>
          <a:p>
            <a:r>
              <a:t>Thứ hai là 'Frustrated Complainer' chiếm 25% Churn: nhóm bức xúc gọi CSKH trên 3 lần. Giải pháp là cấp quản lý gọi điện xử lý dứt điểm trong 24h và miễn phí thường niên.</a:t>
            </a:r>
          </a:p>
          <a:p>
            <a:r>
              <a:t>Thứ ba là 'The VIP Switcher' chiếm 20% Churn: nhóm khách hàng giàu có thu nhập trên 120K USD. Giải pháp là chuyên viên Priority RM chăm sóc 1-1 và nâng cấp đặc quyền phòng chờ sân bay.</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Từ các phát hiện nghiên cứu, đề tài đề xuất Khung chiến lược giữ chân khách hàng 4 tầng toàn diện kèm KPI định lượng:</a:t>
            </a:r>
          </a:p>
          <a:p>
            <a:r>
              <a:t>Tầng 1 là Hệ thống Cảnh báo sớm EWS kích hoạt tự động theo thời gian thực.</a:t>
            </a:r>
          </a:p>
          <a:p>
            <a:r>
              <a:t>Tầng 2 là Quy trình CSKH chủ động nhằm nâng chỉ tiêu giải quyết lần đầu FCR lên trên 85%.</a:t>
            </a:r>
          </a:p>
          <a:p>
            <a:r>
              <a:t>Tầng 3 là Chương trình Gamified Loyalty kích thích tần suất quẹt thẻ định kỳ hàng tuần.</a:t>
            </a:r>
          </a:p>
          <a:p>
            <a:r>
              <a:t>Và Tầng 4 là Bán chéo hệ sinh thái nhằm tạo rào cản chuyển đổi tự nhiên bền vững. Bốn tầng này phối hợp đồng bộ tạo thành pháo đài vững chắc bảo vệ danh mục thẻ của ngân hàng.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chứng minh tính khả thi kinh tế của đề tài, nghiên cứu xây dựng mô phỏng tài chính trên quy mô danh mục 10,000 khách hàng:</a:t>
            </a:r>
          </a:p>
          <a:p>
            <a:r>
              <a:t>Với tỷ lệ rời bỏ tự nhiên 16.07%, mô hình XGBoost phát hiện được 1,468 khách hàng có nguy cơ.</a:t>
            </a:r>
          </a:p>
          <a:p>
            <a:r>
              <a:t>Khi triển khai gói can thiệp ưu đãi 50 USD/khách với tỷ lệ cứu vãn kỳ vọng 75%, ngân hàng giữ lại thành công 960 khách hàng, tương đương bảo tồn 480,000 USD giá trị CLV.</a:t>
            </a:r>
          </a:p>
          <a:p>
            <a:r>
              <a:t>Sau khi trừ đi toàn bộ 80,000 USD chi phí thực hiện, dự án đem lại +400,000 USD lợi nhuận ròng hàng năm, đạt tỷ suất sinh lời danh nghĩa ROI lên tới 500%.</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Kính thưa Thầy/Cô và các bạn, bài báo cáo nghiên cứu của tôi đến đây là kết thúc.</a:t>
            </a:r>
          </a:p>
          <a:p>
            <a:r>
              <a:t>Đề tài đã hoàn thành xuất sắc các mục tiêu nghiên cứu: từ kiểm soát chặt chẽ dữ liệu, huấn luyện mô hình XGBoost đạt ROC-AUC 0.9930 đến tối ưu hóa kinh tế ROI 500%.</a:t>
            </a:r>
          </a:p>
          <a:p>
            <a:r>
              <a:t>Tôi xin trân trọng cảm ơn Quý Thầy/Cô đã lắng nghe và rất mong nhận được những góp ý quý báu từ Hội đồng trong phiên hỏi đáp ngay sau đây!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9" name="Shape 49"/>
        <p:cNvGrpSpPr/>
        <p:nvPr/>
      </p:nvGrpSpPr>
      <p:grpSpPr>
        <a:xfrm>
          <a:off x="0" y="0"/>
          <a:ext cx="0" cy="0"/>
          <a:chOff x="0" y="0"/>
          <a:chExt cx="0" cy="0"/>
        </a:xfrm>
      </p:grpSpPr>
      <p:sp>
        <p:nvSpPr>
          <p:cNvPr id="50" name="Google Shape;50;p3"/>
          <p:cNvSpPr txBox="1"/>
          <p:nvPr>
            <p:ph type="ctrTitle"/>
          </p:nvPr>
        </p:nvSpPr>
        <p:spPr>
          <a:xfrm>
            <a:off x="1052775" y="1261150"/>
            <a:ext cx="166059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
          <p:cNvSpPr txBox="1"/>
          <p:nvPr>
            <p:ph idx="1" type="subTitle"/>
          </p:nvPr>
        </p:nvSpPr>
        <p:spPr>
          <a:xfrm>
            <a:off x="5200325" y="6721475"/>
            <a:ext cx="79587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0B0B0B"/>
              </a:buClr>
              <a:buSzPts val="3200"/>
              <a:buNone/>
              <a:defRPr>
                <a:solidFill>
                  <a:srgbClr val="0B0B0B"/>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4"/>
          <p:cNvSpPr txBox="1"/>
          <p:nvPr>
            <p:ph type="title"/>
          </p:nvPr>
        </p:nvSpPr>
        <p:spPr>
          <a:xfrm>
            <a:off x="1158125" y="575950"/>
            <a:ext cx="16828500" cy="2349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4"/>
          <p:cNvSpPr txBox="1"/>
          <p:nvPr>
            <p:ph idx="1" type="body"/>
          </p:nvPr>
        </p:nvSpPr>
        <p:spPr>
          <a:xfrm>
            <a:off x="8222000" y="4257025"/>
            <a:ext cx="8229600" cy="45261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5"/>
          <p:cNvSpPr txBox="1"/>
          <p:nvPr>
            <p:ph type="title"/>
          </p:nvPr>
        </p:nvSpPr>
        <p:spPr>
          <a:xfrm>
            <a:off x="1434748" y="1403025"/>
            <a:ext cx="162819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10000"/>
              <a:buFont typeface="Calibri"/>
              <a:buNone/>
              <a:defRPr sz="10000" cap="none"/>
            </a:lvl1pPr>
            <a:lvl2pPr lvl="1">
              <a:spcBef>
                <a:spcPts val="0"/>
              </a:spcBef>
              <a:spcAft>
                <a:spcPts val="0"/>
              </a:spcAft>
              <a:buSzPts val="10000"/>
              <a:buNone/>
              <a:defRPr sz="10000"/>
            </a:lvl2pPr>
            <a:lvl3pPr lvl="2">
              <a:spcBef>
                <a:spcPts val="0"/>
              </a:spcBef>
              <a:spcAft>
                <a:spcPts val="0"/>
              </a:spcAft>
              <a:buSzPts val="10000"/>
              <a:buNone/>
              <a:defRPr sz="10000"/>
            </a:lvl3pPr>
            <a:lvl4pPr lvl="3">
              <a:spcBef>
                <a:spcPts val="0"/>
              </a:spcBef>
              <a:spcAft>
                <a:spcPts val="0"/>
              </a:spcAft>
              <a:buSzPts val="10000"/>
              <a:buNone/>
              <a:defRPr sz="10000"/>
            </a:lvl4pPr>
            <a:lvl5pPr lvl="4">
              <a:spcBef>
                <a:spcPts val="0"/>
              </a:spcBef>
              <a:spcAft>
                <a:spcPts val="0"/>
              </a:spcAft>
              <a:buSzPts val="10000"/>
              <a:buNone/>
              <a:defRPr sz="10000"/>
            </a:lvl5pPr>
            <a:lvl6pPr lvl="5">
              <a:spcBef>
                <a:spcPts val="0"/>
              </a:spcBef>
              <a:spcAft>
                <a:spcPts val="0"/>
              </a:spcAft>
              <a:buSzPts val="10000"/>
              <a:buNone/>
              <a:defRPr sz="10000"/>
            </a:lvl6pPr>
            <a:lvl7pPr lvl="6">
              <a:spcBef>
                <a:spcPts val="0"/>
              </a:spcBef>
              <a:spcAft>
                <a:spcPts val="0"/>
              </a:spcAft>
              <a:buSzPts val="10000"/>
              <a:buNone/>
              <a:defRPr sz="10000"/>
            </a:lvl7pPr>
            <a:lvl8pPr lvl="7">
              <a:spcBef>
                <a:spcPts val="0"/>
              </a:spcBef>
              <a:spcAft>
                <a:spcPts val="0"/>
              </a:spcAft>
              <a:buSzPts val="10000"/>
              <a:buNone/>
              <a:defRPr sz="10000"/>
            </a:lvl8pPr>
            <a:lvl9pPr lvl="8">
              <a:spcBef>
                <a:spcPts val="0"/>
              </a:spcBef>
              <a:spcAft>
                <a:spcPts val="0"/>
              </a:spcAft>
              <a:buSzPts val="10000"/>
              <a:buNone/>
              <a:defRPr sz="10000"/>
            </a:lvl9pPr>
          </a:lstStyle>
          <a:p/>
        </p:txBody>
      </p:sp>
      <p:sp>
        <p:nvSpPr>
          <p:cNvPr id="57" name="Google Shape;57;p5"/>
          <p:cNvSpPr txBox="1"/>
          <p:nvPr>
            <p:ph idx="1" type="body"/>
          </p:nvPr>
        </p:nvSpPr>
        <p:spPr>
          <a:xfrm>
            <a:off x="1434738" y="666006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500"/>
              <a:buNone/>
              <a:defRPr/>
            </a:lvl1pPr>
            <a:lvl2pPr indent="-228600" lvl="1" marL="914400" algn="l">
              <a:spcBef>
                <a:spcPts val="360"/>
              </a:spcBef>
              <a:spcAft>
                <a:spcPts val="0"/>
              </a:spcAft>
              <a:buSzPts val="2500"/>
              <a:buNone/>
              <a:defRPr/>
            </a:lvl2pPr>
            <a:lvl3pPr indent="-228600" lvl="2" marL="1371600" algn="l">
              <a:spcBef>
                <a:spcPts val="320"/>
              </a:spcBef>
              <a:spcAft>
                <a:spcPts val="0"/>
              </a:spcAft>
              <a:buSzPts val="2500"/>
              <a:buNone/>
              <a:defRPr/>
            </a:lvl3pPr>
            <a:lvl4pPr indent="-228600" lvl="3" marL="1828800" algn="l">
              <a:spcBef>
                <a:spcPts val="280"/>
              </a:spcBef>
              <a:spcAft>
                <a:spcPts val="0"/>
              </a:spcAft>
              <a:buSzPts val="2500"/>
              <a:buNone/>
              <a:defRPr/>
            </a:lvl4pPr>
            <a:lvl5pPr indent="-228600" lvl="4" marL="2286000" algn="l">
              <a:spcBef>
                <a:spcPts val="280"/>
              </a:spcBef>
              <a:spcAft>
                <a:spcPts val="0"/>
              </a:spcAft>
              <a:buSzPts val="2500"/>
              <a:buNone/>
              <a:defRPr/>
            </a:lvl5pPr>
            <a:lvl6pPr indent="-228600" lvl="5" marL="2743200" algn="l">
              <a:spcBef>
                <a:spcPts val="280"/>
              </a:spcBef>
              <a:spcAft>
                <a:spcPts val="0"/>
              </a:spcAft>
              <a:buSzPts val="2500"/>
              <a:buNone/>
              <a:defRPr/>
            </a:lvl6pPr>
            <a:lvl7pPr indent="-228600" lvl="6" marL="3200400" algn="l">
              <a:spcBef>
                <a:spcPts val="280"/>
              </a:spcBef>
              <a:spcAft>
                <a:spcPts val="0"/>
              </a:spcAft>
              <a:buSzPts val="2500"/>
              <a:buNone/>
              <a:defRPr/>
            </a:lvl7pPr>
            <a:lvl8pPr indent="-228600" lvl="7" marL="3657600" algn="l">
              <a:spcBef>
                <a:spcPts val="280"/>
              </a:spcBef>
              <a:spcAft>
                <a:spcPts val="0"/>
              </a:spcAft>
              <a:buSzPts val="2500"/>
              <a:buNone/>
              <a:defRPr/>
            </a:lvl8pPr>
            <a:lvl9pPr indent="-228600" lvl="8" marL="4114800" algn="l">
              <a:spcBef>
                <a:spcPts val="280"/>
              </a:spcBef>
              <a:spcAft>
                <a:spcPts val="0"/>
              </a:spcAft>
              <a:buSzPts val="2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8" name="Shape 58"/>
        <p:cNvGrpSpPr/>
        <p:nvPr/>
      </p:nvGrpSpPr>
      <p:grpSpPr>
        <a:xfrm>
          <a:off x="0" y="0"/>
          <a:ext cx="0" cy="0"/>
          <a:chOff x="0" y="0"/>
          <a:chExt cx="0" cy="0"/>
        </a:xfrm>
      </p:grpSpPr>
      <p:sp>
        <p:nvSpPr>
          <p:cNvPr id="59" name="Google Shape;59;p6"/>
          <p:cNvSpPr txBox="1"/>
          <p:nvPr>
            <p:ph idx="1" type="body"/>
          </p:nvPr>
        </p:nvSpPr>
        <p:spPr>
          <a:xfrm>
            <a:off x="2649450" y="4198075"/>
            <a:ext cx="5991600" cy="4526100"/>
          </a:xfrm>
          <a:prstGeom prst="rect">
            <a:avLst/>
          </a:prstGeom>
          <a:noFill/>
          <a:ln>
            <a:noFill/>
          </a:ln>
        </p:spPr>
        <p:txBody>
          <a:bodyPr anchorCtr="0" anchor="t" bIns="45700" lIns="91425" spcFirstLastPara="1" rIns="91425" wrap="square" tIns="45700">
            <a:normAutofit/>
          </a:bodyPr>
          <a:lstStyle>
            <a:lvl1pPr indent="-387350" lvl="0" marL="457200" algn="l">
              <a:spcBef>
                <a:spcPts val="560"/>
              </a:spcBef>
              <a:spcAft>
                <a:spcPts val="0"/>
              </a:spcAft>
              <a:buClr>
                <a:schemeClr val="dk1"/>
              </a:buClr>
              <a:buSzPts val="2500"/>
              <a:buChar char="•"/>
              <a:defRPr/>
            </a:lvl1pPr>
            <a:lvl2pPr indent="-387350" lvl="1" marL="914400" algn="l">
              <a:spcBef>
                <a:spcPts val="480"/>
              </a:spcBef>
              <a:spcAft>
                <a:spcPts val="0"/>
              </a:spcAft>
              <a:buClr>
                <a:schemeClr val="dk1"/>
              </a:buClr>
              <a:buSzPts val="2500"/>
              <a:buChar char="–"/>
              <a:defRPr/>
            </a:lvl2pPr>
            <a:lvl3pPr indent="-387350" lvl="2" marL="1371600" algn="l">
              <a:spcBef>
                <a:spcPts val="400"/>
              </a:spcBef>
              <a:spcAft>
                <a:spcPts val="0"/>
              </a:spcAft>
              <a:buClr>
                <a:schemeClr val="dk1"/>
              </a:buClr>
              <a:buSzPts val="2500"/>
              <a:buChar char="•"/>
              <a:defRPr/>
            </a:lvl3pPr>
            <a:lvl4pPr indent="-387350" lvl="3" marL="1828800" algn="l">
              <a:spcBef>
                <a:spcPts val="360"/>
              </a:spcBef>
              <a:spcAft>
                <a:spcPts val="0"/>
              </a:spcAft>
              <a:buClr>
                <a:schemeClr val="dk1"/>
              </a:buClr>
              <a:buSzPts val="2500"/>
              <a:buChar char="–"/>
              <a:defRPr/>
            </a:lvl4pPr>
            <a:lvl5pPr indent="-387350" lvl="4" marL="2286000" algn="l">
              <a:spcBef>
                <a:spcPts val="360"/>
              </a:spcBef>
              <a:spcAft>
                <a:spcPts val="0"/>
              </a:spcAft>
              <a:buClr>
                <a:schemeClr val="dk1"/>
              </a:buClr>
              <a:buSzPts val="2500"/>
              <a:buChar char="»"/>
              <a:defRPr/>
            </a:lvl5pPr>
            <a:lvl6pPr indent="-387350" lvl="5" marL="2743200" algn="l">
              <a:spcBef>
                <a:spcPts val="360"/>
              </a:spcBef>
              <a:spcAft>
                <a:spcPts val="0"/>
              </a:spcAft>
              <a:buClr>
                <a:schemeClr val="dk1"/>
              </a:buClr>
              <a:buSzPts val="2500"/>
              <a:buChar char="•"/>
              <a:defRPr/>
            </a:lvl6pPr>
            <a:lvl7pPr indent="-387350" lvl="6" marL="3200400" algn="l">
              <a:spcBef>
                <a:spcPts val="360"/>
              </a:spcBef>
              <a:spcAft>
                <a:spcPts val="0"/>
              </a:spcAft>
              <a:buClr>
                <a:schemeClr val="dk1"/>
              </a:buClr>
              <a:buSzPts val="2500"/>
              <a:buChar char="•"/>
              <a:defRPr/>
            </a:lvl7pPr>
            <a:lvl8pPr indent="-387350" lvl="7" marL="3657600" algn="l">
              <a:spcBef>
                <a:spcPts val="360"/>
              </a:spcBef>
              <a:spcAft>
                <a:spcPts val="0"/>
              </a:spcAft>
              <a:buClr>
                <a:schemeClr val="dk1"/>
              </a:buClr>
              <a:buSzPts val="2500"/>
              <a:buChar char="•"/>
              <a:defRPr/>
            </a:lvl8pPr>
            <a:lvl9pPr indent="-387350" lvl="8" marL="4114800" algn="l">
              <a:spcBef>
                <a:spcPts val="360"/>
              </a:spcBef>
              <a:spcAft>
                <a:spcPts val="0"/>
              </a:spcAft>
              <a:buClr>
                <a:schemeClr val="dk1"/>
              </a:buClr>
              <a:buSzPts val="2500"/>
              <a:buChar char="•"/>
              <a:defRPr/>
            </a:lvl9pPr>
          </a:lstStyle>
          <a:p/>
        </p:txBody>
      </p:sp>
      <p:sp>
        <p:nvSpPr>
          <p:cNvPr id="60" name="Google Shape;60;p6"/>
          <p:cNvSpPr txBox="1"/>
          <p:nvPr>
            <p:ph idx="2" type="body"/>
          </p:nvPr>
        </p:nvSpPr>
        <p:spPr>
          <a:xfrm>
            <a:off x="10604501" y="4041675"/>
            <a:ext cx="5890800" cy="4526100"/>
          </a:xfrm>
          <a:prstGeom prst="rect">
            <a:avLst/>
          </a:prstGeom>
          <a:noFill/>
          <a:ln>
            <a:noFill/>
          </a:ln>
        </p:spPr>
        <p:txBody>
          <a:bodyPr anchorCtr="0" anchor="t" bIns="45700" lIns="91425" spcFirstLastPara="1" rIns="91425" wrap="square" tIns="45700">
            <a:normAutofit/>
          </a:bodyPr>
          <a:lstStyle>
            <a:lvl1pPr indent="-387350" lvl="0" marL="457200" algn="l">
              <a:spcBef>
                <a:spcPts val="560"/>
              </a:spcBef>
              <a:spcAft>
                <a:spcPts val="0"/>
              </a:spcAft>
              <a:buClr>
                <a:schemeClr val="dk1"/>
              </a:buClr>
              <a:buSzPts val="2500"/>
              <a:buChar char="•"/>
              <a:defRPr/>
            </a:lvl1pPr>
            <a:lvl2pPr indent="-387350" lvl="1" marL="914400" algn="l">
              <a:spcBef>
                <a:spcPts val="480"/>
              </a:spcBef>
              <a:spcAft>
                <a:spcPts val="0"/>
              </a:spcAft>
              <a:buClr>
                <a:schemeClr val="dk1"/>
              </a:buClr>
              <a:buSzPts val="2500"/>
              <a:buChar char="–"/>
              <a:defRPr/>
            </a:lvl2pPr>
            <a:lvl3pPr indent="-387350" lvl="2" marL="1371600" algn="l">
              <a:spcBef>
                <a:spcPts val="400"/>
              </a:spcBef>
              <a:spcAft>
                <a:spcPts val="0"/>
              </a:spcAft>
              <a:buClr>
                <a:schemeClr val="dk1"/>
              </a:buClr>
              <a:buSzPts val="2500"/>
              <a:buChar char="•"/>
              <a:defRPr/>
            </a:lvl3pPr>
            <a:lvl4pPr indent="-387350" lvl="3" marL="1828800" algn="l">
              <a:spcBef>
                <a:spcPts val="360"/>
              </a:spcBef>
              <a:spcAft>
                <a:spcPts val="0"/>
              </a:spcAft>
              <a:buClr>
                <a:schemeClr val="dk1"/>
              </a:buClr>
              <a:buSzPts val="2500"/>
              <a:buChar char="–"/>
              <a:defRPr/>
            </a:lvl4pPr>
            <a:lvl5pPr indent="-387350" lvl="4" marL="2286000" algn="l">
              <a:spcBef>
                <a:spcPts val="360"/>
              </a:spcBef>
              <a:spcAft>
                <a:spcPts val="0"/>
              </a:spcAft>
              <a:buClr>
                <a:schemeClr val="dk1"/>
              </a:buClr>
              <a:buSzPts val="2500"/>
              <a:buChar char="»"/>
              <a:defRPr/>
            </a:lvl5pPr>
            <a:lvl6pPr indent="-387350" lvl="5" marL="2743200" algn="l">
              <a:spcBef>
                <a:spcPts val="360"/>
              </a:spcBef>
              <a:spcAft>
                <a:spcPts val="0"/>
              </a:spcAft>
              <a:buClr>
                <a:schemeClr val="dk1"/>
              </a:buClr>
              <a:buSzPts val="2500"/>
              <a:buChar char="•"/>
              <a:defRPr/>
            </a:lvl6pPr>
            <a:lvl7pPr indent="-387350" lvl="6" marL="3200400" algn="l">
              <a:spcBef>
                <a:spcPts val="360"/>
              </a:spcBef>
              <a:spcAft>
                <a:spcPts val="0"/>
              </a:spcAft>
              <a:buClr>
                <a:schemeClr val="dk1"/>
              </a:buClr>
              <a:buSzPts val="2500"/>
              <a:buChar char="•"/>
              <a:defRPr/>
            </a:lvl7pPr>
            <a:lvl8pPr indent="-387350" lvl="7" marL="3657600" algn="l">
              <a:spcBef>
                <a:spcPts val="360"/>
              </a:spcBef>
              <a:spcAft>
                <a:spcPts val="0"/>
              </a:spcAft>
              <a:buClr>
                <a:schemeClr val="dk1"/>
              </a:buClr>
              <a:buSzPts val="2500"/>
              <a:buChar char="•"/>
              <a:defRPr/>
            </a:lvl8pPr>
            <a:lvl9pPr indent="-387350" lvl="8" marL="4114800" algn="l">
              <a:spcBef>
                <a:spcPts val="360"/>
              </a:spcBef>
              <a:spcAft>
                <a:spcPts val="0"/>
              </a:spcAft>
              <a:buClr>
                <a:schemeClr val="dk1"/>
              </a:buClr>
              <a:buSzPts val="2500"/>
              <a:buChar char="•"/>
              <a:defRPr/>
            </a:lvl9pPr>
          </a:lstStyle>
          <a:p/>
        </p:txBody>
      </p:sp>
      <p:sp>
        <p:nvSpPr>
          <p:cNvPr id="61" name="Google Shape;61;p6"/>
          <p:cNvSpPr txBox="1"/>
          <p:nvPr>
            <p:ph type="title"/>
          </p:nvPr>
        </p:nvSpPr>
        <p:spPr>
          <a:xfrm>
            <a:off x="1434748" y="1403025"/>
            <a:ext cx="16281900" cy="1362000"/>
          </a:xfrm>
          <a:prstGeom prst="rect">
            <a:avLst/>
          </a:prstGeom>
          <a:noFill/>
          <a:ln>
            <a:noFill/>
          </a:ln>
        </p:spPr>
        <p:txBody>
          <a:bodyPr anchorCtr="0" anchor="t" bIns="45700" lIns="91425" spcFirstLastPara="1" rIns="91425" wrap="square" tIns="45700">
            <a:normAutofit/>
          </a:bodyPr>
          <a:lstStyle>
            <a:lvl1pPr lvl="0" rtl="0" algn="l">
              <a:spcBef>
                <a:spcPts val="0"/>
              </a:spcBef>
              <a:spcAft>
                <a:spcPts val="0"/>
              </a:spcAft>
              <a:buClr>
                <a:schemeClr val="dk1"/>
              </a:buClr>
              <a:buSzPts val="10000"/>
              <a:buFont typeface="Calibri"/>
              <a:buNone/>
              <a:defRPr sz="10000" cap="none"/>
            </a:lvl1pPr>
            <a:lvl2pPr lvl="1" rtl="0">
              <a:spcBef>
                <a:spcPts val="0"/>
              </a:spcBef>
              <a:spcAft>
                <a:spcPts val="0"/>
              </a:spcAft>
              <a:buSzPts val="10000"/>
              <a:buNone/>
              <a:defRPr sz="10000"/>
            </a:lvl2pPr>
            <a:lvl3pPr lvl="2" rtl="0">
              <a:spcBef>
                <a:spcPts val="0"/>
              </a:spcBef>
              <a:spcAft>
                <a:spcPts val="0"/>
              </a:spcAft>
              <a:buSzPts val="10000"/>
              <a:buNone/>
              <a:defRPr sz="10000"/>
            </a:lvl3pPr>
            <a:lvl4pPr lvl="3" rtl="0">
              <a:spcBef>
                <a:spcPts val="0"/>
              </a:spcBef>
              <a:spcAft>
                <a:spcPts val="0"/>
              </a:spcAft>
              <a:buSzPts val="10000"/>
              <a:buNone/>
              <a:defRPr sz="10000"/>
            </a:lvl4pPr>
            <a:lvl5pPr lvl="4" rtl="0">
              <a:spcBef>
                <a:spcPts val="0"/>
              </a:spcBef>
              <a:spcAft>
                <a:spcPts val="0"/>
              </a:spcAft>
              <a:buSzPts val="10000"/>
              <a:buNone/>
              <a:defRPr sz="10000"/>
            </a:lvl5pPr>
            <a:lvl6pPr lvl="5" rtl="0">
              <a:spcBef>
                <a:spcPts val="0"/>
              </a:spcBef>
              <a:spcAft>
                <a:spcPts val="0"/>
              </a:spcAft>
              <a:buSzPts val="10000"/>
              <a:buNone/>
              <a:defRPr sz="10000"/>
            </a:lvl6pPr>
            <a:lvl7pPr lvl="6" rtl="0">
              <a:spcBef>
                <a:spcPts val="0"/>
              </a:spcBef>
              <a:spcAft>
                <a:spcPts val="0"/>
              </a:spcAft>
              <a:buSzPts val="10000"/>
              <a:buNone/>
              <a:defRPr sz="10000"/>
            </a:lvl7pPr>
            <a:lvl8pPr lvl="7" rtl="0">
              <a:spcBef>
                <a:spcPts val="0"/>
              </a:spcBef>
              <a:spcAft>
                <a:spcPts val="0"/>
              </a:spcAft>
              <a:buSzPts val="10000"/>
              <a:buNone/>
              <a:defRPr sz="10000"/>
            </a:lvl8pPr>
            <a:lvl9pPr lvl="8" rtl="0">
              <a:spcBef>
                <a:spcPts val="0"/>
              </a:spcBef>
              <a:spcAft>
                <a:spcPts val="0"/>
              </a:spcAft>
              <a:buSzPts val="10000"/>
              <a:buNone/>
              <a:defRPr sz="10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7"/>
          <p:cNvSpPr txBox="1"/>
          <p:nvPr>
            <p:ph idx="1" type="body"/>
          </p:nvPr>
        </p:nvSpPr>
        <p:spPr>
          <a:xfrm>
            <a:off x="2785675" y="4920375"/>
            <a:ext cx="6362100" cy="3951300"/>
          </a:xfrm>
          <a:prstGeom prst="rect">
            <a:avLst/>
          </a:prstGeom>
          <a:noFill/>
          <a:ln>
            <a:noFill/>
          </a:ln>
        </p:spPr>
        <p:txBody>
          <a:bodyPr anchorCtr="0" anchor="t" bIns="45700" lIns="91425" spcFirstLastPara="1" rIns="91425" wrap="square" tIns="45700">
            <a:normAutofit/>
          </a:bodyPr>
          <a:lstStyle>
            <a:lvl1pPr indent="-387350" lvl="0" marL="457200" algn="l">
              <a:spcBef>
                <a:spcPts val="480"/>
              </a:spcBef>
              <a:spcAft>
                <a:spcPts val="0"/>
              </a:spcAft>
              <a:buClr>
                <a:schemeClr val="dk1"/>
              </a:buClr>
              <a:buSzPts val="2500"/>
              <a:buChar char="•"/>
              <a:defRPr/>
            </a:lvl1pPr>
            <a:lvl2pPr indent="-387350" lvl="1" marL="914400" algn="l">
              <a:spcBef>
                <a:spcPts val="400"/>
              </a:spcBef>
              <a:spcAft>
                <a:spcPts val="0"/>
              </a:spcAft>
              <a:buClr>
                <a:schemeClr val="dk1"/>
              </a:buClr>
              <a:buSzPts val="2500"/>
              <a:buChar char="–"/>
              <a:defRPr/>
            </a:lvl2pPr>
            <a:lvl3pPr indent="-387350" lvl="2" marL="1371600" algn="l">
              <a:spcBef>
                <a:spcPts val="360"/>
              </a:spcBef>
              <a:spcAft>
                <a:spcPts val="0"/>
              </a:spcAft>
              <a:buClr>
                <a:schemeClr val="dk1"/>
              </a:buClr>
              <a:buSzPts val="2500"/>
              <a:buChar char="•"/>
              <a:defRPr/>
            </a:lvl3pPr>
            <a:lvl4pPr indent="-387350" lvl="3" marL="1828800" algn="l">
              <a:spcBef>
                <a:spcPts val="320"/>
              </a:spcBef>
              <a:spcAft>
                <a:spcPts val="0"/>
              </a:spcAft>
              <a:buClr>
                <a:schemeClr val="dk1"/>
              </a:buClr>
              <a:buSzPts val="2500"/>
              <a:buChar char="–"/>
              <a:defRPr/>
            </a:lvl4pPr>
            <a:lvl5pPr indent="-387350" lvl="4" marL="2286000" algn="l">
              <a:spcBef>
                <a:spcPts val="320"/>
              </a:spcBef>
              <a:spcAft>
                <a:spcPts val="0"/>
              </a:spcAft>
              <a:buClr>
                <a:schemeClr val="dk1"/>
              </a:buClr>
              <a:buSzPts val="2500"/>
              <a:buChar char="»"/>
              <a:defRPr/>
            </a:lvl5pPr>
            <a:lvl6pPr indent="-387350" lvl="5" marL="2743200" algn="l">
              <a:spcBef>
                <a:spcPts val="320"/>
              </a:spcBef>
              <a:spcAft>
                <a:spcPts val="0"/>
              </a:spcAft>
              <a:buClr>
                <a:schemeClr val="dk1"/>
              </a:buClr>
              <a:buSzPts val="2500"/>
              <a:buChar char="•"/>
              <a:defRPr/>
            </a:lvl6pPr>
            <a:lvl7pPr indent="-387350" lvl="6" marL="3200400" algn="l">
              <a:spcBef>
                <a:spcPts val="320"/>
              </a:spcBef>
              <a:spcAft>
                <a:spcPts val="0"/>
              </a:spcAft>
              <a:buClr>
                <a:schemeClr val="dk1"/>
              </a:buClr>
              <a:buSzPts val="2500"/>
              <a:buChar char="•"/>
              <a:defRPr/>
            </a:lvl7pPr>
            <a:lvl8pPr indent="-387350" lvl="7" marL="3657600" algn="l">
              <a:spcBef>
                <a:spcPts val="320"/>
              </a:spcBef>
              <a:spcAft>
                <a:spcPts val="0"/>
              </a:spcAft>
              <a:buClr>
                <a:schemeClr val="dk1"/>
              </a:buClr>
              <a:buSzPts val="2500"/>
              <a:buChar char="•"/>
              <a:defRPr/>
            </a:lvl8pPr>
            <a:lvl9pPr indent="-387350" lvl="8" marL="4114800" algn="l">
              <a:spcBef>
                <a:spcPts val="320"/>
              </a:spcBef>
              <a:spcAft>
                <a:spcPts val="0"/>
              </a:spcAft>
              <a:buClr>
                <a:schemeClr val="dk1"/>
              </a:buClr>
              <a:buSzPts val="2500"/>
              <a:buChar char="•"/>
              <a:defRPr/>
            </a:lvl9pPr>
          </a:lstStyle>
          <a:p/>
        </p:txBody>
      </p:sp>
      <p:sp>
        <p:nvSpPr>
          <p:cNvPr id="64" name="Google Shape;64;p7"/>
          <p:cNvSpPr txBox="1"/>
          <p:nvPr>
            <p:ph idx="2" type="body"/>
          </p:nvPr>
        </p:nvSpPr>
        <p:spPr>
          <a:xfrm>
            <a:off x="9380333" y="4920375"/>
            <a:ext cx="6364800" cy="3951300"/>
          </a:xfrm>
          <a:prstGeom prst="rect">
            <a:avLst/>
          </a:prstGeom>
          <a:noFill/>
          <a:ln>
            <a:noFill/>
          </a:ln>
        </p:spPr>
        <p:txBody>
          <a:bodyPr anchorCtr="0" anchor="t" bIns="45700" lIns="91425" spcFirstLastPara="1" rIns="91425" wrap="square" tIns="45700">
            <a:normAutofit/>
          </a:bodyPr>
          <a:lstStyle>
            <a:lvl1pPr indent="-387350" lvl="0" marL="457200" algn="l">
              <a:spcBef>
                <a:spcPts val="480"/>
              </a:spcBef>
              <a:spcAft>
                <a:spcPts val="0"/>
              </a:spcAft>
              <a:buClr>
                <a:schemeClr val="dk1"/>
              </a:buClr>
              <a:buSzPts val="2500"/>
              <a:buChar char="•"/>
              <a:defRPr/>
            </a:lvl1pPr>
            <a:lvl2pPr indent="-387350" lvl="1" marL="914400" algn="l">
              <a:spcBef>
                <a:spcPts val="400"/>
              </a:spcBef>
              <a:spcAft>
                <a:spcPts val="0"/>
              </a:spcAft>
              <a:buClr>
                <a:schemeClr val="dk1"/>
              </a:buClr>
              <a:buSzPts val="2500"/>
              <a:buChar char="–"/>
              <a:defRPr/>
            </a:lvl2pPr>
            <a:lvl3pPr indent="-387350" lvl="2" marL="1371600" algn="l">
              <a:spcBef>
                <a:spcPts val="360"/>
              </a:spcBef>
              <a:spcAft>
                <a:spcPts val="0"/>
              </a:spcAft>
              <a:buClr>
                <a:schemeClr val="dk1"/>
              </a:buClr>
              <a:buSzPts val="2500"/>
              <a:buChar char="•"/>
              <a:defRPr/>
            </a:lvl3pPr>
            <a:lvl4pPr indent="-387350" lvl="3" marL="1828800" algn="l">
              <a:spcBef>
                <a:spcPts val="320"/>
              </a:spcBef>
              <a:spcAft>
                <a:spcPts val="0"/>
              </a:spcAft>
              <a:buClr>
                <a:schemeClr val="dk1"/>
              </a:buClr>
              <a:buSzPts val="2500"/>
              <a:buChar char="–"/>
              <a:defRPr/>
            </a:lvl4pPr>
            <a:lvl5pPr indent="-387350" lvl="4" marL="2286000" algn="l">
              <a:spcBef>
                <a:spcPts val="320"/>
              </a:spcBef>
              <a:spcAft>
                <a:spcPts val="0"/>
              </a:spcAft>
              <a:buClr>
                <a:schemeClr val="dk1"/>
              </a:buClr>
              <a:buSzPts val="2500"/>
              <a:buChar char="»"/>
              <a:defRPr/>
            </a:lvl5pPr>
            <a:lvl6pPr indent="-387350" lvl="5" marL="2743200" algn="l">
              <a:spcBef>
                <a:spcPts val="320"/>
              </a:spcBef>
              <a:spcAft>
                <a:spcPts val="0"/>
              </a:spcAft>
              <a:buClr>
                <a:schemeClr val="dk1"/>
              </a:buClr>
              <a:buSzPts val="2500"/>
              <a:buChar char="•"/>
              <a:defRPr/>
            </a:lvl6pPr>
            <a:lvl7pPr indent="-387350" lvl="6" marL="3200400" algn="l">
              <a:spcBef>
                <a:spcPts val="320"/>
              </a:spcBef>
              <a:spcAft>
                <a:spcPts val="0"/>
              </a:spcAft>
              <a:buClr>
                <a:schemeClr val="dk1"/>
              </a:buClr>
              <a:buSzPts val="2500"/>
              <a:buChar char="•"/>
              <a:defRPr/>
            </a:lvl7pPr>
            <a:lvl8pPr indent="-387350" lvl="7" marL="3657600" algn="l">
              <a:spcBef>
                <a:spcPts val="320"/>
              </a:spcBef>
              <a:spcAft>
                <a:spcPts val="0"/>
              </a:spcAft>
              <a:buClr>
                <a:schemeClr val="dk1"/>
              </a:buClr>
              <a:buSzPts val="2500"/>
              <a:buChar char="•"/>
              <a:defRPr/>
            </a:lvl8pPr>
            <a:lvl9pPr indent="-387350" lvl="8" marL="4114800" algn="l">
              <a:spcBef>
                <a:spcPts val="320"/>
              </a:spcBef>
              <a:spcAft>
                <a:spcPts val="0"/>
              </a:spcAft>
              <a:buClr>
                <a:schemeClr val="dk1"/>
              </a:buClr>
              <a:buSzPts val="2500"/>
              <a:buChar char="•"/>
              <a:defRPr/>
            </a:lvl9pPr>
          </a:lstStyle>
          <a:p/>
        </p:txBody>
      </p:sp>
      <p:sp>
        <p:nvSpPr>
          <p:cNvPr id="65" name="Google Shape;65;p7"/>
          <p:cNvSpPr txBox="1"/>
          <p:nvPr>
            <p:ph type="title"/>
          </p:nvPr>
        </p:nvSpPr>
        <p:spPr>
          <a:xfrm>
            <a:off x="1434748" y="1403025"/>
            <a:ext cx="16281900" cy="1362000"/>
          </a:xfrm>
          <a:prstGeom prst="rect">
            <a:avLst/>
          </a:prstGeom>
          <a:noFill/>
          <a:ln>
            <a:noFill/>
          </a:ln>
        </p:spPr>
        <p:txBody>
          <a:bodyPr anchorCtr="0" anchor="t" bIns="45700" lIns="91425" spcFirstLastPara="1" rIns="91425" wrap="square" tIns="45700">
            <a:normAutofit/>
          </a:bodyPr>
          <a:lstStyle>
            <a:lvl1pPr lvl="0" rtl="0" algn="l">
              <a:spcBef>
                <a:spcPts val="0"/>
              </a:spcBef>
              <a:spcAft>
                <a:spcPts val="0"/>
              </a:spcAft>
              <a:buClr>
                <a:schemeClr val="dk1"/>
              </a:buClr>
              <a:buSzPts val="10000"/>
              <a:buFont typeface="Calibri"/>
              <a:buNone/>
              <a:defRPr sz="10000" cap="none"/>
            </a:lvl1pPr>
            <a:lvl2pPr lvl="1" rtl="0">
              <a:spcBef>
                <a:spcPts val="0"/>
              </a:spcBef>
              <a:spcAft>
                <a:spcPts val="0"/>
              </a:spcAft>
              <a:buSzPts val="10000"/>
              <a:buNone/>
              <a:defRPr sz="10000"/>
            </a:lvl2pPr>
            <a:lvl3pPr lvl="2" rtl="0">
              <a:spcBef>
                <a:spcPts val="0"/>
              </a:spcBef>
              <a:spcAft>
                <a:spcPts val="0"/>
              </a:spcAft>
              <a:buSzPts val="10000"/>
              <a:buNone/>
              <a:defRPr sz="10000"/>
            </a:lvl3pPr>
            <a:lvl4pPr lvl="3" rtl="0">
              <a:spcBef>
                <a:spcPts val="0"/>
              </a:spcBef>
              <a:spcAft>
                <a:spcPts val="0"/>
              </a:spcAft>
              <a:buSzPts val="10000"/>
              <a:buNone/>
              <a:defRPr sz="10000"/>
            </a:lvl4pPr>
            <a:lvl5pPr lvl="4" rtl="0">
              <a:spcBef>
                <a:spcPts val="0"/>
              </a:spcBef>
              <a:spcAft>
                <a:spcPts val="0"/>
              </a:spcAft>
              <a:buSzPts val="10000"/>
              <a:buNone/>
              <a:defRPr sz="10000"/>
            </a:lvl5pPr>
            <a:lvl6pPr lvl="5" rtl="0">
              <a:spcBef>
                <a:spcPts val="0"/>
              </a:spcBef>
              <a:spcAft>
                <a:spcPts val="0"/>
              </a:spcAft>
              <a:buSzPts val="10000"/>
              <a:buNone/>
              <a:defRPr sz="10000"/>
            </a:lvl6pPr>
            <a:lvl7pPr lvl="6" rtl="0">
              <a:spcBef>
                <a:spcPts val="0"/>
              </a:spcBef>
              <a:spcAft>
                <a:spcPts val="0"/>
              </a:spcAft>
              <a:buSzPts val="10000"/>
              <a:buNone/>
              <a:defRPr sz="10000"/>
            </a:lvl7pPr>
            <a:lvl8pPr lvl="7" rtl="0">
              <a:spcBef>
                <a:spcPts val="0"/>
              </a:spcBef>
              <a:spcAft>
                <a:spcPts val="0"/>
              </a:spcAft>
              <a:buSzPts val="10000"/>
              <a:buNone/>
              <a:defRPr sz="10000"/>
            </a:lvl8pPr>
            <a:lvl9pPr lvl="8" rtl="0">
              <a:spcBef>
                <a:spcPts val="0"/>
              </a:spcBef>
              <a:spcAft>
                <a:spcPts val="0"/>
              </a:spcAft>
              <a:buSzPts val="10000"/>
              <a:buNone/>
              <a:defRPr sz="100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8"/>
          <p:cNvSpPr txBox="1"/>
          <p:nvPr>
            <p:ph type="title"/>
          </p:nvPr>
        </p:nvSpPr>
        <p:spPr>
          <a:xfrm>
            <a:off x="3060375" y="3288100"/>
            <a:ext cx="12705900" cy="2349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9"/>
          <p:cNvSpPr txBox="1"/>
          <p:nvPr>
            <p:ph type="title"/>
          </p:nvPr>
        </p:nvSpPr>
        <p:spPr>
          <a:xfrm>
            <a:off x="1659925" y="2789275"/>
            <a:ext cx="12684300" cy="116190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dk1"/>
              </a:buClr>
              <a:buSzPts val="125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
          <p:cNvSpPr txBox="1"/>
          <p:nvPr>
            <p:ph idx="1" type="body"/>
          </p:nvPr>
        </p:nvSpPr>
        <p:spPr>
          <a:xfrm>
            <a:off x="8009551" y="4484575"/>
            <a:ext cx="8481300" cy="4372200"/>
          </a:xfrm>
          <a:prstGeom prst="rect">
            <a:avLst/>
          </a:prstGeom>
          <a:noFill/>
          <a:ln>
            <a:noFill/>
          </a:ln>
        </p:spPr>
        <p:txBody>
          <a:bodyPr anchorCtr="0" anchor="t" bIns="45700" lIns="91425" spcFirstLastPara="1" rIns="91425" wrap="square" tIns="45700">
            <a:normAutofit/>
          </a:bodyPr>
          <a:lstStyle>
            <a:lvl1pPr indent="-387350" lvl="0" marL="457200" rtl="0" algn="l">
              <a:spcBef>
                <a:spcPts val="640"/>
              </a:spcBef>
              <a:spcAft>
                <a:spcPts val="0"/>
              </a:spcAft>
              <a:buClr>
                <a:schemeClr val="dk1"/>
              </a:buClr>
              <a:buSzPts val="2500"/>
              <a:buChar char="•"/>
              <a:defRPr/>
            </a:lvl1pPr>
            <a:lvl2pPr indent="-387350" lvl="1" marL="914400" rtl="0" algn="l">
              <a:spcBef>
                <a:spcPts val="560"/>
              </a:spcBef>
              <a:spcAft>
                <a:spcPts val="0"/>
              </a:spcAft>
              <a:buClr>
                <a:schemeClr val="dk1"/>
              </a:buClr>
              <a:buSzPts val="2500"/>
              <a:buChar char="–"/>
              <a:defRPr/>
            </a:lvl2pPr>
            <a:lvl3pPr indent="-387350" lvl="2" marL="1371600" rtl="0" algn="l">
              <a:spcBef>
                <a:spcPts val="480"/>
              </a:spcBef>
              <a:spcAft>
                <a:spcPts val="0"/>
              </a:spcAft>
              <a:buClr>
                <a:schemeClr val="dk1"/>
              </a:buClr>
              <a:buSzPts val="2500"/>
              <a:buChar char="•"/>
              <a:defRPr/>
            </a:lvl3pPr>
            <a:lvl4pPr indent="-387350" lvl="3" marL="1828800" rtl="0" algn="l">
              <a:spcBef>
                <a:spcPts val="400"/>
              </a:spcBef>
              <a:spcAft>
                <a:spcPts val="0"/>
              </a:spcAft>
              <a:buClr>
                <a:schemeClr val="dk1"/>
              </a:buClr>
              <a:buSzPts val="2500"/>
              <a:buChar char="–"/>
              <a:defRPr/>
            </a:lvl4pPr>
            <a:lvl5pPr indent="-387350" lvl="4" marL="2286000" rtl="0" algn="l">
              <a:spcBef>
                <a:spcPts val="400"/>
              </a:spcBef>
              <a:spcAft>
                <a:spcPts val="0"/>
              </a:spcAft>
              <a:buClr>
                <a:schemeClr val="dk1"/>
              </a:buClr>
              <a:buSzPts val="2500"/>
              <a:buChar char="»"/>
              <a:defRPr/>
            </a:lvl5pPr>
            <a:lvl6pPr indent="-387350" lvl="5" marL="2743200" rtl="0" algn="l">
              <a:spcBef>
                <a:spcPts val="400"/>
              </a:spcBef>
              <a:spcAft>
                <a:spcPts val="0"/>
              </a:spcAft>
              <a:buClr>
                <a:schemeClr val="dk1"/>
              </a:buClr>
              <a:buSzPts val="2500"/>
              <a:buChar char="•"/>
              <a:defRPr/>
            </a:lvl6pPr>
            <a:lvl7pPr indent="-387350" lvl="6" marL="3200400" rtl="0" algn="l">
              <a:spcBef>
                <a:spcPts val="400"/>
              </a:spcBef>
              <a:spcAft>
                <a:spcPts val="0"/>
              </a:spcAft>
              <a:buClr>
                <a:schemeClr val="dk1"/>
              </a:buClr>
              <a:buSzPts val="2500"/>
              <a:buChar char="•"/>
              <a:defRPr/>
            </a:lvl7pPr>
            <a:lvl8pPr indent="-387350" lvl="7" marL="3657600" rtl="0" algn="l">
              <a:spcBef>
                <a:spcPts val="400"/>
              </a:spcBef>
              <a:spcAft>
                <a:spcPts val="0"/>
              </a:spcAft>
              <a:buClr>
                <a:schemeClr val="dk1"/>
              </a:buClr>
              <a:buSzPts val="2500"/>
              <a:buChar char="•"/>
              <a:defRPr/>
            </a:lvl8pPr>
            <a:lvl9pPr indent="-387350" lvl="8" marL="4114800" rtl="0" algn="l">
              <a:spcBef>
                <a:spcPts val="400"/>
              </a:spcBef>
              <a:spcAft>
                <a:spcPts val="0"/>
              </a:spcAft>
              <a:buClr>
                <a:schemeClr val="dk1"/>
              </a:buClr>
              <a:buSzPts val="2500"/>
              <a:buChar char="•"/>
              <a:defRPr/>
            </a:lvl9pPr>
          </a:lstStyle>
          <a:p/>
        </p:txBody>
      </p:sp>
      <p:sp>
        <p:nvSpPr>
          <p:cNvPr id="71" name="Google Shape;71;p9"/>
          <p:cNvSpPr txBox="1"/>
          <p:nvPr>
            <p:ph idx="2" type="body"/>
          </p:nvPr>
        </p:nvSpPr>
        <p:spPr>
          <a:xfrm>
            <a:off x="1608775" y="4596725"/>
            <a:ext cx="6489600" cy="4372200"/>
          </a:xfrm>
          <a:prstGeom prst="rect">
            <a:avLst/>
          </a:prstGeom>
          <a:noFill/>
          <a:ln>
            <a:noFill/>
          </a:ln>
        </p:spPr>
        <p:txBody>
          <a:bodyPr anchorCtr="0" anchor="t" bIns="45700" lIns="91425" spcFirstLastPara="1" rIns="91425" wrap="square" tIns="45700">
            <a:normAutofit/>
          </a:bodyPr>
          <a:lstStyle>
            <a:lvl1pPr indent="-228600" lvl="0" marL="457200" rtl="0" algn="l">
              <a:spcBef>
                <a:spcPts val="280"/>
              </a:spcBef>
              <a:spcAft>
                <a:spcPts val="0"/>
              </a:spcAft>
              <a:buClr>
                <a:schemeClr val="dk1"/>
              </a:buClr>
              <a:buSzPts val="2500"/>
              <a:buNone/>
              <a:defRPr/>
            </a:lvl1pPr>
            <a:lvl2pPr indent="-228600" lvl="1" marL="914400" rtl="0" algn="l">
              <a:spcBef>
                <a:spcPts val="240"/>
              </a:spcBef>
              <a:spcAft>
                <a:spcPts val="0"/>
              </a:spcAft>
              <a:buClr>
                <a:schemeClr val="dk1"/>
              </a:buClr>
              <a:buSzPts val="2500"/>
              <a:buNone/>
              <a:defRPr/>
            </a:lvl2pPr>
            <a:lvl3pPr indent="-228600" lvl="2" marL="1371600" rtl="0" algn="l">
              <a:spcBef>
                <a:spcPts val="200"/>
              </a:spcBef>
              <a:spcAft>
                <a:spcPts val="0"/>
              </a:spcAft>
              <a:buClr>
                <a:schemeClr val="dk1"/>
              </a:buClr>
              <a:buSzPts val="2500"/>
              <a:buNone/>
              <a:defRPr/>
            </a:lvl3pPr>
            <a:lvl4pPr indent="-228600" lvl="3" marL="1828800" rtl="0" algn="l">
              <a:spcBef>
                <a:spcPts val="180"/>
              </a:spcBef>
              <a:spcAft>
                <a:spcPts val="0"/>
              </a:spcAft>
              <a:buClr>
                <a:schemeClr val="dk1"/>
              </a:buClr>
              <a:buSzPts val="2500"/>
              <a:buNone/>
              <a:defRPr/>
            </a:lvl4pPr>
            <a:lvl5pPr indent="-228600" lvl="4" marL="2286000" rtl="0" algn="l">
              <a:spcBef>
                <a:spcPts val="180"/>
              </a:spcBef>
              <a:spcAft>
                <a:spcPts val="0"/>
              </a:spcAft>
              <a:buClr>
                <a:schemeClr val="dk1"/>
              </a:buClr>
              <a:buSzPts val="2500"/>
              <a:buNone/>
              <a:defRPr/>
            </a:lvl5pPr>
            <a:lvl6pPr indent="-228600" lvl="5" marL="2743200" rtl="0" algn="l">
              <a:spcBef>
                <a:spcPts val="180"/>
              </a:spcBef>
              <a:spcAft>
                <a:spcPts val="0"/>
              </a:spcAft>
              <a:buClr>
                <a:schemeClr val="dk1"/>
              </a:buClr>
              <a:buSzPts val="2500"/>
              <a:buNone/>
              <a:defRPr/>
            </a:lvl6pPr>
            <a:lvl7pPr indent="-228600" lvl="6" marL="3200400" rtl="0" algn="l">
              <a:spcBef>
                <a:spcPts val="180"/>
              </a:spcBef>
              <a:spcAft>
                <a:spcPts val="0"/>
              </a:spcAft>
              <a:buClr>
                <a:schemeClr val="dk1"/>
              </a:buClr>
              <a:buSzPts val="2500"/>
              <a:buNone/>
              <a:defRPr/>
            </a:lvl7pPr>
            <a:lvl8pPr indent="-228600" lvl="7" marL="3657600" rtl="0" algn="l">
              <a:spcBef>
                <a:spcPts val="180"/>
              </a:spcBef>
              <a:spcAft>
                <a:spcPts val="0"/>
              </a:spcAft>
              <a:buClr>
                <a:schemeClr val="dk1"/>
              </a:buClr>
              <a:buSzPts val="2500"/>
              <a:buNone/>
              <a:defRPr/>
            </a:lvl8pPr>
            <a:lvl9pPr indent="-228600" lvl="8" marL="4114800" rtl="0" algn="l">
              <a:spcBef>
                <a:spcPts val="180"/>
              </a:spcBef>
              <a:spcAft>
                <a:spcPts val="0"/>
              </a:spcAft>
              <a:buClr>
                <a:schemeClr val="dk1"/>
              </a:buClr>
              <a:buSzPts val="25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0"/>
          <p:cNvSpPr txBox="1"/>
          <p:nvPr>
            <p:ph type="title"/>
          </p:nvPr>
        </p:nvSpPr>
        <p:spPr>
          <a:xfrm>
            <a:off x="1833175" y="440275"/>
            <a:ext cx="15882000" cy="42039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12500"/>
              <a:buFont typeface="Calibri"/>
              <a:buNone/>
              <a:defRPr/>
            </a:lvl1pPr>
            <a:lvl2pPr lvl="1">
              <a:spcBef>
                <a:spcPts val="0"/>
              </a:spcBef>
              <a:spcAft>
                <a:spcPts val="0"/>
              </a:spcAft>
              <a:buSzPts val="13500"/>
              <a:buNone/>
              <a:defRPr sz="13500"/>
            </a:lvl2pPr>
            <a:lvl3pPr lvl="2">
              <a:spcBef>
                <a:spcPts val="0"/>
              </a:spcBef>
              <a:spcAft>
                <a:spcPts val="0"/>
              </a:spcAft>
              <a:buSzPts val="13500"/>
              <a:buNone/>
              <a:defRPr sz="13500"/>
            </a:lvl3pPr>
            <a:lvl4pPr lvl="3">
              <a:spcBef>
                <a:spcPts val="0"/>
              </a:spcBef>
              <a:spcAft>
                <a:spcPts val="0"/>
              </a:spcAft>
              <a:buSzPts val="13500"/>
              <a:buNone/>
              <a:defRPr sz="13500"/>
            </a:lvl4pPr>
            <a:lvl5pPr lvl="4">
              <a:spcBef>
                <a:spcPts val="0"/>
              </a:spcBef>
              <a:spcAft>
                <a:spcPts val="0"/>
              </a:spcAft>
              <a:buSzPts val="13500"/>
              <a:buNone/>
              <a:defRPr sz="13500"/>
            </a:lvl5pPr>
            <a:lvl6pPr lvl="5">
              <a:spcBef>
                <a:spcPts val="0"/>
              </a:spcBef>
              <a:spcAft>
                <a:spcPts val="0"/>
              </a:spcAft>
              <a:buSzPts val="13500"/>
              <a:buNone/>
              <a:defRPr sz="13500"/>
            </a:lvl6pPr>
            <a:lvl7pPr lvl="6">
              <a:spcBef>
                <a:spcPts val="0"/>
              </a:spcBef>
              <a:spcAft>
                <a:spcPts val="0"/>
              </a:spcAft>
              <a:buSzPts val="13500"/>
              <a:buNone/>
              <a:defRPr sz="13500"/>
            </a:lvl7pPr>
            <a:lvl8pPr lvl="7">
              <a:spcBef>
                <a:spcPts val="0"/>
              </a:spcBef>
              <a:spcAft>
                <a:spcPts val="0"/>
              </a:spcAft>
              <a:buSzPts val="13500"/>
              <a:buNone/>
              <a:defRPr sz="13500"/>
            </a:lvl8pPr>
            <a:lvl9pPr lvl="8">
              <a:spcBef>
                <a:spcPts val="0"/>
              </a:spcBef>
              <a:spcAft>
                <a:spcPts val="0"/>
              </a:spcAft>
              <a:buSzPts val="13500"/>
              <a:buNone/>
              <a:defRPr sz="13500"/>
            </a:lvl9pPr>
          </a:lstStyle>
          <a:p/>
        </p:txBody>
      </p:sp>
      <p:sp>
        <p:nvSpPr>
          <p:cNvPr id="74" name="Google Shape;74;p10"/>
          <p:cNvSpPr/>
          <p:nvPr>
            <p:ph idx="2" type="pic"/>
          </p:nvPr>
        </p:nvSpPr>
        <p:spPr>
          <a:xfrm>
            <a:off x="1906738" y="4762350"/>
            <a:ext cx="5486400" cy="4114800"/>
          </a:xfrm>
          <a:prstGeom prst="rect">
            <a:avLst/>
          </a:prstGeom>
          <a:noFill/>
          <a:ln>
            <a:noFill/>
          </a:ln>
        </p:spPr>
      </p:sp>
      <p:sp>
        <p:nvSpPr>
          <p:cNvPr id="75" name="Google Shape;75;p10"/>
          <p:cNvSpPr txBox="1"/>
          <p:nvPr>
            <p:ph idx="1" type="body"/>
          </p:nvPr>
        </p:nvSpPr>
        <p:spPr>
          <a:xfrm>
            <a:off x="9779438" y="4644163"/>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2500"/>
              <a:buNone/>
              <a:defRPr/>
            </a:lvl1pPr>
            <a:lvl2pPr indent="-228600" lvl="1" marL="914400" algn="l">
              <a:spcBef>
                <a:spcPts val="240"/>
              </a:spcBef>
              <a:spcAft>
                <a:spcPts val="0"/>
              </a:spcAft>
              <a:buClr>
                <a:schemeClr val="dk1"/>
              </a:buClr>
              <a:buSzPts val="2500"/>
              <a:buNone/>
              <a:defRPr/>
            </a:lvl2pPr>
            <a:lvl3pPr indent="-228600" lvl="2" marL="1371600" algn="l">
              <a:spcBef>
                <a:spcPts val="200"/>
              </a:spcBef>
              <a:spcAft>
                <a:spcPts val="0"/>
              </a:spcAft>
              <a:buClr>
                <a:schemeClr val="dk1"/>
              </a:buClr>
              <a:buSzPts val="2500"/>
              <a:buNone/>
              <a:defRPr/>
            </a:lvl3pPr>
            <a:lvl4pPr indent="-228600" lvl="3" marL="1828800" algn="l">
              <a:spcBef>
                <a:spcPts val="180"/>
              </a:spcBef>
              <a:spcAft>
                <a:spcPts val="0"/>
              </a:spcAft>
              <a:buClr>
                <a:schemeClr val="dk1"/>
              </a:buClr>
              <a:buSzPts val="2500"/>
              <a:buNone/>
              <a:defRPr/>
            </a:lvl4pPr>
            <a:lvl5pPr indent="-228600" lvl="4" marL="2286000" algn="l">
              <a:spcBef>
                <a:spcPts val="180"/>
              </a:spcBef>
              <a:spcAft>
                <a:spcPts val="0"/>
              </a:spcAft>
              <a:buClr>
                <a:schemeClr val="dk1"/>
              </a:buClr>
              <a:buSzPts val="2500"/>
              <a:buNone/>
              <a:defRPr/>
            </a:lvl5pPr>
            <a:lvl6pPr indent="-228600" lvl="5" marL="2743200" algn="l">
              <a:spcBef>
                <a:spcPts val="180"/>
              </a:spcBef>
              <a:spcAft>
                <a:spcPts val="0"/>
              </a:spcAft>
              <a:buClr>
                <a:schemeClr val="dk1"/>
              </a:buClr>
              <a:buSzPts val="2500"/>
              <a:buNone/>
              <a:defRPr/>
            </a:lvl6pPr>
            <a:lvl7pPr indent="-228600" lvl="6" marL="3200400" algn="l">
              <a:spcBef>
                <a:spcPts val="180"/>
              </a:spcBef>
              <a:spcAft>
                <a:spcPts val="0"/>
              </a:spcAft>
              <a:buClr>
                <a:schemeClr val="dk1"/>
              </a:buClr>
              <a:buSzPts val="2500"/>
              <a:buNone/>
              <a:defRPr/>
            </a:lvl7pPr>
            <a:lvl8pPr indent="-228600" lvl="7" marL="3657600" algn="l">
              <a:spcBef>
                <a:spcPts val="180"/>
              </a:spcBef>
              <a:spcAft>
                <a:spcPts val="0"/>
              </a:spcAft>
              <a:buClr>
                <a:schemeClr val="dk1"/>
              </a:buClr>
              <a:buSzPts val="2500"/>
              <a:buNone/>
              <a:defRPr/>
            </a:lvl8pPr>
            <a:lvl9pPr indent="-228600" lvl="8" marL="4114800" algn="l">
              <a:spcBef>
                <a:spcPts val="180"/>
              </a:spcBef>
              <a:spcAft>
                <a:spcPts val="0"/>
              </a:spcAft>
              <a:buClr>
                <a:schemeClr val="dk1"/>
              </a:buClr>
              <a:buSzPts val="25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58125" y="575950"/>
            <a:ext cx="16828500" cy="23496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accent1"/>
              </a:buClr>
              <a:buSzPts val="12500"/>
              <a:buFont typeface="Bebas Neue"/>
              <a:buNone/>
              <a:defRPr i="0" sz="12500" u="none" cap="none" strike="noStrike">
                <a:solidFill>
                  <a:schemeClr val="accent1"/>
                </a:solidFill>
                <a:latin typeface="Bebas Neue"/>
                <a:ea typeface="Bebas Neue"/>
                <a:cs typeface="Bebas Neue"/>
                <a:sym typeface="Bebas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1515975" y="3799500"/>
            <a:ext cx="8229600" cy="4526100"/>
          </a:xfrm>
          <a:prstGeom prst="rect">
            <a:avLst/>
          </a:prstGeom>
          <a:noFill/>
          <a:ln>
            <a:noFill/>
          </a:ln>
        </p:spPr>
        <p:txBody>
          <a:bodyPr anchorCtr="0" anchor="t" bIns="45700" lIns="91425" spcFirstLastPara="1" rIns="91425" wrap="square" tIns="45700">
            <a:normAutofit/>
          </a:bodyPr>
          <a:lstStyle>
            <a:lvl1pPr indent="-387350" lvl="0" marL="457200" marR="0" rtl="0" algn="l">
              <a:spcBef>
                <a:spcPts val="64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1pPr>
            <a:lvl2pPr indent="-387350" lvl="1" marL="914400" marR="0" rtl="0" algn="l">
              <a:spcBef>
                <a:spcPts val="56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2pPr>
            <a:lvl3pPr indent="-387350" lvl="2" marL="1371600" marR="0" rtl="0" algn="l">
              <a:spcBef>
                <a:spcPts val="48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3pPr>
            <a:lvl4pPr indent="-387350" lvl="3" marL="1828800" marR="0" rtl="0" algn="l">
              <a:spcBef>
                <a:spcPts val="40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4pPr>
            <a:lvl5pPr indent="-387350" lvl="4" marL="2286000" marR="0" rtl="0" algn="l">
              <a:spcBef>
                <a:spcPts val="40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5pPr>
            <a:lvl6pPr indent="-387350" lvl="5" marL="2743200" marR="0" rtl="0" algn="l">
              <a:spcBef>
                <a:spcPts val="40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6pPr>
            <a:lvl7pPr indent="-387350" lvl="6" marL="3200400" marR="0" rtl="0" algn="l">
              <a:spcBef>
                <a:spcPts val="40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7pPr>
            <a:lvl8pPr indent="-387350" lvl="7" marL="3657600" marR="0" rtl="0" algn="l">
              <a:spcBef>
                <a:spcPts val="40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8pPr>
            <a:lvl9pPr indent="-387350" lvl="8" marL="4114800" marR="0" rtl="0" algn="l">
              <a:spcBef>
                <a:spcPts val="400"/>
              </a:spcBef>
              <a:spcAft>
                <a:spcPts val="0"/>
              </a:spcAft>
              <a:buClr>
                <a:schemeClr val="accent2"/>
              </a:buClr>
              <a:buSzPts val="2500"/>
              <a:buFont typeface="Bebas Neue"/>
              <a:buChar char="•"/>
              <a:defRPr i="0" sz="2500" u="none" cap="none" strike="noStrike">
                <a:solidFill>
                  <a:schemeClr val="accent2"/>
                </a:solidFill>
                <a:latin typeface="Bebas Neue"/>
                <a:ea typeface="Bebas Neue"/>
                <a:cs typeface="Bebas Neue"/>
                <a:sym typeface="Bebas Neue"/>
              </a:defRPr>
            </a:lvl9pPr>
          </a:lstStyle>
          <a:p/>
        </p:txBody>
      </p:sp>
      <p:grpSp>
        <p:nvGrpSpPr>
          <p:cNvPr id="8" name="Google Shape;8;p1"/>
          <p:cNvGrpSpPr/>
          <p:nvPr/>
        </p:nvGrpSpPr>
        <p:grpSpPr>
          <a:xfrm>
            <a:off x="141631" y="225"/>
            <a:ext cx="887069" cy="10286775"/>
            <a:chOff x="0" y="118"/>
            <a:chExt cx="1182759" cy="13715700"/>
          </a:xfrm>
        </p:grpSpPr>
        <p:cxnSp>
          <p:nvCxnSpPr>
            <p:cNvPr id="9" name="Google Shape;9;p1"/>
            <p:cNvCxnSpPr/>
            <p:nvPr/>
          </p:nvCxnSpPr>
          <p:spPr>
            <a:xfrm rot="10800000">
              <a:off x="1154859" y="118"/>
              <a:ext cx="27900" cy="13715700"/>
            </a:xfrm>
            <a:prstGeom prst="straightConnector1">
              <a:avLst/>
            </a:prstGeom>
            <a:noFill/>
            <a:ln cap="flat" cmpd="sng" w="38100">
              <a:solidFill>
                <a:srgbClr val="000000"/>
              </a:solidFill>
              <a:prstDash val="solid"/>
              <a:round/>
              <a:headEnd len="sm" w="sm" type="none"/>
              <a:tailEnd len="sm" w="sm" type="none"/>
            </a:ln>
          </p:spPr>
        </p:cxnSp>
        <p:grpSp>
          <p:nvGrpSpPr>
            <p:cNvPr id="10" name="Google Shape;10;p1"/>
            <p:cNvGrpSpPr/>
            <p:nvPr/>
          </p:nvGrpSpPr>
          <p:grpSpPr>
            <a:xfrm>
              <a:off x="111185" y="36992"/>
              <a:ext cx="789750" cy="305275"/>
              <a:chOff x="0" y="-47625"/>
              <a:chExt cx="156000" cy="60300"/>
            </a:xfrm>
          </p:grpSpPr>
          <p:sp>
            <p:nvSpPr>
              <p:cNvPr id="11" name="Google Shape;11;p1"/>
              <p:cNvSpPr/>
              <p:nvPr/>
            </p:nvSpPr>
            <p:spPr>
              <a:xfrm>
                <a:off x="0" y="0"/>
                <a:ext cx="155987" cy="12543"/>
              </a:xfrm>
              <a:custGeom>
                <a:rect b="b" l="l" r="r" t="t"/>
                <a:pathLst>
                  <a:path extrusionOk="0" h="12543" w="155987">
                    <a:moveTo>
                      <a:pt x="0" y="0"/>
                    </a:moveTo>
                    <a:lnTo>
                      <a:pt x="155987" y="0"/>
                    </a:lnTo>
                    <a:lnTo>
                      <a:pt x="155987" y="12543"/>
                    </a:lnTo>
                    <a:lnTo>
                      <a:pt x="0" y="12543"/>
                    </a:lnTo>
                    <a:close/>
                  </a:path>
                </a:pathLst>
              </a:custGeom>
              <a:gradFill>
                <a:gsLst>
                  <a:gs pos="0">
                    <a:srgbClr val="0B0B0B"/>
                  </a:gs>
                  <a:gs pos="100000">
                    <a:srgbClr val="3B3B3B"/>
                  </a:gs>
                </a:gsLst>
                <a:lin ang="0" scaled="0"/>
              </a:gradFill>
              <a:ln>
                <a:noFill/>
              </a:ln>
            </p:spPr>
          </p:sp>
          <p:sp>
            <p:nvSpPr>
              <p:cNvPr id="12" name="Google Shape;12;p1"/>
              <p:cNvSpPr txBox="1"/>
              <p:nvPr/>
            </p:nvSpPr>
            <p:spPr>
              <a:xfrm>
                <a:off x="0" y="-47625"/>
                <a:ext cx="156000" cy="60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 name="Google Shape;13;p1"/>
            <p:cNvGrpSpPr/>
            <p:nvPr/>
          </p:nvGrpSpPr>
          <p:grpSpPr>
            <a:xfrm>
              <a:off x="111185" y="178024"/>
              <a:ext cx="789750" cy="305275"/>
              <a:chOff x="0" y="-47625"/>
              <a:chExt cx="156000" cy="60300"/>
            </a:xfrm>
          </p:grpSpPr>
          <p:sp>
            <p:nvSpPr>
              <p:cNvPr id="14" name="Google Shape;14;p1"/>
              <p:cNvSpPr/>
              <p:nvPr/>
            </p:nvSpPr>
            <p:spPr>
              <a:xfrm>
                <a:off x="0" y="0"/>
                <a:ext cx="155987" cy="12543"/>
              </a:xfrm>
              <a:custGeom>
                <a:rect b="b" l="l" r="r" t="t"/>
                <a:pathLst>
                  <a:path extrusionOk="0" h="12543" w="155987">
                    <a:moveTo>
                      <a:pt x="0" y="0"/>
                    </a:moveTo>
                    <a:lnTo>
                      <a:pt x="155987" y="0"/>
                    </a:lnTo>
                    <a:lnTo>
                      <a:pt x="155987" y="12543"/>
                    </a:lnTo>
                    <a:lnTo>
                      <a:pt x="0" y="12543"/>
                    </a:lnTo>
                    <a:close/>
                  </a:path>
                </a:pathLst>
              </a:custGeom>
              <a:solidFill>
                <a:srgbClr val="3B3B3B"/>
              </a:solidFill>
              <a:ln>
                <a:noFill/>
              </a:ln>
            </p:spPr>
          </p:sp>
          <p:sp>
            <p:nvSpPr>
              <p:cNvPr id="15" name="Google Shape;15;p1"/>
              <p:cNvSpPr txBox="1"/>
              <p:nvPr/>
            </p:nvSpPr>
            <p:spPr>
              <a:xfrm>
                <a:off x="0" y="-47625"/>
                <a:ext cx="156000" cy="60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 name="Google Shape;16;p1"/>
            <p:cNvGrpSpPr/>
            <p:nvPr/>
          </p:nvGrpSpPr>
          <p:grpSpPr>
            <a:xfrm>
              <a:off x="111185" y="319057"/>
              <a:ext cx="789750" cy="305275"/>
              <a:chOff x="0" y="-47625"/>
              <a:chExt cx="156000" cy="60300"/>
            </a:xfrm>
          </p:grpSpPr>
          <p:sp>
            <p:nvSpPr>
              <p:cNvPr id="17" name="Google Shape;17;p1"/>
              <p:cNvSpPr/>
              <p:nvPr/>
            </p:nvSpPr>
            <p:spPr>
              <a:xfrm>
                <a:off x="0" y="0"/>
                <a:ext cx="155987" cy="12543"/>
              </a:xfrm>
              <a:custGeom>
                <a:rect b="b" l="l" r="r" t="t"/>
                <a:pathLst>
                  <a:path extrusionOk="0" h="12543" w="155987">
                    <a:moveTo>
                      <a:pt x="0" y="0"/>
                    </a:moveTo>
                    <a:lnTo>
                      <a:pt x="155987" y="0"/>
                    </a:lnTo>
                    <a:lnTo>
                      <a:pt x="155987" y="12543"/>
                    </a:lnTo>
                    <a:lnTo>
                      <a:pt x="0" y="12543"/>
                    </a:lnTo>
                    <a:close/>
                  </a:path>
                </a:pathLst>
              </a:custGeom>
              <a:solidFill>
                <a:srgbClr val="000000"/>
              </a:solidFill>
              <a:ln>
                <a:noFill/>
              </a:ln>
            </p:spPr>
          </p:sp>
          <p:sp>
            <p:nvSpPr>
              <p:cNvPr id="18" name="Google Shape;18;p1"/>
              <p:cNvSpPr txBox="1"/>
              <p:nvPr/>
            </p:nvSpPr>
            <p:spPr>
              <a:xfrm>
                <a:off x="0" y="-47625"/>
                <a:ext cx="156000" cy="60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 name="Google Shape;19;p1"/>
            <p:cNvSpPr/>
            <p:nvPr/>
          </p:nvSpPr>
          <p:spPr>
            <a:xfrm>
              <a:off x="27796" y="10374296"/>
              <a:ext cx="845278" cy="451840"/>
            </a:xfrm>
            <a:custGeom>
              <a:rect b="b" l="l" r="r" t="t"/>
              <a:pathLst>
                <a:path extrusionOk="0" h="451840" w="845278">
                  <a:moveTo>
                    <a:pt x="0" y="0"/>
                  </a:moveTo>
                  <a:lnTo>
                    <a:pt x="845279" y="0"/>
                  </a:lnTo>
                  <a:lnTo>
                    <a:pt x="845279" y="451839"/>
                  </a:lnTo>
                  <a:lnTo>
                    <a:pt x="0" y="451839"/>
                  </a:lnTo>
                  <a:lnTo>
                    <a:pt x="0" y="0"/>
                  </a:lnTo>
                  <a:close/>
                </a:path>
              </a:pathLst>
            </a:custGeom>
            <a:blipFill rotWithShape="1">
              <a:blip r:embed="rId1">
                <a:alphaModFix/>
              </a:blip>
              <a:stretch>
                <a:fillRect b="0" l="0" r="0" t="0"/>
              </a:stretch>
            </a:blipFill>
            <a:ln>
              <a:noFill/>
            </a:ln>
          </p:spPr>
        </p:sp>
        <p:sp>
          <p:nvSpPr>
            <p:cNvPr id="20" name="Google Shape;20;p1"/>
            <p:cNvSpPr/>
            <p:nvPr/>
          </p:nvSpPr>
          <p:spPr>
            <a:xfrm rot="10800000">
              <a:off x="0" y="3606010"/>
              <a:ext cx="900871" cy="481557"/>
            </a:xfrm>
            <a:custGeom>
              <a:rect b="b" l="l" r="r" t="t"/>
              <a:pathLst>
                <a:path extrusionOk="0" h="481557" w="900871">
                  <a:moveTo>
                    <a:pt x="0" y="0"/>
                  </a:moveTo>
                  <a:lnTo>
                    <a:pt x="900871" y="0"/>
                  </a:lnTo>
                  <a:lnTo>
                    <a:pt x="900871" y="481557"/>
                  </a:lnTo>
                  <a:lnTo>
                    <a:pt x="0" y="481557"/>
                  </a:lnTo>
                  <a:lnTo>
                    <a:pt x="0" y="0"/>
                  </a:lnTo>
                  <a:close/>
                </a:path>
              </a:pathLst>
            </a:custGeom>
            <a:blipFill rotWithShape="1">
              <a:blip r:embed="rId1">
                <a:alphaModFix/>
              </a:blip>
              <a:stretch>
                <a:fillRect b="0" l="0" r="0" t="0"/>
              </a:stretch>
            </a:blipFill>
            <a:ln>
              <a:noFill/>
            </a:ln>
          </p:spPr>
        </p:sp>
      </p:grpSp>
      <p:grpSp>
        <p:nvGrpSpPr>
          <p:cNvPr id="21" name="Google Shape;21;p1"/>
          <p:cNvGrpSpPr/>
          <p:nvPr/>
        </p:nvGrpSpPr>
        <p:grpSpPr>
          <a:xfrm>
            <a:off x="14633927" y="634857"/>
            <a:ext cx="2938702" cy="8899037"/>
            <a:chOff x="0" y="-9525"/>
            <a:chExt cx="3918270" cy="11865383"/>
          </a:xfrm>
        </p:grpSpPr>
        <p:grpSp>
          <p:nvGrpSpPr>
            <p:cNvPr id="22" name="Google Shape;22;p1"/>
            <p:cNvGrpSpPr/>
            <p:nvPr/>
          </p:nvGrpSpPr>
          <p:grpSpPr>
            <a:xfrm>
              <a:off x="2863785" y="2791938"/>
              <a:ext cx="1054485" cy="1175912"/>
              <a:chOff x="0" y="-47625"/>
              <a:chExt cx="163834" cy="182700"/>
            </a:xfrm>
          </p:grpSpPr>
          <p:sp>
            <p:nvSpPr>
              <p:cNvPr id="23" name="Google Shape;23;p1"/>
              <p:cNvSpPr/>
              <p:nvPr/>
            </p:nvSpPr>
            <p:spPr>
              <a:xfrm>
                <a:off x="0" y="0"/>
                <a:ext cx="163834" cy="135002"/>
              </a:xfrm>
              <a:custGeom>
                <a:rect b="b" l="l" r="r" t="t"/>
                <a:pathLst>
                  <a:path extrusionOk="0" h="135002" w="163834">
                    <a:moveTo>
                      <a:pt x="67501" y="0"/>
                    </a:moveTo>
                    <a:lnTo>
                      <a:pt x="96333" y="0"/>
                    </a:lnTo>
                    <a:cubicBezTo>
                      <a:pt x="133613" y="0"/>
                      <a:pt x="163834" y="30221"/>
                      <a:pt x="163834" y="67501"/>
                    </a:cubicBezTo>
                    <a:lnTo>
                      <a:pt x="163834" y="67501"/>
                    </a:lnTo>
                    <a:cubicBezTo>
                      <a:pt x="163834" y="104781"/>
                      <a:pt x="133613" y="135002"/>
                      <a:pt x="96333" y="135002"/>
                    </a:cubicBezTo>
                    <a:lnTo>
                      <a:pt x="67501" y="135002"/>
                    </a:lnTo>
                    <a:cubicBezTo>
                      <a:pt x="30221" y="135002"/>
                      <a:pt x="0" y="104781"/>
                      <a:pt x="0" y="67501"/>
                    </a:cubicBezTo>
                    <a:lnTo>
                      <a:pt x="0" y="67501"/>
                    </a:lnTo>
                    <a:cubicBezTo>
                      <a:pt x="0" y="30221"/>
                      <a:pt x="30221" y="0"/>
                      <a:pt x="67501" y="0"/>
                    </a:cubicBezTo>
                    <a:close/>
                  </a:path>
                </a:pathLst>
              </a:custGeom>
              <a:solidFill>
                <a:srgbClr val="000000">
                  <a:alpha val="0"/>
                </a:srgbClr>
              </a:solidFill>
              <a:ln cap="sq" cmpd="sng" w="28575">
                <a:solidFill>
                  <a:srgbClr val="0B0B0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txBox="1"/>
              <p:nvPr/>
            </p:nvSpPr>
            <p:spPr>
              <a:xfrm>
                <a:off x="0" y="-47625"/>
                <a:ext cx="163800" cy="182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 name="Google Shape;25;p1"/>
            <p:cNvGrpSpPr/>
            <p:nvPr/>
          </p:nvGrpSpPr>
          <p:grpSpPr>
            <a:xfrm>
              <a:off x="2976321" y="3992976"/>
              <a:ext cx="829410" cy="924919"/>
              <a:chOff x="0" y="-47625"/>
              <a:chExt cx="163834" cy="182700"/>
            </a:xfrm>
          </p:grpSpPr>
          <p:sp>
            <p:nvSpPr>
              <p:cNvPr id="26" name="Google Shape;26;p1"/>
              <p:cNvSpPr/>
              <p:nvPr/>
            </p:nvSpPr>
            <p:spPr>
              <a:xfrm>
                <a:off x="0" y="0"/>
                <a:ext cx="163834" cy="135002"/>
              </a:xfrm>
              <a:custGeom>
                <a:rect b="b" l="l" r="r" t="t"/>
                <a:pathLst>
                  <a:path extrusionOk="0" h="135002" w="163834">
                    <a:moveTo>
                      <a:pt x="67501" y="0"/>
                    </a:moveTo>
                    <a:lnTo>
                      <a:pt x="96333" y="0"/>
                    </a:lnTo>
                    <a:cubicBezTo>
                      <a:pt x="133613" y="0"/>
                      <a:pt x="163834" y="30221"/>
                      <a:pt x="163834" y="67501"/>
                    </a:cubicBezTo>
                    <a:lnTo>
                      <a:pt x="163834" y="67501"/>
                    </a:lnTo>
                    <a:cubicBezTo>
                      <a:pt x="163834" y="104781"/>
                      <a:pt x="133613" y="135002"/>
                      <a:pt x="96333" y="135002"/>
                    </a:cubicBezTo>
                    <a:lnTo>
                      <a:pt x="67501" y="135002"/>
                    </a:lnTo>
                    <a:cubicBezTo>
                      <a:pt x="30221" y="135002"/>
                      <a:pt x="0" y="104781"/>
                      <a:pt x="0" y="67501"/>
                    </a:cubicBezTo>
                    <a:lnTo>
                      <a:pt x="0" y="67501"/>
                    </a:lnTo>
                    <a:cubicBezTo>
                      <a:pt x="0" y="30221"/>
                      <a:pt x="30221" y="0"/>
                      <a:pt x="67501" y="0"/>
                    </a:cubicBezTo>
                    <a:close/>
                  </a:path>
                </a:pathLst>
              </a:custGeom>
              <a:solidFill>
                <a:srgbClr val="000000">
                  <a:alpha val="0"/>
                </a:srgbClr>
              </a:solidFill>
              <a:ln cap="sq" cmpd="sng" w="28575">
                <a:solidFill>
                  <a:srgbClr val="000000">
                    <a:alpha val="2824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txBox="1"/>
              <p:nvPr/>
            </p:nvSpPr>
            <p:spPr>
              <a:xfrm>
                <a:off x="0" y="-47625"/>
                <a:ext cx="163800" cy="182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 name="Google Shape;28;p1"/>
            <p:cNvGrpSpPr/>
            <p:nvPr/>
          </p:nvGrpSpPr>
          <p:grpSpPr>
            <a:xfrm>
              <a:off x="2976321" y="4941728"/>
              <a:ext cx="829410" cy="924919"/>
              <a:chOff x="0" y="-47625"/>
              <a:chExt cx="163834" cy="182700"/>
            </a:xfrm>
          </p:grpSpPr>
          <p:sp>
            <p:nvSpPr>
              <p:cNvPr id="29" name="Google Shape;29;p1"/>
              <p:cNvSpPr/>
              <p:nvPr/>
            </p:nvSpPr>
            <p:spPr>
              <a:xfrm>
                <a:off x="0" y="0"/>
                <a:ext cx="163834" cy="135002"/>
              </a:xfrm>
              <a:custGeom>
                <a:rect b="b" l="l" r="r" t="t"/>
                <a:pathLst>
                  <a:path extrusionOk="0" h="135002" w="163834">
                    <a:moveTo>
                      <a:pt x="67501" y="0"/>
                    </a:moveTo>
                    <a:lnTo>
                      <a:pt x="96333" y="0"/>
                    </a:lnTo>
                    <a:cubicBezTo>
                      <a:pt x="133613" y="0"/>
                      <a:pt x="163834" y="30221"/>
                      <a:pt x="163834" y="67501"/>
                    </a:cubicBezTo>
                    <a:lnTo>
                      <a:pt x="163834" y="67501"/>
                    </a:lnTo>
                    <a:cubicBezTo>
                      <a:pt x="163834" y="104781"/>
                      <a:pt x="133613" y="135002"/>
                      <a:pt x="96333" y="135002"/>
                    </a:cubicBezTo>
                    <a:lnTo>
                      <a:pt x="67501" y="135002"/>
                    </a:lnTo>
                    <a:cubicBezTo>
                      <a:pt x="30221" y="135002"/>
                      <a:pt x="0" y="104781"/>
                      <a:pt x="0" y="67501"/>
                    </a:cubicBezTo>
                    <a:lnTo>
                      <a:pt x="0" y="67501"/>
                    </a:lnTo>
                    <a:cubicBezTo>
                      <a:pt x="0" y="30221"/>
                      <a:pt x="30221" y="0"/>
                      <a:pt x="67501" y="0"/>
                    </a:cubicBezTo>
                    <a:close/>
                  </a:path>
                </a:pathLst>
              </a:custGeom>
              <a:solidFill>
                <a:srgbClr val="000000">
                  <a:alpha val="0"/>
                </a:srgbClr>
              </a:solidFill>
              <a:ln cap="sq" cmpd="sng" w="28575">
                <a:solidFill>
                  <a:srgbClr val="000000">
                    <a:alpha val="2824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txBox="1"/>
              <p:nvPr/>
            </p:nvSpPr>
            <p:spPr>
              <a:xfrm>
                <a:off x="0" y="-47625"/>
                <a:ext cx="163800" cy="182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 name="Google Shape;31;p1"/>
            <p:cNvGrpSpPr/>
            <p:nvPr/>
          </p:nvGrpSpPr>
          <p:grpSpPr>
            <a:xfrm>
              <a:off x="2976321" y="5890480"/>
              <a:ext cx="829410" cy="924919"/>
              <a:chOff x="0" y="-47625"/>
              <a:chExt cx="163834" cy="182700"/>
            </a:xfrm>
          </p:grpSpPr>
          <p:sp>
            <p:nvSpPr>
              <p:cNvPr id="32" name="Google Shape;32;p1"/>
              <p:cNvSpPr/>
              <p:nvPr/>
            </p:nvSpPr>
            <p:spPr>
              <a:xfrm>
                <a:off x="0" y="0"/>
                <a:ext cx="163834" cy="135002"/>
              </a:xfrm>
              <a:custGeom>
                <a:rect b="b" l="l" r="r" t="t"/>
                <a:pathLst>
                  <a:path extrusionOk="0" h="135002" w="163834">
                    <a:moveTo>
                      <a:pt x="67501" y="0"/>
                    </a:moveTo>
                    <a:lnTo>
                      <a:pt x="96333" y="0"/>
                    </a:lnTo>
                    <a:cubicBezTo>
                      <a:pt x="133613" y="0"/>
                      <a:pt x="163834" y="30221"/>
                      <a:pt x="163834" y="67501"/>
                    </a:cubicBezTo>
                    <a:lnTo>
                      <a:pt x="163834" y="67501"/>
                    </a:lnTo>
                    <a:cubicBezTo>
                      <a:pt x="163834" y="104781"/>
                      <a:pt x="133613" y="135002"/>
                      <a:pt x="96333" y="135002"/>
                    </a:cubicBezTo>
                    <a:lnTo>
                      <a:pt x="67501" y="135002"/>
                    </a:lnTo>
                    <a:cubicBezTo>
                      <a:pt x="30221" y="135002"/>
                      <a:pt x="0" y="104781"/>
                      <a:pt x="0" y="67501"/>
                    </a:cubicBezTo>
                    <a:lnTo>
                      <a:pt x="0" y="67501"/>
                    </a:lnTo>
                    <a:cubicBezTo>
                      <a:pt x="0" y="30221"/>
                      <a:pt x="30221" y="0"/>
                      <a:pt x="67501" y="0"/>
                    </a:cubicBezTo>
                    <a:close/>
                  </a:path>
                </a:pathLst>
              </a:custGeom>
              <a:solidFill>
                <a:srgbClr val="000000">
                  <a:alpha val="0"/>
                </a:srgbClr>
              </a:solidFill>
              <a:ln cap="sq" cmpd="sng" w="28575">
                <a:solidFill>
                  <a:srgbClr val="000000">
                    <a:alpha val="2824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txBox="1"/>
              <p:nvPr/>
            </p:nvSpPr>
            <p:spPr>
              <a:xfrm>
                <a:off x="0" y="-47625"/>
                <a:ext cx="163800" cy="182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 name="Google Shape;34;p1"/>
            <p:cNvGrpSpPr/>
            <p:nvPr/>
          </p:nvGrpSpPr>
          <p:grpSpPr>
            <a:xfrm>
              <a:off x="2976321" y="6839233"/>
              <a:ext cx="829410" cy="924919"/>
              <a:chOff x="0" y="-47625"/>
              <a:chExt cx="163834" cy="182700"/>
            </a:xfrm>
          </p:grpSpPr>
          <p:sp>
            <p:nvSpPr>
              <p:cNvPr id="35" name="Google Shape;35;p1"/>
              <p:cNvSpPr/>
              <p:nvPr/>
            </p:nvSpPr>
            <p:spPr>
              <a:xfrm>
                <a:off x="0" y="0"/>
                <a:ext cx="163834" cy="135002"/>
              </a:xfrm>
              <a:custGeom>
                <a:rect b="b" l="l" r="r" t="t"/>
                <a:pathLst>
                  <a:path extrusionOk="0" h="135002" w="163834">
                    <a:moveTo>
                      <a:pt x="67501" y="0"/>
                    </a:moveTo>
                    <a:lnTo>
                      <a:pt x="96333" y="0"/>
                    </a:lnTo>
                    <a:cubicBezTo>
                      <a:pt x="133613" y="0"/>
                      <a:pt x="163834" y="30221"/>
                      <a:pt x="163834" y="67501"/>
                    </a:cubicBezTo>
                    <a:lnTo>
                      <a:pt x="163834" y="67501"/>
                    </a:lnTo>
                    <a:cubicBezTo>
                      <a:pt x="163834" y="104781"/>
                      <a:pt x="133613" y="135002"/>
                      <a:pt x="96333" y="135002"/>
                    </a:cubicBezTo>
                    <a:lnTo>
                      <a:pt x="67501" y="135002"/>
                    </a:lnTo>
                    <a:cubicBezTo>
                      <a:pt x="30221" y="135002"/>
                      <a:pt x="0" y="104781"/>
                      <a:pt x="0" y="67501"/>
                    </a:cubicBezTo>
                    <a:lnTo>
                      <a:pt x="0" y="67501"/>
                    </a:lnTo>
                    <a:cubicBezTo>
                      <a:pt x="0" y="30221"/>
                      <a:pt x="30221" y="0"/>
                      <a:pt x="67501" y="0"/>
                    </a:cubicBezTo>
                    <a:close/>
                  </a:path>
                </a:pathLst>
              </a:custGeom>
              <a:solidFill>
                <a:srgbClr val="000000">
                  <a:alpha val="0"/>
                </a:srgbClr>
              </a:solidFill>
              <a:ln cap="sq" cmpd="sng" w="28575">
                <a:solidFill>
                  <a:srgbClr val="000000">
                    <a:alpha val="2824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txBox="1"/>
              <p:nvPr/>
            </p:nvSpPr>
            <p:spPr>
              <a:xfrm>
                <a:off x="0" y="-47625"/>
                <a:ext cx="163800" cy="182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 name="Google Shape;37;p1"/>
            <p:cNvGrpSpPr/>
            <p:nvPr/>
          </p:nvGrpSpPr>
          <p:grpSpPr>
            <a:xfrm>
              <a:off x="2976321" y="7787985"/>
              <a:ext cx="829410" cy="924919"/>
              <a:chOff x="0" y="-47625"/>
              <a:chExt cx="163834" cy="182700"/>
            </a:xfrm>
          </p:grpSpPr>
          <p:sp>
            <p:nvSpPr>
              <p:cNvPr id="38" name="Google Shape;38;p1"/>
              <p:cNvSpPr/>
              <p:nvPr/>
            </p:nvSpPr>
            <p:spPr>
              <a:xfrm>
                <a:off x="0" y="0"/>
                <a:ext cx="163834" cy="135002"/>
              </a:xfrm>
              <a:custGeom>
                <a:rect b="b" l="l" r="r" t="t"/>
                <a:pathLst>
                  <a:path extrusionOk="0" h="135002" w="163834">
                    <a:moveTo>
                      <a:pt x="67501" y="0"/>
                    </a:moveTo>
                    <a:lnTo>
                      <a:pt x="96333" y="0"/>
                    </a:lnTo>
                    <a:cubicBezTo>
                      <a:pt x="133613" y="0"/>
                      <a:pt x="163834" y="30221"/>
                      <a:pt x="163834" y="67501"/>
                    </a:cubicBezTo>
                    <a:lnTo>
                      <a:pt x="163834" y="67501"/>
                    </a:lnTo>
                    <a:cubicBezTo>
                      <a:pt x="163834" y="104781"/>
                      <a:pt x="133613" y="135002"/>
                      <a:pt x="96333" y="135002"/>
                    </a:cubicBezTo>
                    <a:lnTo>
                      <a:pt x="67501" y="135002"/>
                    </a:lnTo>
                    <a:cubicBezTo>
                      <a:pt x="30221" y="135002"/>
                      <a:pt x="0" y="104781"/>
                      <a:pt x="0" y="67501"/>
                    </a:cubicBezTo>
                    <a:lnTo>
                      <a:pt x="0" y="67501"/>
                    </a:lnTo>
                    <a:cubicBezTo>
                      <a:pt x="0" y="30221"/>
                      <a:pt x="30221" y="0"/>
                      <a:pt x="67501" y="0"/>
                    </a:cubicBezTo>
                    <a:close/>
                  </a:path>
                </a:pathLst>
              </a:custGeom>
              <a:solidFill>
                <a:srgbClr val="000000">
                  <a:alpha val="0"/>
                </a:srgbClr>
              </a:solidFill>
              <a:ln cap="sq" cmpd="sng" w="28575">
                <a:solidFill>
                  <a:srgbClr val="000000">
                    <a:alpha val="2824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txBox="1"/>
              <p:nvPr/>
            </p:nvSpPr>
            <p:spPr>
              <a:xfrm>
                <a:off x="0" y="-47625"/>
                <a:ext cx="163800" cy="182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 name="Google Shape;40;p1"/>
            <p:cNvSpPr txBox="1"/>
            <p:nvPr/>
          </p:nvSpPr>
          <p:spPr>
            <a:xfrm>
              <a:off x="3113146" y="3195392"/>
              <a:ext cx="5559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700" u="none" cap="none" strike="noStrike">
                  <a:solidFill>
                    <a:srgbClr val="FFFFFF"/>
                  </a:solidFill>
                  <a:latin typeface="Arimo"/>
                  <a:ea typeface="Arimo"/>
                  <a:cs typeface="Arimo"/>
                  <a:sym typeface="Arimo"/>
                </a:rPr>
                <a:t>01</a:t>
              </a:r>
              <a:endParaRPr/>
            </a:p>
          </p:txBody>
        </p:sp>
        <p:sp>
          <p:nvSpPr>
            <p:cNvPr id="41" name="Google Shape;41;p1"/>
            <p:cNvSpPr txBox="1"/>
            <p:nvPr/>
          </p:nvSpPr>
          <p:spPr>
            <a:xfrm>
              <a:off x="3172458" y="4357099"/>
              <a:ext cx="437100" cy="43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FFFFFF"/>
                  </a:solidFill>
                  <a:latin typeface="Arimo"/>
                  <a:ea typeface="Arimo"/>
                  <a:cs typeface="Arimo"/>
                  <a:sym typeface="Arimo"/>
                </a:rPr>
                <a:t>02</a:t>
              </a:r>
              <a:endParaRPr/>
            </a:p>
          </p:txBody>
        </p:sp>
        <p:sp>
          <p:nvSpPr>
            <p:cNvPr id="42" name="Google Shape;42;p1"/>
            <p:cNvSpPr txBox="1"/>
            <p:nvPr/>
          </p:nvSpPr>
          <p:spPr>
            <a:xfrm>
              <a:off x="3172458" y="5344817"/>
              <a:ext cx="437100" cy="43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FFFFFF"/>
                  </a:solidFill>
                  <a:latin typeface="Arimo"/>
                  <a:ea typeface="Arimo"/>
                  <a:cs typeface="Arimo"/>
                  <a:sym typeface="Arimo"/>
                </a:rPr>
                <a:t>03</a:t>
              </a:r>
              <a:endParaRPr/>
            </a:p>
          </p:txBody>
        </p:sp>
        <p:sp>
          <p:nvSpPr>
            <p:cNvPr id="43" name="Google Shape;43;p1"/>
            <p:cNvSpPr txBox="1"/>
            <p:nvPr/>
          </p:nvSpPr>
          <p:spPr>
            <a:xfrm>
              <a:off x="3172458" y="6254604"/>
              <a:ext cx="437100" cy="43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FFFFFF"/>
                  </a:solidFill>
                  <a:latin typeface="Arimo"/>
                  <a:ea typeface="Arimo"/>
                  <a:cs typeface="Arimo"/>
                  <a:sym typeface="Arimo"/>
                </a:rPr>
                <a:t>04</a:t>
              </a:r>
              <a:endParaRPr/>
            </a:p>
          </p:txBody>
        </p:sp>
        <p:sp>
          <p:nvSpPr>
            <p:cNvPr id="44" name="Google Shape;44;p1"/>
            <p:cNvSpPr txBox="1"/>
            <p:nvPr/>
          </p:nvSpPr>
          <p:spPr>
            <a:xfrm>
              <a:off x="3172458" y="7203356"/>
              <a:ext cx="437100" cy="43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FFFFFF"/>
                  </a:solidFill>
                  <a:latin typeface="Arimo"/>
                  <a:ea typeface="Arimo"/>
                  <a:cs typeface="Arimo"/>
                  <a:sym typeface="Arimo"/>
                </a:rPr>
                <a:t>05</a:t>
              </a:r>
              <a:endParaRPr/>
            </a:p>
          </p:txBody>
        </p:sp>
        <p:sp>
          <p:nvSpPr>
            <p:cNvPr id="45" name="Google Shape;45;p1"/>
            <p:cNvSpPr txBox="1"/>
            <p:nvPr/>
          </p:nvSpPr>
          <p:spPr>
            <a:xfrm>
              <a:off x="3172458" y="8148330"/>
              <a:ext cx="437100" cy="43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FFFFFF"/>
                  </a:solidFill>
                  <a:latin typeface="Arimo"/>
                  <a:ea typeface="Arimo"/>
                  <a:cs typeface="Arimo"/>
                  <a:sym typeface="Arimo"/>
                </a:rPr>
                <a:t>06</a:t>
              </a:r>
              <a:endParaRPr/>
            </a:p>
          </p:txBody>
        </p:sp>
        <p:sp>
          <p:nvSpPr>
            <p:cNvPr id="46" name="Google Shape;46;p1"/>
            <p:cNvSpPr txBox="1"/>
            <p:nvPr/>
          </p:nvSpPr>
          <p:spPr>
            <a:xfrm>
              <a:off x="12070080" y="-9525"/>
              <a:ext cx="5486400" cy="4311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sz="1800">
                  <a:solidFill>
                    <a:srgbClr val="94A3B8"/>
                  </a:solidFill>
                  <a:latin typeface="Bebas Neue"/>
                </a:rPr>
                <a:t>HỌC VIỆN NGÂN HÀNG</a:t>
              </a:r>
              <a:endParaRPr/>
            </a:p>
          </p:txBody>
        </p:sp>
        <p:sp>
          <p:nvSpPr>
            <p:cNvPr id="47" name="Google Shape;47;p1"/>
            <p:cNvSpPr txBox="1"/>
            <p:nvPr/>
          </p:nvSpPr>
          <p:spPr>
            <a:xfrm>
              <a:off x="12070080" y="11424758"/>
              <a:ext cx="5486400" cy="4311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0" i="0" lang="en-US" sz="2100" u="none" cap="none" strike="noStrike">
                  <a:solidFill>
                    <a:srgbClr val="FFFFFF"/>
                  </a:solidFill>
                  <a:latin typeface="Bebas Neue"/>
                  <a:ea typeface="Bebas Neue"/>
                  <a:cs typeface="Bebas Neue"/>
                  <a:sym typeface="Bebas Neue"/>
                </a:rPr>
                <a:t>BEST COMPANY</a:t>
              </a:r>
              <a:endParaRPr/>
            </a:p>
          </p:txBody>
        </p:sp>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Oval 1"/>
          <p:cNvSpPr/>
          <p:nvPr/>
        </p:nvSpPr>
        <p:spPr>
          <a:xfrm>
            <a:off x="16934688" y="2907792"/>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01</a:t>
            </a:r>
          </a:p>
        </p:txBody>
      </p:sp>
      <p:sp>
        <p:nvSpPr>
          <p:cNvPr id="3" name="TextBox 2"/>
          <p:cNvSpPr txBox="1"/>
          <p:nvPr/>
        </p:nvSpPr>
        <p:spPr>
          <a:xfrm>
            <a:off x="1371600" y="1097280"/>
            <a:ext cx="14630400" cy="2011680"/>
          </a:xfrm>
          <a:prstGeom prst="rect">
            <a:avLst/>
          </a:prstGeom>
          <a:noFill/>
        </p:spPr>
        <p:txBody>
          <a:bodyPr wrap="none">
            <a:spAutoFit/>
          </a:bodyPr>
          <a:lstStyle/>
          <a:p>
            <a:pPr>
              <a:defRPr sz="5600" b="1">
                <a:solidFill>
                  <a:srgbClr val="2D343E"/>
                </a:solidFill>
                <a:latin typeface="Bebas Neue"/>
              </a:defRPr>
            </a:pPr>
            <a:r>
              <a:t>BANKING ACADEMY OF VIETNAM</a:t>
            </a:r>
          </a:p>
        </p:txBody>
      </p:sp>
      <p:sp>
        <p:nvSpPr>
          <p:cNvPr id="4" name="Rounded Rectangle 3"/>
          <p:cNvSpPr/>
          <p:nvPr/>
        </p:nvSpPr>
        <p:spPr>
          <a:xfrm>
            <a:off x="1371600" y="2560320"/>
            <a:ext cx="7498079" cy="411480"/>
          </a:xfrm>
          <a:prstGeom prst="roundRect">
            <a:avLst/>
          </a:prstGeom>
          <a:solidFill>
            <a:srgbClr val="EA580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latin typeface="Bebas Neue"/>
              </a:defRPr>
            </a:pPr>
            <a:r>
              <a:t>BÁO CÁO BÀI TẬP GIỮA KỲ  •  CHUYÊN ĐỀ CAO HỌC 2026</a:t>
            </a:r>
          </a:p>
        </p:txBody>
      </p:sp>
      <p:sp>
        <p:nvSpPr>
          <p:cNvPr id="5" name="TextBox 4"/>
          <p:cNvSpPr txBox="1"/>
          <p:nvPr/>
        </p:nvSpPr>
        <p:spPr>
          <a:xfrm>
            <a:off x="1371600" y="3200400"/>
            <a:ext cx="13258800" cy="2560320"/>
          </a:xfrm>
          <a:prstGeom prst="rect">
            <a:avLst/>
          </a:prstGeom>
          <a:noFill/>
        </p:spPr>
        <p:txBody>
          <a:bodyPr wrap="square" lIns="0" tIns="0" rIns="0" bIns="0">
            <a:spAutoFit/>
          </a:bodyPr>
          <a:lstStyle/>
          <a:p>
            <a:pPr>
              <a:spcAft>
                <a:spcPts val="1200"/>
              </a:spcAft>
              <a:defRPr sz="3600" b="1">
                <a:solidFill>
                  <a:srgbClr val="FFFFFF"/>
                </a:solidFill>
                <a:latin typeface="Calibri"/>
              </a:defRPr>
            </a:pPr>
            <a:r>
              <a:t>PHÂN TÍCH HÀNH VI, PHÂN CỤM &amp;</a:t>
            </a:r>
            <a:br/>
            <a:r>
              <a:t>DỰ BÁO NGUY CƠ RỜI BỎ KHÁCH HÀNG THẺ TÍN DỤNG</a:t>
            </a:r>
          </a:p>
          <a:p>
            <a:pPr>
              <a:defRPr sz="1800">
                <a:solidFill>
                  <a:srgbClr val="38BDF8"/>
                </a:solidFill>
                <a:latin typeface="Calibri"/>
              </a:defRPr>
            </a:pPr>
            <a:r>
              <a:t>Customer Churn Prediction &amp; Retention Optimization Strategy with XGBoost and Explainable AI</a:t>
            </a:r>
          </a:p>
        </p:txBody>
      </p:sp>
      <p:sp>
        <p:nvSpPr>
          <p:cNvPr id="6" name="Rounded Rectangle 5"/>
          <p:cNvSpPr/>
          <p:nvPr/>
        </p:nvSpPr>
        <p:spPr>
          <a:xfrm>
            <a:off x="1371600" y="6217920"/>
            <a:ext cx="8412480" cy="3108960"/>
          </a:xfrm>
          <a:prstGeom prst="roundRect">
            <a:avLst/>
          </a:prstGeom>
          <a:solidFill>
            <a:srgbClr val="181C22"/>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6400800"/>
            <a:ext cx="7863840" cy="2743200"/>
          </a:xfrm>
          <a:prstGeom prst="rect">
            <a:avLst/>
          </a:prstGeom>
          <a:noFill/>
        </p:spPr>
        <p:txBody>
          <a:bodyPr wrap="square">
            <a:spAutoFit/>
          </a:bodyPr>
          <a:lstStyle/>
          <a:p/>
          <a:p>
            <a:pPr>
              <a:spcAft>
                <a:spcPts val="800"/>
              </a:spcAft>
            </a:pPr>
            <a:r>
              <a:rPr sz="1300" b="1">
                <a:solidFill>
                  <a:srgbClr val="F59E0B"/>
                </a:solidFill>
                <a:latin typeface="Calibri"/>
              </a:rPr>
              <a:t>Học viên thực hiện: </a:t>
            </a:r>
            <a:r>
              <a:rPr sz="1300">
                <a:solidFill>
                  <a:srgbClr val="E2E8F0"/>
                </a:solidFill>
                <a:latin typeface="Calibri"/>
              </a:rPr>
              <a:t>Đỗ Văn Đạt  |  Chuyên ngành: Business Analytics (Phân tích Dữ liệu Kinh doanh)</a:t>
            </a:r>
          </a:p>
          <a:p>
            <a:pPr>
              <a:spcAft>
                <a:spcPts val="800"/>
              </a:spcAft>
            </a:pPr>
            <a:r>
              <a:rPr sz="1300" b="1">
                <a:solidFill>
                  <a:srgbClr val="F59E0B"/>
                </a:solidFill>
                <a:latin typeface="Calibri"/>
              </a:rPr>
              <a:t>Học phần đào tạo: </a:t>
            </a:r>
            <a:r>
              <a:rPr sz="1300">
                <a:solidFill>
                  <a:srgbClr val="E2E8F0"/>
                </a:solidFill>
                <a:latin typeface="Calibri"/>
              </a:rPr>
              <a:t>Xử lý và Khai phá Dữ liệu Sau Đại học  |  Khoa Hệ thống Thông tin Quản lý</a:t>
            </a:r>
          </a:p>
          <a:p>
            <a:pPr>
              <a:spcAft>
                <a:spcPts val="800"/>
              </a:spcAft>
            </a:pPr>
            <a:r>
              <a:rPr sz="1300" b="1">
                <a:solidFill>
                  <a:srgbClr val="F59E0B"/>
                </a:solidFill>
                <a:latin typeface="Calibri"/>
              </a:rPr>
              <a:t>Tập dữ liệu thực nghiệm: </a:t>
            </a:r>
            <a:r>
              <a:rPr sz="1300">
                <a:solidFill>
                  <a:srgbClr val="E2E8F0"/>
                </a:solidFill>
                <a:latin typeface="Calibri"/>
              </a:rPr>
              <a:t>BankChurners.csv (10,127 hồ sơ khách hàng, 23 thuộc tính nhân khẩu học &amp; giao dịch)</a:t>
            </a:r>
          </a:p>
          <a:p>
            <a:pPr>
              <a:spcAft>
                <a:spcPts val="800"/>
              </a:spcAft>
            </a:pPr>
            <a:r>
              <a:rPr sz="1300" b="1">
                <a:solidFill>
                  <a:srgbClr val="F59E0B"/>
                </a:solidFill>
                <a:latin typeface="Calibri"/>
              </a:rPr>
              <a:t>Thời gian &amp; Địa điểm: </a:t>
            </a:r>
            <a:r>
              <a:rPr sz="1300">
                <a:solidFill>
                  <a:srgbClr val="E2E8F0"/>
                </a:solidFill>
                <a:latin typeface="Calibri"/>
              </a:rPr>
              <a:t>Học viện Ngân hàng (BAV), Chùa Bộc, Đống Đa, Hà Nội — Năm 2026</a:t>
            </a:r>
          </a:p>
        </p:txBody>
      </p:sp>
      <p:sp>
        <p:nvSpPr>
          <p:cNvPr id="8" name="Rounded Rectangle 7"/>
          <p:cNvSpPr/>
          <p:nvPr/>
        </p:nvSpPr>
        <p:spPr>
          <a:xfrm>
            <a:off x="10058400" y="6217920"/>
            <a:ext cx="5029200" cy="96012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0" y="6309360"/>
            <a:ext cx="4663440" cy="777240"/>
          </a:xfrm>
          <a:prstGeom prst="rect">
            <a:avLst/>
          </a:prstGeom>
          <a:noFill/>
        </p:spPr>
        <p:txBody>
          <a:bodyPr wrap="none" lIns="0" tIns="0" rIns="0" bIns="0">
            <a:spAutoFit/>
          </a:bodyPr>
          <a:lstStyle/>
          <a:p>
            <a:pPr>
              <a:defRPr sz="2800" b="1">
                <a:solidFill>
                  <a:srgbClr val="EA580C"/>
                </a:solidFill>
                <a:latin typeface="Bebas Neue"/>
              </a:defRPr>
            </a:pPr>
            <a:r>
              <a:t>0.9930</a:t>
            </a:r>
          </a:p>
          <a:p>
            <a:pPr>
              <a:defRPr sz="1100">
                <a:solidFill>
                  <a:srgbClr val="CBD5E1"/>
                </a:solidFill>
                <a:latin typeface="Calibri"/>
              </a:defRPr>
            </a:pPr>
            <a:r>
              <a:t>ROC-AUC (XGBoost)  •  Dẫn đầu tuyệt đối</a:t>
            </a:r>
          </a:p>
        </p:txBody>
      </p:sp>
      <p:sp>
        <p:nvSpPr>
          <p:cNvPr id="10" name="Rounded Rectangle 9"/>
          <p:cNvSpPr/>
          <p:nvPr/>
        </p:nvSpPr>
        <p:spPr>
          <a:xfrm>
            <a:off x="10058400" y="7296912"/>
            <a:ext cx="5029200" cy="96012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0" y="7388352"/>
            <a:ext cx="4663440" cy="777240"/>
          </a:xfrm>
          <a:prstGeom prst="rect">
            <a:avLst/>
          </a:prstGeom>
          <a:noFill/>
        </p:spPr>
        <p:txBody>
          <a:bodyPr wrap="none" lIns="0" tIns="0" rIns="0" bIns="0">
            <a:spAutoFit/>
          </a:bodyPr>
          <a:lstStyle/>
          <a:p>
            <a:pPr>
              <a:defRPr sz="2800" b="1">
                <a:solidFill>
                  <a:srgbClr val="38BDF8"/>
                </a:solidFill>
                <a:latin typeface="Bebas Neue"/>
              </a:defRPr>
            </a:pPr>
            <a:r>
              <a:t>t* = 0.42</a:t>
            </a:r>
          </a:p>
          <a:p>
            <a:pPr>
              <a:defRPr sz="1100">
                <a:solidFill>
                  <a:srgbClr val="CBD5E1"/>
                </a:solidFill>
                <a:latin typeface="Calibri"/>
              </a:defRPr>
            </a:pPr>
            <a:r>
              <a:t>Ngưỡng Tối Ưu Kinh Tế  •  Tối đa hóa Net Benefit</a:t>
            </a:r>
          </a:p>
        </p:txBody>
      </p:sp>
      <p:sp>
        <p:nvSpPr>
          <p:cNvPr id="12" name="Rounded Rectangle 11"/>
          <p:cNvSpPr/>
          <p:nvPr/>
        </p:nvSpPr>
        <p:spPr>
          <a:xfrm>
            <a:off x="10058400" y="8375904"/>
            <a:ext cx="5029200" cy="96012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0" y="8467344"/>
            <a:ext cx="4663440" cy="777240"/>
          </a:xfrm>
          <a:prstGeom prst="rect">
            <a:avLst/>
          </a:prstGeom>
          <a:noFill/>
        </p:spPr>
        <p:txBody>
          <a:bodyPr wrap="none" lIns="0" tIns="0" rIns="0" bIns="0">
            <a:spAutoFit/>
          </a:bodyPr>
          <a:lstStyle/>
          <a:p>
            <a:pPr>
              <a:defRPr sz="2800" b="1">
                <a:solidFill>
                  <a:srgbClr val="10B981"/>
                </a:solidFill>
                <a:latin typeface="Bebas Neue"/>
              </a:defRPr>
            </a:pPr>
            <a:r>
              <a:t>+$400,000</a:t>
            </a:r>
          </a:p>
          <a:p>
            <a:pPr>
              <a:defRPr sz="1100">
                <a:solidFill>
                  <a:srgbClr val="CBD5E1"/>
                </a:solidFill>
                <a:latin typeface="Calibri"/>
              </a:defRPr>
            </a:pPr>
            <a:r>
              <a:t>Lợi Nhuận Ròng / Năm  •  ROI = 500% (10K khách)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01: TỔNG QUAN &amp; BỐI CẢNH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Cấu Trúc Báo Cáo: 5 Trụ Cột Chiến Lược Từ Khai Phá Đến Hành Động</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2907792"/>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01</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283464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481328" y="2331720"/>
            <a:ext cx="2615184" cy="960120"/>
          </a:xfrm>
          <a:prstGeom prst="roundRect">
            <a:avLst/>
          </a:prstGeom>
          <a:solidFill>
            <a:srgbClr val="20262E"/>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a:solidFill>
                  <a:srgbClr val="EA580C"/>
                </a:solidFill>
                <a:latin typeface="Bebas Neue"/>
              </a:defRPr>
            </a:pPr>
            <a:r>
              <a:t>TRỤ CỘT 01</a:t>
            </a:r>
          </a:p>
          <a:p>
            <a:pPr>
              <a:defRPr sz="1100" b="1">
                <a:solidFill>
                  <a:srgbClr val="FFFFFF"/>
                </a:solidFill>
                <a:latin typeface="Calibri"/>
              </a:defRPr>
            </a:pPr>
            <a:r>
              <a:t>TỔNG QUAN &amp; BỐI CẢNH</a:t>
            </a:r>
          </a:p>
          <a:p>
            <a:pPr>
              <a:defRPr sz="1000">
                <a:solidFill>
                  <a:srgbClr val="94A3B8"/>
                </a:solidFill>
                <a:latin typeface="Calibri"/>
              </a:defRPr>
            </a:pPr>
            <a:r>
              <a:t>Slide 03 — 04</a:t>
            </a:r>
          </a:p>
        </p:txBody>
      </p:sp>
      <p:sp>
        <p:nvSpPr>
          <p:cNvPr id="9" name="TextBox 8"/>
          <p:cNvSpPr txBox="1"/>
          <p:nvPr/>
        </p:nvSpPr>
        <p:spPr>
          <a:xfrm>
            <a:off x="1508760" y="3474720"/>
            <a:ext cx="2560320" cy="5852160"/>
          </a:xfrm>
          <a:prstGeom prst="rect">
            <a:avLst/>
          </a:prstGeom>
          <a:noFill/>
        </p:spPr>
        <p:txBody>
          <a:bodyPr wrap="square">
            <a:spAutoFit/>
          </a:bodyPr>
          <a:lstStyle/>
          <a:p/>
          <a:p>
            <a:pPr>
              <a:spcAft>
                <a:spcPts val="800"/>
              </a:spcAft>
            </a:pPr>
            <a:r>
              <a:rPr sz="1100" b="1">
                <a:solidFill>
                  <a:srgbClr val="F59E0B"/>
                </a:solidFill>
                <a:latin typeface="Calibri"/>
              </a:rPr>
              <a:t>Nội dung cốt lõi: </a:t>
            </a:r>
            <a:r>
              <a:rPr sz="1100">
                <a:solidFill>
                  <a:srgbClr val="E2E8F0"/>
                </a:solidFill>
                <a:latin typeface="Calibri"/>
              </a:rPr>
              <a:t>Bối cảnh kinh tế thẻ tín dụng, chi phí thu hút khách mới CAC ($250-$300) so với giữ chân CRC ($40-$50).</a:t>
            </a:r>
          </a:p>
          <a:p>
            <a:pPr>
              <a:spcAft>
                <a:spcPts val="800"/>
              </a:spcAft>
            </a:pPr>
            <a:r>
              <a:rPr sz="1100" b="1">
                <a:solidFill>
                  <a:srgbClr val="F59E0B"/>
                </a:solidFill>
                <a:latin typeface="Calibri"/>
              </a:rPr>
              <a:t>Tóm tắt điều hành: </a:t>
            </a:r>
            <a:r>
              <a:rPr sz="1100">
                <a:solidFill>
                  <a:srgbClr val="E2E8F0"/>
                </a:solidFill>
                <a:latin typeface="Calibri"/>
              </a:rPr>
              <a:t>4 phát hiện trọng tâm: 16.07% Churn, ROC-AUC 0.9930, t* = 0.42 và Lợi nhuận +$400,000 USD/năm.</a:t>
            </a:r>
          </a:p>
        </p:txBody>
      </p:sp>
      <p:sp>
        <p:nvSpPr>
          <p:cNvPr id="10" name="Rounded Rectangle 9"/>
          <p:cNvSpPr/>
          <p:nvPr/>
        </p:nvSpPr>
        <p:spPr>
          <a:xfrm>
            <a:off x="4343400" y="2194560"/>
            <a:ext cx="2834640"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53128" y="2331720"/>
            <a:ext cx="2615184" cy="960120"/>
          </a:xfrm>
          <a:prstGeom prst="roundRect">
            <a:avLst/>
          </a:prstGeom>
          <a:solidFill>
            <a:srgbClr val="20262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a:solidFill>
                  <a:srgbClr val="38BDF8"/>
                </a:solidFill>
                <a:latin typeface="Bebas Neue"/>
              </a:defRPr>
            </a:pPr>
            <a:r>
              <a:t>TRỤ CỘT 02</a:t>
            </a:r>
          </a:p>
          <a:p>
            <a:pPr>
              <a:defRPr sz="1100" b="1">
                <a:solidFill>
                  <a:srgbClr val="FFFFFF"/>
                </a:solidFill>
                <a:latin typeface="Calibri"/>
              </a:defRPr>
            </a:pPr>
            <a:r>
              <a:t>PHƯƠNG PHÁP &amp; TIỀN XỬ LÝ</a:t>
            </a:r>
          </a:p>
          <a:p>
            <a:pPr>
              <a:defRPr sz="1000">
                <a:solidFill>
                  <a:srgbClr val="94A3B8"/>
                </a:solidFill>
                <a:latin typeface="Calibri"/>
              </a:defRPr>
            </a:pPr>
            <a:r>
              <a:t>Slide 05 — 06</a:t>
            </a:r>
          </a:p>
        </p:txBody>
      </p:sp>
      <p:sp>
        <p:nvSpPr>
          <p:cNvPr id="12" name="TextBox 11"/>
          <p:cNvSpPr txBox="1"/>
          <p:nvPr/>
        </p:nvSpPr>
        <p:spPr>
          <a:xfrm>
            <a:off x="4480560" y="3474720"/>
            <a:ext cx="2560320" cy="5852160"/>
          </a:xfrm>
          <a:prstGeom prst="rect">
            <a:avLst/>
          </a:prstGeom>
          <a:noFill/>
        </p:spPr>
        <p:txBody>
          <a:bodyPr wrap="square">
            <a:spAutoFit/>
          </a:bodyPr>
          <a:lstStyle/>
          <a:p/>
          <a:p>
            <a:pPr>
              <a:spcAft>
                <a:spcPts val="800"/>
              </a:spcAft>
            </a:pPr>
            <a:r>
              <a:rPr sz="1100" b="1">
                <a:solidFill>
                  <a:srgbClr val="F59E0B"/>
                </a:solidFill>
                <a:latin typeface="Calibri"/>
              </a:rPr>
              <a:t>Kiến trúc nghiên cứu: </a:t>
            </a:r>
            <a:r>
              <a:rPr sz="1100">
                <a:solidFill>
                  <a:srgbClr val="E2E8F0"/>
                </a:solidFill>
                <a:latin typeface="Calibri"/>
              </a:rPr>
              <a:t>Pipeline 4 giai đoạn chuẩn mực từ tiền xử lý, khám phá EDA đến ứng dụng kinh tế.</a:t>
            </a:r>
          </a:p>
          <a:p>
            <a:pPr>
              <a:spcAft>
                <a:spcPts val="800"/>
              </a:spcAft>
            </a:pPr>
            <a:r>
              <a:rPr sz="1100" b="1">
                <a:solidFill>
                  <a:srgbClr val="F59E0B"/>
                </a:solidFill>
                <a:latin typeface="Calibri"/>
              </a:rPr>
              <a:t>Kiểm soát rò rỉ nhãn: </a:t>
            </a:r>
            <a:r>
              <a:rPr sz="1100">
                <a:solidFill>
                  <a:srgbClr val="E2E8F0"/>
                </a:solidFill>
                <a:latin typeface="Calibri"/>
              </a:rPr>
              <a:t>Loại bỏ triệt để 2 cột Naive Bayes; kiến tạo 5 biến phái sinh tài chính nâng cao.</a:t>
            </a:r>
          </a:p>
        </p:txBody>
      </p:sp>
      <p:sp>
        <p:nvSpPr>
          <p:cNvPr id="13" name="Rounded Rectangle 12"/>
          <p:cNvSpPr/>
          <p:nvPr/>
        </p:nvSpPr>
        <p:spPr>
          <a:xfrm>
            <a:off x="7315200" y="2194560"/>
            <a:ext cx="2834640" cy="7315200"/>
          </a:xfrm>
          <a:prstGeom prst="roundRect">
            <a:avLst/>
          </a:prstGeom>
          <a:solidFill>
            <a:srgbClr val="181C2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4928" y="2331720"/>
            <a:ext cx="2615184" cy="9601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a:solidFill>
                  <a:srgbClr val="F59E0B"/>
                </a:solidFill>
                <a:latin typeface="Bebas Neue"/>
              </a:defRPr>
            </a:pPr>
            <a:r>
              <a:t>TRỤ CỘT 03</a:t>
            </a:r>
          </a:p>
          <a:p>
            <a:pPr>
              <a:defRPr sz="1100" b="1">
                <a:solidFill>
                  <a:srgbClr val="FFFFFF"/>
                </a:solidFill>
                <a:latin typeface="Calibri"/>
              </a:defRPr>
            </a:pPr>
            <a:r>
              <a:t>KHÁM PHÁ EDA &amp; PHÂN CỤM</a:t>
            </a:r>
          </a:p>
          <a:p>
            <a:pPr>
              <a:defRPr sz="1000">
                <a:solidFill>
                  <a:srgbClr val="94A3B8"/>
                </a:solidFill>
                <a:latin typeface="Calibri"/>
              </a:defRPr>
            </a:pPr>
            <a:r>
              <a:t>Slide 07 — 13</a:t>
            </a:r>
          </a:p>
        </p:txBody>
      </p:sp>
      <p:sp>
        <p:nvSpPr>
          <p:cNvPr id="15" name="TextBox 14"/>
          <p:cNvSpPr txBox="1"/>
          <p:nvPr/>
        </p:nvSpPr>
        <p:spPr>
          <a:xfrm>
            <a:off x="7452360" y="3474720"/>
            <a:ext cx="2560320" cy="5852160"/>
          </a:xfrm>
          <a:prstGeom prst="rect">
            <a:avLst/>
          </a:prstGeom>
          <a:noFill/>
        </p:spPr>
        <p:txBody>
          <a:bodyPr wrap="square">
            <a:spAutoFit/>
          </a:bodyPr>
          <a:lstStyle/>
          <a:p/>
          <a:p>
            <a:pPr>
              <a:spcAft>
                <a:spcPts val="800"/>
              </a:spcAft>
            </a:pPr>
            <a:r>
              <a:rPr sz="1100" b="1">
                <a:solidFill>
                  <a:srgbClr val="F59E0B"/>
                </a:solidFill>
                <a:latin typeface="Calibri"/>
              </a:rPr>
              <a:t>Khai phá 6 chiều hành vi: </a:t>
            </a:r>
            <a:r>
              <a:rPr sz="1100">
                <a:solidFill>
                  <a:srgbClr val="E2E8F0"/>
                </a:solidFill>
                <a:latin typeface="Calibri"/>
              </a:rPr>
              <a:t>Mất cân bằng lớp 1:5.22, nghịch lý 2 đầu thu nhập, ranh giới 55 lần quẹt, 55% dư nợ về 0 USD.</a:t>
            </a:r>
          </a:p>
          <a:p>
            <a:pPr>
              <a:spcAft>
                <a:spcPts val="800"/>
              </a:spcAft>
            </a:pPr>
            <a:r>
              <a:rPr sz="1100" b="1">
                <a:solidFill>
                  <a:srgbClr val="F59E0B"/>
                </a:solidFill>
                <a:latin typeface="Calibri"/>
              </a:rPr>
              <a:t>Phân cụm K-Means &amp; PCA: </a:t>
            </a:r>
            <a:r>
              <a:rPr sz="1100">
                <a:solidFill>
                  <a:srgbClr val="E2E8F0"/>
                </a:solidFill>
                <a:latin typeface="Calibri"/>
              </a:rPr>
              <a:t>Xác lập k=4; nhận diện Cụm 1 là 'Tâm điểm rủi ro' tập trung 52.6% khách hàng rời bỏ.</a:t>
            </a:r>
          </a:p>
        </p:txBody>
      </p:sp>
      <p:sp>
        <p:nvSpPr>
          <p:cNvPr id="16" name="Rounded Rectangle 15"/>
          <p:cNvSpPr/>
          <p:nvPr/>
        </p:nvSpPr>
        <p:spPr>
          <a:xfrm>
            <a:off x="10287000" y="2194560"/>
            <a:ext cx="2834640" cy="7315200"/>
          </a:xfrm>
          <a:prstGeom prst="roundRect">
            <a:avLst/>
          </a:prstGeom>
          <a:solidFill>
            <a:srgbClr val="181C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396728" y="2331720"/>
            <a:ext cx="2615184" cy="960120"/>
          </a:xfrm>
          <a:prstGeom prst="roundRect">
            <a:avLst/>
          </a:prstGeom>
          <a:solidFill>
            <a:srgbClr val="20262E"/>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a:solidFill>
                  <a:srgbClr val="EF4444"/>
                </a:solidFill>
                <a:latin typeface="Bebas Neue"/>
              </a:defRPr>
            </a:pPr>
            <a:r>
              <a:t>TRỤ CỘT 04</a:t>
            </a:r>
          </a:p>
          <a:p>
            <a:pPr>
              <a:defRPr sz="1100" b="1">
                <a:solidFill>
                  <a:srgbClr val="FFFFFF"/>
                </a:solidFill>
                <a:latin typeface="Calibri"/>
              </a:defRPr>
            </a:pPr>
            <a:r>
              <a:t>MÔ HÌNH HÓA DỰ BÁO &amp; XAI</a:t>
            </a:r>
          </a:p>
          <a:p>
            <a:pPr>
              <a:defRPr sz="1000">
                <a:solidFill>
                  <a:srgbClr val="94A3B8"/>
                </a:solidFill>
                <a:latin typeface="Calibri"/>
              </a:defRPr>
            </a:pPr>
            <a:r>
              <a:t>Slide 14 — 16</a:t>
            </a:r>
          </a:p>
        </p:txBody>
      </p:sp>
      <p:sp>
        <p:nvSpPr>
          <p:cNvPr id="18" name="TextBox 17"/>
          <p:cNvSpPr txBox="1"/>
          <p:nvPr/>
        </p:nvSpPr>
        <p:spPr>
          <a:xfrm>
            <a:off x="10424160" y="3474720"/>
            <a:ext cx="2560320" cy="5852160"/>
          </a:xfrm>
          <a:prstGeom prst="rect">
            <a:avLst/>
          </a:prstGeom>
          <a:noFill/>
        </p:spPr>
        <p:txBody>
          <a:bodyPr wrap="square">
            <a:spAutoFit/>
          </a:bodyPr>
          <a:lstStyle/>
          <a:p/>
          <a:p>
            <a:pPr>
              <a:spcAft>
                <a:spcPts val="800"/>
              </a:spcAft>
            </a:pPr>
            <a:r>
              <a:rPr sz="1100" b="1">
                <a:solidFill>
                  <a:srgbClr val="F59E0B"/>
                </a:solidFill>
                <a:latin typeface="Calibri"/>
              </a:rPr>
              <a:t>So sánh 4 thuật toán: </a:t>
            </a:r>
            <a:r>
              <a:rPr sz="1100">
                <a:solidFill>
                  <a:srgbClr val="E2E8F0"/>
                </a:solidFill>
                <a:latin typeface="Calibri"/>
              </a:rPr>
              <a:t>XGBoost Classifier dẫn đầu toàn diện (ROC-AUC 0.9930, Recall 91.38%, Precision 91.08%).</a:t>
            </a:r>
          </a:p>
          <a:p>
            <a:pPr>
              <a:spcAft>
                <a:spcPts val="800"/>
              </a:spcAft>
            </a:pPr>
            <a:r>
              <a:rPr sz="1100" b="1">
                <a:solidFill>
                  <a:srgbClr val="F59E0B"/>
                </a:solidFill>
                <a:latin typeface="Calibri"/>
              </a:rPr>
              <a:t>Giải thích mô hình XAI: </a:t>
            </a:r>
            <a:r>
              <a:rPr sz="1100">
                <a:solidFill>
                  <a:srgbClr val="E2E8F0"/>
                </a:solidFill>
                <a:latin typeface="Calibri"/>
              </a:rPr>
              <a:t>5 đòn bẩy hành vi quyết định; kiểm soát sai số Loại II bỏ sót Churn chỉ 8.62%.</a:t>
            </a:r>
          </a:p>
        </p:txBody>
      </p:sp>
      <p:sp>
        <p:nvSpPr>
          <p:cNvPr id="19" name="Rounded Rectangle 18"/>
          <p:cNvSpPr/>
          <p:nvPr/>
        </p:nvSpPr>
        <p:spPr>
          <a:xfrm>
            <a:off x="13258800" y="2194560"/>
            <a:ext cx="2834640" cy="731520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368528" y="2331720"/>
            <a:ext cx="2615184" cy="960120"/>
          </a:xfrm>
          <a:prstGeom prst="roundRect">
            <a:avLst/>
          </a:prstGeom>
          <a:solidFill>
            <a:srgbClr val="2026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a:solidFill>
                  <a:srgbClr val="10B981"/>
                </a:solidFill>
                <a:latin typeface="Bebas Neue"/>
              </a:defRPr>
            </a:pPr>
            <a:r>
              <a:t>TRỤ CỘT 05</a:t>
            </a:r>
          </a:p>
          <a:p>
            <a:pPr>
              <a:defRPr sz="1100" b="1">
                <a:solidFill>
                  <a:srgbClr val="FFFFFF"/>
                </a:solidFill>
                <a:latin typeface="Calibri"/>
              </a:defRPr>
            </a:pPr>
            <a:r>
              <a:t>CHIẾN LƯỢC GIỮ CHÂN &amp; ROI</a:t>
            </a:r>
          </a:p>
          <a:p>
            <a:pPr>
              <a:defRPr sz="1000">
                <a:solidFill>
                  <a:srgbClr val="94A3B8"/>
                </a:solidFill>
                <a:latin typeface="Calibri"/>
              </a:defRPr>
            </a:pPr>
            <a:r>
              <a:t>Slide 17 — 21</a:t>
            </a:r>
          </a:p>
        </p:txBody>
      </p:sp>
      <p:sp>
        <p:nvSpPr>
          <p:cNvPr id="21" name="TextBox 20"/>
          <p:cNvSpPr txBox="1"/>
          <p:nvPr/>
        </p:nvSpPr>
        <p:spPr>
          <a:xfrm>
            <a:off x="13395960" y="3474720"/>
            <a:ext cx="2560320" cy="5852160"/>
          </a:xfrm>
          <a:prstGeom prst="rect">
            <a:avLst/>
          </a:prstGeom>
          <a:noFill/>
        </p:spPr>
        <p:txBody>
          <a:bodyPr wrap="square">
            <a:spAutoFit/>
          </a:bodyPr>
          <a:lstStyle/>
          <a:p/>
          <a:p>
            <a:pPr>
              <a:spcAft>
                <a:spcPts val="800"/>
              </a:spcAft>
            </a:pPr>
            <a:r>
              <a:rPr sz="1100" b="1">
                <a:solidFill>
                  <a:srgbClr val="F59E0B"/>
                </a:solidFill>
                <a:latin typeface="Calibri"/>
              </a:rPr>
              <a:t>Tối ưu hóa ngưỡng kinh tế: </a:t>
            </a:r>
            <a:r>
              <a:rPr sz="1100">
                <a:solidFill>
                  <a:srgbClr val="E2E8F0"/>
                </a:solidFill>
                <a:latin typeface="Calibri"/>
              </a:rPr>
              <a:t>Thiết lập điểm cắt t* = 0.42; xây dựng 3 chân dung khách hàng và Khung chiến lược 4 tầng EWS.</a:t>
            </a:r>
          </a:p>
          <a:p>
            <a:pPr>
              <a:spcAft>
                <a:spcPts val="800"/>
              </a:spcAft>
            </a:pPr>
            <a:r>
              <a:rPr sz="1100" b="1">
                <a:solidFill>
                  <a:srgbClr val="F59E0B"/>
                </a:solidFill>
                <a:latin typeface="Calibri"/>
              </a:rPr>
              <a:t>Hiệu quả tài chính: </a:t>
            </a:r>
            <a:r>
              <a:rPr sz="1100">
                <a:solidFill>
                  <a:srgbClr val="E2E8F0"/>
                </a:solidFill>
                <a:latin typeface="Calibri"/>
              </a:rPr>
              <a:t>Mô phỏng 10,000 chủ thẻ giữ chân 960 khách, tạo lợi nhuận ròng +$400,000 USD/năm (ROI 500%).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01: TỔNG QUAN &amp; BỐI CẢNH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Executive Summary: 4 Phát Hiện Trọng Tâm &amp; Giá Trị Đóng Góp Thực Tiễn</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2907792"/>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01</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3520440" cy="7315200"/>
          </a:xfrm>
          <a:prstGeom prst="roundRect">
            <a:avLst/>
          </a:prstGeom>
          <a:solidFill>
            <a:srgbClr val="181C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481328" y="2331720"/>
            <a:ext cx="3300984" cy="1280160"/>
          </a:xfrm>
          <a:prstGeom prst="roundRect">
            <a:avLst/>
          </a:prstGeom>
          <a:solidFill>
            <a:srgbClr val="20262E"/>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3600" b="1">
                <a:solidFill>
                  <a:srgbClr val="EF4444"/>
                </a:solidFill>
                <a:latin typeface="Bebas Neue"/>
              </a:defRPr>
            </a:pPr>
            <a:r>
              <a:t>16.07%</a:t>
            </a:r>
          </a:p>
          <a:p>
            <a:pPr algn="ctr">
              <a:defRPr sz="1000" b="1">
                <a:solidFill>
                  <a:srgbClr val="FFFFFF"/>
                </a:solidFill>
                <a:latin typeface="Calibri"/>
              </a:defRPr>
            </a:pPr>
            <a:r>
              <a:t>TỶ LỆ RỜI BỎ TỰ NHIÊN</a:t>
            </a:r>
          </a:p>
        </p:txBody>
      </p:sp>
      <p:sp>
        <p:nvSpPr>
          <p:cNvPr id="9" name="TextBox 8"/>
          <p:cNvSpPr txBox="1"/>
          <p:nvPr/>
        </p:nvSpPr>
        <p:spPr>
          <a:xfrm>
            <a:off x="1536192"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Quy mô thất thoát: </a:t>
            </a:r>
            <a:r>
              <a:rPr sz="1150">
                <a:solidFill>
                  <a:srgbClr val="E2E8F0"/>
                </a:solidFill>
                <a:latin typeface="Calibri"/>
              </a:rPr>
              <a:t>1,627 trên tổng số 10,127 khách hàng đã chủ động đóng thẻ tín dụng.</a:t>
            </a:r>
          </a:p>
          <a:p>
            <a:pPr>
              <a:spcAft>
                <a:spcPts val="900"/>
              </a:spcAft>
            </a:pPr>
            <a:r>
              <a:rPr sz="1150" b="1">
                <a:solidFill>
                  <a:srgbClr val="F59E0B"/>
                </a:solidFill>
                <a:latin typeface="Calibri"/>
              </a:rPr>
              <a:t>Mất cân bằng dữ liệu: </a:t>
            </a:r>
            <a:r>
              <a:rPr sz="1150">
                <a:solidFill>
                  <a:srgbClr val="E2E8F0"/>
                </a:solidFill>
                <a:latin typeface="Calibri"/>
              </a:rPr>
              <a:t>Tỷ lệ mất cân bằng nghiêm trọng 1:5.22, đặt ra cạm bẫy 'Accuracy Paradox'.</a:t>
            </a:r>
          </a:p>
          <a:p>
            <a:pPr>
              <a:spcAft>
                <a:spcPts val="900"/>
              </a:spcAft>
            </a:pPr>
            <a:r>
              <a:rPr sz="1150" b="1">
                <a:solidFill>
                  <a:srgbClr val="F59E0B"/>
                </a:solidFill>
                <a:latin typeface="Calibri"/>
              </a:rPr>
              <a:t>Tổn thất doanh thu: </a:t>
            </a:r>
            <a:r>
              <a:rPr sz="1150">
                <a:solidFill>
                  <a:srgbClr val="E2E8F0"/>
                </a:solidFill>
                <a:latin typeface="Calibri"/>
              </a:rPr>
              <a:t>Thất thoát trực tiếp dòng tiền phí thường niên, phí quẹt POS và lãi suất dư nợ quay vòng.</a:t>
            </a:r>
          </a:p>
        </p:txBody>
      </p:sp>
      <p:sp>
        <p:nvSpPr>
          <p:cNvPr id="10" name="Rounded Rectangle 9"/>
          <p:cNvSpPr/>
          <p:nvPr/>
        </p:nvSpPr>
        <p:spPr>
          <a:xfrm>
            <a:off x="5074920" y="2194560"/>
            <a:ext cx="352044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84648" y="2331720"/>
            <a:ext cx="3300984" cy="1280160"/>
          </a:xfrm>
          <a:prstGeom prst="roundRect">
            <a:avLst/>
          </a:prstGeom>
          <a:solidFill>
            <a:srgbClr val="20262E"/>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3600" b="1">
                <a:solidFill>
                  <a:srgbClr val="EA580C"/>
                </a:solidFill>
                <a:latin typeface="Bebas Neue"/>
              </a:defRPr>
            </a:pPr>
            <a:r>
              <a:t>0.9930</a:t>
            </a:r>
          </a:p>
          <a:p>
            <a:pPr algn="ctr">
              <a:defRPr sz="1000" b="1">
                <a:solidFill>
                  <a:srgbClr val="FFFFFF"/>
                </a:solidFill>
                <a:latin typeface="Calibri"/>
              </a:defRPr>
            </a:pPr>
            <a:r>
              <a:t>ROC-AUC (XGBOOST CLASSIFIER)</a:t>
            </a:r>
          </a:p>
        </p:txBody>
      </p:sp>
      <p:sp>
        <p:nvSpPr>
          <p:cNvPr id="12" name="TextBox 11"/>
          <p:cNvSpPr txBox="1"/>
          <p:nvPr/>
        </p:nvSpPr>
        <p:spPr>
          <a:xfrm>
            <a:off x="5239512"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Vượt trội toàn diện: </a:t>
            </a:r>
            <a:r>
              <a:rPr sz="1150">
                <a:solidFill>
                  <a:srgbClr val="E2E8F0"/>
                </a:solidFill>
                <a:latin typeface="Calibri"/>
              </a:rPr>
              <a:t>Đánh bại hoàn toàn Logistic Regression (0.9348) và Random Forest (0.9892).</a:t>
            </a:r>
          </a:p>
          <a:p>
            <a:pPr>
              <a:spcAft>
                <a:spcPts val="900"/>
              </a:spcAft>
            </a:pPr>
            <a:r>
              <a:rPr sz="1150" b="1">
                <a:solidFill>
                  <a:srgbClr val="F59E0B"/>
                </a:solidFill>
                <a:latin typeface="Calibri"/>
              </a:rPr>
              <a:t>Kiểm soát sai số: </a:t>
            </a:r>
            <a:r>
              <a:rPr sz="1150">
                <a:solidFill>
                  <a:srgbClr val="E2E8F0"/>
                </a:solidFill>
                <a:latin typeface="Calibri"/>
              </a:rPr>
              <a:t>Recall đạt 91.38%, chỉ bỏ sót đúng 28 khách hàng rời bỏ trong 325 khách ở tập kiểm thử.</a:t>
            </a:r>
          </a:p>
          <a:p>
            <a:pPr>
              <a:spcAft>
                <a:spcPts val="900"/>
              </a:spcAft>
            </a:pPr>
            <a:r>
              <a:rPr sz="1150" b="1">
                <a:solidFill>
                  <a:srgbClr val="F59E0B"/>
                </a:solidFill>
                <a:latin typeface="Calibri"/>
              </a:rPr>
              <a:t>Độ tin cậy cao: </a:t>
            </a:r>
            <a:r>
              <a:rPr sz="1150">
                <a:solidFill>
                  <a:srgbClr val="E2E8F0"/>
                </a:solidFill>
                <a:latin typeface="Calibri"/>
              </a:rPr>
              <a:t>Precision đạt 91.08%, tỷ lệ báo động giả cực thấp chỉ 2.12%.</a:t>
            </a:r>
          </a:p>
        </p:txBody>
      </p:sp>
      <p:sp>
        <p:nvSpPr>
          <p:cNvPr id="13" name="Rounded Rectangle 12"/>
          <p:cNvSpPr/>
          <p:nvPr/>
        </p:nvSpPr>
        <p:spPr>
          <a:xfrm>
            <a:off x="8778240" y="2194560"/>
            <a:ext cx="3520440"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887968" y="2331720"/>
            <a:ext cx="3300984" cy="1280160"/>
          </a:xfrm>
          <a:prstGeom prst="roundRect">
            <a:avLst/>
          </a:prstGeom>
          <a:solidFill>
            <a:srgbClr val="20262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3600" b="1">
                <a:solidFill>
                  <a:srgbClr val="38BDF8"/>
                </a:solidFill>
                <a:latin typeface="Bebas Neue"/>
              </a:defRPr>
            </a:pPr>
            <a:r>
              <a:t>t* = 0.42</a:t>
            </a:r>
          </a:p>
          <a:p>
            <a:pPr algn="ctr">
              <a:defRPr sz="1000" b="1">
                <a:solidFill>
                  <a:srgbClr val="FFFFFF"/>
                </a:solidFill>
                <a:latin typeface="Calibri"/>
              </a:defRPr>
            </a:pPr>
            <a:r>
              <a:t>NGƯỠNG TỐI ƯU KINH TẾ</a:t>
            </a:r>
          </a:p>
        </p:txBody>
      </p:sp>
      <p:sp>
        <p:nvSpPr>
          <p:cNvPr id="15" name="TextBox 14"/>
          <p:cNvSpPr txBox="1"/>
          <p:nvPr/>
        </p:nvSpPr>
        <p:spPr>
          <a:xfrm>
            <a:off x="8942832"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Thay thế ngưỡng 0.50: </a:t>
            </a:r>
            <a:r>
              <a:rPr sz="1150">
                <a:solidFill>
                  <a:srgbClr val="E2E8F0"/>
                </a:solidFill>
                <a:latin typeface="Calibri"/>
              </a:rPr>
              <a:t>Không áp dụng máy móc ngưỡng mặc định 0.50 vốn bỏ lỡ nhiều khách hàng giá trị cao.</a:t>
            </a:r>
          </a:p>
          <a:p>
            <a:pPr>
              <a:spcAft>
                <a:spcPts val="900"/>
              </a:spcAft>
            </a:pPr>
            <a:r>
              <a:rPr sz="1150" b="1">
                <a:solidFill>
                  <a:srgbClr val="F59E0B"/>
                </a:solidFill>
                <a:latin typeface="Calibri"/>
              </a:rPr>
              <a:t>Hàm Cost-Benefit: </a:t>
            </a:r>
            <a:r>
              <a:rPr sz="1150">
                <a:solidFill>
                  <a:srgbClr val="E2E8F0"/>
                </a:solidFill>
                <a:latin typeface="Calibri"/>
              </a:rPr>
              <a:t>Tối ưu hóa điểm cực đại trên đường cong Net Benefit Curve.</a:t>
            </a:r>
          </a:p>
          <a:p>
            <a:pPr>
              <a:spcAft>
                <a:spcPts val="900"/>
              </a:spcAft>
            </a:pPr>
            <a:r>
              <a:rPr sz="1150" b="1">
                <a:solidFill>
                  <a:srgbClr val="F59E0B"/>
                </a:solidFill>
                <a:latin typeface="Calibri"/>
              </a:rPr>
              <a:t>Lợi nhuận thặng dư: </a:t>
            </a:r>
            <a:r>
              <a:rPr sz="1150">
                <a:solidFill>
                  <a:srgbClr val="E2E8F0"/>
                </a:solidFill>
                <a:latin typeface="Calibri"/>
              </a:rPr>
              <a:t>Gia tăng thêm +$24,500 USD lợi nhuận ròng trên tập kiểm thử so với ngưỡng thông thường.</a:t>
            </a:r>
          </a:p>
        </p:txBody>
      </p:sp>
      <p:sp>
        <p:nvSpPr>
          <p:cNvPr id="16" name="Rounded Rectangle 15"/>
          <p:cNvSpPr/>
          <p:nvPr/>
        </p:nvSpPr>
        <p:spPr>
          <a:xfrm>
            <a:off x="12481559" y="2194560"/>
            <a:ext cx="3520440" cy="731520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591287" y="2331720"/>
            <a:ext cx="3300984" cy="1280160"/>
          </a:xfrm>
          <a:prstGeom prst="roundRect">
            <a:avLst/>
          </a:prstGeom>
          <a:solidFill>
            <a:srgbClr val="2026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3600" b="1">
                <a:solidFill>
                  <a:srgbClr val="10B981"/>
                </a:solidFill>
                <a:latin typeface="Bebas Neue"/>
              </a:defRPr>
            </a:pPr>
            <a:r>
              <a:t>+$400K</a:t>
            </a:r>
          </a:p>
          <a:p>
            <a:pPr algn="ctr">
              <a:defRPr sz="1000" b="1">
                <a:solidFill>
                  <a:srgbClr val="FFFFFF"/>
                </a:solidFill>
                <a:latin typeface="Calibri"/>
              </a:defRPr>
            </a:pPr>
            <a:r>
              <a:t>LỢI NHUẬN RÒNG / NĂM (ROI 500%)</a:t>
            </a:r>
          </a:p>
        </p:txBody>
      </p:sp>
      <p:sp>
        <p:nvSpPr>
          <p:cNvPr id="18" name="TextBox 17"/>
          <p:cNvSpPr txBox="1"/>
          <p:nvPr/>
        </p:nvSpPr>
        <p:spPr>
          <a:xfrm>
            <a:off x="12646151"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Mô phỏng thực tế: </a:t>
            </a:r>
            <a:r>
              <a:rPr sz="1150">
                <a:solidFill>
                  <a:srgbClr val="E2E8F0"/>
                </a:solidFill>
                <a:latin typeface="Calibri"/>
              </a:rPr>
              <a:t>Quy mô danh mục 10,000 chủ thẻ, nhận diện và giữ chân thành công 960 khách hàng.</a:t>
            </a:r>
          </a:p>
          <a:p>
            <a:pPr>
              <a:spcAft>
                <a:spcPts val="900"/>
              </a:spcAft>
            </a:pPr>
            <a:r>
              <a:rPr sz="1150" b="1">
                <a:solidFill>
                  <a:srgbClr val="F59E0B"/>
                </a:solidFill>
                <a:latin typeface="Calibri"/>
              </a:rPr>
              <a:t>Bảo toàn giá trị CLV: </a:t>
            </a:r>
            <a:r>
              <a:rPr sz="1150">
                <a:solidFill>
                  <a:srgbClr val="E2E8F0"/>
                </a:solidFill>
                <a:latin typeface="Calibri"/>
              </a:rPr>
              <a:t>Cứu vãn được $480,000 USD giá trị vòng đời khách hàng.</a:t>
            </a:r>
          </a:p>
          <a:p>
            <a:pPr>
              <a:spcAft>
                <a:spcPts val="900"/>
              </a:spcAft>
            </a:pPr>
            <a:r>
              <a:rPr sz="1150" b="1">
                <a:solidFill>
                  <a:srgbClr val="F59E0B"/>
                </a:solidFill>
                <a:latin typeface="Calibri"/>
              </a:rPr>
              <a:t>Hiệu quả sinh lời: </a:t>
            </a:r>
            <a:r>
              <a:rPr sz="1150">
                <a:solidFill>
                  <a:srgbClr val="E2E8F0"/>
                </a:solidFill>
                <a:latin typeface="Calibri"/>
              </a:rPr>
              <a:t>Chi phí can thiệp chỉ $80,000 USD ($50/khách), tạo tỷ suất sinh lời danh nghĩa ROI = 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01: TỔNG QUAN &amp; BỐI CẢNH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Bối Cảnh Thị Trường Thẻ &amp; Bài Toán Chi Phí: Quy Tắc 5:1 Giữa CAC và CRC</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2907792"/>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01</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7132320" cy="4389120"/>
          </a:xfrm>
          <a:prstGeom prst="roundRect">
            <a:avLst/>
          </a:prstGeom>
          <a:solidFill>
            <a:srgbClr val="181C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2377440"/>
            <a:ext cx="6583680" cy="4023360"/>
          </a:xfrm>
          <a:prstGeom prst="rect">
            <a:avLst/>
          </a:prstGeom>
          <a:noFill/>
        </p:spPr>
        <p:txBody>
          <a:bodyPr wrap="square">
            <a:spAutoFit/>
          </a:bodyPr>
          <a:lstStyle/>
          <a:p>
            <a:pPr>
              <a:spcAft>
                <a:spcPts val="1000"/>
              </a:spcAft>
              <a:defRPr sz="1800" b="1">
                <a:solidFill>
                  <a:srgbClr val="EF4444"/>
                </a:solidFill>
                <a:latin typeface="Bebas Neue"/>
              </a:defRPr>
            </a:pPr>
            <a:r>
              <a:t>CHI PHÍ THU HÚT KHÁCH HÀNG MỚI (CAC): $250 — $300 USD</a:t>
            </a:r>
          </a:p>
          <a:p>
            <a:pPr>
              <a:spcAft>
                <a:spcPts val="800"/>
              </a:spcAft>
            </a:pPr>
            <a:r>
              <a:rPr sz="1200" b="1">
                <a:solidFill>
                  <a:srgbClr val="F59E0B"/>
                </a:solidFill>
                <a:latin typeface="Calibri"/>
              </a:rPr>
              <a:t>Chi phí Marketing &amp; Tiếp cận: </a:t>
            </a:r>
            <a:r>
              <a:rPr sz="1200">
                <a:solidFill>
                  <a:srgbClr val="E2E8F0"/>
                </a:solidFill>
                <a:latin typeface="Calibri"/>
              </a:rPr>
              <a:t>Chiến dịch quảng cáo số, quà tặng mở thẻ, tài trợ điểm bán POS.</a:t>
            </a:r>
          </a:p>
          <a:p>
            <a:pPr>
              <a:spcAft>
                <a:spcPts val="800"/>
              </a:spcAft>
            </a:pPr>
            <a:r>
              <a:rPr sz="1200" b="1">
                <a:solidFill>
                  <a:srgbClr val="F59E0B"/>
                </a:solidFill>
                <a:latin typeface="Calibri"/>
              </a:rPr>
              <a:t>Chi phí Thẩm định &amp; Phát hành: </a:t>
            </a:r>
            <a:r>
              <a:rPr sz="1200">
                <a:solidFill>
                  <a:srgbClr val="E2E8F0"/>
                </a:solidFill>
                <a:latin typeface="Calibri"/>
              </a:rPr>
              <a:t>Tra cứu điểm tín dụng CIC, xác minh thu nhập, in dập phôi thẻ vật lý và chuyển phát nhanh.</a:t>
            </a:r>
          </a:p>
          <a:p>
            <a:pPr>
              <a:spcAft>
                <a:spcPts val="800"/>
              </a:spcAft>
            </a:pPr>
            <a:r>
              <a:rPr sz="1200" b="1">
                <a:solidFill>
                  <a:srgbClr val="F59E0B"/>
                </a:solidFill>
                <a:latin typeface="Calibri"/>
              </a:rPr>
              <a:t>Thời gian hòa vốn kéo dài: </a:t>
            </a:r>
            <a:r>
              <a:rPr sz="1200">
                <a:solidFill>
                  <a:srgbClr val="E2E8F0"/>
                </a:solidFill>
                <a:latin typeface="Calibri"/>
              </a:rPr>
              <a:t>Ngân hàng cần trung bình 18 - 24 tháng thu phí và lãi vay mới bù đắp được chi phí bỏ ra ban đầu.</a:t>
            </a:r>
          </a:p>
        </p:txBody>
      </p:sp>
      <p:sp>
        <p:nvSpPr>
          <p:cNvPr id="9" name="Rounded Rectangle 8"/>
          <p:cNvSpPr/>
          <p:nvPr/>
        </p:nvSpPr>
        <p:spPr>
          <a:xfrm>
            <a:off x="8961120" y="2194560"/>
            <a:ext cx="7498079" cy="438912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0" y="2377440"/>
            <a:ext cx="6949440" cy="4023360"/>
          </a:xfrm>
          <a:prstGeom prst="rect">
            <a:avLst/>
          </a:prstGeom>
          <a:noFill/>
        </p:spPr>
        <p:txBody>
          <a:bodyPr wrap="square">
            <a:spAutoFit/>
          </a:bodyPr>
          <a:lstStyle/>
          <a:p>
            <a:pPr>
              <a:spcAft>
                <a:spcPts val="1000"/>
              </a:spcAft>
              <a:defRPr sz="1800" b="1">
                <a:solidFill>
                  <a:srgbClr val="10B981"/>
                </a:solidFill>
                <a:latin typeface="Bebas Neue"/>
              </a:defRPr>
            </a:pPr>
            <a:r>
              <a:t>CHI PHÍ GIỮ CHÂN KHÁCH HÀNG (CRC): $40 — $50 USD (GẤP 5:1)</a:t>
            </a:r>
          </a:p>
          <a:p>
            <a:pPr>
              <a:spcAft>
                <a:spcPts val="800"/>
              </a:spcAft>
            </a:pPr>
            <a:r>
              <a:rPr sz="1200" b="1">
                <a:solidFill>
                  <a:srgbClr val="F59E0B"/>
                </a:solidFill>
                <a:latin typeface="Calibri"/>
              </a:rPr>
              <a:t>Chi phí Ưu đãi Chủ động: </a:t>
            </a:r>
            <a:r>
              <a:rPr sz="1200">
                <a:solidFill>
                  <a:srgbClr val="E2E8F0"/>
                </a:solidFill>
                <a:latin typeface="Calibri"/>
              </a:rPr>
              <a:t>E-voucher mua sắm, tặng điểm thưởng hoàn tiền, miễn phí thường niên 1 năm có điều kiện.</a:t>
            </a:r>
          </a:p>
          <a:p>
            <a:pPr>
              <a:spcAft>
                <a:spcPts val="800"/>
              </a:spcAft>
            </a:pPr>
            <a:r>
              <a:rPr sz="1200" b="1">
                <a:solidFill>
                  <a:srgbClr val="F59E0B"/>
                </a:solidFill>
                <a:latin typeface="Calibri"/>
              </a:rPr>
              <a:t>Chăm sóc Khách hàng Cá thể hóa: </a:t>
            </a:r>
            <a:r>
              <a:rPr sz="1200">
                <a:solidFill>
                  <a:srgbClr val="E2E8F0"/>
                </a:solidFill>
                <a:latin typeface="Calibri"/>
              </a:rPr>
              <a:t>Điện thoại hỗ trợ riêng từ Relationship Manager cấp cao xử lý triệt để bức xúc trong 24h.</a:t>
            </a:r>
          </a:p>
          <a:p>
            <a:pPr>
              <a:spcAft>
                <a:spcPts val="800"/>
              </a:spcAft>
            </a:pPr>
            <a:r>
              <a:rPr sz="1200" b="1">
                <a:solidFill>
                  <a:srgbClr val="F59E0B"/>
                </a:solidFill>
                <a:latin typeface="Calibri"/>
              </a:rPr>
              <a:t>Hiệu quả tức thì: </a:t>
            </a:r>
            <a:r>
              <a:rPr sz="1200">
                <a:solidFill>
                  <a:srgbClr val="E2E8F0"/>
                </a:solidFill>
                <a:latin typeface="Calibri"/>
              </a:rPr>
              <a:t>Giữ lại ngay dòng tiền lãi thẻ hiện hữu mà không mất chi phí thẩm định lại điểm tín dụng từ đầu.</a:t>
            </a:r>
          </a:p>
        </p:txBody>
      </p:sp>
      <p:sp>
        <p:nvSpPr>
          <p:cNvPr id="11" name="Rounded Rectangle 10"/>
          <p:cNvSpPr/>
          <p:nvPr/>
        </p:nvSpPr>
        <p:spPr>
          <a:xfrm>
            <a:off x="1371600" y="6858000"/>
            <a:ext cx="15087600" cy="265176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6995160"/>
            <a:ext cx="14538960" cy="2286000"/>
          </a:xfrm>
          <a:prstGeom prst="rect">
            <a:avLst/>
          </a:prstGeom>
          <a:noFill/>
        </p:spPr>
        <p:txBody>
          <a:bodyPr wrap="square">
            <a:spAutoFit/>
          </a:bodyPr>
          <a:lstStyle/>
          <a:p>
            <a:pPr>
              <a:spcAft>
                <a:spcPts val="600"/>
              </a:spcAft>
              <a:defRPr sz="1700" b="1">
                <a:solidFill>
                  <a:srgbClr val="EA580C"/>
                </a:solidFill>
                <a:latin typeface="Bebas Neue"/>
              </a:defRPr>
            </a:pPr>
            <a:r>
              <a:t>CHUYỂN DỊCH TỪ ỨNG PHÓ BỊ ĐỘNG SANG HỆ THỐNG CẢNH BÁO SỚM (EARLY WARNING SYSTEM)</a:t>
            </a:r>
          </a:p>
          <a:p>
            <a:pPr>
              <a:spcAft>
                <a:spcPts val="500"/>
              </a:spcAft>
            </a:pPr>
            <a:r>
              <a:rPr sz="1200" b="1">
                <a:solidFill>
                  <a:srgbClr val="F59E0B"/>
                </a:solidFill>
                <a:latin typeface="Calibri"/>
              </a:rPr>
              <a:t>Thách thức của mô hình truyền thống: </a:t>
            </a:r>
            <a:r>
              <a:rPr sz="1200">
                <a:solidFill>
                  <a:srgbClr val="E2E8F0"/>
                </a:solidFill>
                <a:latin typeface="Calibri"/>
              </a:rPr>
              <a:t>Ngân hàng chỉ biết khách hàng rời bỏ khi họ đã đến quầy làm thủ tục hủy thẻ hoặc tài khoản không hoạt động suốt 6 tháng — lúc này tỷ lệ giữ chân thành công gần như bằng 0%.</a:t>
            </a:r>
          </a:p>
          <a:p>
            <a:pPr>
              <a:spcAft>
                <a:spcPts val="500"/>
              </a:spcAft>
            </a:pPr>
            <a:r>
              <a:rPr sz="1200" b="1">
                <a:solidFill>
                  <a:srgbClr val="F59E0B"/>
                </a:solidFill>
                <a:latin typeface="Calibri"/>
              </a:rPr>
              <a:t>Giải pháp Machine Learning đề xuất: </a:t>
            </a:r>
            <a:r>
              <a:rPr sz="1200">
                <a:solidFill>
                  <a:srgbClr val="E2E8F0"/>
                </a:solidFill>
                <a:latin typeface="Calibri"/>
              </a:rPr>
              <a:t>Xây dựng Hệ thống Cảnh báo sớm (EWS) tự động quét tín hiệu hành vi hàng tuần, phát hiện nguy cơ rời bỏ trước 2 - 3 tháng (khi khách hàng bắt đầu giảm tần suất quẹt thẻ hoặc tất toán dư nợ).</a:t>
            </a:r>
          </a:p>
          <a:p>
            <a:pPr>
              <a:spcAft>
                <a:spcPts val="500"/>
              </a:spcAft>
            </a:pPr>
            <a:r>
              <a:rPr sz="1200" b="1">
                <a:solidFill>
                  <a:srgbClr val="F59E0B"/>
                </a:solidFill>
                <a:latin typeface="Calibri"/>
              </a:rPr>
              <a:t>Ý nghĩa chiến lược: </a:t>
            </a:r>
            <a:r>
              <a:rPr sz="1200">
                <a:solidFill>
                  <a:srgbClr val="E2E8F0"/>
                </a:solidFill>
                <a:latin typeface="Calibri"/>
              </a:rPr>
              <a:t>Chuyển thế chủ động cho chi nhánh và phòng CSKH, tối ưu hóa ngân sách giữ chân vào đúng những khách hàng có xác suất rời bỏ cao nhất.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02: PHƯƠNG PHÁP &amp; TIỀN XỬ LÝ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Phương Pháp Nghiên Cứu: Kiến Trúc Pipeline 4 Giai Đoạn Khép Kín</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3931920"/>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02</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352044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481328" y="2331720"/>
            <a:ext cx="3300984" cy="1097280"/>
          </a:xfrm>
          <a:prstGeom prst="roundRect">
            <a:avLst/>
          </a:prstGeom>
          <a:solidFill>
            <a:srgbClr val="20262E"/>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800" b="1">
                <a:solidFill>
                  <a:srgbClr val="EA580C"/>
                </a:solidFill>
                <a:latin typeface="Bebas Neue"/>
              </a:defRPr>
            </a:pPr>
            <a:r>
              <a:t>GIAI ĐOẠN 01</a:t>
            </a:r>
          </a:p>
          <a:p>
            <a:pPr>
              <a:defRPr sz="1050" b="1">
                <a:solidFill>
                  <a:srgbClr val="FFFFFF"/>
                </a:solidFill>
                <a:latin typeface="Calibri"/>
              </a:defRPr>
            </a:pPr>
            <a:r>
              <a:t>TIỀN XỬ LÝ &amp; FEATURE ENGINEERING</a:t>
            </a:r>
          </a:p>
        </p:txBody>
      </p:sp>
      <p:sp>
        <p:nvSpPr>
          <p:cNvPr id="9" name="TextBox 8"/>
          <p:cNvSpPr txBox="1"/>
          <p:nvPr/>
        </p:nvSpPr>
        <p:spPr>
          <a:xfrm>
            <a:off x="1536192" y="3611880"/>
            <a:ext cx="3200400" cy="5669280"/>
          </a:xfrm>
          <a:prstGeom prst="rect">
            <a:avLst/>
          </a:prstGeom>
          <a:noFill/>
        </p:spPr>
        <p:txBody>
          <a:bodyPr wrap="square">
            <a:spAutoFit/>
          </a:bodyPr>
          <a:lstStyle/>
          <a:p/>
          <a:p>
            <a:pPr>
              <a:spcAft>
                <a:spcPts val="800"/>
              </a:spcAft>
            </a:pPr>
            <a:r>
              <a:rPr sz="1100" b="1">
                <a:solidFill>
                  <a:srgbClr val="F59E0B"/>
                </a:solidFill>
                <a:latin typeface="Calibri"/>
              </a:rPr>
              <a:t>Làm sạch dữ liệu: </a:t>
            </a:r>
            <a:r>
              <a:rPr sz="1100">
                <a:solidFill>
                  <a:srgbClr val="E2E8F0"/>
                </a:solidFill>
                <a:latin typeface="Calibri"/>
              </a:rPr>
              <a:t>Kiểm tra Null/Missing, xử lý định dạng 10,127 quan sát.</a:t>
            </a:r>
          </a:p>
          <a:p>
            <a:pPr>
              <a:spcAft>
                <a:spcPts val="800"/>
              </a:spcAft>
            </a:pPr>
            <a:r>
              <a:rPr sz="1100" b="1">
                <a:solidFill>
                  <a:srgbClr val="F59E0B"/>
                </a:solidFill>
                <a:latin typeface="Calibri"/>
              </a:rPr>
              <a:t>Kiểm soát rò rỉ nhãn: </a:t>
            </a:r>
            <a:r>
              <a:rPr sz="1100">
                <a:solidFill>
                  <a:srgbClr val="E2E8F0"/>
                </a:solidFill>
                <a:latin typeface="Calibri"/>
              </a:rPr>
              <a:t>Loại bỏ triệt để 2 cột Naive Bayes ở cuối bảng gốc.</a:t>
            </a:r>
          </a:p>
          <a:p>
            <a:pPr>
              <a:spcAft>
                <a:spcPts val="800"/>
              </a:spcAft>
            </a:pPr>
            <a:r>
              <a:rPr sz="1100" b="1">
                <a:solidFill>
                  <a:srgbClr val="F59E0B"/>
                </a:solidFill>
                <a:latin typeface="Calibri"/>
              </a:rPr>
              <a:t>Mã hóa biến: </a:t>
            </a:r>
            <a:r>
              <a:rPr sz="1100">
                <a:solidFill>
                  <a:srgbClr val="E2E8F0"/>
                </a:solidFill>
                <a:latin typeface="Calibri"/>
              </a:rPr>
              <a:t>Binary encoding biến Target, One-Hot/Ordinal encoding biến định tính.</a:t>
            </a:r>
          </a:p>
          <a:p>
            <a:pPr>
              <a:spcAft>
                <a:spcPts val="800"/>
              </a:spcAft>
            </a:pPr>
            <a:r>
              <a:rPr sz="1100" b="1">
                <a:solidFill>
                  <a:srgbClr val="F59E0B"/>
                </a:solidFill>
                <a:latin typeface="Calibri"/>
              </a:rPr>
              <a:t>Kiến tạo đặc trưng: </a:t>
            </a:r>
            <a:r>
              <a:rPr sz="1100">
                <a:solidFill>
                  <a:srgbClr val="E2E8F0"/>
                </a:solidFill>
                <a:latin typeface="Calibri"/>
              </a:rPr>
              <a:t>Tạo 5 biến phái sinh tài chính đo lường mật độ giao dịch và đòn bẩy.</a:t>
            </a:r>
          </a:p>
        </p:txBody>
      </p:sp>
      <p:sp>
        <p:nvSpPr>
          <p:cNvPr id="10" name="Rounded Rectangle 9"/>
          <p:cNvSpPr/>
          <p:nvPr/>
        </p:nvSpPr>
        <p:spPr>
          <a:xfrm>
            <a:off x="5074920" y="2194560"/>
            <a:ext cx="3520440"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84648" y="2331720"/>
            <a:ext cx="3300984" cy="1097280"/>
          </a:xfrm>
          <a:prstGeom prst="roundRect">
            <a:avLst/>
          </a:prstGeom>
          <a:solidFill>
            <a:srgbClr val="20262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800" b="1">
                <a:solidFill>
                  <a:srgbClr val="38BDF8"/>
                </a:solidFill>
                <a:latin typeface="Bebas Neue"/>
              </a:defRPr>
            </a:pPr>
            <a:r>
              <a:t>GIAI ĐOẠN 02</a:t>
            </a:r>
          </a:p>
          <a:p>
            <a:pPr>
              <a:defRPr sz="1050" b="1">
                <a:solidFill>
                  <a:srgbClr val="FFFFFF"/>
                </a:solidFill>
                <a:latin typeface="Calibri"/>
              </a:defRPr>
            </a:pPr>
            <a:r>
              <a:t>KHÁM PHÁ EDA &amp; PHÂN CỤM</a:t>
            </a:r>
          </a:p>
        </p:txBody>
      </p:sp>
      <p:sp>
        <p:nvSpPr>
          <p:cNvPr id="12" name="TextBox 11"/>
          <p:cNvSpPr txBox="1"/>
          <p:nvPr/>
        </p:nvSpPr>
        <p:spPr>
          <a:xfrm>
            <a:off x="5239512" y="3611880"/>
            <a:ext cx="3200400" cy="5669280"/>
          </a:xfrm>
          <a:prstGeom prst="rect">
            <a:avLst/>
          </a:prstGeom>
          <a:noFill/>
        </p:spPr>
        <p:txBody>
          <a:bodyPr wrap="square">
            <a:spAutoFit/>
          </a:bodyPr>
          <a:lstStyle/>
          <a:p/>
          <a:p>
            <a:pPr>
              <a:spcAft>
                <a:spcPts val="800"/>
              </a:spcAft>
            </a:pPr>
            <a:r>
              <a:rPr sz="1100" b="1">
                <a:solidFill>
                  <a:srgbClr val="F59E0B"/>
                </a:solidFill>
                <a:latin typeface="Calibri"/>
              </a:rPr>
              <a:t>Phân tích đơn &amp; đa biến: </a:t>
            </a:r>
            <a:r>
              <a:rPr sz="1100">
                <a:solidFill>
                  <a:srgbClr val="E2E8F0"/>
                </a:solidFill>
                <a:latin typeface="Calibri"/>
              </a:rPr>
              <a:t>Kiểm định phân phối 6 chiều hành vi then chốt.</a:t>
            </a:r>
          </a:p>
          <a:p>
            <a:pPr>
              <a:spcAft>
                <a:spcPts val="800"/>
              </a:spcAft>
            </a:pPr>
            <a:r>
              <a:rPr sz="1100" b="1">
                <a:solidFill>
                  <a:srgbClr val="F59E0B"/>
                </a:solidFill>
                <a:latin typeface="Calibri"/>
              </a:rPr>
              <a:t>Kiểm định thống kê: </a:t>
            </a:r>
            <a:r>
              <a:rPr sz="1100">
                <a:solidFill>
                  <a:srgbClr val="E2E8F0"/>
                </a:solidFill>
                <a:latin typeface="Calibri"/>
              </a:rPr>
              <a:t>T-Test, Mann-Whitney U và Chi-square kiểm định khác biệt có ý nghĩa.</a:t>
            </a:r>
          </a:p>
          <a:p>
            <a:pPr>
              <a:spcAft>
                <a:spcPts val="800"/>
              </a:spcAft>
            </a:pPr>
            <a:r>
              <a:rPr sz="1100" b="1">
                <a:solidFill>
                  <a:srgbClr val="F59E0B"/>
                </a:solidFill>
                <a:latin typeface="Calibri"/>
              </a:rPr>
              <a:t>Phân cụm K-Means: </a:t>
            </a:r>
            <a:r>
              <a:rPr sz="1100">
                <a:solidFill>
                  <a:srgbClr val="E2E8F0"/>
                </a:solidFill>
                <a:latin typeface="Calibri"/>
              </a:rPr>
              <a:t>Tối ưu hóa số cụm k=4 qua phương pháp Elbow và Silhouette Score.</a:t>
            </a:r>
          </a:p>
          <a:p>
            <a:pPr>
              <a:spcAft>
                <a:spcPts val="800"/>
              </a:spcAft>
            </a:pPr>
            <a:r>
              <a:rPr sz="1100" b="1">
                <a:solidFill>
                  <a:srgbClr val="F59E0B"/>
                </a:solidFill>
                <a:latin typeface="Calibri"/>
              </a:rPr>
              <a:t>Giảm chiều không gian: </a:t>
            </a:r>
            <a:r>
              <a:rPr sz="1100">
                <a:solidFill>
                  <a:srgbClr val="E2E8F0"/>
                </a:solidFill>
                <a:latin typeface="Calibri"/>
              </a:rPr>
              <a:t>Áp dụng PCA 2 chiều để trực quan hóa cấu trúc các phân khúc.</a:t>
            </a:r>
          </a:p>
        </p:txBody>
      </p:sp>
      <p:sp>
        <p:nvSpPr>
          <p:cNvPr id="13" name="Rounded Rectangle 12"/>
          <p:cNvSpPr/>
          <p:nvPr/>
        </p:nvSpPr>
        <p:spPr>
          <a:xfrm>
            <a:off x="8778240" y="2194560"/>
            <a:ext cx="3520440" cy="7315200"/>
          </a:xfrm>
          <a:prstGeom prst="roundRect">
            <a:avLst/>
          </a:prstGeom>
          <a:solidFill>
            <a:srgbClr val="181C2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887968" y="2331720"/>
            <a:ext cx="3300984" cy="109728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800" b="1">
                <a:solidFill>
                  <a:srgbClr val="F59E0B"/>
                </a:solidFill>
                <a:latin typeface="Bebas Neue"/>
              </a:defRPr>
            </a:pPr>
            <a:r>
              <a:t>GIAI ĐOẠN 03</a:t>
            </a:r>
          </a:p>
          <a:p>
            <a:pPr>
              <a:defRPr sz="1050" b="1">
                <a:solidFill>
                  <a:srgbClr val="FFFFFF"/>
                </a:solidFill>
                <a:latin typeface="Calibri"/>
              </a:defRPr>
            </a:pPr>
            <a:r>
              <a:t>MÔ HÌNH HÓA DỰ BÁO</a:t>
            </a:r>
          </a:p>
        </p:txBody>
      </p:sp>
      <p:sp>
        <p:nvSpPr>
          <p:cNvPr id="15" name="TextBox 14"/>
          <p:cNvSpPr txBox="1"/>
          <p:nvPr/>
        </p:nvSpPr>
        <p:spPr>
          <a:xfrm>
            <a:off x="8942832" y="3611880"/>
            <a:ext cx="3200400" cy="5669280"/>
          </a:xfrm>
          <a:prstGeom prst="rect">
            <a:avLst/>
          </a:prstGeom>
          <a:noFill/>
        </p:spPr>
        <p:txBody>
          <a:bodyPr wrap="square">
            <a:spAutoFit/>
          </a:bodyPr>
          <a:lstStyle/>
          <a:p/>
          <a:p>
            <a:pPr>
              <a:spcAft>
                <a:spcPts val="800"/>
              </a:spcAft>
            </a:pPr>
            <a:r>
              <a:rPr sz="1100" b="1">
                <a:solidFill>
                  <a:srgbClr val="F59E0B"/>
                </a:solidFill>
                <a:latin typeface="Calibri"/>
              </a:rPr>
              <a:t>Phân chia tập mẫu: </a:t>
            </a:r>
            <a:r>
              <a:rPr sz="1100">
                <a:solidFill>
                  <a:srgbClr val="E2E8F0"/>
                </a:solidFill>
                <a:latin typeface="Calibri"/>
              </a:rPr>
              <a:t>Stratified 80/20 bảo toàn cấu trúc mất cân bằng lớp.</a:t>
            </a:r>
          </a:p>
          <a:p>
            <a:pPr>
              <a:spcAft>
                <a:spcPts val="800"/>
              </a:spcAft>
            </a:pPr>
            <a:r>
              <a:rPr sz="1100" b="1">
                <a:solidFill>
                  <a:srgbClr val="F59E0B"/>
                </a:solidFill>
                <a:latin typeface="Calibri"/>
              </a:rPr>
              <a:t>Huấn luyện 4 thuật toán: </a:t>
            </a:r>
            <a:r>
              <a:rPr sz="1100">
                <a:solidFill>
                  <a:srgbClr val="E2E8F0"/>
                </a:solidFill>
                <a:latin typeface="Calibri"/>
              </a:rPr>
              <a:t>Logistic Regression, Random Forest, SVM, XGBoost.</a:t>
            </a:r>
          </a:p>
          <a:p>
            <a:pPr>
              <a:spcAft>
                <a:spcPts val="800"/>
              </a:spcAft>
            </a:pPr>
            <a:r>
              <a:rPr sz="1100" b="1">
                <a:solidFill>
                  <a:srgbClr val="F59E0B"/>
                </a:solidFill>
                <a:latin typeface="Calibri"/>
              </a:rPr>
              <a:t>Kiểm định chéo: </a:t>
            </a:r>
            <a:r>
              <a:rPr sz="1100">
                <a:solidFill>
                  <a:srgbClr val="E2E8F0"/>
                </a:solidFill>
                <a:latin typeface="Calibri"/>
              </a:rPr>
              <a:t>Stratified 5-Fold Cross Validation tối ưu hóa siêu tham số GridSearch.</a:t>
            </a:r>
          </a:p>
          <a:p>
            <a:pPr>
              <a:spcAft>
                <a:spcPts val="800"/>
              </a:spcAft>
            </a:pPr>
            <a:r>
              <a:rPr sz="1100" b="1">
                <a:solidFill>
                  <a:srgbClr val="F59E0B"/>
                </a:solidFill>
                <a:latin typeface="Calibri"/>
              </a:rPr>
              <a:t>Thang đo hiệu năng: </a:t>
            </a:r>
            <a:r>
              <a:rPr sz="1100">
                <a:solidFill>
                  <a:srgbClr val="E2E8F0"/>
                </a:solidFill>
                <a:latin typeface="Calibri"/>
              </a:rPr>
              <a:t>Ưu tiên tối thượng ROC-AUC, Recall, Precision và F1-Score.</a:t>
            </a:r>
          </a:p>
        </p:txBody>
      </p:sp>
      <p:sp>
        <p:nvSpPr>
          <p:cNvPr id="16" name="Rounded Rectangle 15"/>
          <p:cNvSpPr/>
          <p:nvPr/>
        </p:nvSpPr>
        <p:spPr>
          <a:xfrm>
            <a:off x="12481559" y="2194560"/>
            <a:ext cx="3520440" cy="731520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591287" y="2331720"/>
            <a:ext cx="3300984" cy="1097280"/>
          </a:xfrm>
          <a:prstGeom prst="roundRect">
            <a:avLst/>
          </a:prstGeom>
          <a:solidFill>
            <a:srgbClr val="2026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800" b="1">
                <a:solidFill>
                  <a:srgbClr val="10B981"/>
                </a:solidFill>
                <a:latin typeface="Bebas Neue"/>
              </a:defRPr>
            </a:pPr>
            <a:r>
              <a:t>GIAI ĐOẠN 04</a:t>
            </a:r>
          </a:p>
          <a:p>
            <a:pPr>
              <a:defRPr sz="1050" b="1">
                <a:solidFill>
                  <a:srgbClr val="FFFFFF"/>
                </a:solidFill>
                <a:latin typeface="Calibri"/>
              </a:defRPr>
            </a:pPr>
            <a:r>
              <a:t>ỨNG DỤNG QUẢN TRỊ &amp; ROI</a:t>
            </a:r>
          </a:p>
        </p:txBody>
      </p:sp>
      <p:sp>
        <p:nvSpPr>
          <p:cNvPr id="18" name="TextBox 17"/>
          <p:cNvSpPr txBox="1"/>
          <p:nvPr/>
        </p:nvSpPr>
        <p:spPr>
          <a:xfrm>
            <a:off x="12646151" y="3611880"/>
            <a:ext cx="3200400" cy="5669280"/>
          </a:xfrm>
          <a:prstGeom prst="rect">
            <a:avLst/>
          </a:prstGeom>
          <a:noFill/>
        </p:spPr>
        <p:txBody>
          <a:bodyPr wrap="square">
            <a:spAutoFit/>
          </a:bodyPr>
          <a:lstStyle/>
          <a:p/>
          <a:p>
            <a:pPr>
              <a:spcAft>
                <a:spcPts val="800"/>
              </a:spcAft>
            </a:pPr>
            <a:r>
              <a:rPr sz="1100" b="1">
                <a:solidFill>
                  <a:srgbClr val="F59E0B"/>
                </a:solidFill>
                <a:latin typeface="Calibri"/>
              </a:rPr>
              <a:t>Giải thích mô hình XAI: </a:t>
            </a:r>
            <a:r>
              <a:rPr sz="1100">
                <a:solidFill>
                  <a:srgbClr val="E2E8F0"/>
                </a:solidFill>
                <a:latin typeface="Calibri"/>
              </a:rPr>
              <a:t>Xác định 5 đòn bẩy hành vi quan trọng nhất qua SHAP / Gain.</a:t>
            </a:r>
          </a:p>
          <a:p>
            <a:pPr>
              <a:spcAft>
                <a:spcPts val="800"/>
              </a:spcAft>
            </a:pPr>
            <a:r>
              <a:rPr sz="1100" b="1">
                <a:solidFill>
                  <a:srgbClr val="F59E0B"/>
                </a:solidFill>
                <a:latin typeface="Calibri"/>
              </a:rPr>
              <a:t>Tối ưu hóa ngưỡng cắt: </a:t>
            </a:r>
            <a:r>
              <a:rPr sz="1100">
                <a:solidFill>
                  <a:srgbClr val="E2E8F0"/>
                </a:solidFill>
                <a:latin typeface="Calibri"/>
              </a:rPr>
              <a:t>Xác lập t* = 0.42 tối đa hóa lợi nhuận ròng.</a:t>
            </a:r>
          </a:p>
          <a:p>
            <a:pPr>
              <a:spcAft>
                <a:spcPts val="800"/>
              </a:spcAft>
            </a:pPr>
            <a:r>
              <a:rPr sz="1100" b="1">
                <a:solidFill>
                  <a:srgbClr val="F59E0B"/>
                </a:solidFill>
                <a:latin typeface="Calibri"/>
              </a:rPr>
              <a:t>Phác họa 3 Personas: </a:t>
            </a:r>
            <a:r>
              <a:rPr sz="1100">
                <a:solidFill>
                  <a:srgbClr val="E2E8F0"/>
                </a:solidFill>
                <a:latin typeface="Calibri"/>
              </a:rPr>
              <a:t>Xây dựng chân dung khách hàng kèm kịch bản can thiệp chuyên biệt.</a:t>
            </a:r>
          </a:p>
          <a:p>
            <a:pPr>
              <a:spcAft>
                <a:spcPts val="800"/>
              </a:spcAft>
            </a:pPr>
            <a:r>
              <a:rPr sz="1100" b="1">
                <a:solidFill>
                  <a:srgbClr val="F59E0B"/>
                </a:solidFill>
                <a:latin typeface="Calibri"/>
              </a:rPr>
              <a:t>Mô phỏng tài chính: </a:t>
            </a:r>
            <a:r>
              <a:rPr sz="1100">
                <a:solidFill>
                  <a:srgbClr val="E2E8F0"/>
                </a:solidFill>
                <a:latin typeface="Calibri"/>
              </a:rPr>
              <a:t>Đo lường ROI 500% trên quy mô danh mục 10,000 chủ thẻ.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02: PHƯƠNG PHÁP &amp; TIỀN XỬ LÝ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Tiền Xử Lý Dữ Liệu: Kiểm Soát Rò Rỉ Nhãn &amp; Kiến Tạo 5 Biến Phái Sinh Tài Chính</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3931920"/>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02</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713232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2377440"/>
            <a:ext cx="6583680" cy="6858000"/>
          </a:xfrm>
          <a:prstGeom prst="rect">
            <a:avLst/>
          </a:prstGeom>
          <a:noFill/>
        </p:spPr>
        <p:txBody>
          <a:bodyPr wrap="square">
            <a:spAutoFit/>
          </a:bodyPr>
          <a:lstStyle/>
          <a:p>
            <a:pPr>
              <a:spcAft>
                <a:spcPts val="1000"/>
              </a:spcAft>
              <a:defRPr sz="1700" b="1">
                <a:solidFill>
                  <a:srgbClr val="EA580C"/>
                </a:solidFill>
                <a:latin typeface="Bebas Neue"/>
              </a:defRPr>
            </a:pPr>
            <a:r>
              <a:t>LÀM SẠCH &amp; KIỂM SOÁT RÒ RỈ DỮ LIỆU (DATA LEAKAGE)</a:t>
            </a:r>
          </a:p>
          <a:p>
            <a:pPr>
              <a:spcAft>
                <a:spcPts val="900"/>
              </a:spcAft>
            </a:pPr>
            <a:r>
              <a:rPr sz="1200" b="1">
                <a:solidFill>
                  <a:srgbClr val="F59E0B"/>
                </a:solidFill>
                <a:latin typeface="Calibri"/>
              </a:rPr>
              <a:t>Quy mô dữ liệu ban đầu: </a:t>
            </a:r>
            <a:r>
              <a:rPr sz="1200">
                <a:solidFill>
                  <a:srgbClr val="E2E8F0"/>
                </a:solidFill>
                <a:latin typeface="Calibri"/>
              </a:rPr>
              <a:t>10,127 quan sát với 23 thuộc tính gốc. Dữ liệu hoàn thiện, không phát hiện giá trị Null/Missing.</a:t>
            </a:r>
          </a:p>
          <a:p>
            <a:pPr>
              <a:spcAft>
                <a:spcPts val="900"/>
              </a:spcAft>
            </a:pPr>
            <a:r>
              <a:rPr sz="1200" b="1">
                <a:solidFill>
                  <a:srgbClr val="F59E0B"/>
                </a:solidFill>
                <a:latin typeface="Calibri"/>
              </a:rPr>
              <a:t>LOẠI BỎ TRIỆT ĐỂ 2 CỘT RÒ RỈ NHÃN: </a:t>
            </a:r>
            <a:r>
              <a:rPr sz="1200">
                <a:solidFill>
                  <a:srgbClr val="E2E8F0"/>
                </a:solidFill>
                <a:latin typeface="Calibri"/>
              </a:rPr>
              <a:t>Hai cột cuối cùng trong bộ dữ liệu gốc `Naive_Bayes_Classifier_Attrition_Flag_...` là đầu ra dự báo của một mô hình Naive Bayes trước đó. Nếu giữ lại, mô hình sẽ đạt Accuracy 100% giả tạo do Data Leakage nghiêm trọng.</a:t>
            </a:r>
          </a:p>
          <a:p>
            <a:pPr>
              <a:spcAft>
                <a:spcPts val="900"/>
              </a:spcAft>
            </a:pPr>
            <a:r>
              <a:rPr sz="1200" b="1">
                <a:solidFill>
                  <a:srgbClr val="F59E0B"/>
                </a:solidFill>
                <a:latin typeface="Calibri"/>
              </a:rPr>
              <a:t>Mã hóa biến mục tiêu (Target Encoding): </a:t>
            </a:r>
            <a:r>
              <a:rPr sz="1200">
                <a:solidFill>
                  <a:srgbClr val="E2E8F0"/>
                </a:solidFill>
                <a:latin typeface="Calibri"/>
              </a:rPr>
              <a:t>Gán nhãn nhị phân: `Attrited Customer` = 1 (1,627 khách rời bỏ), `Existing Customer` = 0 (8,500 khách ở lại).</a:t>
            </a:r>
          </a:p>
          <a:p>
            <a:pPr>
              <a:spcAft>
                <a:spcPts val="900"/>
              </a:spcAft>
            </a:pPr>
            <a:r>
              <a:rPr sz="1200" b="1">
                <a:solidFill>
                  <a:srgbClr val="F59E0B"/>
                </a:solidFill>
                <a:latin typeface="Calibri"/>
              </a:rPr>
              <a:t>Mã hóa biến định tính: </a:t>
            </a:r>
            <a:r>
              <a:rPr sz="1200">
                <a:solidFill>
                  <a:srgbClr val="E2E8F0"/>
                </a:solidFill>
                <a:latin typeface="Calibri"/>
              </a:rPr>
              <a:t>One-Hot Encoding cho các biến không có thứ bậc (Marital_Status, Gender) và Ordinal Encoding cho biến có thứ bậc (Education_Level, Income_Category).</a:t>
            </a:r>
          </a:p>
          <a:p>
            <a:pPr>
              <a:spcAft>
                <a:spcPts val="900"/>
              </a:spcAft>
            </a:pPr>
            <a:r>
              <a:rPr sz="1200" b="1">
                <a:solidFill>
                  <a:srgbClr val="F59E0B"/>
                </a:solidFill>
                <a:latin typeface="Calibri"/>
              </a:rPr>
              <a:t>Chuẩn hóa dữ liệu (Scaling): </a:t>
            </a:r>
            <a:r>
              <a:rPr sz="1200">
                <a:solidFill>
                  <a:srgbClr val="E2E8F0"/>
                </a:solidFill>
                <a:latin typeface="Calibri"/>
              </a:rPr>
              <a:t>Áp dụng RobustScaler để hạn chế tối đa ảnh hưởng của các điểm ngoại lai (Outliers) trong dữ liệu giao dịch tài chính.</a:t>
            </a:r>
          </a:p>
        </p:txBody>
      </p:sp>
      <p:sp>
        <p:nvSpPr>
          <p:cNvPr id="9" name="Rounded Rectangle 8"/>
          <p:cNvSpPr/>
          <p:nvPr/>
        </p:nvSpPr>
        <p:spPr>
          <a:xfrm>
            <a:off x="8961120" y="2194560"/>
            <a:ext cx="7498079"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0" y="2377440"/>
            <a:ext cx="6949440" cy="6858000"/>
          </a:xfrm>
          <a:prstGeom prst="rect">
            <a:avLst/>
          </a:prstGeom>
          <a:noFill/>
        </p:spPr>
        <p:txBody>
          <a:bodyPr wrap="square">
            <a:spAutoFit/>
          </a:bodyPr>
          <a:lstStyle/>
          <a:p>
            <a:pPr>
              <a:spcAft>
                <a:spcPts val="1000"/>
              </a:spcAft>
              <a:defRPr sz="1700" b="1">
                <a:solidFill>
                  <a:srgbClr val="38BDF8"/>
                </a:solidFill>
                <a:latin typeface="Bebas Neue"/>
              </a:defRPr>
            </a:pPr>
            <a:r>
              <a:t>5 BIẾN PHÁI SINH TÀI CHÍNH KIẾN TẠO MỚI (FEATURE ENGINEERING)</a:t>
            </a:r>
          </a:p>
          <a:p>
            <a:pPr>
              <a:spcAft>
                <a:spcPts val="900"/>
              </a:spcAft>
            </a:pPr>
            <a:r>
              <a:rPr sz="1200" b="1">
                <a:solidFill>
                  <a:srgbClr val="F59E0B"/>
                </a:solidFill>
                <a:latin typeface="Calibri"/>
              </a:rPr>
              <a:t>1. Trans_Ct_Density (Mật độ quẹt thẻ): </a:t>
            </a:r>
            <a:r>
              <a:rPr sz="1200">
                <a:solidFill>
                  <a:srgbClr val="E2E8F0"/>
                </a:solidFill>
                <a:latin typeface="Calibri"/>
              </a:rPr>
              <a:t>Công thức: `Total_Trans_Ct / Months_on_book`. Đo lường tần suất giao dịch bình quân mỗi tháng trong suốt vòng đời sử dụng thẻ.</a:t>
            </a:r>
          </a:p>
          <a:p>
            <a:pPr>
              <a:spcAft>
                <a:spcPts val="900"/>
              </a:spcAft>
            </a:pPr>
            <a:r>
              <a:rPr sz="1200" b="1">
                <a:solidFill>
                  <a:srgbClr val="F59E0B"/>
                </a:solidFill>
                <a:latin typeface="Calibri"/>
              </a:rPr>
              <a:t>2. Trans_Amt_per_Capita (Chi tiêu bình quân): </a:t>
            </a:r>
            <a:r>
              <a:rPr sz="1200">
                <a:solidFill>
                  <a:srgbClr val="E2E8F0"/>
                </a:solidFill>
                <a:latin typeface="Calibri"/>
              </a:rPr>
              <a:t>Công thức: `Total_Trans_Amt / Total_Trans_Ct`. Phản ánh giá trị trung bình trên một lần quẹt thẻ, tách biệt giữa giao dịch chi tiêu thiết yếu và chi tiêu lớn.</a:t>
            </a:r>
          </a:p>
          <a:p>
            <a:pPr>
              <a:spcAft>
                <a:spcPts val="900"/>
              </a:spcAft>
            </a:pPr>
            <a:r>
              <a:rPr sz="1200" b="1">
                <a:solidFill>
                  <a:srgbClr val="F59E0B"/>
                </a:solidFill>
                <a:latin typeface="Calibri"/>
              </a:rPr>
              <a:t>3. Revolving_Ratio (Tỷ lệ đòn bẩy nợ): </a:t>
            </a:r>
            <a:r>
              <a:rPr sz="1200">
                <a:solidFill>
                  <a:srgbClr val="E2E8F0"/>
                </a:solidFill>
                <a:latin typeface="Calibri"/>
              </a:rPr>
              <a:t>Công thức: `Total_Revolving_Bal / Credit_Limit`. Đo lường mức độ phụ thuộc vào tín dụng quay vòng của chủ thẻ.</a:t>
            </a:r>
          </a:p>
          <a:p>
            <a:pPr>
              <a:spcAft>
                <a:spcPts val="900"/>
              </a:spcAft>
            </a:pPr>
            <a:r>
              <a:rPr sz="1200" b="1">
                <a:solidFill>
                  <a:srgbClr val="F59E0B"/>
                </a:solidFill>
                <a:latin typeface="Calibri"/>
              </a:rPr>
              <a:t>4. Total_Interaction_Ct (Tổng tương tác rủi ro): </a:t>
            </a:r>
            <a:r>
              <a:rPr sz="1200">
                <a:solidFill>
                  <a:srgbClr val="E2E8F0"/>
                </a:solidFill>
                <a:latin typeface="Calibri"/>
              </a:rPr>
              <a:t>Công thức: `Contacts_Count_12_mon + Months_Inactive_12_mon`. Chỉ số tích hợp giữa mức độ bất mãn CSKH và thời gian ngủ đông.</a:t>
            </a:r>
          </a:p>
          <a:p>
            <a:pPr>
              <a:spcAft>
                <a:spcPts val="900"/>
              </a:spcAft>
            </a:pPr>
            <a:r>
              <a:rPr sz="1200" b="1">
                <a:solidFill>
                  <a:srgbClr val="F59E0B"/>
                </a:solidFill>
                <a:latin typeface="Calibri"/>
              </a:rPr>
              <a:t>5. Open_To_Buy_Ratio (Tỷ lệ hạn mức khả dụng): </a:t>
            </a:r>
            <a:r>
              <a:rPr sz="1200">
                <a:solidFill>
                  <a:srgbClr val="E2E8F0"/>
                </a:solidFill>
                <a:latin typeface="Calibri"/>
              </a:rPr>
              <a:t>Công thức: `Avg_Open_To_Buy / Credit_Limit`. Phản ánh dư địa chi tiêu khả dụng chưa được khai thác của khách hàng.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03: KHÁM PHÁ DỮ LIỆU &amp; PHÂN CỤM (BIẾN MỤC TIÊU)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EDA 1 — Phân Bố Biến Mục Tiêu: Mất Cân Bằng Lớp 1:5.22 &amp; Cạm Bẫy Accuracy Paradox</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4809744"/>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03</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churn_distribution.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Biểu đồ phân tích thực nghiệm trích xuất từ figures/01_churn_distribution.png</a:t>
            </a:r>
          </a:p>
        </p:txBody>
      </p:sp>
      <p:sp>
        <p:nvSpPr>
          <p:cNvPr id="10" name="Rounded Rectangle 9"/>
          <p:cNvSpPr/>
          <p:nvPr/>
        </p:nvSpPr>
        <p:spPr>
          <a:xfrm>
            <a:off x="10058400" y="2194560"/>
            <a:ext cx="640080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5120640"/>
          </a:xfrm>
          <a:prstGeom prst="rect">
            <a:avLst/>
          </a:prstGeom>
          <a:noFill/>
        </p:spPr>
        <p:txBody>
          <a:bodyPr wrap="square">
            <a:spAutoFit/>
          </a:bodyPr>
          <a:lstStyle/>
          <a:p>
            <a:pPr>
              <a:spcAft>
                <a:spcPts val="800"/>
              </a:spcAft>
              <a:defRPr sz="1700" b="1">
                <a:solidFill>
                  <a:srgbClr val="EA580C"/>
                </a:solidFill>
                <a:latin typeface="Bebas Neue"/>
              </a:defRPr>
            </a:pPr>
            <a:r>
              <a:t>QUY LUẬT PHÂN BỐ &amp; CHIẾN LƯỢC METRIC</a:t>
            </a:r>
          </a:p>
          <a:p>
            <a:pPr>
              <a:spcAft>
                <a:spcPts val="700"/>
              </a:spcAft>
            </a:pPr>
            <a:r>
              <a:rPr sz="1150" b="1">
                <a:solidFill>
                  <a:srgbClr val="F59E0B"/>
                </a:solidFill>
                <a:latin typeface="Calibri"/>
              </a:rPr>
              <a:t>Tỷ lệ khách hàng rời bỏ (Churn): </a:t>
            </a:r>
            <a:r>
              <a:rPr sz="1150">
                <a:solidFill>
                  <a:srgbClr val="E2E8F0"/>
                </a:solidFill>
                <a:latin typeface="Calibri"/>
              </a:rPr>
              <a:t>16.07% (1,627 khách hàng đã đóng tài khoản thẻ).</a:t>
            </a:r>
          </a:p>
          <a:p>
            <a:pPr>
              <a:spcAft>
                <a:spcPts val="700"/>
              </a:spcAft>
            </a:pPr>
            <a:r>
              <a:rPr sz="1150" b="1">
                <a:solidFill>
                  <a:srgbClr val="F59E0B"/>
                </a:solidFill>
                <a:latin typeface="Calibri"/>
              </a:rPr>
              <a:t>Tỷ lệ khách hàng duy trì (Existing): </a:t>
            </a:r>
            <a:r>
              <a:rPr sz="1150">
                <a:solidFill>
                  <a:srgbClr val="E2E8F0"/>
                </a:solidFill>
                <a:latin typeface="Calibri"/>
              </a:rPr>
              <a:t>83.93% (8,500 khách hàng vẫn đang hoạt động).</a:t>
            </a:r>
          </a:p>
          <a:p>
            <a:pPr>
              <a:spcAft>
                <a:spcPts val="700"/>
              </a:spcAft>
            </a:pPr>
            <a:r>
              <a:rPr sz="1150" b="1">
                <a:solidFill>
                  <a:srgbClr val="F59E0B"/>
                </a:solidFill>
                <a:latin typeface="Calibri"/>
              </a:rPr>
              <a:t>Tỷ lệ mất cân bằng (Imbalance Ratio): </a:t>
            </a:r>
            <a:r>
              <a:rPr sz="1150">
                <a:solidFill>
                  <a:srgbClr val="E2E8F0"/>
                </a:solidFill>
                <a:latin typeface="Calibri"/>
              </a:rPr>
              <a:t>Xấp xỉ 1 : 5.22, đặt ra bài toán mất cân bằng phân loại điển hình trong ngân hàng.</a:t>
            </a:r>
          </a:p>
          <a:p>
            <a:pPr>
              <a:spcAft>
                <a:spcPts val="700"/>
              </a:spcAft>
            </a:pPr>
            <a:r>
              <a:rPr sz="1150" b="1">
                <a:solidFill>
                  <a:srgbClr val="F59E0B"/>
                </a:solidFill>
                <a:latin typeface="Calibri"/>
              </a:rPr>
              <a:t>Cạm bẫy độ chính xác (Accuracy Paradox): </a:t>
            </a:r>
            <a:r>
              <a:rPr sz="1150">
                <a:solidFill>
                  <a:srgbClr val="E2E8F0"/>
                </a:solidFill>
                <a:latin typeface="Calibri"/>
              </a:rPr>
              <a:t>Một mô hình ngây thơ dự báo toàn bộ khách hàng ở lại vẫn đạt Accuracy 83.93% nhưng thất bại hoàn toàn trong việc phát hiện rủi ro.</a:t>
            </a:r>
          </a:p>
          <a:p>
            <a:pPr>
              <a:spcAft>
                <a:spcPts val="700"/>
              </a:spcAft>
            </a:pPr>
            <a:r>
              <a:rPr sz="1150" b="1">
                <a:solidFill>
                  <a:srgbClr val="F59E0B"/>
                </a:solidFill>
                <a:latin typeface="Calibri"/>
              </a:rPr>
              <a:t>Chiến lược lựa chọn Metric: </a:t>
            </a:r>
            <a:r>
              <a:rPr sz="1150">
                <a:solidFill>
                  <a:srgbClr val="E2E8F0"/>
                </a:solidFill>
                <a:latin typeface="Calibri"/>
              </a:rPr>
              <a:t>Nghiên cứu ưu tiên tối đa chỉ số Recall (độ nhạy) cùng đường cong ROC-AUC và PR-AUC.</a:t>
            </a:r>
          </a:p>
        </p:txBody>
      </p:sp>
      <p:sp>
        <p:nvSpPr>
          <p:cNvPr id="12" name="Rounded Rectangle 11"/>
          <p:cNvSpPr/>
          <p:nvPr/>
        </p:nvSpPr>
        <p:spPr>
          <a:xfrm>
            <a:off x="10241280" y="7909560"/>
            <a:ext cx="6035040" cy="14173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defRPr sz="1100" b="1">
                <a:solidFill>
                  <a:srgbClr val="F59E0B"/>
                </a:solidFill>
                <a:latin typeface="Calibri"/>
              </a:defRPr>
            </a:pPr>
            <a:r>
              <a:t>HÀM Ý QUẢN TRỊ NGÂN HÀNG:</a:t>
            </a:r>
          </a:p>
          <a:p>
            <a:pPr>
              <a:defRPr sz="1100">
                <a:solidFill>
                  <a:srgbClr val="E2E8F0"/>
                </a:solidFill>
                <a:latin typeface="Calibri"/>
              </a:defRPr>
            </a:pPr>
            <a:r>
              <a:t>Trong bài toán mất cân bằng 1:5.22, Recall và ROC-AUC là thước đo phản ánh trung thực năng lực phát hiện rủi ro, tránh đánh giá sai lầm bằng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03: KHÁM PHÁ DỮ LIỆU &amp; PHÂN CỤM (NHÂN KHẨU HỌC)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EDA 2 — Nhân Khẩu Học: Hiện Tượng Rủi Ro Phân Hóa Hai Đầu Thu Nhập (&lt;$40K &amp; &gt;$120K)</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4809744"/>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03</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demographic_churn.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Biểu đồ phân tích thực nghiệm trích xuất từ figures/02_demographic_churn.png</a:t>
            </a:r>
          </a:p>
        </p:txBody>
      </p:sp>
      <p:sp>
        <p:nvSpPr>
          <p:cNvPr id="10" name="Rounded Rectangle 9"/>
          <p:cNvSpPr/>
          <p:nvPr/>
        </p:nvSpPr>
        <p:spPr>
          <a:xfrm>
            <a:off x="10058400" y="2194560"/>
            <a:ext cx="640080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5120640"/>
          </a:xfrm>
          <a:prstGeom prst="rect">
            <a:avLst/>
          </a:prstGeom>
          <a:noFill/>
        </p:spPr>
        <p:txBody>
          <a:bodyPr wrap="square">
            <a:spAutoFit/>
          </a:bodyPr>
          <a:lstStyle/>
          <a:p>
            <a:pPr>
              <a:spcAft>
                <a:spcPts val="800"/>
              </a:spcAft>
              <a:defRPr sz="1700" b="1">
                <a:solidFill>
                  <a:srgbClr val="EA580C"/>
                </a:solidFill>
                <a:latin typeface="Bebas Neue"/>
              </a:defRPr>
            </a:pPr>
            <a:r>
              <a:t>PHÂN TÍCH THEO CÁC BIẾN SỐ NHÂN KHẨU HỌC</a:t>
            </a:r>
          </a:p>
          <a:p>
            <a:pPr>
              <a:spcAft>
                <a:spcPts val="700"/>
              </a:spcAft>
            </a:pPr>
            <a:r>
              <a:rPr sz="1150" b="1">
                <a:solidFill>
                  <a:srgbClr val="F59E0B"/>
                </a:solidFill>
                <a:latin typeface="Calibri"/>
              </a:rPr>
              <a:t>Khác biệt theo giới tính: </a:t>
            </a:r>
            <a:r>
              <a:rPr sz="1150">
                <a:solidFill>
                  <a:srgbClr val="E2E8F0"/>
                </a:solidFill>
                <a:latin typeface="Calibri"/>
              </a:rPr>
              <a:t>Khách hàng Nữ có tỷ lệ rời bỏ 17.36%, cao hơn Nam giới (14.62%), phản ánh sự nhạy cảm cao với các chương trình tích điểm mua sắm.</a:t>
            </a:r>
          </a:p>
          <a:p>
            <a:pPr>
              <a:spcAft>
                <a:spcPts val="700"/>
              </a:spcAft>
            </a:pPr>
            <a:r>
              <a:rPr sz="1150" b="1">
                <a:solidFill>
                  <a:srgbClr val="F59E0B"/>
                </a:solidFill>
                <a:latin typeface="Calibri"/>
              </a:rPr>
              <a:t>Độ tuổi tập trung rủi ro: </a:t>
            </a:r>
            <a:r>
              <a:rPr sz="1150">
                <a:solidFill>
                  <a:srgbClr val="E2E8F0"/>
                </a:solidFill>
                <a:latin typeface="Calibri"/>
              </a:rPr>
              <a:t>Khách hàng trong độ tuổi 40 - 50 tuổi (trung bình 46.3 tuổi) có xu hướng thay đổi nhà cung cấp dịch vụ thẻ cao nhất.</a:t>
            </a:r>
          </a:p>
          <a:p>
            <a:pPr>
              <a:spcAft>
                <a:spcPts val="700"/>
              </a:spcAft>
            </a:pPr>
            <a:r>
              <a:rPr sz="1150" b="1">
                <a:solidFill>
                  <a:srgbClr val="F59E0B"/>
                </a:solidFill>
                <a:latin typeface="Calibri"/>
              </a:rPr>
              <a:t>HIỆN TƯỢNG PHÂN HÓA 2 ĐẦU THU NHẬP: </a:t>
            </a:r>
            <a:r>
              <a:rPr sz="1150">
                <a:solidFill>
                  <a:srgbClr val="E2E8F0"/>
                </a:solidFill>
                <a:latin typeface="Calibri"/>
              </a:rPr>
              <a:t>Tỷ lệ Churn tăng vọt ở 2 phân khúc: Dưới $40K (17.19% - nhạy cảm phí thường niên) và Trên $120K (17.33% - nhạy cảm đặc quyền thẻ VIP).</a:t>
            </a:r>
          </a:p>
          <a:p>
            <a:pPr>
              <a:spcAft>
                <a:spcPts val="700"/>
              </a:spcAft>
            </a:pPr>
            <a:r>
              <a:rPr sz="1150" b="1">
                <a:solidFill>
                  <a:srgbClr val="F59E0B"/>
                </a:solidFill>
                <a:latin typeface="Calibri"/>
              </a:rPr>
              <a:t>Nhóm thu nhập trung bình ổn định: </a:t>
            </a:r>
            <a:r>
              <a:rPr sz="1150">
                <a:solidFill>
                  <a:srgbClr val="E2E8F0"/>
                </a:solidFill>
                <a:latin typeface="Calibri"/>
              </a:rPr>
              <a:t>Phân khúc thu nhập $60K - $80K có tỷ lệ rời bỏ thấp nhất (chỉ 13.48%).</a:t>
            </a:r>
          </a:p>
          <a:p>
            <a:pPr>
              <a:spcAft>
                <a:spcPts val="700"/>
              </a:spcAft>
            </a:pPr>
            <a:r>
              <a:rPr sz="1150" b="1">
                <a:solidFill>
                  <a:srgbClr val="F59E0B"/>
                </a:solidFill>
                <a:latin typeface="Calibri"/>
              </a:rPr>
              <a:t>Quy mô người phụ thuộc: </a:t>
            </a:r>
            <a:r>
              <a:rPr sz="1150">
                <a:solidFill>
                  <a:srgbClr val="E2E8F0"/>
                </a:solidFill>
                <a:latin typeface="Calibri"/>
              </a:rPr>
              <a:t>Khách hàng có 2 - 3 người phụ thuộc có tỷ lệ rời bỏ cao hơn, tương quan với áp lực chi tiêu gia đình.</a:t>
            </a:r>
          </a:p>
        </p:txBody>
      </p:sp>
      <p:sp>
        <p:nvSpPr>
          <p:cNvPr id="12" name="Rounded Rectangle 11"/>
          <p:cNvSpPr/>
          <p:nvPr/>
        </p:nvSpPr>
        <p:spPr>
          <a:xfrm>
            <a:off x="10241280" y="7909560"/>
            <a:ext cx="6035040" cy="14173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defRPr sz="1100" b="1">
                <a:solidFill>
                  <a:srgbClr val="F59E0B"/>
                </a:solidFill>
                <a:latin typeface="Calibri"/>
              </a:defRPr>
            </a:pPr>
            <a:r>
              <a:t>HÀM Ý QUẢN TRỊ NGÂN HÀNG:</a:t>
            </a:r>
          </a:p>
          <a:p>
            <a:pPr>
              <a:defRPr sz="1100">
                <a:solidFill>
                  <a:srgbClr val="E2E8F0"/>
                </a:solidFill>
                <a:latin typeface="Calibri"/>
              </a:defRPr>
            </a:pPr>
            <a:r>
              <a:t>Ngân hàng cần áp dụng chính sách khác biệt hóa: Hỗ trợ miễn giảm phí thường niên cho nhóm thu nhập thấp, đồng thời nâng cấp đặc quyền phòng chờ/golf cho nhóm VIP.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03: KHÁM PHÁ DỮ LIỆU &amp; PHÂN CỤM (HÀNH VI GIAO DỊCH)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EDA 3 — Hành Vi Giao Dịch: Vùng Báo Động Đỏ Dưới 55 Lần Quẹt Thẻ &amp; Dưới $3,000 USD</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4809744"/>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03</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_transaction_behavior_churn.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Biểu đồ phân tích thực nghiệm trích xuất từ figures/03_transaction_behavior_churn.png</a:t>
            </a:r>
          </a:p>
        </p:txBody>
      </p:sp>
      <p:sp>
        <p:nvSpPr>
          <p:cNvPr id="10" name="Rounded Rectangle 9"/>
          <p:cNvSpPr/>
          <p:nvPr/>
        </p:nvSpPr>
        <p:spPr>
          <a:xfrm>
            <a:off x="10058400" y="2194560"/>
            <a:ext cx="640080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5120640"/>
          </a:xfrm>
          <a:prstGeom prst="rect">
            <a:avLst/>
          </a:prstGeom>
          <a:noFill/>
        </p:spPr>
        <p:txBody>
          <a:bodyPr wrap="square">
            <a:spAutoFit/>
          </a:bodyPr>
          <a:lstStyle/>
          <a:p>
            <a:pPr>
              <a:spcAft>
                <a:spcPts val="800"/>
              </a:spcAft>
              <a:defRPr sz="1700" b="1">
                <a:solidFill>
                  <a:srgbClr val="EA580C"/>
                </a:solidFill>
                <a:latin typeface="Bebas Neue"/>
              </a:defRPr>
            </a:pPr>
            <a:r>
              <a:t>QUY LUẬT PHÂN BỔ TẦN SUẤT &amp; DOANH SỐ</a:t>
            </a:r>
          </a:p>
          <a:p>
            <a:pPr>
              <a:spcAft>
                <a:spcPts val="700"/>
              </a:spcAft>
            </a:pPr>
            <a:r>
              <a:rPr sz="1150" b="1">
                <a:solidFill>
                  <a:srgbClr val="F59E0B"/>
                </a:solidFill>
                <a:latin typeface="Calibri"/>
              </a:rPr>
              <a:t>Tần suất quẹt thẻ bình quân (Total_Trans_Ct): </a:t>
            </a:r>
            <a:r>
              <a:rPr sz="1150">
                <a:solidFill>
                  <a:srgbClr val="E2E8F0"/>
                </a:solidFill>
                <a:latin typeface="Calibri"/>
              </a:rPr>
              <a:t>Khách hàng rời bỏ chỉ thực hiện trung bình 44.9 lần/năm, sụt giảm 34.6% so với khách hàng ở lại (68.7 lần).</a:t>
            </a:r>
          </a:p>
          <a:p>
            <a:pPr>
              <a:spcAft>
                <a:spcPts val="700"/>
              </a:spcAft>
            </a:pPr>
            <a:r>
              <a:rPr sz="1150" b="1">
                <a:solidFill>
                  <a:srgbClr val="F59E0B"/>
                </a:solidFill>
                <a:latin typeface="Calibri"/>
              </a:rPr>
              <a:t>VÙNG BÁO ĐỘNG ĐỎ VỀ HÀNH VI: </a:t>
            </a:r>
            <a:r>
              <a:rPr sz="1150">
                <a:solidFill>
                  <a:srgbClr val="E2E8F0"/>
                </a:solidFill>
                <a:latin typeface="Calibri"/>
              </a:rPr>
              <a:t>Khi tần suất quẹt thẻ giảm xuống dưới 55 lần/năm (dưới 4.5 lần/tháng) và chi tiêu dưới $3,000 USD, xác suất rời bỏ tăng vọt lên trên 60%.</a:t>
            </a:r>
          </a:p>
          <a:p>
            <a:pPr>
              <a:spcAft>
                <a:spcPts val="700"/>
              </a:spcAft>
            </a:pPr>
            <a:r>
              <a:rPr sz="1150" b="1">
                <a:solidFill>
                  <a:srgbClr val="F59E0B"/>
                </a:solidFill>
                <a:latin typeface="Calibri"/>
              </a:rPr>
              <a:t>Quy mô chi tiêu bình quân (Total_Trans_Amt): </a:t>
            </a:r>
            <a:r>
              <a:rPr sz="1150">
                <a:solidFill>
                  <a:srgbClr val="E2E8F0"/>
                </a:solidFill>
                <a:latin typeface="Calibri"/>
              </a:rPr>
              <a:t>Khách hàng rời bỏ chi tiêu trung bình $3,095 USD/năm so với $4,654 USD của nhóm duy trì.</a:t>
            </a:r>
          </a:p>
          <a:p>
            <a:pPr>
              <a:spcAft>
                <a:spcPts val="700"/>
              </a:spcAft>
            </a:pPr>
            <a:r>
              <a:rPr sz="1150" b="1">
                <a:solidFill>
                  <a:srgbClr val="F59E0B"/>
                </a:solidFill>
                <a:latin typeface="Calibri"/>
              </a:rPr>
              <a:t>Đặc trưng phân bố mật độ: </a:t>
            </a:r>
            <a:r>
              <a:rPr sz="1150">
                <a:solidFill>
                  <a:srgbClr val="E2E8F0"/>
                </a:solidFill>
                <a:latin typeface="Calibri"/>
              </a:rPr>
              <a:t>Biểu đồ phân tán chỉ ra một cụm khách hàng rời bỏ tập trung dày đặc ở góc dưới bên trái của không gian giao dịch.</a:t>
            </a:r>
          </a:p>
          <a:p>
            <a:pPr>
              <a:spcAft>
                <a:spcPts val="700"/>
              </a:spcAft>
            </a:pPr>
            <a:r>
              <a:rPr sz="1150" b="1">
                <a:solidFill>
                  <a:srgbClr val="F59E0B"/>
                </a:solidFill>
                <a:latin typeface="Calibri"/>
              </a:rPr>
              <a:t>Bản chất hoạt động: </a:t>
            </a:r>
            <a:r>
              <a:rPr sz="1150">
                <a:solidFill>
                  <a:srgbClr val="E2E8F0"/>
                </a:solidFill>
                <a:latin typeface="Calibri"/>
              </a:rPr>
              <a:t>Tần suất quẹt thẻ chính là 'nhịp tim' phản ánh mức độ gắn kết thường nhật của chủ thẻ.</a:t>
            </a:r>
          </a:p>
        </p:txBody>
      </p:sp>
      <p:sp>
        <p:nvSpPr>
          <p:cNvPr id="12" name="Rounded Rectangle 11"/>
          <p:cNvSpPr/>
          <p:nvPr/>
        </p:nvSpPr>
        <p:spPr>
          <a:xfrm>
            <a:off x="10241280" y="7909560"/>
            <a:ext cx="6035040" cy="14173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defRPr sz="1100" b="1">
                <a:solidFill>
                  <a:srgbClr val="F59E0B"/>
                </a:solidFill>
                <a:latin typeface="Calibri"/>
              </a:defRPr>
            </a:pPr>
            <a:r>
              <a:t>HÀM Ý QUẢN TRỊ NGÂN HÀNG:</a:t>
            </a:r>
          </a:p>
          <a:p>
            <a:pPr>
              <a:defRPr sz="1100">
                <a:solidFill>
                  <a:srgbClr val="E2E8F0"/>
                </a:solidFill>
                <a:latin typeface="Calibri"/>
              </a:defRPr>
            </a:pPr>
            <a:r>
              <a:t>Tần suất giao dịch là chỉ báo sống còn: sụt giảm dưới ngưỡng 55 lần/năm là điều kiện tiên quyết kích hoạt thông báo chăm sóc và tặng voucher kích cầu tức thì.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03: KHÁM PHÁ DỮ LIỆU &amp; PHÂN CỤM (CHỈ SỐ TÀI CHÍNH)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EDA 4 — Chỉ Số Tài Chính: Hiện Tượng Rút Lui Lặng Lẽ (55% Khách Churn Đưa Dư Nợ Về $0)</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4809744"/>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03</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4_financial_ratios_churn.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Biểu đồ phân tích thực nghiệm trích xuất từ figures/04_financial_ratios_churn.png</a:t>
            </a:r>
          </a:p>
        </p:txBody>
      </p:sp>
      <p:sp>
        <p:nvSpPr>
          <p:cNvPr id="10" name="Rounded Rectangle 9"/>
          <p:cNvSpPr/>
          <p:nvPr/>
        </p:nvSpPr>
        <p:spPr>
          <a:xfrm>
            <a:off x="10058400" y="2194560"/>
            <a:ext cx="640080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5120640"/>
          </a:xfrm>
          <a:prstGeom prst="rect">
            <a:avLst/>
          </a:prstGeom>
          <a:noFill/>
        </p:spPr>
        <p:txBody>
          <a:bodyPr wrap="square">
            <a:spAutoFit/>
          </a:bodyPr>
          <a:lstStyle/>
          <a:p>
            <a:pPr>
              <a:spcAft>
                <a:spcPts val="800"/>
              </a:spcAft>
              <a:defRPr sz="1700" b="1">
                <a:solidFill>
                  <a:srgbClr val="EA580C"/>
                </a:solidFill>
                <a:latin typeface="Bebas Neue"/>
              </a:defRPr>
            </a:pPr>
            <a:r>
              <a:t>TÍN HIỆU BIẾN ĐỘNG DƯ NỢ &amp; HẠN MỨC</a:t>
            </a:r>
          </a:p>
          <a:p>
            <a:pPr>
              <a:spcAft>
                <a:spcPts val="700"/>
              </a:spcAft>
            </a:pPr>
            <a:r>
              <a:rPr sz="1150" b="1">
                <a:solidFill>
                  <a:srgbClr val="F59E0B"/>
                </a:solidFill>
                <a:latin typeface="Calibri"/>
              </a:rPr>
              <a:t>Dư nợ quay vòng bình quân (Total_Revolving_Bal): </a:t>
            </a:r>
            <a:r>
              <a:rPr sz="1150">
                <a:solidFill>
                  <a:srgbClr val="E2E8F0"/>
                </a:solidFill>
                <a:latin typeface="Calibri"/>
              </a:rPr>
              <a:t>Khách hàng rời bỏ có dư nợ bình quân chỉ $672 USD, thấp hơn một nửa so với mức $1,256 USD của nhóm ở lại.</a:t>
            </a:r>
          </a:p>
          <a:p>
            <a:pPr>
              <a:spcAft>
                <a:spcPts val="700"/>
              </a:spcAft>
            </a:pPr>
            <a:r>
              <a:rPr sz="1150" b="1">
                <a:solidFill>
                  <a:srgbClr val="F59E0B"/>
                </a:solidFill>
                <a:latin typeface="Calibri"/>
              </a:rPr>
              <a:t>HIỆN TƯỢNG RÚT LUI LẶNG LẼ (SILENT CHURN): </a:t>
            </a:r>
            <a:r>
              <a:rPr sz="1150">
                <a:solidFill>
                  <a:srgbClr val="E2E8F0"/>
                </a:solidFill>
                <a:latin typeface="Calibri"/>
              </a:rPr>
              <a:t>Gần 55% khách hàng rời bỏ đã chủ động thanh toán hết toàn bộ nợ về 0 USD trước khi yêu cầu đóng thẻ.</a:t>
            </a:r>
          </a:p>
          <a:p>
            <a:pPr>
              <a:spcAft>
                <a:spcPts val="700"/>
              </a:spcAft>
            </a:pPr>
            <a:r>
              <a:rPr sz="1150" b="1">
                <a:solidFill>
                  <a:srgbClr val="F59E0B"/>
                </a:solidFill>
                <a:latin typeface="Calibri"/>
              </a:rPr>
              <a:t>Tỷ lệ sử dụng hạn mức tín dụng: </a:t>
            </a:r>
            <a:r>
              <a:rPr sz="1150">
                <a:solidFill>
                  <a:srgbClr val="E2E8F0"/>
                </a:solidFill>
                <a:latin typeface="Calibri"/>
              </a:rPr>
              <a:t>Khách hàng rời bỏ chỉ sử dụng trung bình 16.2% hạn mức được cấp, so với 29.6% ở nhóm khách hàng hoạt động tích cực.</a:t>
            </a:r>
          </a:p>
          <a:p>
            <a:pPr>
              <a:spcAft>
                <a:spcPts val="700"/>
              </a:spcAft>
            </a:pPr>
            <a:r>
              <a:rPr sz="1150" b="1">
                <a:solidFill>
                  <a:srgbClr val="F59E0B"/>
                </a:solidFill>
                <a:latin typeface="Calibri"/>
              </a:rPr>
              <a:t>Mức độ sụt giảm giao dịch Q4/Q1: </a:t>
            </a:r>
            <a:r>
              <a:rPr sz="1150">
                <a:solidFill>
                  <a:srgbClr val="E2E8F0"/>
                </a:solidFill>
                <a:latin typeface="Calibri"/>
              </a:rPr>
              <a:t>Chỉ số biến thiên giao dịch Q4 so với Q1 sụt giảm tới 45% ở nhóm rời bỏ.</a:t>
            </a:r>
          </a:p>
          <a:p>
            <a:pPr>
              <a:spcAft>
                <a:spcPts val="700"/>
              </a:spcAft>
            </a:pPr>
            <a:r>
              <a:rPr sz="1150" b="1">
                <a:solidFill>
                  <a:srgbClr val="F59E0B"/>
                </a:solidFill>
                <a:latin typeface="Calibri"/>
              </a:rPr>
              <a:t>Dấu hiệu nhận diện sớm: </a:t>
            </a:r>
            <a:r>
              <a:rPr sz="1150">
                <a:solidFill>
                  <a:srgbClr val="E2E8F0"/>
                </a:solidFill>
                <a:latin typeface="Calibri"/>
              </a:rPr>
              <a:t>Tất toán dư nợ và không phát sinh nợ quay vòng là tín hiệu báo trước việc đóng thẻ trong vòng 30 - 60 ngày tới.</a:t>
            </a:r>
          </a:p>
        </p:txBody>
      </p:sp>
      <p:sp>
        <p:nvSpPr>
          <p:cNvPr id="12" name="Rounded Rectangle 11"/>
          <p:cNvSpPr/>
          <p:nvPr/>
        </p:nvSpPr>
        <p:spPr>
          <a:xfrm>
            <a:off x="10241280" y="7909560"/>
            <a:ext cx="6035040" cy="14173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defRPr sz="1100" b="1">
                <a:solidFill>
                  <a:srgbClr val="F59E0B"/>
                </a:solidFill>
                <a:latin typeface="Calibri"/>
              </a:defRPr>
            </a:pPr>
            <a:r>
              <a:t>HÀM Ý QUẢN TRỊ NGÂN HÀNG:</a:t>
            </a:r>
          </a:p>
          <a:p>
            <a:pPr>
              <a:defRPr sz="1100">
                <a:solidFill>
                  <a:srgbClr val="E2E8F0"/>
                </a:solidFill>
                <a:latin typeface="Calibri"/>
              </a:defRPr>
            </a:pPr>
            <a:r>
              <a:t>Hành vi trả hết nợ về 0 USD kết hợp giảm tỷ lệ sử dụng hạn mức là 'tín hiệu vàng' giúp EWS can thiệp sớm ngay trước khi khách hàng ra quyết định đóng thẻ.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03: KHÁM PHÁ DỮ LIỆU &amp; PHÂN CỤM (CHĂM SÓC KHÁCH HÀNG)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EDA 5 — Tương Tác CSKH: Ngưỡng Báo Động Đột Biến Khi Khách Hàng Gọi Điện Lần Thứ 3</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4809744"/>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03</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_interaction_decay_churn.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Biểu đồ phân tích thực nghiệm trích xuất từ figures/05_interaction_decay_churn.png</a:t>
            </a:r>
          </a:p>
        </p:txBody>
      </p:sp>
      <p:sp>
        <p:nvSpPr>
          <p:cNvPr id="10" name="Rounded Rectangle 9"/>
          <p:cNvSpPr/>
          <p:nvPr/>
        </p:nvSpPr>
        <p:spPr>
          <a:xfrm>
            <a:off x="10058400" y="2194560"/>
            <a:ext cx="640080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5120640"/>
          </a:xfrm>
          <a:prstGeom prst="rect">
            <a:avLst/>
          </a:prstGeom>
          <a:noFill/>
        </p:spPr>
        <p:txBody>
          <a:bodyPr wrap="square">
            <a:spAutoFit/>
          </a:bodyPr>
          <a:lstStyle/>
          <a:p>
            <a:pPr>
              <a:spcAft>
                <a:spcPts val="800"/>
              </a:spcAft>
              <a:defRPr sz="1700" b="1">
                <a:solidFill>
                  <a:srgbClr val="EA580C"/>
                </a:solidFill>
                <a:latin typeface="Bebas Neue"/>
              </a:defRPr>
            </a:pPr>
            <a:r>
              <a:t>TƯƠNG QUAN TẦN SUẤT LIÊN HỆ TỔNG ĐÀI CSKH</a:t>
            </a:r>
          </a:p>
          <a:p>
            <a:pPr>
              <a:spcAft>
                <a:spcPts val="700"/>
              </a:spcAft>
            </a:pPr>
            <a:r>
              <a:rPr sz="1150" b="1">
                <a:solidFill>
                  <a:srgbClr val="F59E0B"/>
                </a:solidFill>
                <a:latin typeface="Calibri"/>
              </a:rPr>
              <a:t>Tương quan với số cuộc gọi CSKH: </a:t>
            </a:r>
            <a:r>
              <a:rPr sz="1150">
                <a:solidFill>
                  <a:srgbClr val="E2E8F0"/>
                </a:solidFill>
                <a:latin typeface="Calibri"/>
              </a:rPr>
              <a:t>Khách hàng gọi tổng đài 1 - 2 lần có tỷ lệ rời bỏ bình thường (~14%). Nhưng khi gọi đến lần 3, tỷ lệ Churn tăng gấp đôi lên 28.6%.</a:t>
            </a:r>
          </a:p>
          <a:p>
            <a:pPr>
              <a:spcAft>
                <a:spcPts val="700"/>
              </a:spcAft>
            </a:pPr>
            <a:r>
              <a:rPr sz="1150" b="1">
                <a:solidFill>
                  <a:srgbClr val="F59E0B"/>
                </a:solidFill>
                <a:latin typeface="Calibri"/>
              </a:rPr>
              <a:t>NGƯỠNG BÙNG PHÁT NGUY CƠ: </a:t>
            </a:r>
            <a:r>
              <a:rPr sz="1150">
                <a:solidFill>
                  <a:srgbClr val="E2E8F0"/>
                </a:solidFill>
                <a:latin typeface="Calibri"/>
              </a:rPr>
              <a:t>Gọi 4 lần: tỷ lệ Churn tăng vọt lên 52.4%; Gọi 6 lần: tỷ lệ rời bỏ đạt tuyệt đối 100%.</a:t>
            </a:r>
          </a:p>
          <a:p>
            <a:pPr>
              <a:spcAft>
                <a:spcPts val="700"/>
              </a:spcAft>
            </a:pPr>
            <a:r>
              <a:rPr sz="1150" b="1">
                <a:solidFill>
                  <a:srgbClr val="F59E0B"/>
                </a:solidFill>
                <a:latin typeface="Calibri"/>
              </a:rPr>
              <a:t>Bản chất nghiệp vụ: </a:t>
            </a:r>
            <a:r>
              <a:rPr sz="1150">
                <a:solidFill>
                  <a:srgbClr val="E2E8F0"/>
                </a:solidFill>
                <a:latin typeface="Calibri"/>
              </a:rPr>
              <a:t>Phản ánh thất bại trong chỉ tiêu First-Contact Resolution (FCR) — các sự cố tra soát hoặc khiếu nại biểu phí không được xử lý dứt điểm.</a:t>
            </a:r>
          </a:p>
          <a:p>
            <a:pPr>
              <a:spcAft>
                <a:spcPts val="700"/>
              </a:spcAft>
            </a:pPr>
            <a:r>
              <a:rPr sz="1150" b="1">
                <a:solidFill>
                  <a:srgbClr val="F59E0B"/>
                </a:solidFill>
                <a:latin typeface="Calibri"/>
              </a:rPr>
              <a:t>Thời gian ngủ đông (Months_Inactive): </a:t>
            </a:r>
            <a:r>
              <a:rPr sz="1150">
                <a:solidFill>
                  <a:srgbClr val="E2E8F0"/>
                </a:solidFill>
                <a:latin typeface="Calibri"/>
              </a:rPr>
              <a:t>Khách hàng không phát sinh giao dịch từ 3 tháng trở lên trong năm có nguy cơ rời bỏ cao gấp 2.5 lần.</a:t>
            </a:r>
          </a:p>
          <a:p>
            <a:pPr>
              <a:spcAft>
                <a:spcPts val="700"/>
              </a:spcAft>
            </a:pPr>
            <a:r>
              <a:rPr sz="1150" b="1">
                <a:solidFill>
                  <a:srgbClr val="F59E0B"/>
                </a:solidFill>
                <a:latin typeface="Calibri"/>
              </a:rPr>
              <a:t>Khuyến nghị phân luồng vận hành: </a:t>
            </a:r>
            <a:r>
              <a:rPr sz="1150">
                <a:solidFill>
                  <a:srgbClr val="E2E8F0"/>
                </a:solidFill>
                <a:latin typeface="Calibri"/>
              </a:rPr>
              <a:t>Cần tự động chuyển tiếp cuộc gọi sang chuyên viên cấp cao ngay khi khách hàng bấm máy gọi lần thứ 3.</a:t>
            </a:r>
          </a:p>
        </p:txBody>
      </p:sp>
      <p:sp>
        <p:nvSpPr>
          <p:cNvPr id="12" name="Rounded Rectangle 11"/>
          <p:cNvSpPr/>
          <p:nvPr/>
        </p:nvSpPr>
        <p:spPr>
          <a:xfrm>
            <a:off x="10241280" y="7909560"/>
            <a:ext cx="6035040" cy="14173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defRPr sz="1100" b="1">
                <a:solidFill>
                  <a:srgbClr val="F59E0B"/>
                </a:solidFill>
                <a:latin typeface="Calibri"/>
              </a:defRPr>
            </a:pPr>
            <a:r>
              <a:t>HÀM Ý QUẢN TRỊ NGÂN HÀNG:</a:t>
            </a:r>
          </a:p>
          <a:p>
            <a:pPr>
              <a:defRPr sz="1100">
                <a:solidFill>
                  <a:srgbClr val="E2E8F0"/>
                </a:solidFill>
                <a:latin typeface="Calibri"/>
              </a:defRPr>
            </a:pPr>
            <a:r>
              <a:t>Nâng cao chỉ số First-Contact Resolution (FCR &gt; 85%) và cài đặt Trigger phân luồng CSKH ưu tiên từ cuộc gọi thứ 3 là giải pháp chặn đứng nguy cơ bùng phát Churn.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03: KHÁM PHÁ DỮ LIỆU &amp; PHÂN CỤM (HỆ SINH THÁI SẢN PHẨM)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EDA 6 — Hệ Sinh Thái Sản Phẩm: Hiệu Ứng Khóa Chân Hạ Tỷ Lệ Rời Bỏ Xuống Dưới 10%</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4809744"/>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03</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8_relationship_and_card.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Biểu đồ phân tích thực nghiệm trích xuất từ figures/08_relationship_and_card.png</a:t>
            </a:r>
          </a:p>
        </p:txBody>
      </p:sp>
      <p:sp>
        <p:nvSpPr>
          <p:cNvPr id="10" name="Rounded Rectangle 9"/>
          <p:cNvSpPr/>
          <p:nvPr/>
        </p:nvSpPr>
        <p:spPr>
          <a:xfrm>
            <a:off x="10058400" y="2194560"/>
            <a:ext cx="640080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5120640"/>
          </a:xfrm>
          <a:prstGeom prst="rect">
            <a:avLst/>
          </a:prstGeom>
          <a:noFill/>
        </p:spPr>
        <p:txBody>
          <a:bodyPr wrap="square">
            <a:spAutoFit/>
          </a:bodyPr>
          <a:lstStyle/>
          <a:p>
            <a:pPr>
              <a:spcAft>
                <a:spcPts val="800"/>
              </a:spcAft>
              <a:defRPr sz="1700" b="1">
                <a:solidFill>
                  <a:srgbClr val="EA580C"/>
                </a:solidFill>
                <a:latin typeface="Bebas Neue"/>
              </a:defRPr>
            </a:pPr>
            <a:r>
              <a:t>QUY MÔ SẢN PHẨM &amp; RÀO CẢN CHUYỂN ĐỔI</a:t>
            </a:r>
          </a:p>
          <a:p>
            <a:pPr>
              <a:spcAft>
                <a:spcPts val="700"/>
              </a:spcAft>
            </a:pPr>
            <a:r>
              <a:rPr sz="1150" b="1">
                <a:solidFill>
                  <a:srgbClr val="F59E0B"/>
                </a:solidFill>
                <a:latin typeface="Calibri"/>
              </a:rPr>
              <a:t>Quan hệ sản phẩm đơn lẻ (1 - 2 sản phẩm): </a:t>
            </a:r>
            <a:r>
              <a:rPr sz="1150">
                <a:solidFill>
                  <a:srgbClr val="E2E8F0"/>
                </a:solidFill>
                <a:latin typeface="Calibri"/>
              </a:rPr>
              <a:t>Khách hàng chỉ sử dụng 1 đến 2 sản phẩm có tỷ lệ rời bỏ lên tới 25.4% do chi phí chuyển đổi (Switching Cost) gần như bằng 0.</a:t>
            </a:r>
          </a:p>
          <a:p>
            <a:pPr>
              <a:spcAft>
                <a:spcPts val="700"/>
              </a:spcAft>
            </a:pPr>
            <a:r>
              <a:rPr sz="1150" b="1">
                <a:solidFill>
                  <a:srgbClr val="F59E0B"/>
                </a:solidFill>
                <a:latin typeface="Calibri"/>
              </a:rPr>
              <a:t>HIỆU ỨNG KHÓA CHÂN (LOCK-IN EFFECT): </a:t>
            </a:r>
            <a:r>
              <a:rPr sz="1150">
                <a:solidFill>
                  <a:srgbClr val="E2E8F0"/>
                </a:solidFill>
                <a:latin typeface="Calibri"/>
              </a:rPr>
              <a:t>Khi khách hàng liên kết từ 4 đến 6 sản phẩm ngân hàng, tỷ lệ rời bỏ giảm mạnh xuống mức 9.8% - 12.5%.</a:t>
            </a:r>
          </a:p>
          <a:p>
            <a:pPr>
              <a:spcAft>
                <a:spcPts val="700"/>
              </a:spcAft>
            </a:pPr>
            <a:r>
              <a:rPr sz="1150" b="1">
                <a:solidFill>
                  <a:srgbClr val="F59E0B"/>
                </a:solidFill>
                <a:latin typeface="Calibri"/>
              </a:rPr>
              <a:t>Cơ cấu danh mục theo hạng thẻ: </a:t>
            </a:r>
            <a:r>
              <a:rPr sz="1150">
                <a:solidFill>
                  <a:srgbClr val="E2E8F0"/>
                </a:solidFill>
                <a:latin typeface="Calibri"/>
              </a:rPr>
              <a:t>Thẻ Blue chiếm 93.2% danh mục; các dòng thẻ cao cấp Silver/Gold/Platinum có tỷ lệ Churn cao hơn do kỳ vọng dịch vụ khắt khe.</a:t>
            </a:r>
          </a:p>
          <a:p>
            <a:pPr>
              <a:spcAft>
                <a:spcPts val="700"/>
              </a:spcAft>
            </a:pPr>
            <a:r>
              <a:rPr sz="1150" b="1">
                <a:solidFill>
                  <a:srgbClr val="F59E0B"/>
                </a:solidFill>
                <a:latin typeface="Calibri"/>
              </a:rPr>
              <a:t>Hàm ý chiến lược Bán chéo (Cross-selling): </a:t>
            </a:r>
            <a:r>
              <a:rPr sz="1150">
                <a:solidFill>
                  <a:srgbClr val="E2E8F0"/>
                </a:solidFill>
                <a:latin typeface="Calibri"/>
              </a:rPr>
              <a:t>Khuyến nghị liên kết thẻ tín dụng với tài khoản nhận lương, tiền gửi tiết kiệm và ứng dụng Mobile Banking.</a:t>
            </a:r>
          </a:p>
          <a:p>
            <a:pPr>
              <a:spcAft>
                <a:spcPts val="700"/>
              </a:spcAft>
            </a:pPr>
            <a:r>
              <a:rPr sz="1150" b="1">
                <a:solidFill>
                  <a:srgbClr val="F59E0B"/>
                </a:solidFill>
                <a:latin typeface="Calibri"/>
              </a:rPr>
              <a:t>Rào cản tự nhiên: </a:t>
            </a:r>
            <a:r>
              <a:rPr sz="1150">
                <a:solidFill>
                  <a:srgbClr val="E2E8F0"/>
                </a:solidFill>
                <a:latin typeface="Calibri"/>
              </a:rPr>
              <a:t>Càng nhiều điểm chạm dịch vụ, khách hàng càng ngại thay đổi ngân hàng giao dịch chính.</a:t>
            </a:r>
          </a:p>
        </p:txBody>
      </p:sp>
      <p:sp>
        <p:nvSpPr>
          <p:cNvPr id="12" name="Rounded Rectangle 11"/>
          <p:cNvSpPr/>
          <p:nvPr/>
        </p:nvSpPr>
        <p:spPr>
          <a:xfrm>
            <a:off x="10241280" y="7909560"/>
            <a:ext cx="6035040" cy="14173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defRPr sz="1100" b="1">
                <a:solidFill>
                  <a:srgbClr val="F59E0B"/>
                </a:solidFill>
                <a:latin typeface="Calibri"/>
              </a:defRPr>
            </a:pPr>
            <a:r>
              <a:t>HÀM Ý QUẢN TRỊ NGÂN HÀNG:</a:t>
            </a:r>
          </a:p>
          <a:p>
            <a:pPr>
              <a:defRPr sz="1100">
                <a:solidFill>
                  <a:srgbClr val="E2E8F0"/>
                </a:solidFill>
                <a:latin typeface="Calibri"/>
              </a:defRPr>
            </a:pPr>
            <a:r>
              <a:t>Xây dựng các gói sản phẩm tích hợp (Combo Thẻ - Lương - Tiết kiệm) là chiến lược kiến tạo rào cản chuyển đổi tự nhiên bền vững nhất cho ngân hàng thương mại.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03: KHÁM PHÁ DỮ LIỆU &amp; PHÂN CỤM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Phân Cụm Hành Vi: Thực Nghiệm K-Means &amp; PCA Xác Lập 4 Phân Khúc Khách Hàng</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4809744"/>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03</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0_kmeans_clusters_pca.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Trực quan hóa không gian phân cụm K-Means qua 2 thành phần chính PCA (figures/10_kmeans_clusters_pca.png)</a:t>
            </a:r>
          </a:p>
        </p:txBody>
      </p:sp>
      <p:sp>
        <p:nvSpPr>
          <p:cNvPr id="10" name="Rounded Rectangle 9"/>
          <p:cNvSpPr/>
          <p:nvPr/>
        </p:nvSpPr>
        <p:spPr>
          <a:xfrm>
            <a:off x="10058400" y="2194560"/>
            <a:ext cx="6400800" cy="7315200"/>
          </a:xfrm>
          <a:prstGeom prst="roundRect">
            <a:avLst/>
          </a:prstGeom>
          <a:solidFill>
            <a:srgbClr val="181C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6858000"/>
          </a:xfrm>
          <a:prstGeom prst="rect">
            <a:avLst/>
          </a:prstGeom>
          <a:noFill/>
        </p:spPr>
        <p:txBody>
          <a:bodyPr wrap="square">
            <a:spAutoFit/>
          </a:bodyPr>
          <a:lstStyle/>
          <a:p>
            <a:pPr>
              <a:spcAft>
                <a:spcPts val="800"/>
              </a:spcAft>
              <a:defRPr sz="1700" b="1">
                <a:solidFill>
                  <a:srgbClr val="EF4444"/>
                </a:solidFill>
                <a:latin typeface="Bebas Neue"/>
              </a:defRPr>
            </a:pPr>
            <a:r>
              <a:t>KẾT QUẢ PHÂN ĐOẠN 4 CỤM HÀNH VI (k=4)</a:t>
            </a:r>
          </a:p>
          <a:p>
            <a:pPr>
              <a:spcAft>
                <a:spcPts val="700"/>
              </a:spcAft>
            </a:pPr>
            <a:r>
              <a:rPr sz="1150" b="1">
                <a:solidFill>
                  <a:srgbClr val="F59E0B"/>
                </a:solidFill>
                <a:latin typeface="Calibri"/>
              </a:rPr>
              <a:t>Đánh giá số cụm tối ưu: </a:t>
            </a:r>
            <a:r>
              <a:rPr sz="1150">
                <a:solidFill>
                  <a:srgbClr val="E2E8F0"/>
                </a:solidFill>
                <a:latin typeface="Calibri"/>
              </a:rPr>
              <a:t>Phương pháp Elbow kết hợp hệ số Silhouette Score (0.34) xác nhận k=4 là giải pháp phân cụm cân bằng và có ý nghĩa thống kê cao nhất.</a:t>
            </a:r>
          </a:p>
          <a:p>
            <a:pPr>
              <a:spcAft>
                <a:spcPts val="700"/>
              </a:spcAft>
            </a:pPr>
            <a:r>
              <a:rPr sz="1150" b="1">
                <a:solidFill>
                  <a:srgbClr val="F59E0B"/>
                </a:solidFill>
                <a:latin typeface="Calibri"/>
              </a:rPr>
              <a:t>CỤM 1 — TÂM ĐIỂM RỦI RO (52.6% TỔNG CHURN): </a:t>
            </a:r>
            <a:r>
              <a:rPr sz="1150">
                <a:solidFill>
                  <a:srgbClr val="E2E8F0"/>
                </a:solidFill>
                <a:latin typeface="Calibri"/>
              </a:rPr>
              <a:t>Quẹt thẻ rất ít (42 lần), chi tiêu thấp ($2,850), dư nợ về 0 USD. Đây chính là phân khúc ưu tiên can thiệp số 1 của toàn bộ đề tài.</a:t>
            </a:r>
          </a:p>
          <a:p>
            <a:pPr>
              <a:spcAft>
                <a:spcPts val="700"/>
              </a:spcAft>
            </a:pPr>
            <a:r>
              <a:rPr sz="1150" b="1">
                <a:solidFill>
                  <a:srgbClr val="F59E0B"/>
                </a:solidFill>
                <a:latin typeface="Calibri"/>
              </a:rPr>
              <a:t>Cụm 0 — Giao dịch Phổ thông (38.5% danh mục): </a:t>
            </a:r>
            <a:r>
              <a:rPr sz="1150">
                <a:solidFill>
                  <a:srgbClr val="E2E8F0"/>
                </a:solidFill>
                <a:latin typeface="Calibri"/>
              </a:rPr>
              <a:t>Quẹt thẻ đều đặn (65 lần/năm), chi tiêu vừa phải, tỷ lệ rời bỏ ở mức thấp an toàn (11.2%).</a:t>
            </a:r>
          </a:p>
          <a:p>
            <a:pPr>
              <a:spcAft>
                <a:spcPts val="700"/>
              </a:spcAft>
            </a:pPr>
            <a:r>
              <a:rPr sz="1150" b="1">
                <a:solidFill>
                  <a:srgbClr val="F59E0B"/>
                </a:solidFill>
                <a:latin typeface="Calibri"/>
              </a:rPr>
              <a:t>Cụm 2 — Khách hàng Cao cấp VIP: </a:t>
            </a:r>
            <a:r>
              <a:rPr sz="1150">
                <a:solidFill>
                  <a:srgbClr val="E2E8F0"/>
                </a:solidFill>
                <a:latin typeface="Calibri"/>
              </a:rPr>
              <a:t>Hạn mức tín dụng cao (&gt; $20,000 USD), thu nhập &gt; $120K, đòi hỏi đặc quyền dịch vụ và ưu đãi chuyên biệt.</a:t>
            </a:r>
          </a:p>
          <a:p>
            <a:pPr>
              <a:spcAft>
                <a:spcPts val="700"/>
              </a:spcAft>
            </a:pPr>
            <a:r>
              <a:rPr sz="1150" b="1">
                <a:solidFill>
                  <a:srgbClr val="F59E0B"/>
                </a:solidFill>
                <a:latin typeface="Calibri"/>
              </a:rPr>
              <a:t>Cụm 3 — Siêu Giao dịch (Super Users): </a:t>
            </a:r>
            <a:r>
              <a:rPr sz="1150">
                <a:solidFill>
                  <a:srgbClr val="E2E8F0"/>
                </a:solidFill>
                <a:latin typeface="Calibri"/>
              </a:rPr>
              <a:t>Quẹt thẻ &gt; 105 lần/năm, doanh số chi tiêu &gt; $14,000 USD, tỷ lệ rời bỏ cực thấp (dưới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04: MÔ HÌNH HÓA DỰ BÁO &amp; XAI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Mô Hình Hóa Máy Học: XGBoost Classifier Dẫn Đầu Toàn Diện Với ROC-AUC 0.9930</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5623560"/>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04</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1_ml_model_comparison_roc.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Đường cong ROC Curve so sánh 4 mô hình Machine Learning trên tập kiểm thử (figures/11_ml_model_comparison_roc.png)</a:t>
            </a:r>
          </a:p>
        </p:txBody>
      </p:sp>
      <p:sp>
        <p:nvSpPr>
          <p:cNvPr id="10" name="Rounded Rectangle 9"/>
          <p:cNvSpPr/>
          <p:nvPr/>
        </p:nvSpPr>
        <p:spPr>
          <a:xfrm>
            <a:off x="10058400" y="2194560"/>
            <a:ext cx="640080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6858000"/>
          </a:xfrm>
          <a:prstGeom prst="rect">
            <a:avLst/>
          </a:prstGeom>
          <a:noFill/>
        </p:spPr>
        <p:txBody>
          <a:bodyPr wrap="square">
            <a:spAutoFit/>
          </a:bodyPr>
          <a:lstStyle/>
          <a:p>
            <a:pPr>
              <a:spcAft>
                <a:spcPts val="800"/>
              </a:spcAft>
              <a:defRPr sz="1700" b="1">
                <a:solidFill>
                  <a:srgbClr val="EA580C"/>
                </a:solidFill>
                <a:latin typeface="Bebas Neue"/>
              </a:defRPr>
            </a:pPr>
            <a:r>
              <a:t>BẢNG HIỆU NĂNG ĐỐI THỰC NGHIỆM</a:t>
            </a:r>
          </a:p>
          <a:p>
            <a:pPr>
              <a:spcAft>
                <a:spcPts val="700"/>
              </a:spcAft>
            </a:pPr>
            <a:r>
              <a:rPr sz="1150" b="1">
                <a:solidFill>
                  <a:srgbClr val="F59E0B"/>
                </a:solidFill>
                <a:latin typeface="Calibri"/>
              </a:rPr>
              <a:t>1. Logistic Regression (Baseline): </a:t>
            </a:r>
            <a:r>
              <a:rPr sz="1150">
                <a:solidFill>
                  <a:srgbClr val="E2E8F0"/>
                </a:solidFill>
                <a:latin typeface="Calibri"/>
              </a:rPr>
              <a:t>ROC-AUC: 0.9348 | Recall: 83.38% | F1: 67.25%. Mô hình tuyến tính đơn giản, bắt sót nhiều quan hệ phi tuyến phức tạp.</a:t>
            </a:r>
          </a:p>
          <a:p>
            <a:pPr>
              <a:spcAft>
                <a:spcPts val="700"/>
              </a:spcAft>
            </a:pPr>
            <a:r>
              <a:rPr sz="1150" b="1">
                <a:solidFill>
                  <a:srgbClr val="F59E0B"/>
                </a:solidFill>
                <a:latin typeface="Calibri"/>
              </a:rPr>
              <a:t>2. Random Forest Classifier: </a:t>
            </a:r>
            <a:r>
              <a:rPr sz="1150">
                <a:solidFill>
                  <a:srgbClr val="E2E8F0"/>
                </a:solidFill>
                <a:latin typeface="Calibri"/>
              </a:rPr>
              <a:t>ROC-AUC: 0.9892 | Recall: 88.31% | F1: 89.97%. Mô hình tổ hợp cây rất mạnh, kiểm soát tốt hiện tượng Overfitting.</a:t>
            </a:r>
          </a:p>
          <a:p>
            <a:pPr>
              <a:spcAft>
                <a:spcPts val="700"/>
              </a:spcAft>
            </a:pPr>
            <a:r>
              <a:rPr sz="1150" b="1">
                <a:solidFill>
                  <a:srgbClr val="F59E0B"/>
                </a:solidFill>
                <a:latin typeface="Calibri"/>
              </a:rPr>
              <a:t>3. Support Vector Machine (SVM): </a:t>
            </a:r>
            <a:r>
              <a:rPr sz="1150">
                <a:solidFill>
                  <a:srgbClr val="E2E8F0"/>
                </a:solidFill>
                <a:latin typeface="Calibri"/>
              </a:rPr>
              <a:t>ROC-AUC: 0.9702 | Recall: 84.62% | F1: 81.34%. Nhạy cảm với phân bố biên và khoảng cách không gian.</a:t>
            </a:r>
          </a:p>
          <a:p>
            <a:pPr>
              <a:spcAft>
                <a:spcPts val="700"/>
              </a:spcAft>
            </a:pPr>
            <a:r>
              <a:rPr sz="1150" b="1">
                <a:solidFill>
                  <a:srgbClr val="F59E0B"/>
                </a:solidFill>
                <a:latin typeface="Calibri"/>
              </a:rPr>
              <a:t>🏆 4. XGBOOST CLASSIFIER (WINNER): </a:t>
            </a:r>
            <a:r>
              <a:rPr sz="1150">
                <a:solidFill>
                  <a:srgbClr val="E2E8F0"/>
                </a:solidFill>
                <a:latin typeface="Calibri"/>
              </a:rPr>
              <a:t>ROC-AUC: 0.9930 | RECALL: 91.38% | PRECISION: 91.08% | F1-SCORE: 91.23%.</a:t>
            </a:r>
          </a:p>
          <a:p>
            <a:pPr>
              <a:spcAft>
                <a:spcPts val="700"/>
              </a:spcAft>
            </a:pPr>
            <a:r>
              <a:rPr sz="1150" b="1">
                <a:solidFill>
                  <a:srgbClr val="F59E0B"/>
                </a:solidFill>
                <a:latin typeface="Calibri"/>
              </a:rPr>
              <a:t>Đánh giá kỹ thuật: </a:t>
            </a:r>
            <a:r>
              <a:rPr sz="1150">
                <a:solidFill>
                  <a:srgbClr val="E2E8F0"/>
                </a:solidFill>
                <a:latin typeface="Calibri"/>
              </a:rPr>
              <a:t>XGBoost tối ưu hóa hàm tổn thất gradient boosting, xử lý vượt trội dữ liệu mất cân bằng và đạt độ hội tụ cao nhất.</a:t>
            </a:r>
          </a:p>
        </p:txBody>
      </p:sp>
      <p:sp>
        <p:nvSpPr>
          <p:cNvPr id="12" name="Rounded Rectangle 11"/>
          <p:cNvSpPr/>
          <p:nvPr/>
        </p:nvSpPr>
        <p:spPr>
          <a:xfrm>
            <a:off x="10241280" y="7955279"/>
            <a:ext cx="6035040" cy="1371600"/>
          </a:xfrm>
          <a:prstGeom prst="roundRect">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600" b="1">
                <a:solidFill>
                  <a:srgbClr val="FFFFFF"/>
                </a:solidFill>
                <a:latin typeface="Bebas Neue"/>
              </a:defRPr>
            </a:pPr>
            <a:r>
              <a:t>🏆 MÔ HÌNH DẪN ĐẦU: XGBOOST CLASSIFIER</a:t>
            </a:r>
          </a:p>
          <a:p>
            <a:pPr algn="ctr">
              <a:defRPr sz="1200" b="1">
                <a:solidFill>
                  <a:srgbClr val="FFFFFF"/>
                </a:solidFill>
                <a:latin typeface="Calibri"/>
              </a:defRPr>
            </a:pPr>
            <a:r>
              <a:t>ROC-AUC = 0.9930  •  Recall = 91.38%  •  Precision = 91.08%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04: MÔ HÌNH HÓA DỰ BÁO &amp; XAI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Đánh Giá Sai Số: Kiểm Soát Tối Ưu Sai Số Loại I (2.12%) &amp; Loại II (8.62%)</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5623560"/>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04</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2_ml_confusion_matrices.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Ma trận nhầm lẫn (Confusion Matrices) của 4 thuật toán trên Test Set N=2,026 (figures/12_ml_confusion_matrices.png)</a:t>
            </a:r>
          </a:p>
        </p:txBody>
      </p:sp>
      <p:sp>
        <p:nvSpPr>
          <p:cNvPr id="10" name="Rounded Rectangle 9"/>
          <p:cNvSpPr/>
          <p:nvPr/>
        </p:nvSpPr>
        <p:spPr>
          <a:xfrm>
            <a:off x="10058400" y="2194560"/>
            <a:ext cx="6400800"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6858000"/>
          </a:xfrm>
          <a:prstGeom prst="rect">
            <a:avLst/>
          </a:prstGeom>
          <a:noFill/>
        </p:spPr>
        <p:txBody>
          <a:bodyPr wrap="square">
            <a:spAutoFit/>
          </a:bodyPr>
          <a:lstStyle/>
          <a:p>
            <a:pPr>
              <a:spcAft>
                <a:spcPts val="800"/>
              </a:spcAft>
              <a:defRPr sz="1700" b="1">
                <a:solidFill>
                  <a:srgbClr val="38BDF8"/>
                </a:solidFill>
                <a:latin typeface="Bebas Neue"/>
              </a:defRPr>
            </a:pPr>
            <a:r>
              <a:t>KIỂM SOÁT SAI SỐ LOẠI I &amp; II</a:t>
            </a:r>
          </a:p>
          <a:p>
            <a:pPr>
              <a:spcAft>
                <a:spcPts val="700"/>
              </a:spcAft>
            </a:pPr>
            <a:r>
              <a:rPr sz="1150" b="1">
                <a:solidFill>
                  <a:srgbClr val="F59E0B"/>
                </a:solidFill>
                <a:latin typeface="Calibri"/>
              </a:rPr>
              <a:t>Quy mô tập kiểm thử (Test Set): </a:t>
            </a:r>
            <a:r>
              <a:rPr sz="1150">
                <a:solidFill>
                  <a:srgbClr val="E2E8F0"/>
                </a:solidFill>
                <a:latin typeface="Calibri"/>
              </a:rPr>
              <a:t>Gồm 2,026 khách hàng độc lập (1,701 khách duy trì Existing và 325 khách rời bỏ Attrited).</a:t>
            </a:r>
          </a:p>
          <a:p>
            <a:pPr>
              <a:spcAft>
                <a:spcPts val="700"/>
              </a:spcAft>
            </a:pPr>
            <a:r>
              <a:rPr sz="1150" b="1">
                <a:solidFill>
                  <a:srgbClr val="F59E0B"/>
                </a:solidFill>
                <a:latin typeface="Calibri"/>
              </a:rPr>
              <a:t>KIỂM SOÁT SAI SỐ LOẠI II (FALSE NEGATIVE): </a:t>
            </a:r>
            <a:r>
              <a:rPr sz="1150">
                <a:solidFill>
                  <a:srgbClr val="E2E8F0"/>
                </a:solidFill>
                <a:latin typeface="Calibri"/>
              </a:rPr>
              <a:t>Bỏ sót khách Churn là sai số nguy hiểm nhất gây mất doanh thu vĩnh viễn. XGBoost phát hiện đúng 297/325 khách Churn, chỉ bỏ sót đúng 28 người (tỷ lệ 8.62%).</a:t>
            </a:r>
          </a:p>
          <a:p>
            <a:pPr>
              <a:spcAft>
                <a:spcPts val="700"/>
              </a:spcAft>
            </a:pPr>
            <a:r>
              <a:rPr sz="1150" b="1">
                <a:solidFill>
                  <a:srgbClr val="F59E0B"/>
                </a:solidFill>
                <a:latin typeface="Calibri"/>
              </a:rPr>
              <a:t>KIỂM SOÁT SAI SỐ LOẠI I (FALSE POSITIVE): </a:t>
            </a:r>
            <a:r>
              <a:rPr sz="1150">
                <a:solidFill>
                  <a:srgbClr val="E2E8F0"/>
                </a:solidFill>
                <a:latin typeface="Calibri"/>
              </a:rPr>
              <a:t>Báo động giả gây lãng phí chi phí chăm sóc. Mô hình chỉ báo nhầm 36/1,701 khách ở lại thành Churn (tỷ lệ báo động giả cực thấp: 2.12%).</a:t>
            </a:r>
          </a:p>
          <a:p>
            <a:pPr>
              <a:spcAft>
                <a:spcPts val="700"/>
              </a:spcAft>
            </a:pPr>
            <a:r>
              <a:rPr sz="1150" b="1">
                <a:solidFill>
                  <a:srgbClr val="F59E0B"/>
                </a:solidFill>
                <a:latin typeface="Calibri"/>
              </a:rPr>
              <a:t>Độ chính xác cảnh báo (Precision = 91.08%): </a:t>
            </a:r>
            <a:r>
              <a:rPr sz="1150">
                <a:solidFill>
                  <a:srgbClr val="E2E8F0"/>
                </a:solidFill>
                <a:latin typeface="Calibri"/>
              </a:rPr>
              <a:t>Cứ 100 khách hàng được mô hình cảnh báo thì có hơn 91 khách hàng thực sự có nguy cơ rời bỏ.</a:t>
            </a:r>
          </a:p>
          <a:p>
            <a:pPr>
              <a:spcAft>
                <a:spcPts val="700"/>
              </a:spcAft>
            </a:pPr>
            <a:r>
              <a:rPr sz="1150" b="1">
                <a:solidFill>
                  <a:srgbClr val="F59E0B"/>
                </a:solidFill>
                <a:latin typeface="Calibri"/>
              </a:rPr>
              <a:t>Ý nghĩa thực tiễn ngân hàng: </a:t>
            </a:r>
            <a:r>
              <a:rPr sz="1150">
                <a:solidFill>
                  <a:srgbClr val="E2E8F0"/>
                </a:solidFill>
                <a:latin typeface="Calibri"/>
              </a:rPr>
              <a:t>Mô hình đảm bảo ngân sách giữ chân được chi tiêu chính xác và hiệu quả nhất.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04: MÔ HÌNH HÓA DỰ BÁO &amp; XAI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Giải Thích Mô Hình (XAI): 5 Đòn Bẩy Hành Vi Quyết Định Xác Suất Rời Bỏ Thẻ</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5623560"/>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04</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3_feature_importance_xgb.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Độ quan trọng đặc trưng Gain-based &amp; SHAP values của XGBoost (figures/13_feature_importance_xgb.png)</a:t>
            </a:r>
          </a:p>
        </p:txBody>
      </p:sp>
      <p:sp>
        <p:nvSpPr>
          <p:cNvPr id="10" name="Rounded Rectangle 9"/>
          <p:cNvSpPr/>
          <p:nvPr/>
        </p:nvSpPr>
        <p:spPr>
          <a:xfrm>
            <a:off x="10058400" y="2194560"/>
            <a:ext cx="6400800" cy="7315200"/>
          </a:xfrm>
          <a:prstGeom prst="roundRect">
            <a:avLst/>
          </a:prstGeom>
          <a:solidFill>
            <a:srgbClr val="181C2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6858000"/>
          </a:xfrm>
          <a:prstGeom prst="rect">
            <a:avLst/>
          </a:prstGeom>
          <a:noFill/>
        </p:spPr>
        <p:txBody>
          <a:bodyPr wrap="square">
            <a:spAutoFit/>
          </a:bodyPr>
          <a:lstStyle/>
          <a:p>
            <a:pPr>
              <a:spcAft>
                <a:spcPts val="800"/>
              </a:spcAft>
              <a:defRPr sz="1700" b="1">
                <a:solidFill>
                  <a:srgbClr val="F59E0B"/>
                </a:solidFill>
                <a:latin typeface="Bebas Neue"/>
              </a:defRPr>
            </a:pPr>
            <a:r>
              <a:t>THỨ BẬC 5 ĐÒN BẨY HÀNH VI CỐT LÕI</a:t>
            </a:r>
          </a:p>
          <a:p>
            <a:pPr>
              <a:spcAft>
                <a:spcPts val="700"/>
              </a:spcAft>
            </a:pPr>
            <a:r>
              <a:rPr sz="1150" b="1">
                <a:solidFill>
                  <a:srgbClr val="F59E0B"/>
                </a:solidFill>
                <a:latin typeface="Calibri"/>
              </a:rPr>
              <a:t>1. Total_Trans_Ct (Số lần quẹt thẻ - Top 1 &gt; 25%): </a:t>
            </a:r>
            <a:r>
              <a:rPr sz="1150">
                <a:solidFill>
                  <a:srgbClr val="E2E8F0"/>
                </a:solidFill>
                <a:latin typeface="Calibri"/>
              </a:rPr>
              <a:t>Biến số có sức mạnh giải thích lớn nhất. Khách hàng ngưng quẹt thẻ là chỉ báo trực tiếp nhất của việc chuẩn bị đóng tài khoản.</a:t>
            </a:r>
          </a:p>
          <a:p>
            <a:pPr>
              <a:spcAft>
                <a:spcPts val="700"/>
              </a:spcAft>
            </a:pPr>
            <a:r>
              <a:rPr sz="1150" b="1">
                <a:solidFill>
                  <a:srgbClr val="F59E0B"/>
                </a:solidFill>
                <a:latin typeface="Calibri"/>
              </a:rPr>
              <a:t>2. Total_Amt_Chng_Q4_Q1 (Tốc độ giảm chi tiêu): </a:t>
            </a:r>
            <a:r>
              <a:rPr sz="1150">
                <a:solidFill>
                  <a:srgbClr val="E2E8F0"/>
                </a:solidFill>
                <a:latin typeface="Calibri"/>
              </a:rPr>
              <a:t>Chỉ số đo lường sự dịch chuyển dòng tiền chi tiêu sang thẻ của ngân hàng đối thủ qua các quý gần nhất.</a:t>
            </a:r>
          </a:p>
          <a:p>
            <a:pPr>
              <a:spcAft>
                <a:spcPts val="700"/>
              </a:spcAft>
            </a:pPr>
            <a:r>
              <a:rPr sz="1150" b="1">
                <a:solidFill>
                  <a:srgbClr val="F59E0B"/>
                </a:solidFill>
                <a:latin typeface="Calibri"/>
              </a:rPr>
              <a:t>3. Total_Revolving_Bal (Dư nợ quay vòng): </a:t>
            </a:r>
            <a:r>
              <a:rPr sz="1150">
                <a:solidFill>
                  <a:srgbClr val="E2E8F0"/>
                </a:solidFill>
                <a:latin typeface="Calibri"/>
              </a:rPr>
              <a:t>Tín hiệu tất toán nợ về 0 USD đóng vai trò là dấu hiệu báo trước việc hủy thẻ trong 30-60 ngày.</a:t>
            </a:r>
          </a:p>
          <a:p>
            <a:pPr>
              <a:spcAft>
                <a:spcPts val="700"/>
              </a:spcAft>
            </a:pPr>
            <a:r>
              <a:rPr sz="1150" b="1">
                <a:solidFill>
                  <a:srgbClr val="F59E0B"/>
                </a:solidFill>
                <a:latin typeface="Calibri"/>
              </a:rPr>
              <a:t>4. Total_Trans_Amt (Tổng doanh số giao dịch): </a:t>
            </a:r>
            <a:r>
              <a:rPr sz="1150">
                <a:solidFill>
                  <a:srgbClr val="E2E8F0"/>
                </a:solidFill>
                <a:latin typeface="Calibri"/>
              </a:rPr>
              <a:t>Thước đo quy mô tài chính và hạn mức chi tiêu của chủ thẻ.</a:t>
            </a:r>
          </a:p>
          <a:p>
            <a:pPr>
              <a:spcAft>
                <a:spcPts val="700"/>
              </a:spcAft>
            </a:pPr>
            <a:r>
              <a:rPr sz="1150" b="1">
                <a:solidFill>
                  <a:srgbClr val="F59E0B"/>
                </a:solidFill>
                <a:latin typeface="Calibri"/>
              </a:rPr>
              <a:t>5. Total_Relationship_Count (Số lượng sản phẩm): </a:t>
            </a:r>
            <a:r>
              <a:rPr sz="1150">
                <a:solidFill>
                  <a:srgbClr val="E2E8F0"/>
                </a:solidFill>
                <a:latin typeface="Calibri"/>
              </a:rPr>
              <a:t>Rào cản chuyển đổi tự nhiên thông qua hệ sinh thái đa dịch vụ của ngân hàng.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05: TỐI ƯU KINH TẾ &amp; CHIẾN LƯỢC GIỮ CHÂN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Tối Ưu Kinh Tế: Xác Lập Điểm Cắt Xác Suất t* = 0.42 Tối Đa Hóa Lợi Nhuận Ròng</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6437376"/>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05</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8412480" cy="731520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4_cost_benefit_threshold_optimization.png"/>
          <p:cNvPicPr>
            <a:picLocks noChangeAspect="1"/>
          </p:cNvPicPr>
          <p:nvPr/>
        </p:nvPicPr>
        <p:blipFill>
          <a:blip r:embed="rId2"/>
          <a:stretch>
            <a:fillRect/>
          </a:stretch>
        </p:blipFill>
        <p:spPr>
          <a:xfrm>
            <a:off x="1481328" y="2304288"/>
            <a:ext cx="8193024" cy="6775704"/>
          </a:xfrm>
          <a:prstGeom prst="rect">
            <a:avLst/>
          </a:prstGeom>
        </p:spPr>
      </p:pic>
      <p:sp>
        <p:nvSpPr>
          <p:cNvPr id="9" name="TextBox 8"/>
          <p:cNvSpPr txBox="1"/>
          <p:nvPr/>
        </p:nvSpPr>
        <p:spPr>
          <a:xfrm>
            <a:off x="1371600" y="9144000"/>
            <a:ext cx="8412480" cy="320040"/>
          </a:xfrm>
          <a:prstGeom prst="rect">
            <a:avLst/>
          </a:prstGeom>
          <a:noFill/>
        </p:spPr>
        <p:txBody>
          <a:bodyPr wrap="none" lIns="0" tIns="0" rIns="0" bIns="0">
            <a:spAutoFit/>
          </a:bodyPr>
          <a:lstStyle/>
          <a:p>
            <a:pPr algn="ctr">
              <a:defRPr sz="1100" b="1">
                <a:solidFill>
                  <a:srgbClr val="1E293B"/>
                </a:solidFill>
                <a:latin typeface="Calibri"/>
              </a:defRPr>
            </a:pPr>
            <a:r>
              <a:t>Đường cong tối ưu hóa Lợi ích ròng Net Benefit Curve (figures/14_cost_benefit_threshold_optimization.png)</a:t>
            </a:r>
          </a:p>
        </p:txBody>
      </p:sp>
      <p:sp>
        <p:nvSpPr>
          <p:cNvPr id="10" name="Rounded Rectangle 9"/>
          <p:cNvSpPr/>
          <p:nvPr/>
        </p:nvSpPr>
        <p:spPr>
          <a:xfrm>
            <a:off x="10058400" y="2194560"/>
            <a:ext cx="6400800" cy="731520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0" y="2377440"/>
            <a:ext cx="5943600" cy="6858000"/>
          </a:xfrm>
          <a:prstGeom prst="rect">
            <a:avLst/>
          </a:prstGeom>
          <a:noFill/>
        </p:spPr>
        <p:txBody>
          <a:bodyPr wrap="square">
            <a:spAutoFit/>
          </a:bodyPr>
          <a:lstStyle/>
          <a:p>
            <a:pPr>
              <a:spcAft>
                <a:spcPts val="800"/>
              </a:spcAft>
              <a:defRPr sz="1700" b="1">
                <a:solidFill>
                  <a:srgbClr val="10B981"/>
                </a:solidFill>
                <a:latin typeface="Bebas Neue"/>
              </a:defRPr>
            </a:pPr>
            <a:r>
              <a:t>MÔ HÌNH HÓA HÀM CHI PHÍ - LỢI ÍCH</a:t>
            </a:r>
          </a:p>
          <a:p>
            <a:pPr>
              <a:spcAft>
                <a:spcPts val="700"/>
              </a:spcAft>
            </a:pPr>
            <a:r>
              <a:rPr sz="1150" b="1">
                <a:solidFill>
                  <a:srgbClr val="F59E0B"/>
                </a:solidFill>
                <a:latin typeface="Calibri"/>
              </a:rPr>
              <a:t>Hạn chế của ngưỡng chuẩn t = 0.50: </a:t>
            </a:r>
            <a:r>
              <a:rPr sz="1150">
                <a:solidFill>
                  <a:srgbClr val="E2E8F0"/>
                </a:solidFill>
                <a:latin typeface="Calibri"/>
              </a:rPr>
              <a:t>Ngưỡng 0.50 mặc định bỏ lỡ những khách hàng có xác suất rời bỏ từ 40% - 49% nhưng có giá trị vòng đời (CLV) rất lớn.</a:t>
            </a:r>
          </a:p>
          <a:p>
            <a:pPr>
              <a:spcAft>
                <a:spcPts val="700"/>
              </a:spcAft>
            </a:pPr>
            <a:r>
              <a:rPr sz="1150" b="1">
                <a:solidFill>
                  <a:srgbClr val="F59E0B"/>
                </a:solidFill>
                <a:latin typeface="Calibri"/>
              </a:rPr>
              <a:t>Thiết lập hàm mục tiêu Net Profit: </a:t>
            </a:r>
            <a:r>
              <a:rPr sz="1150">
                <a:solidFill>
                  <a:srgbClr val="E2E8F0"/>
                </a:solidFill>
                <a:latin typeface="Calibri"/>
              </a:rPr>
              <a:t>Net Benefit = (CLV * P_success - CRC) * TP - CRC * FP - CLV * FN. Giả định CLV=$500, CRC=$50, Tỷ lệ cứu vãn=75%.</a:t>
            </a:r>
          </a:p>
          <a:p>
            <a:pPr>
              <a:spcAft>
                <a:spcPts val="700"/>
              </a:spcAft>
            </a:pPr>
            <a:r>
              <a:rPr sz="1150" b="1">
                <a:solidFill>
                  <a:srgbClr val="F59E0B"/>
                </a:solidFill>
                <a:latin typeface="Calibri"/>
              </a:rPr>
              <a:t>XÁC ĐỊNH ĐIỂM CẮT TỐI ƯU t* = 0.42: </a:t>
            </a:r>
            <a:r>
              <a:rPr sz="1150">
                <a:solidFill>
                  <a:srgbClr val="E2E8F0"/>
                </a:solidFill>
                <a:latin typeface="Calibri"/>
              </a:rPr>
              <a:t>Điểm cực đại trên đường cong Net Benefit Curve, tạo ra sự cân bằng hoàn hảo giữa chi phí can thiệp và doanh thu bảo toàn.</a:t>
            </a:r>
          </a:p>
          <a:p>
            <a:pPr>
              <a:spcAft>
                <a:spcPts val="700"/>
              </a:spcAft>
            </a:pPr>
            <a:r>
              <a:rPr sz="1150" b="1">
                <a:solidFill>
                  <a:srgbClr val="F59E0B"/>
                </a:solidFill>
                <a:latin typeface="Calibri"/>
              </a:rPr>
              <a:t>Lợi nhuận gia tăng thặng dư: </a:t>
            </a:r>
            <a:r>
              <a:rPr sz="1150">
                <a:solidFill>
                  <a:srgbClr val="E2E8F0"/>
                </a:solidFill>
                <a:latin typeface="Calibri"/>
              </a:rPr>
              <a:t>Mang lại thêm +$24,500 USD lợi nhuận ròng trên tập kiểm thử so với việc áp dụng ngưỡng 0.50 truyền thống.</a:t>
            </a:r>
          </a:p>
          <a:p>
            <a:pPr>
              <a:spcAft>
                <a:spcPts val="700"/>
              </a:spcAft>
            </a:pPr>
            <a:r>
              <a:rPr sz="1150" b="1">
                <a:solidFill>
                  <a:srgbClr val="F59E0B"/>
                </a:solidFill>
                <a:latin typeface="Calibri"/>
              </a:rPr>
              <a:t>Ý nghĩa quản trị: </a:t>
            </a:r>
            <a:r>
              <a:rPr sz="1150">
                <a:solidFill>
                  <a:srgbClr val="E2E8F0"/>
                </a:solidFill>
                <a:latin typeface="Calibri"/>
              </a:rPr>
              <a:t>Chủ động tiếp cận sớm nhóm khách hàng có giá trị cao trước khi hành vi rời bỏ diễn 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05: TỐI ƯU KINH TẾ &amp; CHIẾN LƯỢC GIỮ CHÂN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Phác Họa 3 Chân Dung Khách Hàng Rời Bỏ &amp; Kịch Bản Can Thiệp Cá Thể Hóa</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6437376"/>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05</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475488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481328" y="2331720"/>
            <a:ext cx="4535424" cy="1234440"/>
          </a:xfrm>
          <a:prstGeom prst="roundRect">
            <a:avLst/>
          </a:prstGeom>
          <a:solidFill>
            <a:srgbClr val="20262E"/>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EA580C"/>
                </a:solidFill>
                <a:latin typeface="Bebas Neue"/>
              </a:defRPr>
            </a:pPr>
            <a:r>
              <a:t>CHÂN DUNG 1 (55% TỔNG CHURN)</a:t>
            </a:r>
          </a:p>
          <a:p>
            <a:pPr>
              <a:defRPr sz="1200" b="1">
                <a:solidFill>
                  <a:srgbClr val="FFFFFF"/>
                </a:solidFill>
                <a:latin typeface="Calibri"/>
              </a:defRPr>
            </a:pPr>
            <a:r>
              <a:t>THE SILENT DEFECTOR (Rút lui lặng lẽ &amp; Ngủ đông)</a:t>
            </a:r>
          </a:p>
          <a:p>
            <a:pPr>
              <a:defRPr sz="1000" i="1">
                <a:solidFill>
                  <a:srgbClr val="94A3B8"/>
                </a:solidFill>
                <a:latin typeface="Calibri"/>
              </a:defRPr>
            </a:pPr>
            <a:r>
              <a:t>"Dạo này tôi bận quá, chẳng nhớ đến cái thẻ này nữa..."</a:t>
            </a:r>
          </a:p>
        </p:txBody>
      </p:sp>
      <p:sp>
        <p:nvSpPr>
          <p:cNvPr id="9" name="Rounded Rectangle 8"/>
          <p:cNvSpPr/>
          <p:nvPr/>
        </p:nvSpPr>
        <p:spPr>
          <a:xfrm>
            <a:off x="1508760" y="3703320"/>
            <a:ext cx="4480560" cy="384048"/>
          </a:xfrm>
          <a:prstGeom prst="roundRect">
            <a:avLst/>
          </a:prstGeom>
          <a:solidFill>
            <a:srgbClr val="181C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EF4444"/>
                </a:solidFill>
                <a:latin typeface="Calibri"/>
              </a:defRPr>
            </a:pPr>
            <a:r>
              <a:t>MỨC NGUY CƠ: TỐI CAO [■■■]</a:t>
            </a:r>
          </a:p>
        </p:txBody>
      </p:sp>
      <p:sp>
        <p:nvSpPr>
          <p:cNvPr id="10" name="TextBox 9"/>
          <p:cNvSpPr txBox="1"/>
          <p:nvPr/>
        </p:nvSpPr>
        <p:spPr>
          <a:xfrm>
            <a:off x="1536192" y="4206240"/>
            <a:ext cx="4434840" cy="5120640"/>
          </a:xfrm>
          <a:prstGeom prst="rect">
            <a:avLst/>
          </a:prstGeom>
          <a:noFill/>
        </p:spPr>
        <p:txBody>
          <a:bodyPr wrap="square">
            <a:spAutoFit/>
          </a:bodyPr>
          <a:lstStyle/>
          <a:p/>
          <a:p>
            <a:pPr>
              <a:spcAft>
                <a:spcPts val="800"/>
              </a:spcAft>
            </a:pPr>
            <a:r>
              <a:rPr sz="1150" b="1">
                <a:solidFill>
                  <a:srgbClr val="F59E0B"/>
                </a:solidFill>
                <a:latin typeface="Calibri"/>
              </a:rPr>
              <a:t>Dấu hiệu nhận diện: </a:t>
            </a:r>
            <a:r>
              <a:rPr sz="1150">
                <a:solidFill>
                  <a:srgbClr val="E2E8F0"/>
                </a:solidFill>
                <a:latin typeface="Calibri"/>
              </a:rPr>
              <a:t>Dư nợ = 0 USD, quẹt thẻ &lt; 45 lần/năm, chi tiêu giảm &gt; 40%, không nợ xấu.</a:t>
            </a:r>
          </a:p>
          <a:p>
            <a:pPr>
              <a:spcAft>
                <a:spcPts val="800"/>
              </a:spcAft>
            </a:pPr>
            <a:r>
              <a:rPr sz="1150" b="1">
                <a:solidFill>
                  <a:srgbClr val="F59E0B"/>
                </a:solidFill>
                <a:latin typeface="Calibri"/>
              </a:rPr>
              <a:t>Nguyên nhân cốt lõi: </a:t>
            </a:r>
            <a:r>
              <a:rPr sz="1150">
                <a:solidFill>
                  <a:srgbClr val="E2E8F0"/>
                </a:solidFill>
                <a:latin typeface="Calibri"/>
              </a:rPr>
              <a:t>Giảm nhu cầu mua sắm hoặc chuyển dần sang dùng thẻ ngân hàng khác.</a:t>
            </a:r>
          </a:p>
          <a:p>
            <a:pPr>
              <a:spcAft>
                <a:spcPts val="800"/>
              </a:spcAft>
            </a:pPr>
            <a:r>
              <a:rPr sz="1150" b="1">
                <a:solidFill>
                  <a:srgbClr val="F59E0B"/>
                </a:solidFill>
                <a:latin typeface="Calibri"/>
              </a:rPr>
              <a:t>Kịch bản can thiệp: </a:t>
            </a:r>
            <a:r>
              <a:rPr sz="1150">
                <a:solidFill>
                  <a:srgbClr val="E2E8F0"/>
                </a:solidFill>
                <a:latin typeface="Calibri"/>
              </a:rPr>
              <a:t>Push thông báo tặng E-voucher 100K khi quẹt thẻ vào cuối tuần; hoàn tiền 5% ăn uống/siêu thị để kích hoạt lại thói quen quẹt thẻ.</a:t>
            </a:r>
          </a:p>
        </p:txBody>
      </p:sp>
      <p:sp>
        <p:nvSpPr>
          <p:cNvPr id="11" name="Rounded Rectangle 10"/>
          <p:cNvSpPr/>
          <p:nvPr/>
        </p:nvSpPr>
        <p:spPr>
          <a:xfrm>
            <a:off x="6400800" y="2194560"/>
            <a:ext cx="4754880" cy="7315200"/>
          </a:xfrm>
          <a:prstGeom prst="roundRect">
            <a:avLst/>
          </a:prstGeom>
          <a:solidFill>
            <a:srgbClr val="181C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2331720"/>
            <a:ext cx="4535424" cy="1234440"/>
          </a:xfrm>
          <a:prstGeom prst="roundRect">
            <a:avLst/>
          </a:prstGeom>
          <a:solidFill>
            <a:srgbClr val="20262E"/>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EF4444"/>
                </a:solidFill>
                <a:latin typeface="Bebas Neue"/>
              </a:defRPr>
            </a:pPr>
            <a:r>
              <a:t>CHÂN DUNG 2 (25% TỔNG CHURN)</a:t>
            </a:r>
          </a:p>
          <a:p>
            <a:pPr>
              <a:defRPr sz="1200" b="1">
                <a:solidFill>
                  <a:srgbClr val="FFFFFF"/>
                </a:solidFill>
                <a:latin typeface="Calibri"/>
              </a:defRPr>
            </a:pPr>
            <a:r>
              <a:t>FRUSTRATED COMPLAINER (Bức xúc về Trải nghiệm Dịch vụ)</a:t>
            </a:r>
          </a:p>
          <a:p>
            <a:pPr>
              <a:defRPr sz="1000" i="1">
                <a:solidFill>
                  <a:srgbClr val="94A3B8"/>
                </a:solidFill>
                <a:latin typeface="Calibri"/>
              </a:defRPr>
            </a:pPr>
            <a:r>
              <a:t>"Tôi đã gọi tổng đài 3 lần mà tra soát giao dịch vẫn chưa xong!"</a:t>
            </a:r>
          </a:p>
        </p:txBody>
      </p:sp>
      <p:sp>
        <p:nvSpPr>
          <p:cNvPr id="13" name="Rounded Rectangle 12"/>
          <p:cNvSpPr/>
          <p:nvPr/>
        </p:nvSpPr>
        <p:spPr>
          <a:xfrm>
            <a:off x="6537960" y="3703320"/>
            <a:ext cx="4480560" cy="384048"/>
          </a:xfrm>
          <a:prstGeom prst="roundRect">
            <a:avLst/>
          </a:prstGeom>
          <a:solidFill>
            <a:srgbClr val="181C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F59E0B"/>
                </a:solidFill>
                <a:latin typeface="Calibri"/>
              </a:defRPr>
            </a:pPr>
            <a:r>
              <a:t>MỨC NGUY CƠ: TRUNG BÌNH [■■□]</a:t>
            </a:r>
          </a:p>
        </p:txBody>
      </p:sp>
      <p:sp>
        <p:nvSpPr>
          <p:cNvPr id="14" name="TextBox 13"/>
          <p:cNvSpPr txBox="1"/>
          <p:nvPr/>
        </p:nvSpPr>
        <p:spPr>
          <a:xfrm>
            <a:off x="6565392" y="4206240"/>
            <a:ext cx="4434840" cy="5120640"/>
          </a:xfrm>
          <a:prstGeom prst="rect">
            <a:avLst/>
          </a:prstGeom>
          <a:noFill/>
        </p:spPr>
        <p:txBody>
          <a:bodyPr wrap="square">
            <a:spAutoFit/>
          </a:bodyPr>
          <a:lstStyle/>
          <a:p/>
          <a:p>
            <a:pPr>
              <a:spcAft>
                <a:spcPts val="800"/>
              </a:spcAft>
            </a:pPr>
            <a:r>
              <a:rPr sz="1150" b="1">
                <a:solidFill>
                  <a:srgbClr val="F59E0B"/>
                </a:solidFill>
                <a:latin typeface="Calibri"/>
              </a:rPr>
              <a:t>Dấu hiệu nhận diện: </a:t>
            </a:r>
            <a:r>
              <a:rPr sz="1150">
                <a:solidFill>
                  <a:srgbClr val="E2E8F0"/>
                </a:solidFill>
                <a:latin typeface="Calibri"/>
              </a:rPr>
              <a:t>Gọi tổng đài CSKH từ 3 - 6 lần/năm, ngưng giao dịch ngay sau khi phát sinh sự cố tra soát.</a:t>
            </a:r>
          </a:p>
          <a:p>
            <a:pPr>
              <a:spcAft>
                <a:spcPts val="800"/>
              </a:spcAft>
            </a:pPr>
            <a:r>
              <a:rPr sz="1150" b="1">
                <a:solidFill>
                  <a:srgbClr val="F59E0B"/>
                </a:solidFill>
                <a:latin typeface="Calibri"/>
              </a:rPr>
              <a:t>Nguyên nhân cốt lõi: </a:t>
            </a:r>
            <a:r>
              <a:rPr sz="1150">
                <a:solidFill>
                  <a:srgbClr val="E2E8F0"/>
                </a:solidFill>
                <a:latin typeface="Calibri"/>
              </a:rPr>
              <a:t>Bất mãn với thời gian xử lý khiếu nại chậm hoặc biểu phí thường niên/lãi suất chưa rõ ràng.</a:t>
            </a:r>
          </a:p>
          <a:p>
            <a:pPr>
              <a:spcAft>
                <a:spcPts val="800"/>
              </a:spcAft>
            </a:pPr>
            <a:r>
              <a:rPr sz="1150" b="1">
                <a:solidFill>
                  <a:srgbClr val="F59E0B"/>
                </a:solidFill>
                <a:latin typeface="Calibri"/>
              </a:rPr>
              <a:t>Kịch bản can thiệp: </a:t>
            </a:r>
            <a:r>
              <a:rPr sz="1150">
                <a:solidFill>
                  <a:srgbClr val="E2E8F0"/>
                </a:solidFill>
                <a:latin typeface="Calibri"/>
              </a:rPr>
              <a:t>Tổng đài viên cấp cao gọi điện xin lỗi và giải quyết dứt điểm trong 24h; miễn phí thường niên 1 năm để xoa dịu.</a:t>
            </a:r>
          </a:p>
        </p:txBody>
      </p:sp>
      <p:sp>
        <p:nvSpPr>
          <p:cNvPr id="15" name="Rounded Rectangle 14"/>
          <p:cNvSpPr/>
          <p:nvPr/>
        </p:nvSpPr>
        <p:spPr>
          <a:xfrm>
            <a:off x="11430000" y="2194560"/>
            <a:ext cx="4754880"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539728" y="2331720"/>
            <a:ext cx="4535424" cy="1234440"/>
          </a:xfrm>
          <a:prstGeom prst="roundRect">
            <a:avLst/>
          </a:prstGeom>
          <a:solidFill>
            <a:srgbClr val="20262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38BDF8"/>
                </a:solidFill>
                <a:latin typeface="Bebas Neue"/>
              </a:defRPr>
            </a:pPr>
            <a:r>
              <a:t>CHÂN DUNG 3 (20% TỔNG CHURN)</a:t>
            </a:r>
          </a:p>
          <a:p>
            <a:pPr>
              <a:defRPr sz="1200" b="1">
                <a:solidFill>
                  <a:srgbClr val="FFFFFF"/>
                </a:solidFill>
                <a:latin typeface="Calibri"/>
              </a:defRPr>
            </a:pPr>
            <a:r>
              <a:t>THE VIP SWITCHER (Khách hàng Cao cấp Chuyển dịch)</a:t>
            </a:r>
          </a:p>
          <a:p>
            <a:pPr>
              <a:defRPr sz="1000" i="1">
                <a:solidFill>
                  <a:srgbClr val="94A3B8"/>
                </a:solidFill>
                <a:latin typeface="Calibri"/>
              </a:defRPr>
            </a:pPr>
            <a:r>
              <a:t>"Bên ngân hàng kia vừa tặng tôi thẻ phòng chờ thương gia rồi..."</a:t>
            </a:r>
          </a:p>
        </p:txBody>
      </p:sp>
      <p:sp>
        <p:nvSpPr>
          <p:cNvPr id="17" name="Rounded Rectangle 16"/>
          <p:cNvSpPr/>
          <p:nvPr/>
        </p:nvSpPr>
        <p:spPr>
          <a:xfrm>
            <a:off x="11567160" y="3703320"/>
            <a:ext cx="4480560" cy="384048"/>
          </a:xfrm>
          <a:prstGeom prst="roundRect">
            <a:avLst/>
          </a:prstGeom>
          <a:solidFill>
            <a:srgbClr val="181C2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38BDF8"/>
                </a:solidFill>
                <a:latin typeface="Calibri"/>
              </a:defRPr>
            </a:pPr>
            <a:r>
              <a:t>MỨC ƯU TIÊN: GIỮ CHÂN [■■■]</a:t>
            </a:r>
          </a:p>
        </p:txBody>
      </p:sp>
      <p:sp>
        <p:nvSpPr>
          <p:cNvPr id="18" name="TextBox 17"/>
          <p:cNvSpPr txBox="1"/>
          <p:nvPr/>
        </p:nvSpPr>
        <p:spPr>
          <a:xfrm>
            <a:off x="11594592" y="4206240"/>
            <a:ext cx="4434840" cy="5120640"/>
          </a:xfrm>
          <a:prstGeom prst="rect">
            <a:avLst/>
          </a:prstGeom>
          <a:noFill/>
        </p:spPr>
        <p:txBody>
          <a:bodyPr wrap="square">
            <a:spAutoFit/>
          </a:bodyPr>
          <a:lstStyle/>
          <a:p/>
          <a:p>
            <a:pPr>
              <a:spcAft>
                <a:spcPts val="800"/>
              </a:spcAft>
            </a:pPr>
            <a:r>
              <a:rPr sz="1150" b="1">
                <a:solidFill>
                  <a:srgbClr val="F59E0B"/>
                </a:solidFill>
                <a:latin typeface="Calibri"/>
              </a:rPr>
              <a:t>Dấu hiệu nhận diện: </a:t>
            </a:r>
            <a:r>
              <a:rPr sz="1150">
                <a:solidFill>
                  <a:srgbClr val="E2E8F0"/>
                </a:solidFill>
                <a:latin typeface="Calibri"/>
              </a:rPr>
              <a:t>Thu nhập ≥ $120K, thẻ Gold/Platinum, hạn mức tín dụng &gt; $20,000 USD.</a:t>
            </a:r>
          </a:p>
          <a:p>
            <a:pPr>
              <a:spcAft>
                <a:spcPts val="800"/>
              </a:spcAft>
            </a:pPr>
            <a:r>
              <a:rPr sz="1150" b="1">
                <a:solidFill>
                  <a:srgbClr val="F59E0B"/>
                </a:solidFill>
                <a:latin typeface="Calibri"/>
              </a:rPr>
              <a:t>Nguyên nhân cốt lõi: </a:t>
            </a:r>
            <a:r>
              <a:rPr sz="1150">
                <a:solidFill>
                  <a:srgbClr val="E2E8F0"/>
                </a:solidFill>
                <a:latin typeface="Calibri"/>
              </a:rPr>
              <a:t>Bị ngân hàng đối thủ lôi kéo bằng các gói đặc quyền phòng chờ sân bay, golf, tích dặm bay hấp dẫn hơn.</a:t>
            </a:r>
          </a:p>
          <a:p>
            <a:pPr>
              <a:spcAft>
                <a:spcPts val="800"/>
              </a:spcAft>
            </a:pPr>
            <a:r>
              <a:rPr sz="1150" b="1">
                <a:solidFill>
                  <a:srgbClr val="F59E0B"/>
                </a:solidFill>
                <a:latin typeface="Calibri"/>
              </a:rPr>
              <a:t>Kịch bản can thiệp: </a:t>
            </a:r>
            <a:r>
              <a:rPr sz="1150">
                <a:solidFill>
                  <a:srgbClr val="E2E8F0"/>
                </a:solidFill>
                <a:latin typeface="Calibri"/>
              </a:rPr>
              <a:t>Chuyên viên Khách hàng Ưu tiên (Priority RM) chăm sóc riêng 1-1, nâng hạng đặc quyền và tặng lượt phòng chờ sân bay.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05: TỐI ƯU KINH TẾ &amp; CHIẾN LƯỢC GIỮ CHÂN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Khung Chiến Lược Giữ Chân 4 Tầng &amp; Hệ Thống Cảnh Báo Sớm Real-Time</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6437376"/>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05</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15087600" cy="1600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2194560"/>
            <a:ext cx="164592" cy="16002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2304288"/>
            <a:ext cx="10515600" cy="1371600"/>
          </a:xfrm>
          <a:prstGeom prst="rect">
            <a:avLst/>
          </a:prstGeom>
          <a:noFill/>
        </p:spPr>
        <p:txBody>
          <a:bodyPr wrap="square">
            <a:spAutoFit/>
          </a:bodyPr>
          <a:lstStyle/>
          <a:p>
            <a:pPr>
              <a:spcAft>
                <a:spcPts val="400"/>
              </a:spcAft>
              <a:defRPr sz="1700" b="1">
                <a:solidFill>
                  <a:srgbClr val="EA580C"/>
                </a:solidFill>
                <a:latin typeface="Bebas Neue"/>
              </a:defRPr>
            </a:pPr>
            <a:r>
              <a:t>TẦNG 1: CẢNH BÁO SỚM REAL-TIME (EWS)</a:t>
            </a:r>
          </a:p>
          <a:p>
            <a:pPr>
              <a:defRPr sz="1200">
                <a:solidFill>
                  <a:srgbClr val="E2E8F0"/>
                </a:solidFill>
                <a:latin typeface="Calibri"/>
              </a:defRPr>
            </a:pPr>
            <a:r>
              <a:t>Thiết lập hệ thống giám sát tự động kích hoạt Trigger Points: Khách hàng không quẹt thẻ 2 tháng hoặc chi tiêu giảm &gt;30% quý gần nhất lập tức đưa vào diện theo dõi đặc biệt.</a:t>
            </a:r>
          </a:p>
        </p:txBody>
      </p:sp>
      <p:sp>
        <p:nvSpPr>
          <p:cNvPr id="10" name="Rounded Rectangle 9"/>
          <p:cNvSpPr/>
          <p:nvPr/>
        </p:nvSpPr>
        <p:spPr>
          <a:xfrm>
            <a:off x="12435840" y="2514600"/>
            <a:ext cx="3749039" cy="960120"/>
          </a:xfrm>
          <a:prstGeom prst="roundRect">
            <a:avLst/>
          </a:prstGeom>
          <a:solidFill>
            <a:srgbClr val="20262E"/>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27280" y="2560320"/>
            <a:ext cx="3566160" cy="868680"/>
          </a:xfrm>
          <a:prstGeom prst="rect">
            <a:avLst/>
          </a:prstGeom>
          <a:noFill/>
        </p:spPr>
        <p:txBody>
          <a:bodyPr wrap="none" lIns="0" tIns="0" rIns="0" bIns="0">
            <a:spAutoFit/>
          </a:bodyPr>
          <a:lstStyle/>
          <a:p>
            <a:pPr algn="ctr">
              <a:defRPr sz="1000" b="1">
                <a:solidFill>
                  <a:srgbClr val="EA580C"/>
                </a:solidFill>
                <a:latin typeface="Calibri"/>
              </a:defRPr>
            </a:pPr>
            <a:r>
              <a:t>CHỈ SỐ ĐO LƯỜNG (KPI)</a:t>
            </a:r>
          </a:p>
          <a:p>
            <a:pPr algn="ctr">
              <a:defRPr sz="1100" b="1">
                <a:solidFill>
                  <a:srgbClr val="FFFFFF"/>
                </a:solidFill>
                <a:latin typeface="Calibri"/>
              </a:defRPr>
            </a:pPr>
            <a:r>
              <a:t>KPI: Tỷ lệ phát hiện sớm &gt; 90% trước 60 ngày</a:t>
            </a:r>
          </a:p>
        </p:txBody>
      </p:sp>
      <p:sp>
        <p:nvSpPr>
          <p:cNvPr id="12" name="Rounded Rectangle 11"/>
          <p:cNvSpPr/>
          <p:nvPr/>
        </p:nvSpPr>
        <p:spPr>
          <a:xfrm>
            <a:off x="1371600" y="3977639"/>
            <a:ext cx="15087600" cy="1600200"/>
          </a:xfrm>
          <a:prstGeom prst="roundRect">
            <a:avLst/>
          </a:prstGeom>
          <a:solidFill>
            <a:srgbClr val="181C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71600" y="3977639"/>
            <a:ext cx="164592" cy="1600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087367"/>
            <a:ext cx="10515600" cy="1371600"/>
          </a:xfrm>
          <a:prstGeom prst="rect">
            <a:avLst/>
          </a:prstGeom>
          <a:noFill/>
        </p:spPr>
        <p:txBody>
          <a:bodyPr wrap="square">
            <a:spAutoFit/>
          </a:bodyPr>
          <a:lstStyle/>
          <a:p>
            <a:pPr>
              <a:spcAft>
                <a:spcPts val="400"/>
              </a:spcAft>
              <a:defRPr sz="1700" b="1">
                <a:solidFill>
                  <a:srgbClr val="EF4444"/>
                </a:solidFill>
                <a:latin typeface="Bebas Neue"/>
              </a:defRPr>
            </a:pPr>
            <a:r>
              <a:t>TẦNG 2: CHĂM SÓC KHÁCH HÀNG CHỦ ĐỘNG (PROACTIVE CARE)</a:t>
            </a:r>
          </a:p>
          <a:p>
            <a:pPr>
              <a:defRPr sz="1200">
                <a:solidFill>
                  <a:srgbClr val="E2E8F0"/>
                </a:solidFill>
                <a:latin typeface="Calibri"/>
              </a:defRPr>
            </a:pPr>
            <a:r>
              <a:t>Áp dụng chỉ tiêu First-Contact Resolution (FCR). Khách hàng liên hệ tổng đài lần thứ 3 tự động chuyển tiếp tới chuyên viên cấp cao giải quyết dứt điểm khiếu nại trong 24h.</a:t>
            </a:r>
          </a:p>
        </p:txBody>
      </p:sp>
      <p:sp>
        <p:nvSpPr>
          <p:cNvPr id="15" name="Rounded Rectangle 14"/>
          <p:cNvSpPr/>
          <p:nvPr/>
        </p:nvSpPr>
        <p:spPr>
          <a:xfrm>
            <a:off x="12435840" y="4297679"/>
            <a:ext cx="3749039" cy="960120"/>
          </a:xfrm>
          <a:prstGeom prst="roundRect">
            <a:avLst/>
          </a:prstGeom>
          <a:solidFill>
            <a:srgbClr val="20262E"/>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527280" y="4343399"/>
            <a:ext cx="3566160" cy="868680"/>
          </a:xfrm>
          <a:prstGeom prst="rect">
            <a:avLst/>
          </a:prstGeom>
          <a:noFill/>
        </p:spPr>
        <p:txBody>
          <a:bodyPr wrap="none" lIns="0" tIns="0" rIns="0" bIns="0">
            <a:spAutoFit/>
          </a:bodyPr>
          <a:lstStyle/>
          <a:p>
            <a:pPr algn="ctr">
              <a:defRPr sz="1000" b="1">
                <a:solidFill>
                  <a:srgbClr val="EF4444"/>
                </a:solidFill>
                <a:latin typeface="Calibri"/>
              </a:defRPr>
            </a:pPr>
            <a:r>
              <a:t>CHỈ SỐ ĐO LƯỜNG (KPI)</a:t>
            </a:r>
          </a:p>
          <a:p>
            <a:pPr algn="ctr">
              <a:defRPr sz="1100" b="1">
                <a:solidFill>
                  <a:srgbClr val="FFFFFF"/>
                </a:solidFill>
                <a:latin typeface="Calibri"/>
              </a:defRPr>
            </a:pPr>
            <a:r>
              <a:t>KPI: FCR &gt; 85%  •  Tỷ lệ Churn CSKH &lt; 5%</a:t>
            </a:r>
          </a:p>
        </p:txBody>
      </p:sp>
      <p:sp>
        <p:nvSpPr>
          <p:cNvPr id="17" name="Rounded Rectangle 16"/>
          <p:cNvSpPr/>
          <p:nvPr/>
        </p:nvSpPr>
        <p:spPr>
          <a:xfrm>
            <a:off x="1371600" y="5760720"/>
            <a:ext cx="15087600" cy="1600200"/>
          </a:xfrm>
          <a:prstGeom prst="roundRect">
            <a:avLst/>
          </a:prstGeom>
          <a:solidFill>
            <a:srgbClr val="181C2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71600" y="5760720"/>
            <a:ext cx="164592" cy="1600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37360" y="5870448"/>
            <a:ext cx="10515600" cy="1371600"/>
          </a:xfrm>
          <a:prstGeom prst="rect">
            <a:avLst/>
          </a:prstGeom>
          <a:noFill/>
        </p:spPr>
        <p:txBody>
          <a:bodyPr wrap="square">
            <a:spAutoFit/>
          </a:bodyPr>
          <a:lstStyle/>
          <a:p>
            <a:pPr>
              <a:spcAft>
                <a:spcPts val="400"/>
              </a:spcAft>
              <a:defRPr sz="1700" b="1">
                <a:solidFill>
                  <a:srgbClr val="F59E0B"/>
                </a:solidFill>
                <a:latin typeface="Bebas Neue"/>
              </a:defRPr>
            </a:pPr>
            <a:r>
              <a:t>TẦNG 3: GAMIFIED LOYALTY &amp; TÍCH ĐIỂM TẦN SUẤT</a:t>
            </a:r>
          </a:p>
          <a:p>
            <a:pPr>
              <a:defRPr sz="1200">
                <a:solidFill>
                  <a:srgbClr val="E2E8F0"/>
                </a:solidFill>
                <a:latin typeface="Calibri"/>
              </a:defRPr>
            </a:pPr>
            <a:r>
              <a:t>Thiết kế chương trình 'Quẹt Thẻ Mỗi Tuần' tích điểm theo tần suất sử dụng thay vì chỉ tính theo doanh số. Thưởng E-voucher ẩm thực/mua sắm khi đạt mốc 8 giao dịch/tháng.</a:t>
            </a:r>
          </a:p>
        </p:txBody>
      </p:sp>
      <p:sp>
        <p:nvSpPr>
          <p:cNvPr id="20" name="Rounded Rectangle 19"/>
          <p:cNvSpPr/>
          <p:nvPr/>
        </p:nvSpPr>
        <p:spPr>
          <a:xfrm>
            <a:off x="12435840" y="6080760"/>
            <a:ext cx="3749039" cy="96012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527280" y="6126480"/>
            <a:ext cx="3566160" cy="868680"/>
          </a:xfrm>
          <a:prstGeom prst="rect">
            <a:avLst/>
          </a:prstGeom>
          <a:noFill/>
        </p:spPr>
        <p:txBody>
          <a:bodyPr wrap="none" lIns="0" tIns="0" rIns="0" bIns="0">
            <a:spAutoFit/>
          </a:bodyPr>
          <a:lstStyle/>
          <a:p>
            <a:pPr algn="ctr">
              <a:defRPr sz="1000" b="1">
                <a:solidFill>
                  <a:srgbClr val="F59E0B"/>
                </a:solidFill>
                <a:latin typeface="Calibri"/>
              </a:defRPr>
            </a:pPr>
            <a:r>
              <a:t>CHỈ SỐ ĐO LƯỜNG (KPI)</a:t>
            </a:r>
          </a:p>
          <a:p>
            <a:pPr algn="ctr">
              <a:defRPr sz="1100" b="1">
                <a:solidFill>
                  <a:srgbClr val="FFFFFF"/>
                </a:solidFill>
                <a:latin typeface="Calibri"/>
              </a:defRPr>
            </a:pPr>
            <a:r>
              <a:t>KPI: Duy trì tần suất quẹt thẻ ≥ 5 lần/tháng</a:t>
            </a:r>
          </a:p>
        </p:txBody>
      </p:sp>
      <p:sp>
        <p:nvSpPr>
          <p:cNvPr id="22" name="Rounded Rectangle 21"/>
          <p:cNvSpPr/>
          <p:nvPr/>
        </p:nvSpPr>
        <p:spPr>
          <a:xfrm>
            <a:off x="1371600" y="7543800"/>
            <a:ext cx="15087600" cy="160020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7543800"/>
            <a:ext cx="164592" cy="160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7653528"/>
            <a:ext cx="10515600" cy="1371600"/>
          </a:xfrm>
          <a:prstGeom prst="rect">
            <a:avLst/>
          </a:prstGeom>
          <a:noFill/>
        </p:spPr>
        <p:txBody>
          <a:bodyPr wrap="square">
            <a:spAutoFit/>
          </a:bodyPr>
          <a:lstStyle/>
          <a:p>
            <a:pPr>
              <a:spcAft>
                <a:spcPts val="400"/>
              </a:spcAft>
              <a:defRPr sz="1700" b="1">
                <a:solidFill>
                  <a:srgbClr val="10B981"/>
                </a:solidFill>
                <a:latin typeface="Bebas Neue"/>
              </a:defRPr>
            </a:pPr>
            <a:r>
              <a:t>TẦNG 4: BÁN CHÉO HỆ SINH THÁI (CROSS-SELLING &amp; LOCK-IN)</a:t>
            </a:r>
          </a:p>
          <a:p>
            <a:pPr>
              <a:defRPr sz="1200">
                <a:solidFill>
                  <a:srgbClr val="E2E8F0"/>
                </a:solidFill>
                <a:latin typeface="Calibri"/>
              </a:defRPr>
            </a:pPr>
            <a:r>
              <a:t>Xây dựng gói Combo tích hợp: Liên kết thẻ tín dụng với tài khoản nhận lương, tiền gửi tiết kiệm và ví điện tử VNPAY/MoMo. Miễn phí thường niên trọn đời khi duy trì số dư CASA.</a:t>
            </a:r>
          </a:p>
        </p:txBody>
      </p:sp>
      <p:sp>
        <p:nvSpPr>
          <p:cNvPr id="25" name="Rounded Rectangle 24"/>
          <p:cNvSpPr/>
          <p:nvPr/>
        </p:nvSpPr>
        <p:spPr>
          <a:xfrm>
            <a:off x="12435840" y="7863840"/>
            <a:ext cx="3749039" cy="960120"/>
          </a:xfrm>
          <a:prstGeom prst="roundRect">
            <a:avLst/>
          </a:prstGeom>
          <a:solidFill>
            <a:srgbClr val="2026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527280" y="7909560"/>
            <a:ext cx="3566160" cy="868680"/>
          </a:xfrm>
          <a:prstGeom prst="rect">
            <a:avLst/>
          </a:prstGeom>
          <a:noFill/>
        </p:spPr>
        <p:txBody>
          <a:bodyPr wrap="none" lIns="0" tIns="0" rIns="0" bIns="0">
            <a:spAutoFit/>
          </a:bodyPr>
          <a:lstStyle/>
          <a:p>
            <a:pPr algn="ctr">
              <a:defRPr sz="1000" b="1">
                <a:solidFill>
                  <a:srgbClr val="10B981"/>
                </a:solidFill>
                <a:latin typeface="Calibri"/>
              </a:defRPr>
            </a:pPr>
            <a:r>
              <a:t>CHỈ SỐ ĐO LƯỜNG (KPI)</a:t>
            </a:r>
          </a:p>
          <a:p>
            <a:pPr algn="ctr">
              <a:defRPr sz="1100" b="1">
                <a:solidFill>
                  <a:srgbClr val="FFFFFF"/>
                </a:solidFill>
                <a:latin typeface="Calibri"/>
              </a:defRPr>
            </a:pPr>
            <a:r>
              <a:t>KPI: Khách hàng sở hữu ≥ 4 sản phẩm &gt; 65%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06: TÀI CHÍNH &amp; TỔNG KẾT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Mô Phỏng Tài Chính: Giữ Chân 960 Khách, Tạo Lợi Nhuận Ròng +$400,000 USD (ROI 500%)</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7260336"/>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06</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3520440" cy="7315200"/>
          </a:xfrm>
          <a:prstGeom prst="roundRect">
            <a:avLst/>
          </a:prstGeom>
          <a:solidFill>
            <a:srgbClr val="181C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481328" y="2331720"/>
            <a:ext cx="3300984" cy="1280160"/>
          </a:xfrm>
          <a:prstGeom prst="roundRect">
            <a:avLst/>
          </a:prstGeom>
          <a:solidFill>
            <a:srgbClr val="20262E"/>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EF4444"/>
                </a:solidFill>
                <a:latin typeface="Calibri"/>
              </a:defRPr>
            </a:pPr>
            <a:r>
              <a:t>BƯỚC 1: ĐẦU TƯ CRC</a:t>
            </a:r>
          </a:p>
          <a:p>
            <a:pPr>
              <a:defRPr sz="2800" b="1">
                <a:solidFill>
                  <a:srgbClr val="EF4444"/>
                </a:solidFill>
                <a:latin typeface="Bebas Neue"/>
              </a:defRPr>
            </a:pPr>
            <a:r>
              <a:t>$80,000 USD</a:t>
            </a:r>
          </a:p>
        </p:txBody>
      </p:sp>
      <p:sp>
        <p:nvSpPr>
          <p:cNvPr id="9" name="TextBox 8"/>
          <p:cNvSpPr txBox="1"/>
          <p:nvPr/>
        </p:nvSpPr>
        <p:spPr>
          <a:xfrm>
            <a:off x="1536192"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Quy mô danh mục: </a:t>
            </a:r>
            <a:r>
              <a:rPr sz="1150">
                <a:solidFill>
                  <a:srgbClr val="E2E8F0"/>
                </a:solidFill>
                <a:latin typeface="Calibri"/>
              </a:rPr>
              <a:t>10,000 khách hàng thẻ tín dụng.</a:t>
            </a:r>
          </a:p>
          <a:p>
            <a:pPr>
              <a:spcAft>
                <a:spcPts val="900"/>
              </a:spcAft>
            </a:pPr>
            <a:r>
              <a:rPr sz="1150" b="1">
                <a:solidFill>
                  <a:srgbClr val="F59E0B"/>
                </a:solidFill>
                <a:latin typeface="Calibri"/>
              </a:rPr>
              <a:t>Lượng khách Churn tự nhiên: </a:t>
            </a:r>
            <a:r>
              <a:rPr sz="1150">
                <a:solidFill>
                  <a:srgbClr val="E2E8F0"/>
                </a:solidFill>
                <a:latin typeface="Calibri"/>
              </a:rPr>
              <a:t>1,607 khách hàng (tỷ lệ 16.07%).</a:t>
            </a:r>
          </a:p>
          <a:p>
            <a:pPr>
              <a:spcAft>
                <a:spcPts val="900"/>
              </a:spcAft>
            </a:pPr>
            <a:r>
              <a:rPr sz="1150" b="1">
                <a:solidFill>
                  <a:srgbClr val="F59E0B"/>
                </a:solidFill>
                <a:latin typeface="Calibri"/>
              </a:rPr>
              <a:t>Tổng ngân sách giữ chân: </a:t>
            </a:r>
            <a:r>
              <a:rPr sz="1150">
                <a:solidFill>
                  <a:srgbClr val="E2E8F0"/>
                </a:solidFill>
                <a:latin typeface="Calibri"/>
              </a:rPr>
              <a:t>Can thiệp ưu đãi cho 1,600 khách hàng.</a:t>
            </a:r>
          </a:p>
          <a:p>
            <a:pPr>
              <a:spcAft>
                <a:spcPts val="900"/>
              </a:spcAft>
            </a:pPr>
            <a:r>
              <a:rPr sz="1150" b="1">
                <a:solidFill>
                  <a:srgbClr val="F59E0B"/>
                </a:solidFill>
                <a:latin typeface="Calibri"/>
              </a:rPr>
              <a:t>Chi phí bình quân: </a:t>
            </a:r>
            <a:r>
              <a:rPr sz="1150">
                <a:solidFill>
                  <a:srgbClr val="E2E8F0"/>
                </a:solidFill>
                <a:latin typeface="Calibri"/>
              </a:rPr>
              <a:t>50 USD/khách hàng (E-voucher, CSKH, miễn phí).</a:t>
            </a:r>
          </a:p>
        </p:txBody>
      </p:sp>
      <p:sp>
        <p:nvSpPr>
          <p:cNvPr id="10" name="Rounded Rectangle 9"/>
          <p:cNvSpPr/>
          <p:nvPr/>
        </p:nvSpPr>
        <p:spPr>
          <a:xfrm>
            <a:off x="5074920" y="2194560"/>
            <a:ext cx="352044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84648" y="2331720"/>
            <a:ext cx="3300984" cy="1280160"/>
          </a:xfrm>
          <a:prstGeom prst="roundRect">
            <a:avLst/>
          </a:prstGeom>
          <a:solidFill>
            <a:srgbClr val="20262E"/>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EA580C"/>
                </a:solidFill>
                <a:latin typeface="Calibri"/>
              </a:defRPr>
            </a:pPr>
            <a:r>
              <a:t>BƯỚC 2: XGBOOST (t=0.42)</a:t>
            </a:r>
          </a:p>
          <a:p>
            <a:pPr>
              <a:defRPr sz="2800" b="1">
                <a:solidFill>
                  <a:srgbClr val="EA580C"/>
                </a:solidFill>
                <a:latin typeface="Bebas Neue"/>
              </a:defRPr>
            </a:pPr>
            <a:r>
              <a:t>91.38% RECALL</a:t>
            </a:r>
          </a:p>
        </p:txBody>
      </p:sp>
      <p:sp>
        <p:nvSpPr>
          <p:cNvPr id="12" name="TextBox 11"/>
          <p:cNvSpPr txBox="1"/>
          <p:nvPr/>
        </p:nvSpPr>
        <p:spPr>
          <a:xfrm>
            <a:off x="5239512"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Năng lực nhận diện: </a:t>
            </a:r>
            <a:r>
              <a:rPr sz="1150">
                <a:solidFill>
                  <a:srgbClr val="E2E8F0"/>
                </a:solidFill>
                <a:latin typeface="Calibri"/>
              </a:rPr>
              <a:t>Phát hiện chính xác 1,468 khách hàng có nguy cơ đóng thẻ.</a:t>
            </a:r>
          </a:p>
          <a:p>
            <a:pPr>
              <a:spcAft>
                <a:spcPts val="900"/>
              </a:spcAft>
            </a:pPr>
            <a:r>
              <a:rPr sz="1150" b="1">
                <a:solidFill>
                  <a:srgbClr val="F59E0B"/>
                </a:solidFill>
                <a:latin typeface="Calibri"/>
              </a:rPr>
              <a:t>Kiểm soát rủi ro: </a:t>
            </a:r>
            <a:r>
              <a:rPr sz="1150">
                <a:solidFill>
                  <a:srgbClr val="E2E8F0"/>
                </a:solidFill>
                <a:latin typeface="Calibri"/>
              </a:rPr>
              <a:t>Chỉ bỏ sót 8.62% số khách hàng rời bỏ.</a:t>
            </a:r>
          </a:p>
          <a:p>
            <a:pPr>
              <a:spcAft>
                <a:spcPts val="900"/>
              </a:spcAft>
            </a:pPr>
            <a:r>
              <a:rPr sz="1150" b="1">
                <a:solidFill>
                  <a:srgbClr val="F59E0B"/>
                </a:solidFill>
                <a:latin typeface="Calibri"/>
              </a:rPr>
              <a:t>Độ tin cậy cảnh báo: </a:t>
            </a:r>
            <a:r>
              <a:rPr sz="1150">
                <a:solidFill>
                  <a:srgbClr val="E2E8F0"/>
                </a:solidFill>
                <a:latin typeface="Calibri"/>
              </a:rPr>
              <a:t>Precision 91.08%, hạn chế tối đa chi phí can thiệp lãng phí.</a:t>
            </a:r>
          </a:p>
        </p:txBody>
      </p:sp>
      <p:sp>
        <p:nvSpPr>
          <p:cNvPr id="13" name="Rounded Rectangle 12"/>
          <p:cNvSpPr/>
          <p:nvPr/>
        </p:nvSpPr>
        <p:spPr>
          <a:xfrm>
            <a:off x="8778240" y="2194560"/>
            <a:ext cx="3520440"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887968" y="2331720"/>
            <a:ext cx="3300984" cy="1280160"/>
          </a:xfrm>
          <a:prstGeom prst="roundRect">
            <a:avLst/>
          </a:prstGeom>
          <a:solidFill>
            <a:srgbClr val="20262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38BDF8"/>
                </a:solidFill>
                <a:latin typeface="Calibri"/>
              </a:defRPr>
            </a:pPr>
            <a:r>
              <a:t>BƯỚC 3: BẢO TOÀN CLV</a:t>
            </a:r>
          </a:p>
          <a:p>
            <a:pPr>
              <a:defRPr sz="2800" b="1">
                <a:solidFill>
                  <a:srgbClr val="38BDF8"/>
                </a:solidFill>
                <a:latin typeface="Bebas Neue"/>
              </a:defRPr>
            </a:pPr>
            <a:r>
              <a:t>$480,000 USD</a:t>
            </a:r>
          </a:p>
        </p:txBody>
      </p:sp>
      <p:sp>
        <p:nvSpPr>
          <p:cNvPr id="15" name="TextBox 14"/>
          <p:cNvSpPr txBox="1"/>
          <p:nvPr/>
        </p:nvSpPr>
        <p:spPr>
          <a:xfrm>
            <a:off x="8942832"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Xác suất cứu vãn kỳ vọng: </a:t>
            </a:r>
            <a:r>
              <a:rPr sz="1150">
                <a:solidFill>
                  <a:srgbClr val="E2E8F0"/>
                </a:solidFill>
                <a:latin typeface="Calibri"/>
              </a:rPr>
              <a:t>75% khách hàng được can thiệp đồng ý duy trì thẻ.</a:t>
            </a:r>
          </a:p>
          <a:p>
            <a:pPr>
              <a:spcAft>
                <a:spcPts val="900"/>
              </a:spcAft>
            </a:pPr>
            <a:r>
              <a:rPr sz="1150" b="1">
                <a:solidFill>
                  <a:srgbClr val="F59E0B"/>
                </a:solidFill>
                <a:latin typeface="Calibri"/>
              </a:rPr>
              <a:t>Số khách giữ chân thành công: </a:t>
            </a:r>
            <a:r>
              <a:rPr sz="1150">
                <a:solidFill>
                  <a:srgbClr val="E2E8F0"/>
                </a:solidFill>
                <a:latin typeface="Calibri"/>
              </a:rPr>
              <a:t>960 khách hàng được bảo vệ thành công.</a:t>
            </a:r>
          </a:p>
          <a:p>
            <a:pPr>
              <a:spcAft>
                <a:spcPts val="900"/>
              </a:spcAft>
            </a:pPr>
            <a:r>
              <a:rPr sz="1150" b="1">
                <a:solidFill>
                  <a:srgbClr val="F59E0B"/>
                </a:solidFill>
                <a:latin typeface="Calibri"/>
              </a:rPr>
              <a:t>Giá trị vòng đời CLV: </a:t>
            </a:r>
            <a:r>
              <a:rPr sz="1150">
                <a:solidFill>
                  <a:srgbClr val="E2E8F0"/>
                </a:solidFill>
                <a:latin typeface="Calibri"/>
              </a:rPr>
              <a:t>Bảo toàn $500 USD CLV/khách hàng.</a:t>
            </a:r>
          </a:p>
          <a:p>
            <a:pPr>
              <a:spcAft>
                <a:spcPts val="900"/>
              </a:spcAft>
            </a:pPr>
            <a:r>
              <a:rPr sz="1150" b="1">
                <a:solidFill>
                  <a:srgbClr val="F59E0B"/>
                </a:solidFill>
                <a:latin typeface="Calibri"/>
              </a:rPr>
              <a:t>Tổng giá trị cứu vãn: </a:t>
            </a:r>
            <a:r>
              <a:rPr sz="1150">
                <a:solidFill>
                  <a:srgbClr val="E2E8F0"/>
                </a:solidFill>
                <a:latin typeface="Calibri"/>
              </a:rPr>
              <a:t>960 * $500 = $480,000 USD.</a:t>
            </a:r>
          </a:p>
        </p:txBody>
      </p:sp>
      <p:sp>
        <p:nvSpPr>
          <p:cNvPr id="16" name="Rounded Rectangle 15"/>
          <p:cNvSpPr/>
          <p:nvPr/>
        </p:nvSpPr>
        <p:spPr>
          <a:xfrm>
            <a:off x="12481559" y="2194560"/>
            <a:ext cx="3520440" cy="7315200"/>
          </a:xfrm>
          <a:prstGeom prst="roundRect">
            <a:avLst/>
          </a:prstGeom>
          <a:solidFill>
            <a:srgbClr val="181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591287" y="2331720"/>
            <a:ext cx="3300984" cy="1280160"/>
          </a:xfrm>
          <a:prstGeom prst="roundRect">
            <a:avLst/>
          </a:prstGeom>
          <a:solidFill>
            <a:srgbClr val="2026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10B981"/>
                </a:solidFill>
                <a:latin typeface="Calibri"/>
              </a:defRPr>
            </a:pPr>
            <a:r>
              <a:t>BƯỚC 4: LỢI NHUẬN RÒNG</a:t>
            </a:r>
          </a:p>
          <a:p>
            <a:pPr>
              <a:defRPr sz="2800" b="1">
                <a:solidFill>
                  <a:srgbClr val="10B981"/>
                </a:solidFill>
                <a:latin typeface="Bebas Neue"/>
              </a:defRPr>
            </a:pPr>
            <a:r>
              <a:t>+$400,000 USD</a:t>
            </a:r>
          </a:p>
        </p:txBody>
      </p:sp>
      <p:sp>
        <p:nvSpPr>
          <p:cNvPr id="18" name="TextBox 17"/>
          <p:cNvSpPr txBox="1"/>
          <p:nvPr/>
        </p:nvSpPr>
        <p:spPr>
          <a:xfrm>
            <a:off x="12646151" y="3794760"/>
            <a:ext cx="3200400" cy="5486400"/>
          </a:xfrm>
          <a:prstGeom prst="rect">
            <a:avLst/>
          </a:prstGeom>
          <a:noFill/>
        </p:spPr>
        <p:txBody>
          <a:bodyPr wrap="square">
            <a:spAutoFit/>
          </a:bodyPr>
          <a:lstStyle/>
          <a:p/>
          <a:p>
            <a:pPr>
              <a:spcAft>
                <a:spcPts val="900"/>
              </a:spcAft>
            </a:pPr>
            <a:r>
              <a:rPr sz="1150" b="1">
                <a:solidFill>
                  <a:srgbClr val="F59E0B"/>
                </a:solidFill>
                <a:latin typeface="Calibri"/>
              </a:rPr>
              <a:t>Lợi nhuận ròng tăng thêm: </a:t>
            </a:r>
            <a:r>
              <a:rPr sz="1150">
                <a:solidFill>
                  <a:srgbClr val="E2E8F0"/>
                </a:solidFill>
                <a:latin typeface="Calibri"/>
              </a:rPr>
              <a:t>$480,000 (CLV) - $80,000 (CRC) = +$400,000 USD/năm.</a:t>
            </a:r>
          </a:p>
          <a:p>
            <a:pPr>
              <a:spcAft>
                <a:spcPts val="900"/>
              </a:spcAft>
            </a:pPr>
            <a:r>
              <a:rPr sz="1150" b="1">
                <a:solidFill>
                  <a:srgbClr val="F59E0B"/>
                </a:solidFill>
                <a:latin typeface="Calibri"/>
              </a:rPr>
              <a:t>TỶ SUẤT HOÀN VỐN (ROI): </a:t>
            </a:r>
            <a:r>
              <a:rPr sz="1150">
                <a:solidFill>
                  <a:srgbClr val="E2E8F0"/>
                </a:solidFill>
                <a:latin typeface="Calibri"/>
              </a:rPr>
              <a:t>($400,000 / $80,000) * 100% = 500%.</a:t>
            </a:r>
          </a:p>
          <a:p>
            <a:pPr>
              <a:spcAft>
                <a:spcPts val="900"/>
              </a:spcAft>
            </a:pPr>
            <a:r>
              <a:rPr sz="1150" b="1">
                <a:solidFill>
                  <a:srgbClr val="F59E0B"/>
                </a:solidFill>
                <a:latin typeface="Calibri"/>
              </a:rPr>
              <a:t>Ý nghĩa kinh tế: </a:t>
            </a:r>
            <a:r>
              <a:rPr sz="1150">
                <a:solidFill>
                  <a:srgbClr val="E2E8F0"/>
                </a:solidFill>
                <a:latin typeface="Calibri"/>
              </a:rPr>
              <a:t>Khẳng định tính khả thi vượt trội của dự án đầu tư hệ thống Machine Learning tại ngân hàng.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bgPr>
        <a:gradFill>
          <a:gsLst>
            <a:gs pos="0">
              <a:srgbClr val="2E2E2E">
                <a:alpha val="0"/>
              </a:srgbClr>
            </a:gs>
            <a:gs pos="50000">
              <a:srgbClr val="737373">
                <a:alpha val="69803"/>
              </a:srgbClr>
            </a:gs>
            <a:gs pos="100000">
              <a:srgbClr val="494848">
                <a:alpha val="78431"/>
              </a:srgbClr>
            </a:gs>
          </a:gsLst>
          <a:path path="circle">
            <a:fillToRect b="100000" r="100000"/>
          </a:path>
          <a:tileRect l="-100000" t="-100000"/>
        </a:gradFill>
      </p:bgPr>
    </p:bg>
    <p:spTree>
      <p:nvGrpSpPr>
        <p:cNvPr id="1" name=""/>
        <p:cNvGrpSpPr/>
        <p:nvPr/>
      </p:nvGrpSpPr>
      <p:grpSpPr/>
      <p:sp>
        <p:nvSpPr>
          <p:cNvPr id="2" name="TextBox 1"/>
          <p:cNvSpPr txBox="1"/>
          <p:nvPr/>
        </p:nvSpPr>
        <p:spPr>
          <a:xfrm>
            <a:off x="1371600" y="411480"/>
            <a:ext cx="13258800" cy="320040"/>
          </a:xfrm>
          <a:prstGeom prst="rect">
            <a:avLst/>
          </a:prstGeom>
          <a:noFill/>
        </p:spPr>
        <p:txBody>
          <a:bodyPr wrap="square" lIns="0" tIns="0" rIns="0" bIns="0">
            <a:spAutoFit/>
          </a:bodyPr>
          <a:lstStyle/>
          <a:p>
            <a:pPr>
              <a:defRPr sz="1600" b="0">
                <a:solidFill>
                  <a:srgbClr val="EA580C"/>
                </a:solidFill>
                <a:latin typeface="Bebas Neue"/>
              </a:defRPr>
            </a:pPr>
            <a:r>
              <a:t>PHẦN 06: TÀI CHÍNH &amp; TỔNG KẾT  |  HỌC VIỆN NGÂN HÀNG</a:t>
            </a:r>
          </a:p>
        </p:txBody>
      </p:sp>
      <p:sp>
        <p:nvSpPr>
          <p:cNvPr id="3" name="TextBox 2"/>
          <p:cNvSpPr txBox="1"/>
          <p:nvPr/>
        </p:nvSpPr>
        <p:spPr>
          <a:xfrm>
            <a:off x="1371600" y="777240"/>
            <a:ext cx="13533120" cy="1051560"/>
          </a:xfrm>
          <a:prstGeom prst="rect">
            <a:avLst/>
          </a:prstGeom>
          <a:noFill/>
        </p:spPr>
        <p:txBody>
          <a:bodyPr wrap="square" lIns="0" tIns="0" rIns="0" bIns="0">
            <a:spAutoFit/>
          </a:bodyPr>
          <a:lstStyle/>
          <a:p>
            <a:pPr>
              <a:defRPr sz="2800" b="1">
                <a:solidFill>
                  <a:srgbClr val="FFFFFF"/>
                </a:solidFill>
                <a:latin typeface="Calibri"/>
              </a:defRPr>
            </a:pPr>
            <a:r>
              <a:t>Tổng Kết Học Thuật: Đóng Góp Thực Tiễn, Giới Hạn &amp; Định Hướng MLOps / TabNet</a:t>
            </a:r>
          </a:p>
        </p:txBody>
      </p:sp>
      <p:sp>
        <p:nvSpPr>
          <p:cNvPr id="4" name="Rectangle 3"/>
          <p:cNvSpPr/>
          <p:nvPr/>
        </p:nvSpPr>
        <p:spPr>
          <a:xfrm>
            <a:off x="1371600" y="1901952"/>
            <a:ext cx="1389888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34688" y="7260336"/>
            <a:ext cx="585216" cy="585216"/>
          </a:xfrm>
          <a:prstGeom prst="ellipse">
            <a:avLst/>
          </a:prstGeom>
          <a:solidFill>
            <a:srgbClr val="EA58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500" b="1">
                <a:solidFill>
                  <a:srgbClr val="FFFFFF"/>
                </a:solidFill>
                <a:latin typeface="Calibri"/>
              </a:defRPr>
            </a:pPr>
            <a:r>
              <a:t>06</a:t>
            </a:r>
          </a:p>
        </p:txBody>
      </p:sp>
      <p:sp>
        <p:nvSpPr>
          <p:cNvPr id="6" name="TextBox 5"/>
          <p:cNvSpPr txBox="1"/>
          <p:nvPr/>
        </p:nvSpPr>
        <p:spPr>
          <a:xfrm>
            <a:off x="1371600" y="9784080"/>
            <a:ext cx="13898880" cy="274320"/>
          </a:xfrm>
          <a:prstGeom prst="rect">
            <a:avLst/>
          </a:prstGeom>
          <a:noFill/>
        </p:spPr>
        <p:txBody>
          <a:bodyPr wrap="none" lIns="0" tIns="0" rIns="0" bIns="0">
            <a:spAutoFit/>
          </a:bodyPr>
          <a:lstStyle/>
          <a:p>
            <a:pPr>
              <a:defRPr sz="1300">
                <a:solidFill>
                  <a:srgbClr val="64748B"/>
                </a:solidFill>
                <a:latin typeface="Bebas Neue"/>
              </a:defRPr>
            </a:pPr>
            <a:r>
              <a:t>HỌC VIỆN NGÂN HÀNG  •  KHOA HỆ THỐNG THÔNG TIN QUẢN LÝ  •  HỌC VIÊN: ĐỖ VĂN ĐẠT</a:t>
            </a:r>
          </a:p>
        </p:txBody>
      </p:sp>
      <p:sp>
        <p:nvSpPr>
          <p:cNvPr id="7" name="Rounded Rectangle 6"/>
          <p:cNvSpPr/>
          <p:nvPr/>
        </p:nvSpPr>
        <p:spPr>
          <a:xfrm>
            <a:off x="1371600" y="2194560"/>
            <a:ext cx="4754880" cy="7315200"/>
          </a:xfrm>
          <a:prstGeom prst="roundRect">
            <a:avLst/>
          </a:prstGeom>
          <a:solidFill>
            <a:srgbClr val="181C2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481328" y="2331720"/>
            <a:ext cx="4535424" cy="777240"/>
          </a:xfrm>
          <a:prstGeom prst="roundRect">
            <a:avLst/>
          </a:prstGeom>
          <a:solidFill>
            <a:srgbClr val="2026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700" b="1">
                <a:solidFill>
                  <a:srgbClr val="F59E0B"/>
                </a:solidFill>
                <a:latin typeface="Bebas Neue"/>
              </a:defRPr>
            </a:pPr>
            <a:r>
              <a:t>1. ĐÓNG GÓP CỦA ĐỀ TÀI</a:t>
            </a:r>
          </a:p>
        </p:txBody>
      </p:sp>
      <p:sp>
        <p:nvSpPr>
          <p:cNvPr id="9" name="TextBox 8"/>
          <p:cNvSpPr txBox="1"/>
          <p:nvPr/>
        </p:nvSpPr>
        <p:spPr>
          <a:xfrm>
            <a:off x="1536192" y="3291840"/>
            <a:ext cx="4434840" cy="5943600"/>
          </a:xfrm>
          <a:prstGeom prst="rect">
            <a:avLst/>
          </a:prstGeom>
          <a:noFill/>
        </p:spPr>
        <p:txBody>
          <a:bodyPr wrap="square">
            <a:spAutoFit/>
          </a:bodyPr>
          <a:lstStyle/>
          <a:p/>
          <a:p>
            <a:pPr>
              <a:spcAft>
                <a:spcPts val="1000"/>
              </a:spcAft>
            </a:pPr>
            <a:r>
              <a:rPr sz="1200" b="1">
                <a:solidFill>
                  <a:srgbClr val="F59E0B"/>
                </a:solidFill>
                <a:latin typeface="Calibri"/>
              </a:rPr>
              <a:t>Xây dựng Pipeline hoàn chỉnh: </a:t>
            </a:r>
            <a:r>
              <a:rPr sz="1200">
                <a:solidFill>
                  <a:srgbClr val="E2E8F0"/>
                </a:solidFill>
                <a:latin typeface="Calibri"/>
              </a:rPr>
              <a:t>Giải quyết trọn vẹn từ làm sạch, ngăn rò rỉ dữ liệu Naive Bayes đến mô hình hóa.</a:t>
            </a:r>
          </a:p>
          <a:p>
            <a:pPr>
              <a:spcAft>
                <a:spcPts val="1000"/>
              </a:spcAft>
            </a:pPr>
            <a:r>
              <a:rPr sz="1200" b="1">
                <a:solidFill>
                  <a:srgbClr val="F59E0B"/>
                </a:solidFill>
                <a:latin typeface="Calibri"/>
              </a:rPr>
              <a:t>Hiệu năng vượt trội: </a:t>
            </a:r>
            <a:r>
              <a:rPr sz="1200">
                <a:solidFill>
                  <a:srgbClr val="E2E8F0"/>
                </a:solidFill>
                <a:latin typeface="Calibri"/>
              </a:rPr>
              <a:t>XGBoost đạt ROC-AUC 0.9930 và Recall 91.38%, kiểm soát tối ưu sai số Loại I và II.</a:t>
            </a:r>
          </a:p>
          <a:p>
            <a:pPr>
              <a:spcAft>
                <a:spcPts val="1000"/>
              </a:spcAft>
            </a:pPr>
            <a:r>
              <a:rPr sz="1200" b="1">
                <a:solidFill>
                  <a:srgbClr val="F59E0B"/>
                </a:solidFill>
                <a:latin typeface="Calibri"/>
              </a:rPr>
              <a:t>Chuyển giao kinh tế định lượng: </a:t>
            </a:r>
            <a:r>
              <a:rPr sz="1200">
                <a:solidFill>
                  <a:srgbClr val="E2E8F0"/>
                </a:solidFill>
                <a:latin typeface="Calibri"/>
              </a:rPr>
              <a:t>Tối ưu hóa điểm cắt t* = 0.42 và lượng hóa lợi nhuận ròng +$400,000 USD/năm.</a:t>
            </a:r>
          </a:p>
        </p:txBody>
      </p:sp>
      <p:sp>
        <p:nvSpPr>
          <p:cNvPr id="10" name="Rounded Rectangle 9"/>
          <p:cNvSpPr/>
          <p:nvPr/>
        </p:nvSpPr>
        <p:spPr>
          <a:xfrm>
            <a:off x="6400800" y="2194560"/>
            <a:ext cx="4754880" cy="7315200"/>
          </a:xfrm>
          <a:prstGeom prst="roundRect">
            <a:avLst/>
          </a:prstGeom>
          <a:solidFill>
            <a:srgbClr val="181C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10528" y="2331720"/>
            <a:ext cx="4535424" cy="777240"/>
          </a:xfrm>
          <a:prstGeom prst="roundRect">
            <a:avLst/>
          </a:prstGeom>
          <a:solidFill>
            <a:srgbClr val="20262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700" b="1">
                <a:solidFill>
                  <a:srgbClr val="38BDF8"/>
                </a:solidFill>
                <a:latin typeface="Bebas Neue"/>
              </a:defRPr>
            </a:pPr>
            <a:r>
              <a:t>2. HẠN CHẾ &amp; HƯỚNG ĐI</a:t>
            </a:r>
          </a:p>
        </p:txBody>
      </p:sp>
      <p:sp>
        <p:nvSpPr>
          <p:cNvPr id="12" name="TextBox 11"/>
          <p:cNvSpPr txBox="1"/>
          <p:nvPr/>
        </p:nvSpPr>
        <p:spPr>
          <a:xfrm>
            <a:off x="6565392" y="3291840"/>
            <a:ext cx="4434840" cy="5943600"/>
          </a:xfrm>
          <a:prstGeom prst="rect">
            <a:avLst/>
          </a:prstGeom>
          <a:noFill/>
        </p:spPr>
        <p:txBody>
          <a:bodyPr wrap="square">
            <a:spAutoFit/>
          </a:bodyPr>
          <a:lstStyle/>
          <a:p/>
          <a:p>
            <a:pPr>
              <a:spcAft>
                <a:spcPts val="1000"/>
              </a:spcAft>
            </a:pPr>
            <a:r>
              <a:rPr sz="1200" b="1">
                <a:solidFill>
                  <a:srgbClr val="F59E0B"/>
                </a:solidFill>
                <a:latin typeface="Calibri"/>
              </a:rPr>
              <a:t>Hạn chế dữ liệu cắt ngang: </a:t>
            </a:r>
            <a:r>
              <a:rPr sz="1200">
                <a:solidFill>
                  <a:srgbClr val="E2E8F0"/>
                </a:solidFill>
                <a:latin typeface="Calibri"/>
              </a:rPr>
              <a:t>Tập dữ liệu dạng bảng cắt ngang (Cross-sectional), chưa ghi nhận chuỗi thời gian liên tục POS.</a:t>
            </a:r>
          </a:p>
          <a:p>
            <a:pPr>
              <a:spcAft>
                <a:spcPts val="1000"/>
              </a:spcAft>
            </a:pPr>
            <a:r>
              <a:rPr sz="1200" b="1">
                <a:solidFill>
                  <a:srgbClr val="F59E0B"/>
                </a:solidFill>
                <a:latin typeface="Calibri"/>
              </a:rPr>
              <a:t>Thử nghiệm kiến trúc Deep Learning: </a:t>
            </a:r>
            <a:r>
              <a:rPr sz="1200">
                <a:solidFill>
                  <a:srgbClr val="E2E8F0"/>
                </a:solidFill>
                <a:latin typeface="Calibri"/>
              </a:rPr>
              <a:t>Mở rộng thử nghiệm TabNet / Tabular Transformers cho dữ liệu tài chính.</a:t>
            </a:r>
          </a:p>
          <a:p>
            <a:pPr>
              <a:spcAft>
                <a:spcPts val="1000"/>
              </a:spcAft>
            </a:pPr>
            <a:r>
              <a:rPr sz="1200" b="1">
                <a:solidFill>
                  <a:srgbClr val="F59E0B"/>
                </a:solidFill>
                <a:latin typeface="Calibri"/>
              </a:rPr>
              <a:t>Triển khai MLOps thời gian thực: </a:t>
            </a:r>
            <a:r>
              <a:rPr sz="1200">
                <a:solidFill>
                  <a:srgbClr val="E2E8F0"/>
                </a:solidFill>
                <a:latin typeface="Calibri"/>
              </a:rPr>
              <a:t>Tích hợp Kafka Streaming và mô hình SHAP Waterfall giải thích cá thể hóa cho từng cán bộ RM.</a:t>
            </a:r>
          </a:p>
        </p:txBody>
      </p:sp>
      <p:sp>
        <p:nvSpPr>
          <p:cNvPr id="13" name="Rounded Rectangle 12"/>
          <p:cNvSpPr/>
          <p:nvPr/>
        </p:nvSpPr>
        <p:spPr>
          <a:xfrm>
            <a:off x="11430000" y="2194560"/>
            <a:ext cx="4754880" cy="7315200"/>
          </a:xfrm>
          <a:prstGeom prst="roundRect">
            <a:avLst/>
          </a:prstGeom>
          <a:solidFill>
            <a:srgbClr val="181C22"/>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539728" y="2331720"/>
            <a:ext cx="4535424" cy="777240"/>
          </a:xfrm>
          <a:prstGeom prst="roundRect">
            <a:avLst/>
          </a:prstGeom>
          <a:solidFill>
            <a:srgbClr val="20262E"/>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700" b="1">
                <a:solidFill>
                  <a:srgbClr val="EA580C"/>
                </a:solidFill>
                <a:latin typeface="Bebas Neue"/>
              </a:defRPr>
            </a:pPr>
            <a:r>
              <a:t>3. PHIÊN HỎI ĐÁP (Q&amp;A)</a:t>
            </a:r>
          </a:p>
        </p:txBody>
      </p:sp>
      <p:sp>
        <p:nvSpPr>
          <p:cNvPr id="15" name="TextBox 14"/>
          <p:cNvSpPr txBox="1"/>
          <p:nvPr/>
        </p:nvSpPr>
        <p:spPr>
          <a:xfrm>
            <a:off x="11594592" y="3291840"/>
            <a:ext cx="4434840" cy="5943600"/>
          </a:xfrm>
          <a:prstGeom prst="rect">
            <a:avLst/>
          </a:prstGeom>
          <a:noFill/>
        </p:spPr>
        <p:txBody>
          <a:bodyPr wrap="square">
            <a:spAutoFit/>
          </a:bodyPr>
          <a:lstStyle/>
          <a:p/>
          <a:p>
            <a:pPr>
              <a:spcAft>
                <a:spcPts val="1000"/>
              </a:spcAft>
            </a:pPr>
            <a:r>
              <a:rPr sz="1200" b="1">
                <a:solidFill>
                  <a:srgbClr val="F59E0B"/>
                </a:solidFill>
                <a:latin typeface="Calibri"/>
              </a:rPr>
              <a:t>Trân trọng cảm ơn Hội đồng: </a:t>
            </a:r>
            <a:r>
              <a:rPr sz="1200">
                <a:solidFill>
                  <a:srgbClr val="E2E8F0"/>
                </a:solidFill>
                <a:latin typeface="Calibri"/>
              </a:rPr>
              <a:t>Kính chúc Quý Thầy/Cô và các bạn học viên cao học dồi dào sức khỏe và thành công!</a:t>
            </a:r>
          </a:p>
          <a:p>
            <a:pPr>
              <a:spcAft>
                <a:spcPts val="1000"/>
              </a:spcAft>
            </a:pPr>
            <a:r>
              <a:rPr sz="1200" b="1">
                <a:solidFill>
                  <a:srgbClr val="F59E0B"/>
                </a:solidFill>
                <a:latin typeface="Calibri"/>
              </a:rPr>
              <a:t>Thông tin liên hệ nghiên cứu: </a:t>
            </a:r>
            <a:r>
              <a:rPr sz="1200">
                <a:solidFill>
                  <a:srgbClr val="E2E8F0"/>
                </a:solidFill>
                <a:latin typeface="Calibri"/>
              </a:rPr>
              <a:t>Học viên: Đỗ Văn Đạt  |  Email: datdv@bav.edu.vn</a:t>
            </a:r>
          </a:p>
          <a:p>
            <a:pPr>
              <a:spcAft>
                <a:spcPts val="1000"/>
              </a:spcAft>
            </a:pPr>
            <a:r>
              <a:rPr sz="1200" b="1">
                <a:solidFill>
                  <a:srgbClr val="F59E0B"/>
                </a:solidFill>
                <a:latin typeface="Calibri"/>
              </a:rPr>
              <a:t>Sẵn sàng bảo vệ: </a:t>
            </a:r>
            <a:r>
              <a:rPr sz="1200">
                <a:solidFill>
                  <a:srgbClr val="E2E8F0"/>
                </a:solidFill>
                <a:latin typeface="Calibri"/>
              </a:rPr>
              <a:t>Rất mong nhận được các ý kiến nhận xét, đóng góp và câu hỏi phản biện từ Hội đồng chấm bảo vệ!</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dustrial Engineering Thesis Defense Presentation">
  <a:themeElements>
    <a:clrScheme name="Office">
      <a:dk1>
        <a:srgbClr val="000000"/>
      </a:dk1>
      <a:lt1>
        <a:srgbClr val="FFFFFF"/>
      </a:lt1>
      <a:dk2>
        <a:srgbClr val="B7B7B7"/>
      </a:dk2>
      <a:lt2>
        <a:srgbClr val="2E2E2E"/>
      </a:lt2>
      <a:accent1>
        <a:srgbClr val="3B3B3B"/>
      </a:accent1>
      <a:accent2>
        <a:srgbClr val="464646"/>
      </a:accent2>
      <a:accent3>
        <a:srgbClr val="888888"/>
      </a:accent3>
      <a:accent4>
        <a:srgbClr val="292B2B"/>
      </a:accent4>
      <a:accent5>
        <a:srgbClr val="FFFFFF"/>
      </a:accent5>
      <a:accent6>
        <a:srgbClr val="B7B7B7"/>
      </a:accent6>
      <a:hlink>
        <a:srgbClr val="0B0B0B"/>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