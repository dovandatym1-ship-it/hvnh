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31"/>
  </p:sldIdLst>
  <p:sldSz cy="10287000" cx="18288000"/>
  <p:notesSz cx="6858000" cy="9144000"/>
  <p:embeddedFontLst>
    <p:embeddedFont>
      <p:font typeface="Arimo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Arimo-regular.fntdata"/><Relationship Id="rId27" Type="http://schemas.openxmlformats.org/officeDocument/2006/relationships/font" Target="fonts/Arimo-bold.fntdata"/><Relationship Id="rId28" Type="http://schemas.openxmlformats.org/officeDocument/2006/relationships/font" Target="fonts/Arimo-italic.fntdata"/><Relationship Id="rId29" Type="http://schemas.openxmlformats.org/officeDocument/2006/relationships/font" Target="fonts/Arimo-boldItalic.fntdata"/><Relationship Id="rId30" Type="http://schemas.openxmlformats.org/officeDocument/2006/relationships/font" Target="fonts/BebasNeue-regular.fntdata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ctrTitle"/>
          </p:nvPr>
        </p:nvSpPr>
        <p:spPr>
          <a:xfrm>
            <a:off x="1052775" y="1261150"/>
            <a:ext cx="16605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5200325" y="6721475"/>
            <a:ext cx="7958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B0B0B"/>
              </a:buClr>
              <a:buSzPts val="3200"/>
              <a:buNone/>
              <a:defRPr>
                <a:solidFill>
                  <a:srgbClr val="0B0B0B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222000" y="4257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434738" y="6660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2649450" y="4198075"/>
            <a:ext cx="599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10604501" y="4041675"/>
            <a:ext cx="5890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" type="body"/>
          </p:nvPr>
        </p:nvSpPr>
        <p:spPr>
          <a:xfrm>
            <a:off x="2785675" y="4920375"/>
            <a:ext cx="6362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9380333" y="4920375"/>
            <a:ext cx="636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3060375" y="3288100"/>
            <a:ext cx="127059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659925" y="2789275"/>
            <a:ext cx="12684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009551" y="4484575"/>
            <a:ext cx="84813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608775" y="4596725"/>
            <a:ext cx="64896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33175" y="440275"/>
            <a:ext cx="15882000" cy="42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906738" y="47623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779438" y="46441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0"/>
              <a:buFont typeface="Bebas Neue"/>
              <a:buNone/>
              <a:defRPr i="0" sz="125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5975" y="3799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873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873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873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873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»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873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873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873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873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41631" y="225"/>
            <a:ext cx="887069" cy="10286775"/>
            <a:chOff x="0" y="118"/>
            <a:chExt cx="1182759" cy="13715700"/>
          </a:xfrm>
        </p:grpSpPr>
        <p:cxnSp>
          <p:nvCxnSpPr>
            <p:cNvPr id="9" name="Google Shape;9;p1"/>
            <p:cNvCxnSpPr/>
            <p:nvPr/>
          </p:nvCxnSpPr>
          <p:spPr>
            <a:xfrm rot="10800000">
              <a:off x="1154859" y="118"/>
              <a:ext cx="27900" cy="13715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" name="Google Shape;10;p1"/>
            <p:cNvGrpSpPr/>
            <p:nvPr/>
          </p:nvGrpSpPr>
          <p:grpSpPr>
            <a:xfrm>
              <a:off x="111185" y="36992"/>
              <a:ext cx="789750" cy="305275"/>
              <a:chOff x="0" y="-47625"/>
              <a:chExt cx="156000" cy="60300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gradFill>
                <a:gsLst>
                  <a:gs pos="0">
                    <a:srgbClr val="0B0B0B"/>
                  </a:gs>
                  <a:gs pos="100000">
                    <a:srgbClr val="3B3B3B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2" name="Google Shape;12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111185" y="178024"/>
              <a:ext cx="789750" cy="305275"/>
              <a:chOff x="0" y="-47625"/>
              <a:chExt cx="156000" cy="60300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B3B3B"/>
              </a:solidFill>
              <a:ln>
                <a:noFill/>
              </a:ln>
            </p:spPr>
          </p:sp>
          <p:sp>
            <p:nvSpPr>
              <p:cNvPr id="15" name="Google Shape;15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111185" y="319057"/>
              <a:ext cx="789750" cy="305275"/>
              <a:chOff x="0" y="-47625"/>
              <a:chExt cx="156000" cy="60300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8" name="Google Shape;18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" name="Google Shape;19;p1"/>
            <p:cNvSpPr/>
            <p:nvPr/>
          </p:nvSpPr>
          <p:spPr>
            <a:xfrm>
              <a:off x="27796" y="10374296"/>
              <a:ext cx="845278" cy="451840"/>
            </a:xfrm>
            <a:custGeom>
              <a:rect b="b" l="l" r="r" t="t"/>
              <a:pathLst>
                <a:path extrusionOk="0" h="451840" w="845278">
                  <a:moveTo>
                    <a:pt x="0" y="0"/>
                  </a:moveTo>
                  <a:lnTo>
                    <a:pt x="845279" y="0"/>
                  </a:lnTo>
                  <a:lnTo>
                    <a:pt x="845279" y="451839"/>
                  </a:lnTo>
                  <a:lnTo>
                    <a:pt x="0" y="4518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" name="Google Shape;20;p1"/>
            <p:cNvSpPr/>
            <p:nvPr/>
          </p:nvSpPr>
          <p:spPr>
            <a:xfrm rot="10800000">
              <a:off x="0" y="3606010"/>
              <a:ext cx="900871" cy="481557"/>
            </a:xfrm>
            <a:custGeom>
              <a:rect b="b" l="l" r="r" t="t"/>
              <a:pathLst>
                <a:path extrusionOk="0" h="481557" w="900871">
                  <a:moveTo>
                    <a:pt x="0" y="0"/>
                  </a:moveTo>
                  <a:lnTo>
                    <a:pt x="900871" y="0"/>
                  </a:lnTo>
                  <a:lnTo>
                    <a:pt x="900871" y="481557"/>
                  </a:lnTo>
                  <a:lnTo>
                    <a:pt x="0" y="4815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" name="Google Shape;21;p1"/>
          <p:cNvGrpSpPr/>
          <p:nvPr/>
        </p:nvGrpSpPr>
        <p:grpSpPr>
          <a:xfrm>
            <a:off x="14633927" y="634857"/>
            <a:ext cx="2938702" cy="8899037"/>
            <a:chOff x="0" y="-9525"/>
            <a:chExt cx="3918270" cy="11865383"/>
          </a:xfrm>
        </p:grpSpPr>
        <p:grpSp>
          <p:nvGrpSpPr>
            <p:cNvPr id="22" name="Google Shape;22;p1"/>
            <p:cNvGrpSpPr/>
            <p:nvPr/>
          </p:nvGrpSpPr>
          <p:grpSpPr>
            <a:xfrm>
              <a:off x="2863785" y="2791938"/>
              <a:ext cx="1054485" cy="1175912"/>
              <a:chOff x="0" y="-47625"/>
              <a:chExt cx="163834" cy="182700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2976321" y="3992976"/>
              <a:ext cx="829410" cy="924919"/>
              <a:chOff x="0" y="-47625"/>
              <a:chExt cx="163834" cy="1827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2976321" y="4941728"/>
              <a:ext cx="829410" cy="924919"/>
              <a:chOff x="0" y="-47625"/>
              <a:chExt cx="163834" cy="182700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1"/>
            <p:cNvGrpSpPr/>
            <p:nvPr/>
          </p:nvGrpSpPr>
          <p:grpSpPr>
            <a:xfrm>
              <a:off x="2976321" y="5890480"/>
              <a:ext cx="829410" cy="924919"/>
              <a:chOff x="0" y="-47625"/>
              <a:chExt cx="163834" cy="182700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1"/>
            <p:cNvGrpSpPr/>
            <p:nvPr/>
          </p:nvGrpSpPr>
          <p:grpSpPr>
            <a:xfrm>
              <a:off x="2976321" y="6839233"/>
              <a:ext cx="829410" cy="924919"/>
              <a:chOff x="0" y="-47625"/>
              <a:chExt cx="163834" cy="182700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2976321" y="7787985"/>
              <a:ext cx="829410" cy="924919"/>
              <a:chOff x="0" y="-47625"/>
              <a:chExt cx="163834" cy="1827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"/>
            <p:cNvSpPr txBox="1"/>
            <p:nvPr/>
          </p:nvSpPr>
          <p:spPr>
            <a:xfrm>
              <a:off x="3113146" y="3195392"/>
              <a:ext cx="55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3172458" y="4357099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42" name="Google Shape;42;p1"/>
            <p:cNvSpPr txBox="1"/>
            <p:nvPr/>
          </p:nvSpPr>
          <p:spPr>
            <a:xfrm>
              <a:off x="3172458" y="5344817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43" name="Google Shape;43;p1"/>
            <p:cNvSpPr txBox="1"/>
            <p:nvPr/>
          </p:nvSpPr>
          <p:spPr>
            <a:xfrm>
              <a:off x="3172458" y="6254604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3172458" y="7203356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3172458" y="8148330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46" name="Google Shape;46;p1"/>
            <p:cNvSpPr txBox="1"/>
            <p:nvPr/>
          </p:nvSpPr>
          <p:spPr>
            <a:xfrm>
              <a:off x="0" y="-9525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11424758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Relationship Id="rId9" Type="http://schemas.openxmlformats.org/officeDocument/2006/relationships/image" Target="../media/image38.png"/><Relationship Id="rId10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1814415" y="2360554"/>
            <a:ext cx="13764900" cy="4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INDUSTRIAL ENGINEERING</a:t>
            </a:r>
            <a:endParaRPr/>
          </a:p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THESIS DEFENSE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1814415" y="1737681"/>
            <a:ext cx="5076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PREMIUM DESIGN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814415" y="7005025"/>
            <a:ext cx="7240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Presenter: [Your Name]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Date: [Presentation Date]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14633927" y="634857"/>
            <a:ext cx="2938700" cy="8897181"/>
            <a:chOff x="0" y="-9525"/>
            <a:chExt cx="3918267" cy="11862908"/>
          </a:xfrm>
        </p:grpSpPr>
        <p:grpSp>
          <p:nvGrpSpPr>
            <p:cNvPr id="84" name="Google Shape;84;p11"/>
            <p:cNvGrpSpPr/>
            <p:nvPr/>
          </p:nvGrpSpPr>
          <p:grpSpPr>
            <a:xfrm>
              <a:off x="2863785" y="2791939"/>
              <a:ext cx="1054482" cy="1175439"/>
              <a:chOff x="0" y="-47625"/>
              <a:chExt cx="163834" cy="182627"/>
            </a:xfrm>
          </p:grpSpPr>
          <p:sp>
            <p:nvSpPr>
              <p:cNvPr id="85" name="Google Shape;85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1"/>
            <p:cNvGrpSpPr/>
            <p:nvPr/>
          </p:nvGrpSpPr>
          <p:grpSpPr>
            <a:xfrm>
              <a:off x="2976321" y="3992977"/>
              <a:ext cx="829408" cy="924548"/>
              <a:chOff x="0" y="-47625"/>
              <a:chExt cx="163834" cy="182627"/>
            </a:xfrm>
          </p:grpSpPr>
          <p:sp>
            <p:nvSpPr>
              <p:cNvPr id="88" name="Google Shape;88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1"/>
            <p:cNvGrpSpPr/>
            <p:nvPr/>
          </p:nvGrpSpPr>
          <p:grpSpPr>
            <a:xfrm>
              <a:off x="2976321" y="4941729"/>
              <a:ext cx="829408" cy="924548"/>
              <a:chOff x="0" y="-47625"/>
              <a:chExt cx="163834" cy="182627"/>
            </a:xfrm>
          </p:grpSpPr>
          <p:sp>
            <p:nvSpPr>
              <p:cNvPr id="91" name="Google Shape;91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2976321" y="5890481"/>
              <a:ext cx="829408" cy="924548"/>
              <a:chOff x="0" y="-47625"/>
              <a:chExt cx="163834" cy="182627"/>
            </a:xfrm>
          </p:grpSpPr>
          <p:sp>
            <p:nvSpPr>
              <p:cNvPr id="94" name="Google Shape;94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1"/>
            <p:cNvGrpSpPr/>
            <p:nvPr/>
          </p:nvGrpSpPr>
          <p:grpSpPr>
            <a:xfrm>
              <a:off x="2976321" y="6839234"/>
              <a:ext cx="829408" cy="924548"/>
              <a:chOff x="0" y="-47625"/>
              <a:chExt cx="163834" cy="182627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1"/>
            <p:cNvGrpSpPr/>
            <p:nvPr/>
          </p:nvGrpSpPr>
          <p:grpSpPr>
            <a:xfrm>
              <a:off x="2976321" y="7787986"/>
              <a:ext cx="829408" cy="924548"/>
              <a:chOff x="0" y="-47625"/>
              <a:chExt cx="163834" cy="182627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11"/>
            <p:cNvSpPr txBox="1"/>
            <p:nvPr/>
          </p:nvSpPr>
          <p:spPr>
            <a:xfrm>
              <a:off x="3113146" y="3195392"/>
              <a:ext cx="555760" cy="556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3172458" y="4357099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104" name="Google Shape;104;p11"/>
            <p:cNvSpPr txBox="1"/>
            <p:nvPr/>
          </p:nvSpPr>
          <p:spPr>
            <a:xfrm>
              <a:off x="3172458" y="5344817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3172458" y="6254604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3172458" y="7203356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107" name="Google Shape;107;p11"/>
            <p:cNvSpPr txBox="1"/>
            <p:nvPr/>
          </p:nvSpPr>
          <p:spPr>
            <a:xfrm>
              <a:off x="3172458" y="8148330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-9525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11424758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2047033" y="762000"/>
            <a:ext cx="11582849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Table of Contents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2047033" y="3603586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2047033" y="6482392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8229777" y="6482392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229777" y="3603586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Analysis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86617" y="4475197"/>
            <a:ext cx="437572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Overview of the Thesis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 of the Research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886617" y="7353612"/>
            <a:ext cx="565296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1: Analysis of Manufacturing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2: Optimization of Logistics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090034" y="4475197"/>
            <a:ext cx="7878452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Review of Existing Literature in Industrial Engineering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Key Findings and Trends in Process Optimization and Sustainability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8090034" y="7353612"/>
            <a:ext cx="78784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Research Design and Approach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Data Collection Methods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767624" y="1019175"/>
            <a:ext cx="7914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767635" y="3244365"/>
            <a:ext cx="65679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Introduction to the Thesis: Welcome to the defense of my thesis on optimizing industrial processes. This research focuses on improving efficiency and sustainability within industrial settings, addressing key challenges and proposing innovative solutions.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Objectives: The primary objectives of this study are to analyze current industrial processes, identify areas for optimization, and propose strategies to enhance efficiency and sustainability.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Importance: Industrial engineering plays a crucial role in streamlining operations, reducing waste, and minimizing environmental impact. 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299" y="820198"/>
            <a:ext cx="5636575" cy="889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88" y="3513020"/>
            <a:ext cx="3271475" cy="586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025" y="3518450"/>
            <a:ext cx="3271501" cy="585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958" y="3518495"/>
            <a:ext cx="3271450" cy="585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6850" y="3512975"/>
            <a:ext cx="3271500" cy="5865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308842" y="746526"/>
            <a:ext cx="15557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Welcome To Presentation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61242" y="2773446"/>
            <a:ext cx="1555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I'm Rain, and I'll be sharing with you my beautiful ideas. Follow me at @reallygreatsite to learn more.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1701974" y="3587664"/>
            <a:ext cx="1159216" cy="1360523"/>
            <a:chOff x="0" y="-47625"/>
            <a:chExt cx="240142" cy="281844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701974" y="6234941"/>
            <a:ext cx="1159216" cy="1360523"/>
            <a:chOff x="0" y="-47625"/>
            <a:chExt cx="240142" cy="281844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1701974" y="1072352"/>
            <a:ext cx="15557326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209440" y="3625052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Overview of Industrial Engineering Literature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209440" y="6263349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Key Findings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209440" y="4650369"/>
            <a:ext cx="10521621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This section provides a comprehensive review of existing literature in the field of industrial engineering, focusing on topics such as process optimization, lean manufacturing, sustainability, and performance measurement.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209440" y="7288666"/>
            <a:ext cx="10521621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literature review highlights current trends, challenges, and best practices in industrial process optimization, serving as a foundation for the research conducted in this thesis.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146" y="3970330"/>
            <a:ext cx="790850" cy="86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87" y="6664500"/>
            <a:ext cx="982775" cy="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701974" y="923925"/>
            <a:ext cx="132030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728660" y="3204732"/>
            <a:ext cx="430585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Design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3522" y="3130714"/>
            <a:ext cx="40900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Data Analysis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64453" y="6341012"/>
            <a:ext cx="369197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Studies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01974" y="4153151"/>
            <a:ext cx="5938901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methodology section outlines the research approach adopted for this study, including data collection methods, analysis techniques, and evaluation criteria.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01974" y="7308466"/>
            <a:ext cx="6261089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A series of case studies were conducted to assess industrial processes in various sectors, including manufacturing, logistics, and supply chain management.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25736" y="4031153"/>
            <a:ext cx="6901110" cy="1716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Quantitative and qualitative data analysis techniques were employed to identify patterns, trends, and opportunities for improvement within the selected industrial processes.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Slide 5-10: Case Study Analysis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425" y="6183350"/>
            <a:ext cx="7114886" cy="2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400" y="3271012"/>
            <a:ext cx="715794" cy="6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21" y="6340992"/>
            <a:ext cx="643150" cy="84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5725" y="3229758"/>
            <a:ext cx="938675" cy="77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6281645" y="1466070"/>
            <a:ext cx="13203148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Study Analysis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81645" y="3805410"/>
            <a:ext cx="9486162" cy="359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1: Analysis of Manufacturing Processes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2: Optimization of Logistics Operations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3: Sustainable Supply Chain Management</a:t>
            </a:r>
            <a:endParaRPr/>
          </a:p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under investigation, highlighting key findings, challenges, and proposed optimization strategies.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875" y="605975"/>
            <a:ext cx="4098625" cy="614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63" y="7074433"/>
            <a:ext cx="4098625" cy="27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676387" y="2599555"/>
            <a:ext cx="5678680" cy="2442154"/>
            <a:chOff x="0" y="-47625"/>
            <a:chExt cx="1176388" cy="505913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1176388" cy="458288"/>
            </a:xfrm>
            <a:custGeom>
              <a:rect b="b" l="l" r="r" t="t"/>
              <a:pathLst>
                <a:path extrusionOk="0" h="458288" w="1176388">
                  <a:moveTo>
                    <a:pt x="10907" y="0"/>
                  </a:moveTo>
                  <a:lnTo>
                    <a:pt x="1165481" y="0"/>
                  </a:lnTo>
                  <a:cubicBezTo>
                    <a:pt x="1168374" y="0"/>
                    <a:pt x="1171148" y="1149"/>
                    <a:pt x="1173193" y="3194"/>
                  </a:cubicBezTo>
                  <a:cubicBezTo>
                    <a:pt x="1175239" y="5240"/>
                    <a:pt x="1176388" y="8014"/>
                    <a:pt x="1176388" y="10907"/>
                  </a:cubicBezTo>
                  <a:lnTo>
                    <a:pt x="1176388" y="447382"/>
                  </a:lnTo>
                  <a:cubicBezTo>
                    <a:pt x="1176388" y="453405"/>
                    <a:pt x="1171505" y="458288"/>
                    <a:pt x="1165481" y="458288"/>
                  </a:cubicBezTo>
                  <a:lnTo>
                    <a:pt x="10907" y="458288"/>
                  </a:lnTo>
                  <a:cubicBezTo>
                    <a:pt x="4883" y="458288"/>
                    <a:pt x="0" y="453405"/>
                    <a:pt x="0" y="447382"/>
                  </a:cubicBezTo>
                  <a:lnTo>
                    <a:pt x="0" y="10907"/>
                  </a:lnTo>
                  <a:cubicBezTo>
                    <a:pt x="0" y="4883"/>
                    <a:pt x="4883" y="0"/>
                    <a:pt x="109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0" y="-47625"/>
              <a:ext cx="1176388" cy="505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1496187" y="2931939"/>
            <a:ext cx="6791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 Analysis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676387" y="5548927"/>
            <a:ext cx="445572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 under investigation, highlighting key findings, challenges, and proposed optimization strategies.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448" y="88"/>
            <a:ext cx="8817429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687582" y="4052571"/>
            <a:ext cx="1012264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PROJECT IMAGE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000"/>
            <a:ext cx="5189726" cy="33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38" y="641025"/>
            <a:ext cx="5192799" cy="33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7758" y="640045"/>
            <a:ext cx="5189726" cy="33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8" y="6210350"/>
            <a:ext cx="5053738" cy="3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350" y="6209375"/>
            <a:ext cx="5053751" cy="3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26713" y="6208400"/>
            <a:ext cx="5047762" cy="32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0"/>
          <p:cNvGrpSpPr/>
          <p:nvPr/>
        </p:nvGrpSpPr>
        <p:grpSpPr>
          <a:xfrm>
            <a:off x="1676387" y="3024643"/>
            <a:ext cx="4623422" cy="6054758"/>
            <a:chOff x="0" y="-47625"/>
            <a:chExt cx="957782" cy="1254295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469483" y="3024643"/>
            <a:ext cx="4623422" cy="6054758"/>
            <a:chOff x="0" y="-47625"/>
            <a:chExt cx="957782" cy="1254295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1962949" y="3766869"/>
            <a:ext cx="1690647" cy="1632243"/>
          </a:xfrm>
          <a:custGeom>
            <a:rect b="b" l="l" r="r" t="t"/>
            <a:pathLst>
              <a:path extrusionOk="0" h="1632243" w="1690647">
                <a:moveTo>
                  <a:pt x="0" y="0"/>
                </a:moveTo>
                <a:lnTo>
                  <a:pt x="1690647" y="0"/>
                </a:lnTo>
                <a:lnTo>
                  <a:pt x="1690647" y="1632243"/>
                </a:lnTo>
                <a:lnTo>
                  <a:pt x="0" y="163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7770506" y="3766869"/>
            <a:ext cx="1572742" cy="1518411"/>
          </a:xfrm>
          <a:custGeom>
            <a:rect b="b" l="l" r="r" t="t"/>
            <a:pathLst>
              <a:path extrusionOk="0" h="1518411" w="1572742">
                <a:moveTo>
                  <a:pt x="0" y="0"/>
                </a:moveTo>
                <a:lnTo>
                  <a:pt x="1572741" y="0"/>
                </a:lnTo>
                <a:lnTo>
                  <a:pt x="1572741" y="1518410"/>
                </a:lnTo>
                <a:lnTo>
                  <a:pt x="0" y="1518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0"/>
          <p:cNvSpPr txBox="1"/>
          <p:nvPr/>
        </p:nvSpPr>
        <p:spPr>
          <a:xfrm>
            <a:off x="1676387" y="1304925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Optimization Strategies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962949" y="6638630"/>
            <a:ext cx="380480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thesis proposes process redesign initiatives aimed at streamlining operations, reducing cycle times, and improving resource utilization.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70506" y="6610592"/>
            <a:ext cx="3130544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Implementation of lean manufacturing principles to eliminate waste, minimize downtime, and enhance productivity.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962949" y="5608613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Process Redesign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70506" y="5580575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Lean Principles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1666677" y="988556"/>
            <a:ext cx="14954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Sustainability Initiatives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666677" y="3179089"/>
            <a:ext cx="6438469" cy="519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Environmental Impact Assessment: An assessment of the environmental impact of industrial processes, with a focus on reducing carbon emissions, energy consumption, and waste generation.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Renewable Energy Integration: Exploration of renewable energy sources and their potential integration into industrial operations to promote sustainability and reduce reliance on fossil fuels.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Circular Economy Principles: Adoption of circular economy principles to minimize resource depletion, promote recycling and reuse, and create a more sustainable industrial ecosystem.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825" y="3257839"/>
            <a:ext cx="6438474" cy="595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2838"/>
            <a:ext cx="18135598" cy="10201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074677" y="1638964"/>
            <a:ext cx="101385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 picture is worth a thousand words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666677" y="1188486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Results and Findings</a:t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666677" y="2847062"/>
            <a:ext cx="13777780" cy="6259546"/>
            <a:chOff x="0" y="-47625"/>
            <a:chExt cx="2854186" cy="1296719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2854186" cy="1249094"/>
            </a:xfrm>
            <a:custGeom>
              <a:rect b="b" l="l" r="r" t="t"/>
              <a:pathLst>
                <a:path extrusionOk="0" h="1249094" w="2854186">
                  <a:moveTo>
                    <a:pt x="4495" y="0"/>
                  </a:moveTo>
                  <a:lnTo>
                    <a:pt x="2849690" y="0"/>
                  </a:lnTo>
                  <a:cubicBezTo>
                    <a:pt x="2850883" y="0"/>
                    <a:pt x="2852026" y="474"/>
                    <a:pt x="2852869" y="1317"/>
                  </a:cubicBezTo>
                  <a:cubicBezTo>
                    <a:pt x="2853712" y="2160"/>
                    <a:pt x="2854186" y="3303"/>
                    <a:pt x="2854186" y="4495"/>
                  </a:cubicBezTo>
                  <a:lnTo>
                    <a:pt x="2854186" y="1244599"/>
                  </a:lnTo>
                  <a:cubicBezTo>
                    <a:pt x="2854186" y="1245791"/>
                    <a:pt x="2853712" y="1246934"/>
                    <a:pt x="2852869" y="1247777"/>
                  </a:cubicBezTo>
                  <a:cubicBezTo>
                    <a:pt x="2852026" y="1248620"/>
                    <a:pt x="2850883" y="1249094"/>
                    <a:pt x="2849690" y="1249094"/>
                  </a:cubicBezTo>
                  <a:lnTo>
                    <a:pt x="4495" y="1249094"/>
                  </a:lnTo>
                  <a:cubicBezTo>
                    <a:pt x="3303" y="1249094"/>
                    <a:pt x="2160" y="1248620"/>
                    <a:pt x="1317" y="1247777"/>
                  </a:cubicBezTo>
                  <a:cubicBezTo>
                    <a:pt x="474" y="1246934"/>
                    <a:pt x="0" y="1245791"/>
                    <a:pt x="0" y="1244599"/>
                  </a:cubicBezTo>
                  <a:lnTo>
                    <a:pt x="0" y="4495"/>
                  </a:lnTo>
                  <a:cubicBezTo>
                    <a:pt x="0" y="3303"/>
                    <a:pt x="474" y="2160"/>
                    <a:pt x="1317" y="1317"/>
                  </a:cubicBezTo>
                  <a:cubicBezTo>
                    <a:pt x="2160" y="474"/>
                    <a:pt x="3303" y="0"/>
                    <a:pt x="4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-47625"/>
              <a:ext cx="2854186" cy="1296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1830356" y="3195074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 of Results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830356" y="5863802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Key Insights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30356" y="4218764"/>
            <a:ext cx="5333824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section provides a summary of the findings from the case studies and analysis conducted throughout the research.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830356" y="7093162"/>
            <a:ext cx="6438469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Insights gained from the research highlight the effectiveness of optimization strategies in improving efficiency, reducing costs, and enhancing sustainability within industrial processes.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813" y="2845951"/>
            <a:ext cx="7111574" cy="654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1597636" y="666254"/>
            <a:ext cx="6556308" cy="2049325"/>
            <a:chOff x="0" y="-47625"/>
            <a:chExt cx="1358201" cy="424537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1358201" cy="376912"/>
            </a:xfrm>
            <a:custGeom>
              <a:rect b="b" l="l" r="r" t="t"/>
              <a:pathLst>
                <a:path extrusionOk="0" h="376912" w="1358201">
                  <a:moveTo>
                    <a:pt x="9447" y="0"/>
                  </a:moveTo>
                  <a:lnTo>
                    <a:pt x="1348754" y="0"/>
                  </a:lnTo>
                  <a:cubicBezTo>
                    <a:pt x="1351259" y="0"/>
                    <a:pt x="1353662" y="995"/>
                    <a:pt x="1355434" y="2767"/>
                  </a:cubicBezTo>
                  <a:cubicBezTo>
                    <a:pt x="1357205" y="4538"/>
                    <a:pt x="1358201" y="6941"/>
                    <a:pt x="1358201" y="9447"/>
                  </a:cubicBezTo>
                  <a:lnTo>
                    <a:pt x="1358201" y="367466"/>
                  </a:lnTo>
                  <a:cubicBezTo>
                    <a:pt x="1358201" y="369971"/>
                    <a:pt x="1357205" y="372374"/>
                    <a:pt x="1355434" y="374146"/>
                  </a:cubicBezTo>
                  <a:cubicBezTo>
                    <a:pt x="1353662" y="375917"/>
                    <a:pt x="1351259" y="376912"/>
                    <a:pt x="1348754" y="376912"/>
                  </a:cubicBezTo>
                  <a:lnTo>
                    <a:pt x="9447" y="376912"/>
                  </a:lnTo>
                  <a:cubicBezTo>
                    <a:pt x="6941" y="376912"/>
                    <a:pt x="4538" y="375917"/>
                    <a:pt x="2767" y="374146"/>
                  </a:cubicBezTo>
                  <a:cubicBezTo>
                    <a:pt x="995" y="372374"/>
                    <a:pt x="0" y="369971"/>
                    <a:pt x="0" y="367466"/>
                  </a:cubicBezTo>
                  <a:lnTo>
                    <a:pt x="0" y="9447"/>
                  </a:lnTo>
                  <a:cubicBezTo>
                    <a:pt x="0" y="6941"/>
                    <a:pt x="995" y="4538"/>
                    <a:pt x="2767" y="2767"/>
                  </a:cubicBezTo>
                  <a:cubicBezTo>
                    <a:pt x="4538" y="995"/>
                    <a:pt x="6941" y="0"/>
                    <a:pt x="9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47625"/>
              <a:ext cx="1358201" cy="424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 txBox="1"/>
          <p:nvPr/>
        </p:nvSpPr>
        <p:spPr>
          <a:xfrm>
            <a:off x="1826225" y="796124"/>
            <a:ext cx="7153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Discussion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597636" y="3338017"/>
            <a:ext cx="11943199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Implications: Discussion on the implications of the research findings for industrial engineering practice, highlighting the potential benefits of implementing optimization strategies.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Limitations: Identification of limitations and challenges encountered during the research process, along with recommendations for future studies.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13" y="5901250"/>
            <a:ext cx="5917781" cy="31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000" y="5901246"/>
            <a:ext cx="5929997" cy="316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8482510" y="1794513"/>
            <a:ext cx="7153096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482510" y="6249443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2510" y="3729365"/>
            <a:ext cx="510577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Concluding Remarks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482510" y="7316607"/>
            <a:ext cx="435096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A concise summary of the research objectives, methodology, findings, and implications.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82510" y="4796530"/>
            <a:ext cx="66353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Closing remarks expressing gratitude to the thesis committee, academic advisors, and colleagues for their support throughout the research process.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12" y="535525"/>
            <a:ext cx="6150175" cy="92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2022147" y="1272386"/>
            <a:ext cx="11567625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Recommendations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22147" y="6712487"/>
            <a:ext cx="6271758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Recommendations for Future Research: Suggestions for future research directions, including areas for further exploration and refinement of optimization strategies.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25" y="3139850"/>
            <a:ext cx="4659374" cy="3110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025" y="3117488"/>
            <a:ext cx="2251875" cy="315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175" y="3139850"/>
            <a:ext cx="6676838" cy="487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3001961" y="1763383"/>
            <a:ext cx="122841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Write an original statement or inspiring quote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741618" y="7378588"/>
            <a:ext cx="128047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— Include a credit, citation, or supporting message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1850225" y="3460475"/>
            <a:ext cx="7409704" cy="5255764"/>
            <a:chOff x="0" y="-47625"/>
            <a:chExt cx="1229194" cy="749453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0"/>
              <a:ext cx="1229194" cy="701828"/>
            </a:xfrm>
            <a:custGeom>
              <a:rect b="b" l="l" r="r" t="t"/>
              <a:pathLst>
                <a:path extrusionOk="0" h="701828" w="1229194">
                  <a:moveTo>
                    <a:pt x="10438" y="0"/>
                  </a:moveTo>
                  <a:lnTo>
                    <a:pt x="1218755" y="0"/>
                  </a:lnTo>
                  <a:cubicBezTo>
                    <a:pt x="1221524" y="0"/>
                    <a:pt x="1224179" y="1100"/>
                    <a:pt x="1226136" y="3057"/>
                  </a:cubicBezTo>
                  <a:cubicBezTo>
                    <a:pt x="1228094" y="5015"/>
                    <a:pt x="1229194" y="7670"/>
                    <a:pt x="1229194" y="10438"/>
                  </a:cubicBezTo>
                  <a:lnTo>
                    <a:pt x="1229194" y="691390"/>
                  </a:lnTo>
                  <a:cubicBezTo>
                    <a:pt x="1229194" y="694159"/>
                    <a:pt x="1228094" y="696814"/>
                    <a:pt x="1226136" y="698771"/>
                  </a:cubicBezTo>
                  <a:cubicBezTo>
                    <a:pt x="1224179" y="700729"/>
                    <a:pt x="1221524" y="701828"/>
                    <a:pt x="1218755" y="701828"/>
                  </a:cubicBezTo>
                  <a:lnTo>
                    <a:pt x="10438" y="701828"/>
                  </a:lnTo>
                  <a:cubicBezTo>
                    <a:pt x="7670" y="701828"/>
                    <a:pt x="5015" y="700729"/>
                    <a:pt x="3057" y="698771"/>
                  </a:cubicBezTo>
                  <a:cubicBezTo>
                    <a:pt x="1100" y="696814"/>
                    <a:pt x="0" y="694159"/>
                    <a:pt x="0" y="691390"/>
                  </a:cubicBezTo>
                  <a:lnTo>
                    <a:pt x="0" y="10438"/>
                  </a:lnTo>
                  <a:cubicBezTo>
                    <a:pt x="0" y="7670"/>
                    <a:pt x="1100" y="5015"/>
                    <a:pt x="3057" y="3057"/>
                  </a:cubicBezTo>
                  <a:cubicBezTo>
                    <a:pt x="5015" y="1100"/>
                    <a:pt x="7670" y="0"/>
                    <a:pt x="104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0" y="-47625"/>
              <a:ext cx="1229194" cy="749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8"/>
          <p:cNvSpPr txBox="1"/>
          <p:nvPr/>
        </p:nvSpPr>
        <p:spPr>
          <a:xfrm>
            <a:off x="2184956" y="3889454"/>
            <a:ext cx="52641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[Your Company Name]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[Contact Information]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[Logo]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50216" y="1484224"/>
            <a:ext cx="10455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BEST THANKS!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952" y="1467350"/>
            <a:ext cx="5654773" cy="7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1398519" y="1019175"/>
            <a:ext cx="8939235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Resource Page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474725" y="3259300"/>
            <a:ext cx="5949900" cy="5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74719" y="4303395"/>
            <a:ext cx="4676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474719" y="5401811"/>
            <a:ext cx="50592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Titles: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Headers: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10337755" y="4353382"/>
            <a:ext cx="1856023" cy="1791905"/>
          </a:xfrm>
          <a:custGeom>
            <a:rect b="b" l="l" r="r" t="t"/>
            <a:pathLst>
              <a:path extrusionOk="0" h="1791905" w="1856023">
                <a:moveTo>
                  <a:pt x="0" y="0"/>
                </a:moveTo>
                <a:lnTo>
                  <a:pt x="1856022" y="0"/>
                </a:lnTo>
                <a:lnTo>
                  <a:pt x="1856022" y="1791906"/>
                </a:lnTo>
                <a:lnTo>
                  <a:pt x="0" y="1791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14782583" y="6665109"/>
            <a:ext cx="1205228" cy="1618544"/>
            <a:chOff x="0" y="-47625"/>
            <a:chExt cx="304608" cy="409069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304608" cy="361444"/>
            </a:xfrm>
            <a:custGeom>
              <a:rect b="b" l="l" r="r" t="t"/>
              <a:pathLst>
                <a:path extrusionOk="0" h="361444" w="304608">
                  <a:moveTo>
                    <a:pt x="51389" y="0"/>
                  </a:moveTo>
                  <a:lnTo>
                    <a:pt x="253219" y="0"/>
                  </a:lnTo>
                  <a:cubicBezTo>
                    <a:pt x="266848" y="0"/>
                    <a:pt x="279919" y="5414"/>
                    <a:pt x="289557" y="15051"/>
                  </a:cubicBezTo>
                  <a:cubicBezTo>
                    <a:pt x="299194" y="24689"/>
                    <a:pt x="304608" y="37760"/>
                    <a:pt x="304608" y="51389"/>
                  </a:cubicBezTo>
                  <a:lnTo>
                    <a:pt x="304608" y="310055"/>
                  </a:lnTo>
                  <a:cubicBezTo>
                    <a:pt x="304608" y="323684"/>
                    <a:pt x="299194" y="336755"/>
                    <a:pt x="289557" y="346392"/>
                  </a:cubicBezTo>
                  <a:cubicBezTo>
                    <a:pt x="279919" y="356030"/>
                    <a:pt x="266848" y="361444"/>
                    <a:pt x="253219" y="361444"/>
                  </a:cubicBezTo>
                  <a:lnTo>
                    <a:pt x="51389" y="361444"/>
                  </a:lnTo>
                  <a:cubicBezTo>
                    <a:pt x="37760" y="361444"/>
                    <a:pt x="24689" y="356030"/>
                    <a:pt x="15051" y="346392"/>
                  </a:cubicBezTo>
                  <a:cubicBezTo>
                    <a:pt x="5414" y="336755"/>
                    <a:pt x="0" y="323684"/>
                    <a:pt x="0" y="310055"/>
                  </a:cubicBezTo>
                  <a:lnTo>
                    <a:pt x="0" y="51389"/>
                  </a:lnTo>
                  <a:cubicBezTo>
                    <a:pt x="0" y="37760"/>
                    <a:pt x="5414" y="24689"/>
                    <a:pt x="15051" y="15051"/>
                  </a:cubicBezTo>
                  <a:cubicBezTo>
                    <a:pt x="24689" y="5414"/>
                    <a:pt x="37760" y="0"/>
                    <a:pt x="51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0" y="-47625"/>
              <a:ext cx="304608" cy="409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/>
          <p:nvPr/>
        </p:nvSpPr>
        <p:spPr>
          <a:xfrm>
            <a:off x="14760988" y="2581254"/>
            <a:ext cx="1132555" cy="605402"/>
          </a:xfrm>
          <a:custGeom>
            <a:rect b="b" l="l" r="r" t="t"/>
            <a:pathLst>
              <a:path extrusionOk="0" h="605402" w="1132555">
                <a:moveTo>
                  <a:pt x="0" y="0"/>
                </a:moveTo>
                <a:lnTo>
                  <a:pt x="1132555" y="0"/>
                </a:lnTo>
                <a:lnTo>
                  <a:pt x="1132555" y="605402"/>
                </a:lnTo>
                <a:lnTo>
                  <a:pt x="0" y="6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4863" y="2088175"/>
            <a:ext cx="1468221" cy="15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6188" y="2088170"/>
            <a:ext cx="1928125" cy="1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60989" y="4186324"/>
            <a:ext cx="1364359" cy="17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43290" y="4231036"/>
            <a:ext cx="1468200" cy="141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89240" y="6818925"/>
            <a:ext cx="1579459" cy="15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25235" y="6878452"/>
            <a:ext cx="1704326" cy="1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5280936" y="1019175"/>
            <a:ext cx="772612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Credits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3698" y="4936469"/>
            <a:ext cx="1181037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2818025" y="5589331"/>
            <a:ext cx="126519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18025" y="6545641"/>
            <a:ext cx="12651949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Happy designing! </a:t>
            </a:r>
            <a:endParaRPr/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50" y="3122046"/>
            <a:ext cx="6025501" cy="1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Engineering Thesis Defense Presentation">
  <a:themeElements>
    <a:clrScheme name="Office">
      <a:dk1>
        <a:srgbClr val="000000"/>
      </a:dk1>
      <a:lt1>
        <a:srgbClr val="FFFFFF"/>
      </a:lt1>
      <a:dk2>
        <a:srgbClr val="B7B7B7"/>
      </a:dk2>
      <a:lt2>
        <a:srgbClr val="2E2E2E"/>
      </a:lt2>
      <a:accent1>
        <a:srgbClr val="3B3B3B"/>
      </a:accent1>
      <a:accent2>
        <a:srgbClr val="464646"/>
      </a:accent2>
      <a:accent3>
        <a:srgbClr val="888888"/>
      </a:accent3>
      <a:accent4>
        <a:srgbClr val="292B2B"/>
      </a:accent4>
      <a:accent5>
        <a:srgbClr val="FFFFFF"/>
      </a:accent5>
      <a:accent6>
        <a:srgbClr val="B7B7B7"/>
      </a:accent6>
      <a:hlink>
        <a:srgbClr val="0B0B0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