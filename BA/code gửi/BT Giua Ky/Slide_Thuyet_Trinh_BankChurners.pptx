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Kính chào Quý Thầy/Cô Hội đồng và các bạn học viên. Em tên là Đỗ Văn Đạt. Hôm nay em xin phép được trình bày Báo cáo bài tập giữa kỳ: Xử lý dữ liệu và Khai phá dữ liệu trên bộ dữ liệu khách hàng thẻ tín dụng BankChurners.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Tổng quan điều hành tóm lược toàn bộ 4 điểm cốt lõi của đề tài: Bài toán kinh tế Churn 16.07%, Quy luật hành vi 'Vùng nguy cơ cao', Mô hình máy học XGBoost đạt ROC-AUC 0.9930 và Hiệu quả tài chính ROI 500%.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Mảng thẻ tín dụng có biên lợi nhuận cao nhưng đang chịu áp lực lớn từ tỷ lệ rời bỏ 16.07%. Việc giữ chân khách hàng mang lại hiệu quả kinh tế vượt trội so với tìm kiếm khách hàng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nghiên cứu được thiết kế theo 4 giai đoạn chuẩn mực khoa học dữ liệu, từ tiền xử lý, EDA thống kê, khai phá học máy đến xây dựng khung chiến lược kinh doanh.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Khâu Feature Engineering giúp kiến tạo các chỉ số tài chính sâu sắc, phản ánh đúng bản chất hành vi quẹt thẻ và áp lực nợ của khách hàng.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Mất cân bằng lớp 16.07% đòi hỏi chúng ta không dùng Accuracy thuần túy mà phải tập trung tối ưu Recall và ROC-AUC để bắt trúng khách hàng rời bỏ.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Phân tích nhân khẩu học chỉ ra hiện tượng phân hóa rủi ro ở 2 đầu thu nhập và khách hàng nữ có xu hướng rời bỏ cao hơn nam đáng kể.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Biểu đồ phân tán chỉ ra ranh giới cực kỳ sắc nét: Quẹt thẻ dưới 55 lần và chi tiêu dưới 3000 USD là vùng tập trung dày đặc khách hàng rời bỏ.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Hiện tượng dư nợ quay vòng về 0 là bằng chứng thực nghiệm rõ ràng nhất cho thấy khách hàng chuẩn bị dọn đường hủy thẻ.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Dữ liệu chứng minh việc khách hàng gọi lên tổng đài đến lần thứ 3 là tín hiệu báo động đỏ cho thấy sự cố chưa được giải quyết thỏa đáng.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Sở hữu từ 4 sản phẩm trở lên giúp hạ tỷ lệ rời bỏ xuống chỉ còn 10%. Bán chéo chính là chìa khóa gia tăng rào cản chuyển đổi.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Thuật toán K-Means kết hợp PCA đã tách biệt 4 phân cụm hành vi rõ rệt, định vị chính xác Cụm 1 là nhóm rủi ro Churn lên tới 41.8%.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XGBoost Classifier đạt hiệu năng vượt trội với ROC-AUC 0.9930 và Recall 91.38%, chứng minh khả năng phân tách phi tuyến xuất sắc.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 trận nhầm lẫn chứng minh XGBoost kiểm soát cả hai loại sai số cực tốt, tối ưu hóa chi phí vận hành cho ngân hàng.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5 đặc trưng quan trọng nhất hoàn toàn tương thích với các quy luật nghiệp vụ đã phát hiện ở phần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Ngưỡng cắt xác suất t = 0.42 mang lại lợi nhuận kinh tế tối đa cho ngân hàng theo mô hình chi phí - lợi ích.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nghiên cứu xây dựng 3 chân dung khách hàng với hành vi và giải pháp can thiệp chuyên biệt, tăng tỷ lệ cứu vãn thành công.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Khung chiến lược 4 tầng tạo nên hệ sinh thái giữ chân toàn diện, giải quyết từ cảnh báo sớm đến chăm sóc và gia tăng rào cản chuyển đổi.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Mô phỏng tài chính khẳng định đầu tư vào hệ thống giữ chân mang lại ROI lên đến 500%, bổ sung 400,000 USD lợi nhuận ròng hàng năm.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xin chân thành cảm ơn Quý Thầy/Cô và các bạn học viên đã chú ý theo dõi. Em xin sẵn sàng lắng nghe các câu hỏi phản biện từ Hội đồng.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Calibri"/>
              </a:rPr>
              <a:t>🏛️ HỌC VIỆN NGÂN HÀNG (BANKING ACADEMY OF VIETNAM)  •  KHOA HỆ THỐNG THÔNG TIN QUẢN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AE6FD"/>
                </a:solidFill>
                <a:latin typeface="Calibri"/>
              </a:defRPr>
            </a:pPr>
            <a:r>
              <a:t>BÁO CÁO BÀI TẬP GIỮA KỲ CHUYÊN ĐỀ CAO HỌC</a:t>
            </a:r>
          </a:p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XỬ LÝ DỮ LIỆU &amp; KHAI PHÁ DỮ LIỆU</a:t>
            </a:r>
          </a:p>
          <a:p>
            <a:pPr>
              <a:defRPr sz="2200" b="1">
                <a:solidFill>
                  <a:srgbClr val="FED7AA"/>
                </a:solidFill>
                <a:latin typeface="Calibri"/>
              </a:defRPr>
            </a:pPr>
            <a:r>
              <a:t>PHÂN TÍCH HÀNH VI, PHÂN CỤM &amp; DỰ BÁO NGUY CƠ RỜI BỎ</a:t>
            </a:r>
            <a:br/>
            <a:r>
              <a:t>CỦA KHÁCH HÀNG THẺ TÍN DỤNG (BANK CUSTOMER CHURN)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480560"/>
            <a:ext cx="103628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2468880" cy="1463040"/>
          </a:xfrm>
          <a:prstGeom prst="roundRect">
            <a:avLst/>
          </a:prstGeom>
          <a:solidFill>
            <a:srgbClr val="0F1F38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89204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59E0B"/>
                </a:solidFill>
                <a:latin typeface="Calibri"/>
              </a:defRPr>
            </a:pPr>
            <a:r>
              <a:t>👤 HỌC VIÊN THỰC HIỆN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ĐỖ VĂN ĐẠT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Chuyên ngành Business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4754880"/>
            <a:ext cx="2468880" cy="1463040"/>
          </a:xfrm>
          <a:prstGeom prst="roundRect">
            <a:avLst/>
          </a:prstGeom>
          <a:solidFill>
            <a:srgbClr val="0F1F38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489204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59E0B"/>
                </a:solidFill>
                <a:latin typeface="Calibri"/>
              </a:defRPr>
            </a:pPr>
            <a:r>
              <a:t>📚 HỌC PHẦN NGHIÊN CỨU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PHÂN TÍCH DỮ LIỆU KINH DOANH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Business Analytics — HVNH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754880"/>
            <a:ext cx="2468880" cy="1463040"/>
          </a:xfrm>
          <a:prstGeom prst="roundRect">
            <a:avLst/>
          </a:prstGeom>
          <a:solidFill>
            <a:srgbClr val="0F1F38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89204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59E0B"/>
                </a:solidFill>
                <a:latin typeface="Calibri"/>
              </a:defRPr>
            </a:pPr>
            <a:r>
              <a:t>📊 BỘ DỮ LIỆU THỰC NGHIỆM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BANKCHURNERS.CSV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10,127 quan sát • 23 thuộc tính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4754880"/>
            <a:ext cx="2468880" cy="1463040"/>
          </a:xfrm>
          <a:prstGeom prst="roundRect">
            <a:avLst/>
          </a:prstGeom>
          <a:solidFill>
            <a:srgbClr val="0F1F38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489204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59E0B"/>
                </a:solidFill>
                <a:latin typeface="Calibri"/>
              </a:defRPr>
            </a:pPr>
            <a:r>
              <a:t>📅 NIÊN KHÓA ĐÀO TẠO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NĂM HỌC 2025 - 2026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Hà Nội, Năm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[TỔNG QUAN CHIẾN LƯỢC]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Executive Summary: Tổng Hợp 4 Phát Hiện &amp; Đóng Góp Giá Trị Của Đề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02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542032" cy="914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2212848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C2626"/>
                </a:solidFill>
                <a:latin typeface="Calibri"/>
              </a:defRPr>
            </a:pPr>
            <a:r>
              <a:t>1. BÀI TOÁN KINH TẾ CHURN</a:t>
            </a:r>
          </a:p>
          <a:p>
            <a:pPr>
              <a:spcAft>
                <a:spcPts val="200"/>
              </a:spcAft>
              <a:defRPr sz="2600" b="1">
                <a:solidFill>
                  <a:srgbClr val="0A2540"/>
                </a:solidFill>
                <a:latin typeface="Calibri"/>
              </a:defRPr>
            </a:pPr>
            <a:r>
              <a:t>16.07%</a:t>
            </a:r>
          </a:p>
          <a:p>
            <a:pPr>
              <a:spcAft>
                <a:spcPts val="1200"/>
              </a:spcAft>
              <a:defRPr sz="1100" b="1">
                <a:solidFill>
                  <a:srgbClr val="DC2626"/>
                </a:solidFill>
                <a:latin typeface="Calibri"/>
              </a:defRPr>
            </a:pPr>
            <a:r>
              <a:t>Tỷ lệ rời bỏ nghiêm trọng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Mất 1,627/10,127 khách hàng mở thẻ.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Chi phí tìm khách mới (CAC) gấp 5-7 LẦN chi phí giữ chân khách cũ (CRC).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Tổn thất ước tính: $800,000 USD/năm.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1732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1417320"/>
            <a:ext cx="2542032" cy="914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600200"/>
            <a:ext cx="2212848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EA580C"/>
                </a:solidFill>
                <a:latin typeface="Calibri"/>
              </a:defRPr>
            </a:pPr>
            <a:r>
              <a:t>2. QUY LUẬT HÀNH VI CỐT LÕI</a:t>
            </a:r>
          </a:p>
          <a:p>
            <a:pPr>
              <a:spcAft>
                <a:spcPts val="200"/>
              </a:spcAft>
              <a:defRPr sz="2600" b="1">
                <a:solidFill>
                  <a:srgbClr val="0A2540"/>
                </a:solidFill>
                <a:latin typeface="Calibri"/>
              </a:defRPr>
            </a:pPr>
            <a:r>
              <a:t>&lt; 55 GD</a:t>
            </a:r>
          </a:p>
          <a:p>
            <a:pPr>
              <a:spcAft>
                <a:spcPts val="1200"/>
              </a:spcAft>
              <a:defRPr sz="1100" b="1">
                <a:solidFill>
                  <a:srgbClr val="EA580C"/>
                </a:solidFill>
                <a:latin typeface="Calibri"/>
              </a:defRPr>
            </a:pPr>
            <a:r>
              <a:t>Vùng nguy cơ báo động đỏ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Khách quẹt thẻ &lt; 55 lần &amp; &lt; $3,000.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Dư nợ quay vòng Median = $0.00.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Gọi tổng đài lần 3: Churn vọt 20.2%.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Dùng ≥ 4 SP: Churn giảm còn 10.5%.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1732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1344" y="1417320"/>
            <a:ext cx="2542032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600200"/>
            <a:ext cx="2212848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284C7"/>
                </a:solidFill>
                <a:latin typeface="Calibri"/>
              </a:defRPr>
            </a:pPr>
            <a:r>
              <a:t>3. MÔ HÌNH HỌC MÁY TÂN TIẾN</a:t>
            </a:r>
          </a:p>
          <a:p>
            <a:pPr>
              <a:spcAft>
                <a:spcPts val="200"/>
              </a:spcAft>
              <a:defRPr sz="2600" b="1">
                <a:solidFill>
                  <a:srgbClr val="0A2540"/>
                </a:solidFill>
                <a:latin typeface="Calibri"/>
              </a:defRPr>
            </a:pPr>
            <a:r>
              <a:t>0.9930</a:t>
            </a:r>
          </a:p>
          <a:p>
            <a:pPr>
              <a:spcAft>
                <a:spcPts val="1200"/>
              </a:spcAft>
              <a:defRPr sz="1100" b="1">
                <a:solidFill>
                  <a:srgbClr val="0284C7"/>
                </a:solidFill>
                <a:latin typeface="Calibri"/>
              </a:defRPr>
            </a:pPr>
            <a:r>
              <a:t>ROC-AUC XGBoost vượt trội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XGBoost Classifier dẫn đầu toàn diện.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Recall 91.38% (bắt trúng &gt;9/10 khách).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Precision 87.61% | Accuracy 96.54%.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Tối ưu ngưỡng kinh tế t = 0.42.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41732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06256" y="1417320"/>
            <a:ext cx="2542032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8" y="1600200"/>
            <a:ext cx="2212848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t>4. HIỆU QUẢ TÀI CHÍNH THỰC THI</a:t>
            </a:r>
          </a:p>
          <a:p>
            <a:pPr>
              <a:spcAft>
                <a:spcPts val="200"/>
              </a:spcAft>
              <a:defRPr sz="2600" b="1">
                <a:solidFill>
                  <a:srgbClr val="0A2540"/>
                </a:solidFill>
                <a:latin typeface="Calibri"/>
              </a:defRPr>
            </a:pPr>
            <a:r>
              <a:t>ROI 500%</a:t>
            </a:r>
          </a:p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+$400,000 USD / Năm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Giữ chân 960 khách hàng có nguy cơ.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Cứu vãn $480,000 USD giá trị CLV.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Chi phí can thiệp ưu đãi: $80,000 USD.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Khung giữ chân 4 tầng &amp; 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[BỐI CẢNH KINH DOANH]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Bối Cảnh Thị Trường Thẻ &amp; Bài Toán Kinh Tế Giữ Chân (CAC vs CRC)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03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17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💳 3 Trụ Cột Lợi Nhuận Thẻ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1. Phí Quẹt Thẻ (Interchange): </a:t>
            </a:r>
            <a:r>
              <a:rPr sz="1150">
                <a:solidFill>
                  <a:srgbClr val="0F172A"/>
                </a:solidFill>
                <a:latin typeface="Calibri"/>
              </a:rPr>
              <a:t>Nguồn thu từ tỷ lệ chiết khấu giao dịch tại điểm chấp nhận thanh toán POS &amp; E-commerce.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2. Lãi Suất Quay Vòng (Revolving): </a:t>
            </a:r>
            <a:r>
              <a:rPr sz="1150">
                <a:solidFill>
                  <a:srgbClr val="0F172A"/>
                </a:solidFill>
                <a:latin typeface="Calibri"/>
              </a:rPr>
              <a:t>Lãi suất biên cao nhất khi khách hàng duy trì số dư nợ quá thời hạn miễn lãi (45-55 ngày).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3. Phí Dịch Vụ Định Kỳ: </a:t>
            </a:r>
            <a:r>
              <a:rPr sz="1150">
                <a:solidFill>
                  <a:srgbClr val="0F172A"/>
                </a:solidFill>
                <a:latin typeface="Calibri"/>
              </a:rPr>
              <a:t>Phí thường niên, phí chậm thanh toán, phí chuyển đổi ngoại tệ và rút tiền mặt.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600200"/>
            <a:ext cx="3017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284C7"/>
                </a:solidFill>
                <a:latin typeface="Calibri"/>
              </a:defRPr>
            </a:pPr>
            <a:r>
              <a:t>⚖️ Đòn Bẩy Chi Phí 5:1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Quy tắc 5:1 (CAC vs CRC): </a:t>
            </a:r>
            <a:r>
              <a:rPr sz="1150">
                <a:solidFill>
                  <a:srgbClr val="0F172A"/>
                </a:solidFill>
                <a:latin typeface="Calibri"/>
              </a:rPr>
              <a:t>Chi phí thu hút một khách hàng thẻ mới (CAC) gấp từ 5 đến 7 LẦN chi phí giữ chân khách hàng cũ (CRC).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Tác động lợi nhuận: </a:t>
            </a:r>
            <a:r>
              <a:rPr sz="1150">
                <a:solidFill>
                  <a:srgbClr val="0F172A"/>
                </a:solidFill>
                <a:latin typeface="Calibri"/>
              </a:rPr>
              <a:t>Tăng 5% tỷ lệ giữ chân khách hàng giúp thúc đẩy lợi nhuận ngân hàng tăng 25% - 95% (Bain &amp; Company).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Mất mát kép khi Churn: </a:t>
            </a:r>
            <a:r>
              <a:rPr sz="1150">
                <a:solidFill>
                  <a:srgbClr val="0F172A"/>
                </a:solidFill>
                <a:latin typeface="Calibri"/>
              </a:rPr>
              <a:t>Ngân hàng mất dòng thu lãi/phí tương lai và lãng phí chi phí marketing, thẩm định ban đầu.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41732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600200"/>
            <a:ext cx="3017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C2626"/>
                </a:solidFill>
                <a:latin typeface="Calibri"/>
              </a:defRPr>
            </a:pPr>
            <a:r>
              <a:t>🚨 Thực Trạng Rời Bỏ (16.07%)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Tỷ lệ Churn 16.07%: </a:t>
            </a:r>
            <a:r>
              <a:rPr sz="1150">
                <a:solidFill>
                  <a:srgbClr val="0F172A"/>
                </a:solidFill>
                <a:latin typeface="Calibri"/>
              </a:rPr>
              <a:t>1,627 trên tổng số 10,127 khách hàng trong tập dữ liệu đã hủy/đóng tài khoản thẻ tín dụng.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Cạnh tranh gay gắt: </a:t>
            </a:r>
            <a:r>
              <a:rPr sz="1150">
                <a:solidFill>
                  <a:srgbClr val="0F172A"/>
                </a:solidFill>
                <a:latin typeface="Calibri"/>
              </a:rPr>
              <a:t>Fintech (Ví điện tử, BNPL) và các ngân hàng đối thủ liên tục tung ưu đãi hoàn tiền hấp dẫn lôi kéo chủ thẻ.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Yêu cầu cấp thiết: </a:t>
            </a:r>
            <a:r>
              <a:rPr sz="1150">
                <a:solidFill>
                  <a:srgbClr val="0F172A"/>
                </a:solidFill>
                <a:latin typeface="Calibri"/>
              </a:rPr>
              <a:t>Cần xây dựng hệ thống dự báo bằng AI để phát hiện sớm tín hiệu rủi ro trước khi khách đóng thẻ.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[PHƯƠNG PHÁP LUẬN]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Kiến Trúc Pipeline Xử Lý Dữ Liệu &amp; Khai Phá Máy Học Toàn Diện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04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542032" cy="8229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ED7AA"/>
                </a:solidFill>
                <a:latin typeface="Calibri"/>
              </a:defRPr>
            </a:pPr>
            <a:r>
              <a:t>GIAI ĐOẠN 1</a:t>
            </a:r>
          </a:p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TIỀN XỬ LÝ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77440"/>
            <a:ext cx="2212848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Loại bỏ 2 cột Naive Bayes thừa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Xử lý Missing bằng Median Imputation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Bảo toàn nhóm 'Unknown' độc lập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Feature Engineering 5 biến tài chính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41732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56432" y="1417320"/>
            <a:ext cx="2542032" cy="8229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508760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t>GIAI ĐOẠN 2</a:t>
            </a:r>
          </a:p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KHÁM PHÁ DỮ LIỆU (EDA)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377440"/>
            <a:ext cx="2212848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Phân tích phân phối Attrition_Flag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Khảo sát nhân khẩu học &amp; kiểm định χ²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Nhận diện Vùng rủi ro GD (&lt;55 lần)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Phát hiện Dư nợ về 0 &amp; Ngưỡng gọi CSKH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41732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81344" y="1417320"/>
            <a:ext cx="2542032" cy="8229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508760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t>GIAI ĐOẠN 3</a:t>
            </a:r>
          </a:p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KHAI PHÁ NÂNG CAO (ML)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377440"/>
            <a:ext cx="2212848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Phân cụm 4 nhóm K-Means &amp; PCA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Huấn luyện 4 thuật toán: LR, DT, RF, XGB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Đánh giá ROC-AUC, Recall &amp; Precision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Tối ưu ngưỡng kinh tế (t = 0.42)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41732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06256" y="1417320"/>
            <a:ext cx="2542032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3416" y="1508760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t>GIAI ĐOẠN 4</a:t>
            </a:r>
          </a:p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ỨNG DỤNG QUẢN TRỊ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2377440"/>
            <a:ext cx="2212848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Phác họa 3 Chân dung rủi ro (Personas)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Khung Chiến lược Giữ chân 4 Tầng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Hệ thống Cảnh báo Sớm (EWS)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Mô phỏng ROI tài chính đạt 500%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[DATA ENGINEERING]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Tiền Xử Lý Dữ Liệu: Loại Bỏ Nhiễu &amp; Kiến Tạo 5 Đặc Trưng Phái Sinh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05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🧹 Chiến Lược Làm Sạch &amp; Chuẩn Hóa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1. Loại trừ Rò rỉ Dữ liệu (Data Leakage): </a:t>
            </a:r>
            <a:r>
              <a:rPr sz="1150">
                <a:solidFill>
                  <a:srgbClr val="0F172A"/>
                </a:solidFill>
                <a:latin typeface="Calibri"/>
              </a:rPr>
              <a:t>Xóa bỏ 2 cột Naive Bayes phân loại sẵn ở cuối bảng để đảm bảo tính khách quan thực nghiệm.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2. Xử lý Missing bằng Median Imputation: </a:t>
            </a:r>
            <a:r>
              <a:rPr sz="1150">
                <a:solidFill>
                  <a:srgbClr val="0F172A"/>
                </a:solidFill>
                <a:latin typeface="Calibri"/>
              </a:rPr>
              <a:t>Điền giá trị Trung vị cho các ô trống trong biến số nhằm đảm bảo tính vững chắc (robust) trước các điểm ngoại lai.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3. Bảo toàn Danh mục 'Unknown': </a:t>
            </a:r>
            <a:r>
              <a:rPr sz="1150">
                <a:solidFill>
                  <a:srgbClr val="0F172A"/>
                </a:solidFill>
                <a:latin typeface="Calibri"/>
              </a:rPr>
              <a:t>Giữ nguyên nhóm 'Unknown' trong Học vấn (15.0%), Thu nhập (11.0%), Hôn nhân (7.4%) như một phân lớp thông tin hành vi độc lập thay vì xóa bỏ.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7850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A580C"/>
                </a:solidFill>
                <a:latin typeface="Calibri"/>
              </a:defRPr>
            </a:pPr>
            <a:r>
              <a:t>⚙️ Kỹ Thuật Tạo 5 Đặc Trưng Mới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Avg_Trans_Value: </a:t>
            </a:r>
            <a:r>
              <a:rPr sz="1150">
                <a:solidFill>
                  <a:srgbClr val="0F172A"/>
                </a:solidFill>
                <a:latin typeface="Calibri"/>
              </a:rPr>
              <a:t>= Total_Trans_Amt / Total_Trans_Ct (Giá trị chi tiêu trung bình trên mỗi lần quẹt thẻ).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Revolving_Ratio: </a:t>
            </a:r>
            <a:r>
              <a:rPr sz="1150">
                <a:solidFill>
                  <a:srgbClr val="0F172A"/>
                </a:solidFill>
                <a:latin typeface="Calibri"/>
              </a:rPr>
              <a:t>= Total_Revolving_Bal / Credit_Limit (Tỷ lệ sử dụng dư nợ quay vòng trên hạn mức cấp).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Contact_Intensity: </a:t>
            </a:r>
            <a:r>
              <a:rPr sz="1150">
                <a:solidFill>
                  <a:srgbClr val="0F172A"/>
                </a:solidFill>
                <a:latin typeface="Calibri"/>
              </a:rPr>
              <a:t>= Contacts_Count / (Months_Inactive + 1) (Chỉ số cường độ bất mãn khi đang ngủ đông).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Age_Group: </a:t>
            </a:r>
            <a:r>
              <a:rPr sz="1150">
                <a:solidFill>
                  <a:srgbClr val="0F172A"/>
                </a:solidFill>
                <a:latin typeface="Calibri"/>
              </a:rPr>
              <a:t>Phân tầng lứa tuổi theo 5 nhóm vòng đời tài chính: &lt;35, 35-44, 45-54, 55-64, 65+.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Churn_Binary: </a:t>
            </a:r>
            <a:r>
              <a:rPr sz="1150">
                <a:solidFill>
                  <a:srgbClr val="0F172A"/>
                </a:solidFill>
                <a:latin typeface="Calibri"/>
              </a:rPr>
              <a:t>Mã hóa nhị phân 1 (Attrited Customer) vs 0 (Existing Customer).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[EDA — BIẾN MỤC TIÊU]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Phân Bố Biến Mục Tiêu: Thách Thức Mất Cân Bằng Lớp (Imbalance Ratio 1:5.22)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06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943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5577840" cy="41833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49440" y="1417320"/>
            <a:ext cx="45107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600200"/>
            <a:ext cx="405353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📊 Thống Kê &amp; Chiến Lược Đánh Giá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Cơ cấu Khách hàng: </a:t>
            </a:r>
            <a:r>
              <a:rPr sz="1150">
                <a:solidFill>
                  <a:srgbClr val="0F172A"/>
                </a:solidFill>
                <a:latin typeface="Calibri"/>
              </a:rPr>
              <a:t>8,500 khách hàng Ở lại (83.93%) vs 1,627 khách hàng Rời bỏ (16.07%).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Tỷ lệ mất cân bằng: </a:t>
            </a:r>
            <a:r>
              <a:rPr sz="1150">
                <a:solidFill>
                  <a:srgbClr val="0F172A"/>
                </a:solidFill>
                <a:latin typeface="Calibri"/>
              </a:rPr>
              <a:t>Xấp xỉ 1:5.22 (Cứ 6 khách hàng mở thẻ thì có 1 khách hàng rời bỏ).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Bẫy Accuracy (Độ chính xác giả): </a:t>
            </a:r>
            <a:r>
              <a:rPr sz="1150">
                <a:solidFill>
                  <a:srgbClr val="0F172A"/>
                </a:solidFill>
                <a:latin typeface="Calibri"/>
              </a:rPr>
              <a:t>Nếu mô hình dự đoán toàn bộ khách hàng ở lại, Accuracy vẫn đạt 83.93% nhưng bỏ sót 100% khách rời bỏ.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Bộ chỉ số đánh giá tối ưu: </a:t>
            </a:r>
            <a:r>
              <a:rPr sz="1150">
                <a:solidFill>
                  <a:srgbClr val="0F172A"/>
                </a:solidFill>
                <a:latin typeface="Calibri"/>
              </a:rPr>
              <a:t>Bắt buộc phải ưu tiên Recall (Độ nhạy), Precision, F1-Score và diện tích dưới đường cong ROC-AUC.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[EDA — NHÂN KHẨU HỌC]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Phân Tích Nhân Khẩu Học: Khách Nữ &amp; Hiện Tượng Rủi Ro Phân Hóa 2 Đầu Thu Nhập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07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demographic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36192"/>
            <a:ext cx="5943600" cy="44577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417320"/>
            <a:ext cx="4236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37792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0A2540"/>
                </a:solidFill>
                <a:latin typeface="Calibri"/>
              </a:defRPr>
            </a:pPr>
            <a:r>
              <a:t>🔍 3 Phát Hiện Nhân Khẩu Cốt Lõi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1. Chênh lệch Giới tính (Gender): </a:t>
            </a:r>
            <a:r>
              <a:rPr sz="1150">
                <a:solidFill>
                  <a:srgbClr val="0F172A"/>
                </a:solidFill>
                <a:latin typeface="Calibri"/>
              </a:rPr>
              <a:t>Khách hàng Nữ có tỷ lệ rời bỏ 17.36% cao hơn Nam là 14.62% (kiểm định χ² có ý nghĩa thống kê p = 0.0002).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2. Rủi ro 2 đầu Thu nhập (Bimodal): </a:t>
            </a:r>
            <a:r>
              <a:rPr sz="1150">
                <a:solidFill>
                  <a:srgbClr val="0F172A"/>
                </a:solidFill>
                <a:latin typeface="Calibri"/>
              </a:rPr>
              <a:t>• Thu nhập &lt; $40K: Churn 17.19% (áp lực phí).
• Thu nhập ≥ $120K: Churn 17.33% (đối thủ lôi kéo).
• Thu nhập $60K-$80K: Trung thành nhất (13.48%).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3. Trình độ Học vấn (Doctorate): </a:t>
            </a:r>
            <a:r>
              <a:rPr sz="1150">
                <a:solidFill>
                  <a:srgbClr val="0F172A"/>
                </a:solidFill>
                <a:latin typeface="Calibri"/>
              </a:rPr>
              <a:t>Học vị Tiến sĩ có tỷ lệ rời bỏ cao nhất toàn mẫu (21.06%).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[EDA — HÀNH VI QUẸT THẺ]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Hành Vi Giao Dịch: Nhận Diện 'Vùng Nguy Cơ Cao' (&lt; 55 Giao Dịch &amp; &lt; $3,000)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08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transaction_behavior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3566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417320"/>
            <a:ext cx="4236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37792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C2626"/>
                </a:solidFill>
                <a:latin typeface="Calibri"/>
              </a:defRPr>
            </a:pPr>
            <a:r>
              <a:t>🚨 Điểm Báo Động Hành Vi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Tổng số lần GD (Total_Trans_Ct): </a:t>
            </a:r>
            <a:r>
              <a:rPr sz="1150">
                <a:solidFill>
                  <a:srgbClr val="0F172A"/>
                </a:solidFill>
                <a:latin typeface="Calibri"/>
              </a:rPr>
              <a:t>Khách ở lại 68.7 lần vs Khách churn 44.9 lần (-34.6%, p &lt; 0.0001).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Tổng tiền GD (Total_Trans_Amt): </a:t>
            </a:r>
            <a:r>
              <a:rPr sz="1150">
                <a:solidFill>
                  <a:srgbClr val="0F172A"/>
                </a:solidFill>
                <a:latin typeface="Calibri"/>
              </a:rPr>
              <a:t>Khách ở lại $4,655 vs Khách churn $3,095 (-33.5%, p &lt; 0.0001).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VÙNG NGUY CƠ CAO (RED CLUSTER): </a:t>
            </a:r>
            <a:r>
              <a:rPr sz="1150">
                <a:solidFill>
                  <a:srgbClr val="0F172A"/>
                </a:solidFill>
                <a:latin typeface="Calibri"/>
              </a:rPr>
              <a:t>Toàn bộ khách hàng quẹt thẻ dưới 55 lần/năm và chi tiêu dưới $3,000 tập trung dày đặc các điểm rời bỏ. Tần suất quẹt thẻ chính là 'nhịp tim' của lòng trung thành.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[EDA — TÀI CHÍNH]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Chỉ Số Tài Chính: Hiện Tượng 'Dư Nợ Quay Vòng Về 0' Trước Khi Đóng Thẻ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09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financial_ratios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25472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417320"/>
            <a:ext cx="4236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37792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📉 Tín Hiệu Dọn Đường Đóng Thẻ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Dư nợ quay vòng (Revolving Bal): </a:t>
            </a:r>
            <a:r>
              <a:rPr sz="1150">
                <a:solidFill>
                  <a:srgbClr val="0F172A"/>
                </a:solidFill>
                <a:latin typeface="Calibri"/>
              </a:rPr>
              <a:t>• Khách ở lại: Mean $1,257 (Median $1,364)
• Khách rời bỏ: Mean $673 (MEDIAN = $0.00!)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Tỷ lệ sử dụng hạn mức (Utilization): </a:t>
            </a:r>
            <a:r>
              <a:rPr sz="1150">
                <a:solidFill>
                  <a:srgbClr val="0F172A"/>
                </a:solidFill>
                <a:latin typeface="Calibri"/>
              </a:rPr>
              <a:t>• Khách ở lại: 29.64% (Median 21.1%)
• Khách rời bỏ: 16.25% (MEDIAN = 0.00%!)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Quy luật tâm lý tài chính: </a:t>
            </a:r>
            <a:r>
              <a:rPr sz="1150">
                <a:solidFill>
                  <a:srgbClr val="0F172A"/>
                </a:solidFill>
                <a:latin typeface="Calibri"/>
              </a:rPr>
              <a:t>Khách hàng trước khi hủy thẻ luôn có hành vi tất toán sạch nợ để không phát sinh lãi phạt và hoàn toàn dừng quẹt thẻ.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[EDA — DỊCH VỤ KHÁCH HÀNG]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Tương Tác CSKH &amp; Mức Độ Ngủ Đông: 'Ngưỡng Báo Động 3 Lần Liên Hệ'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10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interaction_decay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25472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417320"/>
            <a:ext cx="4236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37792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A580C"/>
                </a:solidFill>
                <a:latin typeface="Calibri"/>
              </a:defRPr>
            </a:pPr>
            <a:r>
              <a:t>📞 Ngưỡng Bức Xúc 3 Lần Gọi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Gọi CSKH 0 - 1 lần: </a:t>
            </a:r>
            <a:r>
              <a:rPr sz="1150">
                <a:solidFill>
                  <a:srgbClr val="0F172A"/>
                </a:solidFill>
                <a:latin typeface="Calibri"/>
              </a:rPr>
              <a:t>Tỷ lệ rời bỏ dưới 8% (mức thông thường).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Gọi CSKH 3 lần: </a:t>
            </a:r>
            <a:r>
              <a:rPr sz="1150">
                <a:solidFill>
                  <a:srgbClr val="0F172A"/>
                </a:solidFill>
                <a:latin typeface="Calibri"/>
              </a:rPr>
              <a:t>Tỷ lệ rời bỏ vọt lên 20.21% (Báo động vàng).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Gọi CSKH 4 lần: </a:t>
            </a:r>
            <a:r>
              <a:rPr sz="1150">
                <a:solidFill>
                  <a:srgbClr val="0F172A"/>
                </a:solidFill>
                <a:latin typeface="Calibri"/>
              </a:rPr>
              <a:t>Tỷ lệ rời bỏ đạt 34.11% (Báo động đỏ).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Gọi CSKH 5 - 6 lần: </a:t>
            </a:r>
            <a:r>
              <a:rPr sz="1150">
                <a:solidFill>
                  <a:srgbClr val="0F172A"/>
                </a:solidFill>
                <a:latin typeface="Calibri"/>
              </a:rPr>
              <a:t>Tỷ lệ rời bỏ lên tới 55% - 100% (Bất mãn cực độ).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Bài học vận hành: </a:t>
            </a:r>
            <a:r>
              <a:rPr sz="1150">
                <a:solidFill>
                  <a:srgbClr val="0F172A"/>
                </a:solidFill>
                <a:latin typeface="Calibri"/>
              </a:rPr>
              <a:t>Cần áp dụng chỉ số First-Contact Resolution (FCR) xử lý dứt điểm khiếu nại trong 24 giờ.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[EDA — BÁN CHÉO]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Hệ Sinh Thái Sản Phẩm: Rào Cản Chuyển Đổi Khi Khách Hàng Dùng ≥ 4 Sản Phẩm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11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relationship_and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25472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417320"/>
            <a:ext cx="4236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37792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Calibri"/>
              </a:defRPr>
            </a:pPr>
            <a:r>
              <a:t>🔗 Sức Mạnh của Bán Chéo (Cross-selling)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Dùng 1 - 2 sản phẩm: </a:t>
            </a:r>
            <a:r>
              <a:rPr sz="1150">
                <a:solidFill>
                  <a:srgbClr val="0F172A"/>
                </a:solidFill>
                <a:latin typeface="Calibri"/>
              </a:rPr>
              <a:t>Tỷ lệ rời bỏ lên tới 26.15% - 27.81% (Gắn kết lỏng lẻo).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Dùng 3 sản phẩm: </a:t>
            </a:r>
            <a:r>
              <a:rPr sz="1150">
                <a:solidFill>
                  <a:srgbClr val="0F172A"/>
                </a:solidFill>
                <a:latin typeface="Calibri"/>
              </a:rPr>
              <a:t>Tỷ lệ rời bỏ giảm xuống 17.77%.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Dùng ≥ 4 đến 6 sản phẩm: </a:t>
            </a:r>
            <a:r>
              <a:rPr sz="1150">
                <a:solidFill>
                  <a:srgbClr val="0F172A"/>
                </a:solidFill>
                <a:latin typeface="Calibri"/>
              </a:rPr>
              <a:t>Tỷ lệ rời bỏ giảm mạnh chỉ còn 10.49% - 11.78% (Giảm gần 3 lần!).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Kết luận chiến lược: </a:t>
            </a:r>
            <a:r>
              <a:rPr sz="1150">
                <a:solidFill>
                  <a:srgbClr val="0F172A"/>
                </a:solidFill>
                <a:latin typeface="Calibri"/>
              </a:rPr>
              <a:t>Càng tích hợp nhiều dịch vụ (tài khoản lương, tiết kiệm, vay thế chấp), chi phí chuyển đổi càng cao, giữ chân khách hàng tự nhiên.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[DATA MINING — CLUSTERING]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Khai Phá Dữ Liệu: Phân Cụm 4 Nhóm Khách Hàng Hành Vi (K-Means &amp; PCA)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12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kmeans_cluster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22288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417320"/>
            <a:ext cx="4236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37792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A2540"/>
                </a:solidFill>
                <a:latin typeface="Calibri"/>
              </a:defRPr>
            </a:pPr>
            <a:r>
              <a:t>👥 Hồ Sơ Đặc Trưng 4 Phân Cụm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Cụm 0 (37.6%): Tiêu dùng ổn định: </a:t>
            </a:r>
            <a:r>
              <a:rPr sz="1150">
                <a:solidFill>
                  <a:srgbClr val="0F172A"/>
                </a:solidFill>
                <a:latin typeface="Calibri"/>
              </a:rPr>
              <a:t>Chi tiêu $4.1K, Dư nợ $1.4K, Churn = 9.2% (Thấp).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DC2626"/>
                </a:solidFill>
                <a:latin typeface="Calibri"/>
              </a:rPr>
              <a:t>• Cụm 1 (24.0%): Ngủ đông &amp; Nguy cơ cao: </a:t>
            </a:r>
            <a:r>
              <a:rPr sz="1150">
                <a:solidFill>
                  <a:srgbClr val="0F172A"/>
                </a:solidFill>
                <a:latin typeface="Calibri"/>
              </a:rPr>
              <a:t>Chi tiêu $1.8K, Dư nợ $210, Churn = 41.8%! (Cực cao, ưu tiên can thiệp số 1).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Cụm 2 (18.7%): VIP Chi tiêu lớn: </a:t>
            </a:r>
            <a:r>
              <a:rPr sz="1150">
                <a:solidFill>
                  <a:srgbClr val="0F172A"/>
                </a:solidFill>
                <a:latin typeface="Calibri"/>
              </a:rPr>
              <a:t>Chi tiêu $9.5K, Hạn mức cao, Churn = 14.5% (Nhạy bén ưu đãi).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Cụm 3 (19.7%): Vay nợ quay vòng: </a:t>
            </a:r>
            <a:r>
              <a:rPr sz="1150">
                <a:solidFill>
                  <a:srgbClr val="0F172A"/>
                </a:solidFill>
                <a:latin typeface="Calibri"/>
              </a:rPr>
              <a:t>Dư nợ $2.2K sinh lãi, Churn = 7.6% (Gắn kết nhất).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[MACHINE LEARNING]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Mô Hình Hóa Dự Báo: XGBoost Vượt Trội Toàn Diện (ROC-AUC = 0.9930, Recall = 91.38%)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13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ml_model_comparison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22288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417320"/>
            <a:ext cx="4236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37792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A2540"/>
                </a:solidFill>
                <a:latin typeface="Calibri"/>
              </a:defRPr>
            </a:pPr>
            <a:r>
              <a:t>🏆 So Sánh Hiệu Năng 4 Thuật Toán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Logistic Regression (Baseline): </a:t>
            </a:r>
            <a:r>
              <a:rPr sz="1150">
                <a:solidFill>
                  <a:srgbClr val="0F172A"/>
                </a:solidFill>
                <a:latin typeface="Calibri"/>
              </a:rPr>
              <a:t>ROC-AUC = 0.9348 | Recall = 83.38% | F1 = 67.25%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Decision Tree Classifier: </a:t>
            </a:r>
            <a:r>
              <a:rPr sz="1150">
                <a:solidFill>
                  <a:srgbClr val="0F172A"/>
                </a:solidFill>
                <a:latin typeface="Calibri"/>
              </a:rPr>
              <a:t>ROC-AUC = 0.9458 | Recall = 88.92% | F1 = 76.15%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Random Forest Classifier: </a:t>
            </a:r>
            <a:r>
              <a:rPr sz="1150">
                <a:solidFill>
                  <a:srgbClr val="0F172A"/>
                </a:solidFill>
                <a:latin typeface="Calibri"/>
              </a:rPr>
              <a:t>ROC-AUC = 0.9838 | Recall = 87.08% | F1 = 84.23%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🌟 XGBOOST CLASSIFIER (TOP 1): </a:t>
            </a:r>
            <a:r>
              <a:rPr sz="1150">
                <a:solidFill>
                  <a:srgbClr val="0F172A"/>
                </a:solidFill>
                <a:latin typeface="Calibri"/>
              </a:rPr>
              <a:t>• ROC-AUC: 0.9930 (Gần như tuyệt đối)
• Recall: 91.38% (Bắt trúng &gt;9/10 khách churn)
• Precision: 87.61% | Accuracy: 96.54%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[MODEL VALIDATION]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Đánh Giá Sai Số: Ma Trận Nhầm Lẫn &amp; Khả Năng Kiểm Soát Báo Động Giả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14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ml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466997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417320"/>
            <a:ext cx="4236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37792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🎯 Kiểm Soát Sai Số Loại I &amp; II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Sai số Loại II (False Negative): </a:t>
            </a:r>
            <a:r>
              <a:rPr sz="1150">
                <a:solidFill>
                  <a:srgbClr val="0F172A"/>
                </a:solidFill>
                <a:latin typeface="Calibri"/>
              </a:rPr>
              <a:t>Chỉ bỏ sót 28/325 khách hàng rời bỏ trên tập kiểm thử độc lập (Tỷ lệ lỗi &lt; 8.6%).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Sai số Loại I (False Positive): </a:t>
            </a:r>
            <a:r>
              <a:rPr sz="1150">
                <a:solidFill>
                  <a:srgbClr val="0F172A"/>
                </a:solidFill>
                <a:latin typeface="Calibri"/>
              </a:rPr>
              <a:t>Chỉ có 42/1,701 khách hàng ở lại bị dự đoán nhầm (Tỷ lệ báo động giả &lt; 2.5%).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Ý nghĩa kinh tế thực tế: </a:t>
            </a:r>
            <a:r>
              <a:rPr sz="1150">
                <a:solidFill>
                  <a:srgbClr val="0F172A"/>
                </a:solidFill>
                <a:latin typeface="Calibri"/>
              </a:rPr>
              <a:t>Giúp ngân hàng can thiệp trúng đích khách hàng nguy cơ mà không lãng phí ngân sách ưu đãi cho khách hàng trung thành.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[EXPLAINABLE AI]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Giải Thích Mô Hình: 5 Đòn Bẩy Hành Vi Quyết Định Đến Nguy Cơ Rời Bỏ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15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feature_importance_x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34671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417320"/>
            <a:ext cx="4236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37792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🔑 5 Đòn Bẩy Hành Vi Cốt Lõi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1. Total_Trans_Ct (Số lần giao dịch): </a:t>
            </a:r>
            <a:r>
              <a:rPr sz="1150">
                <a:solidFill>
                  <a:srgbClr val="0F172A"/>
                </a:solidFill>
                <a:latin typeface="Calibri"/>
              </a:rPr>
              <a:t>Đóng góp quan trọng nhất. Tần suất quẹt thẻ phản ánh nhịp tim gắn kết.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2. Total_Ct_Chng_Q4_Q1: </a:t>
            </a:r>
            <a:r>
              <a:rPr sz="1150">
                <a:solidFill>
                  <a:srgbClr val="0F172A"/>
                </a:solidFill>
                <a:latin typeface="Calibri"/>
              </a:rPr>
              <a:t>Mức độ sụt giảm số giao dịch trong quý cuối so với đầu năm.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3. Total_Revolving_Bal: </a:t>
            </a:r>
            <a:r>
              <a:rPr sz="1150">
                <a:solidFill>
                  <a:srgbClr val="0F172A"/>
                </a:solidFill>
                <a:latin typeface="Calibri"/>
              </a:rPr>
              <a:t>Dấu hiệu tất toán đưa dư nợ quay vòng về 0.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4. Total_Trans_Amt: </a:t>
            </a:r>
            <a:r>
              <a:rPr sz="1150">
                <a:solidFill>
                  <a:srgbClr val="0F172A"/>
                </a:solidFill>
                <a:latin typeface="Calibri"/>
              </a:rPr>
              <a:t>Quy mô ngân sách chi tiêu phân bổ qua thẻ.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5. Relationship_Count &amp; Contacts: </a:t>
            </a:r>
            <a:r>
              <a:rPr sz="1150">
                <a:solidFill>
                  <a:srgbClr val="0F172A"/>
                </a:solidFill>
                <a:latin typeface="Calibri"/>
              </a:rPr>
              <a:t>Ràng buộc hệ sinh thái và mức độ bức xúc dịch vụ.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[TỐI ƯU HÓA KINH TẾ]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Tối Ưu Hóa Ngưỡng Quyết Định: Điểm Cân Bằng Lợi Nhuận Ròng Tại t = 0.42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16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_cost_benefit_threshold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2971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417320"/>
            <a:ext cx="4236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37792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A2540"/>
                </a:solidFill>
                <a:latin typeface="Calibri"/>
              </a:defRPr>
            </a:pPr>
            <a:r>
              <a:t>💰 Mô Hình Hóa Chi Phí - Lợi Ích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Giả định bài toán kinh tế: </a:t>
            </a:r>
            <a:r>
              <a:rPr sz="1150">
                <a:solidFill>
                  <a:srgbClr val="0F172A"/>
                </a:solidFill>
                <a:latin typeface="Calibri"/>
              </a:rPr>
              <a:t>• Giá trị CLV giữ chân: $500 / khách
• Chi phí can thiệp ưu đãi: $50 / khách
• Mất khách không can thiệp: -$500 / khách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🎯 ĐIỂM CẮT TỐI ƯU (t = 0.42): </a:t>
            </a:r>
            <a:r>
              <a:rPr sz="1150">
                <a:solidFill>
                  <a:srgbClr val="0F172A"/>
                </a:solidFill>
                <a:latin typeface="Calibri"/>
              </a:rPr>
              <a:t>• Thay vì dùng ngưỡng 0.50 mặc định, dịch chuyển ngưỡng sang t = 0.42 giúp tối đa hóa lợi nhuận ròng.
• Recall đạt 94.0%, Precision đạt 86.2%.
• Lợi nhuận ròng tối đa trên tập Test: &gt; $112,000 USD.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[CHÂN DUNG KHÁCH HÀNG]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Phác Họa 3 Chân Dung Khách Hàng Rời Bỏ Điển Hình &amp; Hành Động Can Thiệp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17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564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56432" cy="914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3127248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A2540"/>
                </a:solidFill>
                <a:latin typeface="Calibri"/>
              </a:defRPr>
            </a:pPr>
            <a:r>
              <a:t>CHÂN DUNG 1 (55% TỔNG CHURN)</a:t>
            </a:r>
          </a:p>
          <a:p>
            <a:pPr>
              <a:spcAft>
                <a:spcPts val="1000"/>
              </a:spcAft>
              <a:defRPr sz="1400" b="1">
                <a:solidFill>
                  <a:srgbClr val="0A2540"/>
                </a:solidFill>
                <a:latin typeface="Calibri"/>
              </a:defRPr>
            </a:pPr>
            <a:r>
              <a:t>THE SILENT DEFECTOR</a:t>
            </a:r>
            <a:br/>
            <a:r>
              <a:t>(Ngủ đông &amp; Rút lui lặng lẽ)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Dư nợ quay vòng = $0 USD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Quẹt thẻ &lt; 45 lần/năm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Ngủ đông liên tiếp ≥ 3 tháng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Chi tiêu Q4 giảm &gt; 50%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💡 GIẢI PHÁP CAN THIỆP: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Tự động gửi E-voucher quẹt thẻ cuối tuần trên App, hoàn tiền 5% cho 3 giao dịch đầu tiên.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564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56432" cy="914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600200"/>
            <a:ext cx="3127248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DC2626"/>
                </a:solidFill>
                <a:latin typeface="Calibri"/>
              </a:defRPr>
            </a:pPr>
            <a:r>
              <a:t>CHÂN DUNG 2 (25% TỔNG CHURN)</a:t>
            </a:r>
          </a:p>
          <a:p>
            <a:pPr>
              <a:spcAft>
                <a:spcPts val="1000"/>
              </a:spcAft>
              <a:defRPr sz="1400" b="1">
                <a:solidFill>
                  <a:srgbClr val="0A2540"/>
                </a:solidFill>
                <a:latin typeface="Calibri"/>
              </a:defRPr>
            </a:pPr>
            <a:r>
              <a:t>FRUSTRATED COMPLAINER</a:t>
            </a:r>
            <a:br/>
            <a:r>
              <a:t>(Bức xúc Dịch vụ &amp; Khiếu nại)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Gọi CSKH ≥ 3 - 6 lần/năm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Chỉ dùng 1 - 2 sản phẩm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Bất mãn về lỗi POS / phí phạt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Tỷ lệ Churn lên tới 35% - 100%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💡 GIẢI PHÁP CAN THIỆP: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Đội ngũ VIP Taskforce liên hệ hỗ trợ trong 24h, miễn giảm phí thường niên linh hoạt.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417320"/>
            <a:ext cx="34564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10144" y="1417320"/>
            <a:ext cx="3456432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600200"/>
            <a:ext cx="3127248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Calibri"/>
              </a:defRPr>
            </a:pPr>
            <a:r>
              <a:t>CHÂN DUNG 3 (20% TỔNG CHURN)</a:t>
            </a:r>
          </a:p>
          <a:p>
            <a:pPr>
              <a:spcAft>
                <a:spcPts val="1000"/>
              </a:spcAft>
              <a:defRPr sz="1400" b="1">
                <a:solidFill>
                  <a:srgbClr val="0A2540"/>
                </a:solidFill>
                <a:latin typeface="Calibri"/>
              </a:defRPr>
            </a:pPr>
            <a:r>
              <a:t>THE VIP SWITCHER</a:t>
            </a:r>
            <a:br/>
            <a:r>
              <a:t>(Khách VIP Chuyển dịch)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Thu nhập ≥ $120K, Thẻ Gold/Plat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Hạn mức tín dụng &gt; $15K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Chi tiêu Q4 sụt giảm đột ngột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Bị đối thủ lôi kéo bằng đặc quyền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💡 GIẢI PHÁP CAN THIỆP: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Cán bộ RM tặng lượt phòng chờ sân bay, nhân đôi điểm tích dặm bay du lịch.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[KHUYẾN NGHỊ QUẢN TRỊ]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Khung Chiến Lược Giữ Chân Khách Hàng 4 Tầng &amp; Hệ Thống Cảnh Báo Sớm (EWS)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18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9728" cy="10972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A2540"/>
                </a:solidFill>
                <a:latin typeface="Calibri"/>
              </a:defRPr>
            </a:pPr>
            <a:r>
              <a:t>TẦNG 1: CẢNH BÁO SỚM (EWS)</a:t>
            </a:r>
          </a:p>
          <a:p>
            <a:pPr>
              <a:lnSpc>
                <a:spcPct val="115000"/>
              </a:lnSpc>
              <a:defRPr sz="1100">
                <a:solidFill>
                  <a:srgbClr val="0F172A"/>
                </a:solidFill>
                <a:latin typeface="Calibri"/>
              </a:defRPr>
            </a:pPr>
            <a:r>
              <a:t>Giám sát tự động thời gian thực các Trigger Point:</a:t>
            </a:r>
          </a:p>
          <a:p>
            <a:pPr>
              <a:lnSpc>
                <a:spcPct val="115000"/>
              </a:lnSpc>
              <a:defRPr sz="1100">
                <a:solidFill>
                  <a:srgbClr val="0F172A"/>
                </a:solidFill>
                <a:latin typeface="Calibri"/>
              </a:defRPr>
            </a:pPr>
            <a:r>
              <a:t>• Ngủ đông 2 tháng -&gt; Đẩy Push Notification &amp; E-voucher kích hoạt.</a:t>
            </a:r>
          </a:p>
          <a:p>
            <a:pPr>
              <a:lnSpc>
                <a:spcPct val="115000"/>
              </a:lnSpc>
              <a:defRPr sz="1100">
                <a:solidFill>
                  <a:srgbClr val="0F172A"/>
                </a:solidFill>
                <a:latin typeface="Calibri"/>
              </a:defRPr>
            </a:pPr>
            <a:r>
              <a:t>• Gọi CSKH lần 3 -&gt; Chuyển VIP Ticket xử lý khẩn cấp.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737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A2540"/>
                </a:solidFill>
                <a:latin typeface="Calibri"/>
              </a:defRPr>
            </a:pPr>
            <a:r>
              <a:t>KPI: Tỷ lệ phát hiện sớm &gt; 90%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606040"/>
            <a:ext cx="109728" cy="10972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9748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284C7"/>
                </a:solidFill>
                <a:latin typeface="Calibri"/>
              </a:defRPr>
            </a:pPr>
            <a:r>
              <a:t>TẦNG 2: CSKH CHỦ ĐỘNG (PROACTIVE CARE)</a:t>
            </a:r>
          </a:p>
          <a:p>
            <a:pPr>
              <a:lnSpc>
                <a:spcPct val="115000"/>
              </a:lnSpc>
              <a:defRPr sz="1100">
                <a:solidFill>
                  <a:srgbClr val="0F172A"/>
                </a:solidFill>
                <a:latin typeface="Calibri"/>
              </a:defRPr>
            </a:pPr>
            <a:r>
              <a:t>• Áp dụng chỉ tiêu First-Contact Resolution (FCR) giải quyết dứt điểm khiếu nại trong 24h.</a:t>
            </a:r>
          </a:p>
          <a:p>
            <a:pPr>
              <a:lnSpc>
                <a:spcPct val="115000"/>
              </a:lnSpc>
              <a:defRPr sz="1100">
                <a:solidFill>
                  <a:srgbClr val="0F172A"/>
                </a:solidFill>
                <a:latin typeface="Calibri"/>
              </a:defRPr>
            </a:pPr>
            <a:r>
              <a:t>• Trao quyền Miễn giảm phí (Fee Waiver) linh hoạt cho nhân viên tổng đài.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926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Calibri"/>
              </a:defRPr>
            </a:pPr>
            <a:r>
              <a:t>KPI: FCR &gt; 85%, Churn CSKH &lt; 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109728" cy="10972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88620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EA580C"/>
                </a:solidFill>
                <a:latin typeface="Calibri"/>
              </a:defRPr>
            </a:pPr>
            <a:r>
              <a:t>TẦNG 3: GAMIFIED LOYALTY &amp; TÍCH ĐIỂM</a:t>
            </a:r>
          </a:p>
          <a:p>
            <a:pPr>
              <a:lnSpc>
                <a:spcPct val="115000"/>
              </a:lnSpc>
              <a:defRPr sz="1100">
                <a:solidFill>
                  <a:srgbClr val="0F172A"/>
                </a:solidFill>
                <a:latin typeface="Calibri"/>
              </a:defRPr>
            </a:pPr>
            <a:r>
              <a:t>• Chiến dịch 'Quẹt Thẻ Mỗi Tuần' tích điểm theo tần suất quẹt thẻ thay vì chỉ tính theo số tiền.</a:t>
            </a:r>
          </a:p>
          <a:p>
            <a:pPr>
              <a:lnSpc>
                <a:spcPct val="115000"/>
              </a:lnSpc>
              <a:defRPr sz="1100">
                <a:solidFill>
                  <a:srgbClr val="0F172A"/>
                </a:solidFill>
                <a:latin typeface="Calibri"/>
              </a:defRPr>
            </a:pPr>
            <a:r>
              <a:t>• Tự chọn danh mục hoàn tiền ưa thích (Ẩm thực, Mua sắm, Du lịch).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114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EA580C"/>
                </a:solidFill>
                <a:latin typeface="Calibri"/>
              </a:defRPr>
            </a:pPr>
            <a:r>
              <a:t>KPI: Tần suất GD ≥ 5 lần/tháng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8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983480"/>
            <a:ext cx="109728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7492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10B981"/>
                </a:solidFill>
                <a:latin typeface="Calibri"/>
              </a:defRPr>
            </a:pPr>
            <a:r>
              <a:t>TẦNG 4: BÁN CHÉO HỆ SINH THÁI (CROSS-SELLING)</a:t>
            </a:r>
          </a:p>
          <a:p>
            <a:pPr>
              <a:lnSpc>
                <a:spcPct val="115000"/>
              </a:lnSpc>
              <a:defRPr sz="1100">
                <a:solidFill>
                  <a:srgbClr val="0F172A"/>
                </a:solidFill>
                <a:latin typeface="Calibri"/>
              </a:defRPr>
            </a:pPr>
            <a:r>
              <a:t>• Combo 'Tài chính Toàn diện' liên kết thẻ tín dụng với tài khoản lương và tiền gửi tiết kiệm.</a:t>
            </a:r>
          </a:p>
          <a:p>
            <a:pPr>
              <a:lnSpc>
                <a:spcPct val="115000"/>
              </a:lnSpc>
              <a:defRPr sz="1100">
                <a:solidFill>
                  <a:srgbClr val="0F172A"/>
                </a:solidFill>
                <a:latin typeface="Calibri"/>
              </a:defRPr>
            </a:pPr>
            <a:r>
              <a:t>• Kích hoạt Auto-billing thanh toán hóa đơn điện nước để tăng rào cản chuyển đổi.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303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KPI: Sở hữu ≥ 4 SP đạt &gt; 65%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2540"/>
                </a:solidFill>
                <a:latin typeface="Calibri"/>
              </a:rPr>
              <a:t>HỌC VIỆN NGÂN HÀNG | BÀI TẬP GIỮA KỲ — PHÂN TÍCH DỮ LIỆU KINH DOANH  •  </a:t>
            </a:r>
            <a:r>
              <a:rPr sz="950" b="1">
                <a:solidFill>
                  <a:srgbClr val="EA580C"/>
                </a:solidFill>
                <a:latin typeface="Calibri"/>
              </a:rPr>
              <a:t>[TÀI CHÍNH &amp; ROI]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Calibri"/>
              </a:defRPr>
            </a:pPr>
            <a:r>
              <a:t>Mô Phỏng Tài Chính: Lợi Nhuận Ròng Tăng +$400,000 USD/Năm (ROI = 500%)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Học viện Ngân hàng (BAV)  •  Học phần: Phân tích Dữ liệu trong Kinh doanh  •  Học viên: Đỗ Văn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0A2540"/>
                </a:solidFill>
                <a:latin typeface="Calibri"/>
              </a:defRPr>
            </a:pPr>
            <a:r>
              <a:t>19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📊 Giả Định Quy Mô 10,000 Khách Hàng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Quy mô cơ sở: </a:t>
            </a:r>
            <a:r>
              <a:rPr sz="1150">
                <a:solidFill>
                  <a:srgbClr val="0F172A"/>
                </a:solidFill>
                <a:latin typeface="Calibri"/>
              </a:rPr>
              <a:t>10,000 chủ thẻ tín dụng đang hoạt động.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Tỷ lệ rời bỏ tự nhiên (16%): </a:t>
            </a:r>
            <a:r>
              <a:rPr sz="1150">
                <a:solidFill>
                  <a:srgbClr val="0F172A"/>
                </a:solidFill>
                <a:latin typeface="Calibri"/>
              </a:rPr>
              <a:t>1,600 khách hàng rời bỏ mỗi năm.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• Giá trị CLV trung bình: </a:t>
            </a:r>
            <a:r>
              <a:rPr sz="1150">
                <a:solidFill>
                  <a:srgbClr val="0F172A"/>
                </a:solidFill>
                <a:latin typeface="Calibri"/>
              </a:rPr>
              <a:t>$500 USD / khách hàng.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DC2626"/>
                </a:solidFill>
                <a:latin typeface="Calibri"/>
              </a:rPr>
              <a:t>🚨 TỔN THẤT NẾU KHÔNG CAN THIỆP: </a:t>
            </a:r>
            <a:r>
              <a:rPr sz="1150">
                <a:solidFill>
                  <a:srgbClr val="0F172A"/>
                </a:solidFill>
                <a:latin typeface="Calibri"/>
              </a:rPr>
              <a:t>1,600 khách × $500 = $800,000 USD / NĂM!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🎯 Mục tiêu giữ chân với XGBoost: </a:t>
            </a:r>
            <a:r>
              <a:rPr sz="1150">
                <a:solidFill>
                  <a:srgbClr val="0F172A"/>
                </a:solidFill>
                <a:latin typeface="Calibri"/>
              </a:rPr>
              <a:t>Cứu vãn thành công 60% số khách có nguy cơ = 960 KHÁCH HÀNG GIỮ LẠI.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7850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💵 Tính Toán Lợi Nhuận &amp; Tỷ Suất ROI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1. Giá trị CLV cứu vãn được: </a:t>
            </a:r>
            <a:r>
              <a:rPr sz="1150">
                <a:solidFill>
                  <a:srgbClr val="0F172A"/>
                </a:solidFill>
                <a:latin typeface="Calibri"/>
              </a:rPr>
              <a:t>960 khách × $500 = $480,000 USD.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2. Tổng chi phí can thiệp ưu đãi: </a:t>
            </a:r>
            <a:r>
              <a:rPr sz="1150">
                <a:solidFill>
                  <a:srgbClr val="0F172A"/>
                </a:solidFill>
                <a:latin typeface="Calibri"/>
              </a:rPr>
              <a:t>1,600 khách × $50 = $80,000 USD.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3. LỢI NHUẬN RÒNG GIA TĂNG: </a:t>
            </a:r>
            <a:r>
              <a:rPr sz="1150">
                <a:solidFill>
                  <a:srgbClr val="0F172A"/>
                </a:solidFill>
                <a:latin typeface="Calibri"/>
              </a:rPr>
              <a:t>$480,000 - $80,000 = +$400,000 USD / NĂM!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150" b="1">
                <a:solidFill>
                  <a:srgbClr val="0284C7"/>
                </a:solidFill>
                <a:latin typeface="Calibri"/>
              </a:rPr>
              <a:t>🚀 TỶ SUẤT HOÀN VỐN ĐẦU TƯ (ROI): </a:t>
            </a:r>
            <a:r>
              <a:rPr sz="1150">
                <a:solidFill>
                  <a:srgbClr val="0F172A"/>
                </a:solidFill>
                <a:latin typeface="Calibri"/>
              </a:rPr>
              <a:t>ROI = ($400,000 / $80,000) × 100% = 500%!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XIN TRÂN TRỌNG CẢM ƠN QUÝ THẦY/CÔ VÀ CÁC BẠN!</a:t>
            </a:r>
          </a:p>
          <a:p>
            <a:pPr algn="ctr">
              <a:spcAft>
                <a:spcPts val="240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HỌC VIỆN NGÂN HÀNG (BANKING ACADEMY OF VIETNAM) — KHOA HTTTQL</a:t>
            </a:r>
          </a:p>
          <a:p>
            <a:pPr algn="ctr">
              <a:spcAft>
                <a:spcPts val="1200"/>
              </a:spcAft>
              <a:defRPr sz="2400" b="1">
                <a:solidFill>
                  <a:srgbClr val="BAE6FD"/>
                </a:solidFill>
                <a:latin typeface="Calibri"/>
              </a:defRPr>
            </a:pPr>
            <a:r>
              <a:t>HỎI &amp; ĐÁP (Q&amp;A SESSION)</a:t>
            </a:r>
          </a:p>
          <a:p>
            <a:pPr algn="ctr">
              <a:defRPr sz="1300">
                <a:solidFill>
                  <a:srgbClr val="E2E8F0"/>
                </a:solidFill>
                <a:latin typeface="Calibri"/>
              </a:defRPr>
            </a:pPr>
            <a:r>
              <a:t>Rất mong nhận được các ý kiến nhận xét và câu hỏi phản biện từ Hội đồng!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