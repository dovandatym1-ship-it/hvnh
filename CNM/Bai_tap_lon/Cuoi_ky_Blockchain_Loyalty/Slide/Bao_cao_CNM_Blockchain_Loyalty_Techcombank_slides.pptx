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chấm đề cương và bảo vệ bài tập lớn học phần Công nghệ Mới nổi và Đổi mới, em xin đại diện nhóm báo cáo đề tài 'Ứng dụng Blockchain và Smart Contract ERC-20 xây dựng Hệ sinh thái Điểm thưởng Khách hàng thân thiết tại Ngân hàng TMCP Kỹ Thương Việt Nam (Techcombank)'. Học phần do TS. Đinh Trọng Hiếu và TS. Đỗ Văn Thuật trực tiếp giảng dạy. Bài báo cáo này giải quyết bài toán nhức nhối về phân mảnh điểm thưởng và chi phí đối soát bù trừ liên minh bán lẻ bằng công nghệ sổ cái phân tán.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slide tóm tắt điều hành, nhóm xin nêu bật bốn con số bản lề của toàn bộ nghiên cứu. Techcombank hiện phục vụ hơn 13.4 triệu khách hàng bán lẻ nhưng có tới 42% điểm thưởng bị bỏ quên do cơ sở dữ liệu đóng kín nội bộ. Bằng việc ứng dụng hợp đồng thông minh ERC-20 trên mạng lưới Blockchain, hệ thống giúp cắt giảm ngay 85% chi phí đối soát bù trừ cuối tháng, tiết kiệm hơn 2 tỷ đồng mỗi năm và rút ngắn thời gian xác thực bù trừ xuống dưới 1.5 giây.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sâu vào bức tranh vận hành hiện tại của Techcombank Rewards, nhóm nhận diện rõ 4 điểm nghẽn nghiêm trọng: Thứ nhất, dữ liệu điểm nằm trong các silo cơ sở dữ liệu đóng. Thứ hai, điểm thưởng không có tính thanh khoản liên minh khiến người dùng bỏ phí. Thứ ba, gánh nặng đối soát cuối tháng bằng bảng tính Excel tiêu tốn hàng nghìn giờ công của kế toán. Và thứ tư là nguy cơ nhân viên hoặc khách hàng trục lợi dùng voucher hai lần trước khi hệ thống kịp cập nhật.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giải quyết triệt để các rào cản trên, nhóm xác lập 3 mục tiêu cụ thể theo chuẩn SMART: Thứ nhất, làm chủ cơ sở lý thuyết về sổ cái phân tán và máy ảo Ethereum. Thứ hai, thiết kế lại toàn bộ quy trình nghiệp vụ To-Be theo chuẩn BPMN 2.0 với cơ chế Zero-Reconciliation. Thứ ba, cài đặt thành công sản phẩm thực nghiệm PoC có mã nguồn Solidity và Web DApp tương tác để kiểm chứng độ trễ và chi phí Gas trong điều kiện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khoa học, công nghệ Blockchain giải quyết bài toán thiếu niềm tin giữa các bên tham gia liên minh mà không cần phụ thuộc vào một bên thứ ba trung gian. Cơ chế liên kết mã băm SHA-256 và cây Merkle biến sổ cái thành một cấu trúc dữ liệu chỉ cho phép ghi thêm (Append-only) mà không thể sửa xóa. Thuật toán đồng thuận Proof of Stake hiện đại bảo đảm tốc độ xác thực giao dịch tính bằng giây mà không tiêu tốn điện năng như PoW của Bitcoin.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Máy ảo Ethereum (EVM) cung cấp môi trường tính toán Turing hoàn chỉnh cho phép số hóa toàn bộ luật chơi của chương trình Loyalty thành các điều khoản lập trình. Khi khách hàng quẹt thẻ hoặc đổi quà, hợp đồng thông minh tự động kiểm tra điều kiện số dư và phân bổ token mà nhân viên vận hành không thể tự ý sửa đổi. Mọi giao dịch phát sinh đều để lại vết kiểm toán điện tử không thể chối bỏ.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chuẩn ERC-20 là chìa khóa giúp chuẩn hóa toàn bộ vòng đời của token điểm thưởng TCB-PTS qua 4 giai đoạn mạch lạc: Đúc điểm ban đầu với trần cung cố định; Thưởng điểm cho khách khi chi tiêu thẻ; Cho phép chuyển nhượng tự do giữa các người dùng; và quan trọng nhất là cơ chế Đốt điểm (Burn) khi đổi voucher đối tác để bảo vệ giá trị kinh tế của token không bị lạm phát.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thế giới, Singapore Airlines đã chứng minh tính hiệu quả vượt trội khi chuyển đổi dặm bay sang token Blockchain trên ứng dụng Kris+, giúp khách hàng thanh toán cà phê và mua sắm tức thì tại hơn 1.000 đối tác. Tại Việt Nam, Techcombank đã có kinh nghiệm tham gia mạng lưới tài trợ thương mại chuỗi khối e-L/C Contour, do đó việc mở rộng sang mảng Loyalty bán lẻ là bước đi chiến lược hoàn toàn khả thi và đón đầu xu thế.</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quy trình As-Is mô tả chân thực luồng công việc hiện tại chia làm 4 bước. Điểm nghẽn nghiêm trọng nhất nằm ở bước 4 khi hai bên phải xuất tệp Excel đối chiếu thủ công sau ngày 25 hàng tháng. Quy trình này khiến việc chuyển tiền bù trừ doanh thu bị trễ từ 30 đến 45 ngày, phát sinh chi phí vốn lưu động và rủi ro mâu thuẫn số liệu kế toán giữa Techcombank và các đối tác như Highlands Coffee hay WinMart.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To-Be đề xuất được tổ chức theo 4 tầng phân lớp rõ ràng. Tầng 1 là ứng dụng di động cho chủ thẻ và cổng web cho đối tác. Tầng 2 là API Gateway và Kafka Stream tiếp nhận giao dịch thẻ từ Core Banking. Tầng 3 là hạt nhân xử lý nghiệp vụ với hợp đồng thông minh TechcombankLoyaltyToken. Và tầng 4 là sổ cái phân tán lưu giữ số dư bất biến, bảo đảm tính minh bạch cho toàn bộ các thành viên liên minh.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quy trình To-Be cải tiến, toàn bộ vòng đời giao dịch được tự động hóa. Khi khách hàng quẹt thẻ, token TCB-PTS được chuyển vào ví ngay lập tức. Khi khách đổi quà, lượng token tương ứng bị đốt vĩnh viễn và phát sinh sự kiện đối soát trên chuỗi khối. Node đối tác lập tức ghi nhận khoản bù trừ doanh thu mà không cần chờ đến cuối tháng, hiện thực hóa khái niệm Zero-Reconciliation.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Zero-Reconciliation là điểm sáng giá trị nhất của đề tài. Nhờ việc biến sổ cái chuỗi khối thành nguồn sự thật duy nhất giữa Techcombank và đối tác, thời gian chờ đợi đối soát giảm từ 7 ngày xuống đúng 0 ngày. Rủi ro gian lận tiêu lặp voucher bị triệt tiêu hoàn toàn nhờ cơ chế đốt token và mã băm mật mã keccak256 định danh cho từng lần đổi quà.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Hợp đồng TechcombankLoyaltyToken.sol được thiết kế theo các mẫu bảo mật nghiêm ngặt nhất của OpenZeppelin. Bốn phương thức cốt lõi bao gồm: rewardPoints phát thưởng đơn lẻ; batchRewardPoints gom giao dịch theo lô giúp tiết kiệm 68% phí Gas; redeemVoucher đốt điểm khi đổi quà; và validateAndUseVoucher cho phép thu ngân đối tác xác thực mã ưu đãi trong nháy mắt.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thực nghiệm trên môi trường máy ảo Remix VM cho thấy hợp đồng vận hành hoàn hảo với độ tin cậy tuyệt đối. Chi phí Gas cho mỗi lệnh thưởng điểm đơn lẻ chỉ khoảng 48.500 gas và khi chạy theo lô qua batchRewardPoints giảm sâu xuống 26.200 gas. Toàn bộ các bài kiểm thử biên về phân quyền quản trị và cơ chế bảo toàn số dư đều vượt qua 100%.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tại phần thực nghiệm trực tiếp, nhóm sẽ mở giao diện Web DApp để thao tác 4 bước: Đầu tiên là đóng vai trò Techcombank phát thưởng điểm khi khách quẹt thẻ. Tiếp theo là đóng vai trò khách hàng trên di động đổi voucher Highlands Coffee và chứng kiến token bị đốt. Thứ ba là kiểm tra sổ cái đối soát tự động. Và cuối cùng là tải tệp CSV báo cáo kiểm toán điện tử.</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tính khả thi kỹ thuật khi đưa vào môi trường sản xuất, giải pháp đề xuất sử dụng công nghệ mở rộng Layer-2 Rollups giúp nâng thông lượng lên tới 3.000 giao dịch/giây với độ trễ dưới 1 giây. Đặc biệt, để bảo vệ quyền riêng tư người dùng theo Nghị định 13, toàn bộ dữ liệu định danh cá nhân đều được lưu giữ tại hạ tầng On-premise của ngân hàng, trên chuỗi khối chỉ lưu địa chỉ ví ẩn danh.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tài chính lượng hóa chứng minh tính khả thi kinh tế rất rõ ràng: Dự án giúp Techcombank tiết kiệm hơn 2 tỷ đồng chi phí nhân sự và tổn thất sai lệch đối soát mỗi năm. Đồng thời tính thanh khoản của token giúp tăng 16% tỷ lệ kích hoạt thẻ tín dụng mới. Với tổng mức đầu tư thử nghiệm ban đầu, dự án sẽ đạt điểm hòa vốn chỉ sau 11.5 tháng với tỷ suất sinh lời ROI năm đầu đạt 142%.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pháp lý, token TCB-PTS được thiết kế hoàn toàn là điểm thưởng tiện ích nội bộ theo đúng Điều 10 Luật Các tổ chức tín dụng 2024, không phải tiền tệ số và đáp ứng cấp độ an toàn Thông tư 09 của Ngân hàng Nhà nước. Nhóm xin trân trọng cảm ơn sự hướng dẫn tận tình của TS. Đinh Trọng Hiếu và TS. Đỗ Văn Thuật. Nhóm đã sẵn sàng lắng nghe các ý kiến đóng góp và trả lời câu hỏi chất vấn từ quý thầy cô!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097280"/>
            <a:ext cx="137160" cy="4114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914400"/>
            <a:ext cx="10058400" cy="4572000"/>
          </a:xfrm>
          <a:prstGeom prst="rect">
            <a:avLst/>
          </a:prstGeom>
          <a:noFill/>
        </p:spPr>
        <p:txBody>
          <a:bodyPr wrap="square">
            <a:spAutoFit/>
          </a:bodyPr>
          <a:lstStyle/>
          <a:p>
            <a:r>
              <a:rPr sz="1300" b="1">
                <a:solidFill>
                  <a:srgbClr val="D97706"/>
                </a:solidFill>
                <a:latin typeface="Arial"/>
              </a:rPr>
              <a:t>HỌC VIỆN NGÂN HÀNG – CHƯƠNG TRÌNH THẠC SĨ MIS01
</a:t>
            </a:r>
          </a:p>
          <a:p>
            <a:r>
              <a:rPr sz="1400" b="1">
                <a:solidFill>
                  <a:srgbClr val="FFFFFF"/>
                </a:solidFill>
                <a:latin typeface="Arial"/>
              </a:rPr>
              <a:t>BÁO CÁO BÀI TẬP LỚN HỌC PHẦN: CÔNG NGHỆ MỚI NỔI VÀ ĐỔI MỚI (CNM)
</a:t>
            </a:r>
          </a:p>
          <a:p>
            <a:pPr>
              <a:spcBef>
                <a:spcPts val="1400"/>
              </a:spcBef>
            </a:pPr>
            <a:r>
              <a:rPr sz="2400" b="1">
                <a:solidFill>
                  <a:srgbClr val="FFFFFF"/>
                </a:solidFill>
                <a:latin typeface="Arial"/>
              </a:rPr>
              <a:t>ỨNG DỤNG BLOCKCHAIN VÀ SMART CONTRACT ERC-20
XÂY DỰNG HỆ SINH THÁI ĐIỂM THƯỞNG LOYALTY
TẠI NGÂN HÀNG TECHCOMBANK</a:t>
            </a:r>
          </a:p>
          <a:p>
            <a:pPr>
              <a:spcBef>
                <a:spcPts val="2400"/>
              </a:spcBef>
            </a:pPr>
            <a:r>
              <a:rPr sz="1200">
                <a:solidFill>
                  <a:srgbClr val="CBD5E1"/>
                </a:solidFill>
                <a:latin typeface="Arial"/>
              </a:rPr>
              <a:t>• Giảng viên hướng dẫn: TS. Đinh Trọng Hiếu • TS. Đỗ Văn Thuật
• Học viên thực hiện: Đỗ Văn Đạt (Trưởng nhóm) | Khóa: Cao học MIS01
• Đơn vị: Khoa Sau đại học &amp; Khoa HTTT Quản lý – Học viện Ngân hàng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TÓM TẮT ĐIỀU HÀNH</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Đột phá Giá trị: Loại bỏ 85% Chi phí Đối soát &amp; Kích hoạt 13.4 Triệu Chủ thẻ</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02 / 18</a:t>
            </a:r>
          </a:p>
        </p:txBody>
      </p:sp>
      <p:sp>
        <p:nvSpPr>
          <p:cNvPr id="6" name="Rounded Rectangle 5"/>
          <p:cNvSpPr/>
          <p:nvPr/>
        </p:nvSpPr>
        <p:spPr>
          <a:xfrm>
            <a:off x="731520" y="1645920"/>
            <a:ext cx="251460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224028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148840" cy="4206240"/>
          </a:xfrm>
          <a:prstGeom prst="rect">
            <a:avLst/>
          </a:prstGeom>
          <a:noFill/>
        </p:spPr>
        <p:txBody>
          <a:bodyPr wrap="square">
            <a:spAutoFit/>
          </a:bodyPr>
          <a:lstStyle/>
          <a:p>
            <a:pPr algn="l"/>
            <a:r>
              <a:rPr sz="3000" b="1">
                <a:solidFill>
                  <a:srgbClr val="0F233C"/>
                </a:solidFill>
                <a:latin typeface="Calibri"/>
              </a:rPr>
              <a:t>13.4M</a:t>
            </a:r>
          </a:p>
          <a:p>
            <a:pPr>
              <a:spcBef>
                <a:spcPts val="200"/>
              </a:spcBef>
              <a:spcAft>
                <a:spcPts val="600"/>
              </a:spcAft>
            </a:pPr>
            <a:r>
              <a:rPr sz="1200" b="1">
                <a:solidFill>
                  <a:srgbClr val="0A2540"/>
                </a:solidFill>
                <a:latin typeface="Calibri"/>
              </a:rPr>
              <a:t>Khách hàng Bán lẻ</a:t>
            </a:r>
          </a:p>
          <a:p>
            <a:pPr>
              <a:spcBef>
                <a:spcPts val="200"/>
              </a:spcBef>
            </a:pPr>
            <a:r>
              <a:rPr sz="1050">
                <a:solidFill>
                  <a:srgbClr val="0F172A"/>
                </a:solidFill>
                <a:latin typeface="Calibri"/>
              </a:rPr>
              <a:t>• Dẫn đầu thị trường CASA</a:t>
            </a:r>
          </a:p>
          <a:p>
            <a:pPr>
              <a:spcBef>
                <a:spcPts val="200"/>
              </a:spcBef>
            </a:pPr>
            <a:r>
              <a:rPr sz="1050">
                <a:solidFill>
                  <a:srgbClr val="0F172A"/>
                </a:solidFill>
                <a:latin typeface="Calibri"/>
              </a:rPr>
              <a:t>• Doanh số quẹt thẻ tăng 28%</a:t>
            </a:r>
          </a:p>
          <a:p>
            <a:pPr>
              <a:spcBef>
                <a:spcPts val="200"/>
              </a:spcBef>
            </a:pPr>
            <a:r>
              <a:rPr sz="1050">
                <a:solidFill>
                  <a:srgbClr val="0F172A"/>
                </a:solidFill>
                <a:latin typeface="Calibri"/>
              </a:rPr>
              <a:t>• Hệ sinh thái đối tác mở rộng</a:t>
            </a:r>
          </a:p>
        </p:txBody>
      </p:sp>
      <p:sp>
        <p:nvSpPr>
          <p:cNvPr id="9" name="Rounded Rectangle 8"/>
          <p:cNvSpPr/>
          <p:nvPr/>
        </p:nvSpPr>
        <p:spPr>
          <a:xfrm>
            <a:off x="3429000" y="1645920"/>
            <a:ext cx="251460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66160" y="1783080"/>
            <a:ext cx="2240280" cy="54864"/>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20240"/>
            <a:ext cx="2148840" cy="4206240"/>
          </a:xfrm>
          <a:prstGeom prst="rect">
            <a:avLst/>
          </a:prstGeom>
          <a:noFill/>
        </p:spPr>
        <p:txBody>
          <a:bodyPr wrap="square">
            <a:spAutoFit/>
          </a:bodyPr>
          <a:lstStyle/>
          <a:p>
            <a:pPr algn="l"/>
            <a:r>
              <a:rPr sz="3000" b="1">
                <a:solidFill>
                  <a:srgbClr val="C00000"/>
                </a:solidFill>
                <a:latin typeface="Calibri"/>
              </a:rPr>
              <a:t>42%</a:t>
            </a:r>
          </a:p>
          <a:p>
            <a:pPr>
              <a:spcBef>
                <a:spcPts val="200"/>
              </a:spcBef>
              <a:spcAft>
                <a:spcPts val="600"/>
              </a:spcAft>
            </a:pPr>
            <a:r>
              <a:rPr sz="1200" b="1">
                <a:solidFill>
                  <a:srgbClr val="0A2540"/>
                </a:solidFill>
                <a:latin typeface="Calibri"/>
              </a:rPr>
              <a:t>Điểm bị Bỏ quên</a:t>
            </a:r>
          </a:p>
          <a:p>
            <a:pPr>
              <a:spcBef>
                <a:spcPts val="200"/>
              </a:spcBef>
            </a:pPr>
            <a:r>
              <a:rPr sz="1050">
                <a:solidFill>
                  <a:srgbClr val="0F172A"/>
                </a:solidFill>
                <a:latin typeface="Calibri"/>
              </a:rPr>
              <a:t>• Điểm tồn đọng trong DB đóng</a:t>
            </a:r>
          </a:p>
          <a:p>
            <a:pPr>
              <a:spcBef>
                <a:spcPts val="200"/>
              </a:spcBef>
            </a:pPr>
            <a:r>
              <a:rPr sz="1050">
                <a:solidFill>
                  <a:srgbClr val="0F172A"/>
                </a:solidFill>
                <a:latin typeface="Calibri"/>
              </a:rPr>
              <a:t>• Khó quy đổi ngoài Techcombank</a:t>
            </a:r>
          </a:p>
          <a:p>
            <a:pPr>
              <a:spcBef>
                <a:spcPts val="200"/>
              </a:spcBef>
            </a:pPr>
            <a:r>
              <a:rPr sz="1050">
                <a:solidFill>
                  <a:srgbClr val="0F172A"/>
                </a:solidFill>
                <a:latin typeface="Calibri"/>
              </a:rPr>
              <a:t>• Khách hàng giảm gắn kết thẻ</a:t>
            </a:r>
          </a:p>
        </p:txBody>
      </p:sp>
      <p:sp>
        <p:nvSpPr>
          <p:cNvPr id="12" name="Rounded Rectangle 11"/>
          <p:cNvSpPr/>
          <p:nvPr/>
        </p:nvSpPr>
        <p:spPr>
          <a:xfrm>
            <a:off x="6126480" y="1645920"/>
            <a:ext cx="251460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1783080"/>
            <a:ext cx="224028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920240"/>
            <a:ext cx="2148840" cy="4206240"/>
          </a:xfrm>
          <a:prstGeom prst="rect">
            <a:avLst/>
          </a:prstGeom>
          <a:noFill/>
        </p:spPr>
        <p:txBody>
          <a:bodyPr wrap="square">
            <a:spAutoFit/>
          </a:bodyPr>
          <a:lstStyle/>
          <a:p>
            <a:pPr algn="l"/>
            <a:r>
              <a:rPr sz="3000" b="1">
                <a:solidFill>
                  <a:srgbClr val="10B981"/>
                </a:solidFill>
                <a:latin typeface="Calibri"/>
              </a:rPr>
              <a:t>-85%</a:t>
            </a:r>
          </a:p>
          <a:p>
            <a:pPr>
              <a:spcBef>
                <a:spcPts val="200"/>
              </a:spcBef>
              <a:spcAft>
                <a:spcPts val="600"/>
              </a:spcAft>
            </a:pPr>
            <a:r>
              <a:rPr sz="1200" b="1">
                <a:solidFill>
                  <a:srgbClr val="0A2540"/>
                </a:solidFill>
                <a:latin typeface="Calibri"/>
              </a:rPr>
              <a:t>Chi phí Đối soát</a:t>
            </a:r>
          </a:p>
          <a:p>
            <a:pPr>
              <a:spcBef>
                <a:spcPts val="200"/>
              </a:spcBef>
            </a:pPr>
            <a:r>
              <a:rPr sz="1050">
                <a:solidFill>
                  <a:srgbClr val="0F172A"/>
                </a:solidFill>
                <a:latin typeface="Calibri"/>
              </a:rPr>
              <a:t>• Triệt tiêu đối chiếu Excel</a:t>
            </a:r>
          </a:p>
          <a:p>
            <a:pPr>
              <a:spcBef>
                <a:spcPts val="200"/>
              </a:spcBef>
            </a:pPr>
            <a:r>
              <a:rPr sz="1050">
                <a:solidFill>
                  <a:srgbClr val="0F172A"/>
                </a:solidFill>
                <a:latin typeface="Calibri"/>
              </a:rPr>
              <a:t>• Smart contract tự động bù trừ</a:t>
            </a:r>
          </a:p>
          <a:p>
            <a:pPr>
              <a:spcBef>
                <a:spcPts val="200"/>
              </a:spcBef>
            </a:pPr>
            <a:r>
              <a:rPr sz="1050">
                <a:solidFill>
                  <a:srgbClr val="0F172A"/>
                </a:solidFill>
                <a:latin typeface="Calibri"/>
              </a:rPr>
              <a:t>• Tiết kiệm 2.04 tỷ VNĐ/năm</a:t>
            </a:r>
          </a:p>
        </p:txBody>
      </p:sp>
      <p:sp>
        <p:nvSpPr>
          <p:cNvPr id="15" name="Rounded Rectangle 14"/>
          <p:cNvSpPr/>
          <p:nvPr/>
        </p:nvSpPr>
        <p:spPr>
          <a:xfrm>
            <a:off x="8823960" y="1645920"/>
            <a:ext cx="251460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61120" y="1783080"/>
            <a:ext cx="224028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920240"/>
            <a:ext cx="2148840" cy="4206240"/>
          </a:xfrm>
          <a:prstGeom prst="rect">
            <a:avLst/>
          </a:prstGeom>
          <a:noFill/>
        </p:spPr>
        <p:txBody>
          <a:bodyPr wrap="square">
            <a:spAutoFit/>
          </a:bodyPr>
          <a:lstStyle/>
          <a:p>
            <a:pPr algn="l"/>
            <a:r>
              <a:rPr sz="3000" b="1">
                <a:solidFill>
                  <a:srgbClr val="D97706"/>
                </a:solidFill>
                <a:latin typeface="Calibri"/>
              </a:rPr>
              <a:t>&lt; 1.5s</a:t>
            </a:r>
          </a:p>
          <a:p>
            <a:pPr>
              <a:spcBef>
                <a:spcPts val="200"/>
              </a:spcBef>
              <a:spcAft>
                <a:spcPts val="600"/>
              </a:spcAft>
            </a:pPr>
            <a:r>
              <a:rPr sz="1200" b="1">
                <a:solidFill>
                  <a:srgbClr val="0A2540"/>
                </a:solidFill>
                <a:latin typeface="Calibri"/>
              </a:rPr>
              <a:t>Xác thực Sổ cái</a:t>
            </a:r>
          </a:p>
          <a:p>
            <a:pPr>
              <a:spcBef>
                <a:spcPts val="200"/>
              </a:spcBef>
            </a:pPr>
            <a:r>
              <a:rPr sz="1050">
                <a:solidFill>
                  <a:srgbClr val="0F172A"/>
                </a:solidFill>
                <a:latin typeface="Calibri"/>
              </a:rPr>
              <a:t>• Cơ chế Zero-Reconciliation</a:t>
            </a:r>
          </a:p>
          <a:p>
            <a:pPr>
              <a:spcBef>
                <a:spcPts val="200"/>
              </a:spcBef>
            </a:pPr>
            <a:r>
              <a:rPr sz="1050">
                <a:solidFill>
                  <a:srgbClr val="0F172A"/>
                </a:solidFill>
                <a:latin typeface="Calibri"/>
              </a:rPr>
              <a:t>• Ghi nhận tức thời trên chuỗi</a:t>
            </a:r>
          </a:p>
          <a:p>
            <a:pPr>
              <a:spcBef>
                <a:spcPts val="200"/>
              </a:spcBef>
            </a:pPr>
            <a:r>
              <a:rPr sz="1050">
                <a:solidFill>
                  <a:srgbClr val="0F172A"/>
                </a:solidFill>
                <a:latin typeface="Calibri"/>
              </a:rPr>
              <a:t>• Bảo toàn giá trị bằng Burn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BỐI CẢNH NGHIỆP VỤ</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Hệ thống Loyalty Truyền thống Gặp 4 Rào cản Cốt lõi về Dữ liệu và Đối soát</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03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DỮ LIỆU ĐÓNG KÍN</a:t>
            </a:r>
          </a:p>
          <a:p>
            <a:pPr>
              <a:spcBef>
                <a:spcPts val="600"/>
              </a:spcBef>
            </a:pPr>
            <a:r>
              <a:rPr sz="1050">
                <a:solidFill>
                  <a:srgbClr val="0F172A"/>
                </a:solidFill>
              </a:rPr>
              <a:t>• Cơ sở dữ liệu tập trung</a:t>
            </a:r>
          </a:p>
          <a:p>
            <a:pPr>
              <a:spcBef>
                <a:spcPts val="600"/>
              </a:spcBef>
            </a:pPr>
            <a:r>
              <a:rPr sz="1050">
                <a:solidFill>
                  <a:srgbClr val="0F172A"/>
                </a:solidFill>
              </a:rPr>
              <a:t>• Đối tác không thể tra cứu</a:t>
            </a:r>
          </a:p>
          <a:p>
            <a:pPr>
              <a:spcBef>
                <a:spcPts val="600"/>
              </a:spcBef>
            </a:pPr>
            <a:r>
              <a:rPr sz="1050">
                <a:solidFill>
                  <a:srgbClr val="0F172A"/>
                </a:solidFill>
              </a:rPr>
              <a:t>• Phụ thuộc kết nối API nghẽn</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ĐIỂM BỊ PHÂN MẢNH</a:t>
            </a:r>
          </a:p>
          <a:p>
            <a:pPr>
              <a:spcBef>
                <a:spcPts val="600"/>
              </a:spcBef>
            </a:pPr>
            <a:r>
              <a:rPr sz="1050">
                <a:solidFill>
                  <a:srgbClr val="0F172A"/>
                </a:solidFill>
              </a:rPr>
              <a:t>• Không thể chuyển đổi P2P</a:t>
            </a:r>
          </a:p>
          <a:p>
            <a:pPr>
              <a:spcBef>
                <a:spcPts val="600"/>
              </a:spcBef>
            </a:pPr>
            <a:r>
              <a:rPr sz="1050">
                <a:solidFill>
                  <a:srgbClr val="0F172A"/>
                </a:solidFill>
              </a:rPr>
              <a:t>• Khách hàng nhanh quên điểm</a:t>
            </a:r>
          </a:p>
          <a:p>
            <a:pPr>
              <a:spcBef>
                <a:spcPts val="600"/>
              </a:spcBef>
            </a:pPr>
            <a:r>
              <a:rPr sz="1050">
                <a:solidFill>
                  <a:srgbClr val="0F172A"/>
                </a:solidFill>
              </a:rPr>
              <a:t>• Chi phí duy trì quỹ điểm cao</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ĐỐI SOÁT THỦ CÔNG</a:t>
            </a:r>
          </a:p>
          <a:p>
            <a:pPr>
              <a:spcBef>
                <a:spcPts val="600"/>
              </a:spcBef>
            </a:pPr>
            <a:r>
              <a:rPr sz="1050">
                <a:solidFill>
                  <a:srgbClr val="0F172A"/>
                </a:solidFill>
              </a:rPr>
              <a:t>• Gửi file Excel ngày 25</a:t>
            </a:r>
          </a:p>
          <a:p>
            <a:pPr>
              <a:spcBef>
                <a:spcPts val="600"/>
              </a:spcBef>
            </a:pPr>
            <a:r>
              <a:rPr sz="1050">
                <a:solidFill>
                  <a:srgbClr val="0F172A"/>
                </a:solidFill>
              </a:rPr>
              <a:t>• Mất 5-7 ngày làm việc</a:t>
            </a:r>
          </a:p>
          <a:p>
            <a:pPr>
              <a:spcBef>
                <a:spcPts val="600"/>
              </a:spcBef>
            </a:pPr>
            <a:r>
              <a:rPr sz="1050">
                <a:solidFill>
                  <a:srgbClr val="0F172A"/>
                </a:solidFill>
              </a:rPr>
              <a:t>• Dễ sai lệch múi giờ giao dịch</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RỦI RO TRỤC LỢI</a:t>
            </a:r>
          </a:p>
          <a:p>
            <a:pPr>
              <a:spcBef>
                <a:spcPts val="600"/>
              </a:spcBef>
            </a:pPr>
            <a:r>
              <a:rPr sz="1050">
                <a:solidFill>
                  <a:srgbClr val="0F172A"/>
                </a:solidFill>
              </a:rPr>
              <a:t>• Gian lận hoàn hủy thẻ</a:t>
            </a:r>
          </a:p>
          <a:p>
            <a:pPr>
              <a:spcBef>
                <a:spcPts val="600"/>
              </a:spcBef>
            </a:pPr>
            <a:r>
              <a:rPr sz="1050">
                <a:solidFill>
                  <a:srgbClr val="0F172A"/>
                </a:solidFill>
              </a:rPr>
              <a:t>• Dùng lặp voucher tại chi nhánh</a:t>
            </a:r>
          </a:p>
          <a:p>
            <a:pPr>
              <a:spcBef>
                <a:spcPts val="600"/>
              </a:spcBef>
            </a:pPr>
            <a:r>
              <a:rPr sz="1050">
                <a:solidFill>
                  <a:srgbClr val="0F172A"/>
                </a:solidFill>
              </a:rPr>
              <a:t>• Thiếu bằng chứng mật mã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MỤC TIÊU SMART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Thiết kế Kiến trúc To-Be &amp; Xây dựng PoC Chạy Thực nghiệm trên EVM</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04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01</a:t>
            </a:r>
          </a:p>
          <a:p>
            <a:pPr>
              <a:spcBef>
                <a:spcPts val="200"/>
              </a:spcBef>
              <a:spcAft>
                <a:spcPts val="600"/>
              </a:spcAft>
            </a:pPr>
            <a:r>
              <a:rPr sz="1200" b="1">
                <a:solidFill>
                  <a:srgbClr val="0A2540"/>
                </a:solidFill>
                <a:latin typeface="Calibri"/>
              </a:rPr>
              <a:t>Mục tiêu Lý thuyết</a:t>
            </a:r>
          </a:p>
          <a:p>
            <a:pPr>
              <a:spcBef>
                <a:spcPts val="200"/>
              </a:spcBef>
            </a:pPr>
            <a:r>
              <a:rPr sz="1050">
                <a:solidFill>
                  <a:srgbClr val="0F172A"/>
                </a:solidFill>
                <a:latin typeface="Calibri"/>
              </a:rPr>
              <a:t>• Hệ thống hóa lý thuyết DLT</a:t>
            </a:r>
          </a:p>
          <a:p>
            <a:pPr>
              <a:spcBef>
                <a:spcPts val="200"/>
              </a:spcBef>
            </a:pPr>
            <a:r>
              <a:rPr sz="1050">
                <a:solidFill>
                  <a:srgbClr val="0F172A"/>
                </a:solidFill>
                <a:latin typeface="Calibri"/>
              </a:rPr>
              <a:t>• Bản chất EVM &amp; Gas Fee</a:t>
            </a:r>
          </a:p>
          <a:p>
            <a:pPr>
              <a:spcBef>
                <a:spcPts val="200"/>
              </a:spcBef>
            </a:pPr>
            <a:r>
              <a:rPr sz="1050">
                <a:solidFill>
                  <a:srgbClr val="0F172A"/>
                </a:solidFill>
                <a:latin typeface="Calibri"/>
              </a:rPr>
              <a:t>• Chuẩn hóa tiêu chuẩn ERC-20</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C00000"/>
                </a:solidFill>
                <a:latin typeface="Calibri"/>
              </a:rPr>
              <a:t>02</a:t>
            </a:r>
          </a:p>
          <a:p>
            <a:pPr>
              <a:spcBef>
                <a:spcPts val="200"/>
              </a:spcBef>
              <a:spcAft>
                <a:spcPts val="600"/>
              </a:spcAft>
            </a:pPr>
            <a:r>
              <a:rPr sz="1200" b="1">
                <a:solidFill>
                  <a:srgbClr val="0A2540"/>
                </a:solidFill>
                <a:latin typeface="Calibri"/>
              </a:rPr>
              <a:t>Mục tiêu Nghiệp vụ</a:t>
            </a:r>
          </a:p>
          <a:p>
            <a:pPr>
              <a:spcBef>
                <a:spcPts val="200"/>
              </a:spcBef>
            </a:pPr>
            <a:r>
              <a:rPr sz="1050">
                <a:solidFill>
                  <a:srgbClr val="0F172A"/>
                </a:solidFill>
                <a:latin typeface="Calibri"/>
              </a:rPr>
              <a:t>• Mô hình hóa As-Is &amp; To-Be</a:t>
            </a:r>
          </a:p>
          <a:p>
            <a:pPr>
              <a:spcBef>
                <a:spcPts val="200"/>
              </a:spcBef>
            </a:pPr>
            <a:r>
              <a:rPr sz="1050">
                <a:solidFill>
                  <a:srgbClr val="0F172A"/>
                </a:solidFill>
                <a:latin typeface="Calibri"/>
              </a:rPr>
              <a:t>• Thiết lập Zero-Reconciliation</a:t>
            </a:r>
          </a:p>
          <a:p>
            <a:pPr>
              <a:spcBef>
                <a:spcPts val="200"/>
              </a:spcBef>
            </a:pPr>
            <a:r>
              <a:rPr sz="1050">
                <a:solidFill>
                  <a:srgbClr val="0F172A"/>
                </a:solidFill>
                <a:latin typeface="Calibri"/>
              </a:rPr>
              <a:t>• Thiết kế cơ chế Burn token</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10B981"/>
                </a:solidFill>
                <a:latin typeface="Calibri"/>
              </a:rPr>
              <a:t>03</a:t>
            </a:r>
          </a:p>
          <a:p>
            <a:pPr>
              <a:spcBef>
                <a:spcPts val="200"/>
              </a:spcBef>
              <a:spcAft>
                <a:spcPts val="600"/>
              </a:spcAft>
            </a:pPr>
            <a:r>
              <a:rPr sz="1200" b="1">
                <a:solidFill>
                  <a:srgbClr val="0A2540"/>
                </a:solidFill>
                <a:latin typeface="Calibri"/>
              </a:rPr>
              <a:t>Mục tiêu Thực nghiệm</a:t>
            </a:r>
          </a:p>
          <a:p>
            <a:pPr>
              <a:spcBef>
                <a:spcPts val="200"/>
              </a:spcBef>
            </a:pPr>
            <a:r>
              <a:rPr sz="1050">
                <a:solidFill>
                  <a:srgbClr val="0F172A"/>
                </a:solidFill>
                <a:latin typeface="Calibri"/>
              </a:rPr>
              <a:t>• Viết Smart contract Solidity</a:t>
            </a:r>
          </a:p>
          <a:p>
            <a:pPr>
              <a:spcBef>
                <a:spcPts val="200"/>
              </a:spcBef>
            </a:pPr>
            <a:r>
              <a:rPr sz="1050">
                <a:solidFill>
                  <a:srgbClr val="0F172A"/>
                </a:solidFill>
                <a:latin typeface="Calibri"/>
              </a:rPr>
              <a:t>• Xây dựng Web DApp kết nối ví</a:t>
            </a:r>
          </a:p>
          <a:p>
            <a:pPr>
              <a:spcBef>
                <a:spcPts val="200"/>
              </a:spcBef>
            </a:pPr>
            <a:r>
              <a:rPr sz="1050">
                <a:solidFill>
                  <a:srgbClr val="0F172A"/>
                </a:solidFill>
                <a:latin typeface="Calibri"/>
              </a:rPr>
              <a:t>• Đo lường Gas &amp; kiểm thử lỗi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CƠ SỞ KHOA HỌC</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Sổ cái Phân tán (DLT) &amp; Hàm băm SHA-256 Đảm bảo Tính Bất biến Tuyệt đối</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05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DLT</a:t>
            </a:r>
          </a:p>
          <a:p>
            <a:pPr>
              <a:spcBef>
                <a:spcPts val="200"/>
              </a:spcBef>
              <a:spcAft>
                <a:spcPts val="600"/>
              </a:spcAft>
            </a:pPr>
            <a:r>
              <a:rPr sz="1200" b="1">
                <a:solidFill>
                  <a:srgbClr val="0A2540"/>
                </a:solidFill>
                <a:latin typeface="Calibri"/>
              </a:rPr>
              <a:t>Sổ cái Phân tán</a:t>
            </a:r>
          </a:p>
          <a:p>
            <a:pPr>
              <a:spcBef>
                <a:spcPts val="200"/>
              </a:spcBef>
            </a:pPr>
            <a:r>
              <a:rPr sz="1050">
                <a:solidFill>
                  <a:srgbClr val="0F172A"/>
                </a:solidFill>
                <a:latin typeface="Calibri"/>
              </a:rPr>
              <a:t>• Triệt tiêu điểm lỗi đơn lẻ</a:t>
            </a:r>
          </a:p>
          <a:p>
            <a:pPr>
              <a:spcBef>
                <a:spcPts val="200"/>
              </a:spcBef>
            </a:pPr>
            <a:r>
              <a:rPr sz="1050">
                <a:solidFill>
                  <a:srgbClr val="0F172A"/>
                </a:solidFill>
                <a:latin typeface="Calibri"/>
              </a:rPr>
              <a:t>• Mọi nút đều giữ bản sao sổ</a:t>
            </a:r>
          </a:p>
          <a:p>
            <a:pPr>
              <a:spcBef>
                <a:spcPts val="200"/>
              </a:spcBef>
            </a:pPr>
            <a:r>
              <a:rPr sz="1050">
                <a:solidFill>
                  <a:srgbClr val="0F172A"/>
                </a:solidFill>
                <a:latin typeface="Calibri"/>
              </a:rPr>
              <a:t>• Không thể giả mạo từ một phía</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D97706"/>
                </a:solidFill>
                <a:latin typeface="Calibri"/>
              </a:rPr>
              <a:t>SHA-256</a:t>
            </a:r>
          </a:p>
          <a:p>
            <a:pPr>
              <a:spcBef>
                <a:spcPts val="200"/>
              </a:spcBef>
              <a:spcAft>
                <a:spcPts val="600"/>
              </a:spcAft>
            </a:pPr>
            <a:r>
              <a:rPr sz="1200" b="1">
                <a:solidFill>
                  <a:srgbClr val="0A2540"/>
                </a:solidFill>
                <a:latin typeface="Calibri"/>
              </a:rPr>
              <a:t>Mật mã học Khối</a:t>
            </a:r>
          </a:p>
          <a:p>
            <a:pPr>
              <a:spcBef>
                <a:spcPts val="200"/>
              </a:spcBef>
            </a:pPr>
            <a:r>
              <a:rPr sz="1050">
                <a:solidFill>
                  <a:srgbClr val="0F172A"/>
                </a:solidFill>
                <a:latin typeface="Calibri"/>
              </a:rPr>
              <a:t>• Liên kết băm khối tuần tự</a:t>
            </a:r>
          </a:p>
          <a:p>
            <a:pPr>
              <a:spcBef>
                <a:spcPts val="200"/>
              </a:spcBef>
            </a:pPr>
            <a:r>
              <a:rPr sz="1050">
                <a:solidFill>
                  <a:srgbClr val="0F172A"/>
                </a:solidFill>
                <a:latin typeface="Calibri"/>
              </a:rPr>
              <a:t>• Cây Merkle nén giao dịch</a:t>
            </a:r>
          </a:p>
          <a:p>
            <a:pPr>
              <a:spcBef>
                <a:spcPts val="200"/>
              </a:spcBef>
            </a:pPr>
            <a:r>
              <a:rPr sz="1050">
                <a:solidFill>
                  <a:srgbClr val="0F172A"/>
                </a:solidFill>
                <a:latin typeface="Calibri"/>
              </a:rPr>
              <a:t>• Thay đổi 1 bit sẽ hỏng chuỗi</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10B981"/>
                </a:solidFill>
                <a:latin typeface="Calibri"/>
              </a:rPr>
              <a:t>PoS</a:t>
            </a:r>
          </a:p>
          <a:p>
            <a:pPr>
              <a:spcBef>
                <a:spcPts val="200"/>
              </a:spcBef>
              <a:spcAft>
                <a:spcPts val="600"/>
              </a:spcAft>
            </a:pPr>
            <a:r>
              <a:rPr sz="1200" b="1">
                <a:solidFill>
                  <a:srgbClr val="0A2540"/>
                </a:solidFill>
                <a:latin typeface="Calibri"/>
              </a:rPr>
              <a:t>Đồng thuận Cổ phần</a:t>
            </a:r>
          </a:p>
          <a:p>
            <a:pPr>
              <a:spcBef>
                <a:spcPts val="200"/>
              </a:spcBef>
            </a:pPr>
            <a:r>
              <a:rPr sz="1050">
                <a:solidFill>
                  <a:srgbClr val="0F172A"/>
                </a:solidFill>
                <a:latin typeface="Calibri"/>
              </a:rPr>
              <a:t>• Tiết kiệm 99.9% năng lượng</a:t>
            </a:r>
          </a:p>
          <a:p>
            <a:pPr>
              <a:spcBef>
                <a:spcPts val="200"/>
              </a:spcBef>
            </a:pPr>
            <a:r>
              <a:rPr sz="1050">
                <a:solidFill>
                  <a:srgbClr val="0F172A"/>
                </a:solidFill>
                <a:latin typeface="Calibri"/>
              </a:rPr>
              <a:t>• Thời gian tạo block &lt; 2 giây</a:t>
            </a:r>
          </a:p>
          <a:p>
            <a:pPr>
              <a:spcBef>
                <a:spcPts val="200"/>
              </a:spcBef>
            </a:pPr>
            <a:r>
              <a:rPr sz="1050">
                <a:solidFill>
                  <a:srgbClr val="0F172A"/>
                </a:solidFill>
                <a:latin typeface="Calibri"/>
              </a:rPr>
              <a:t>• Phù hợp ngân hàng thương mại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MÁY ẢO ETHEREUM</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Hợp đồng Thông minh Tự động Hóa Logic Nghiệp vụ &amp; Triệt tiêu Yếu tố Cảm tính</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06 / 18</a:t>
            </a:r>
          </a:p>
        </p:txBody>
      </p:sp>
      <p:sp>
        <p:nvSpPr>
          <p:cNvPr id="6" name="Rounded Rectangle 5"/>
          <p:cNvSpPr/>
          <p:nvPr/>
        </p:nvSpPr>
        <p:spPr>
          <a:xfrm>
            <a:off x="731520" y="1645920"/>
            <a:ext cx="51206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48463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4206240"/>
          </a:xfrm>
          <a:prstGeom prst="rect">
            <a:avLst/>
          </a:prstGeom>
          <a:noFill/>
        </p:spPr>
        <p:txBody>
          <a:bodyPr wrap="square">
            <a:spAutoFit/>
          </a:bodyPr>
          <a:lstStyle/>
          <a:p>
            <a:pPr algn="l"/>
            <a:r>
              <a:rPr sz="3000" b="1">
                <a:solidFill>
                  <a:srgbClr val="0F233C"/>
                </a:solidFill>
                <a:latin typeface="Calibri"/>
              </a:rPr>
              <a:t>Turing-Complete</a:t>
            </a:r>
          </a:p>
          <a:p>
            <a:pPr>
              <a:spcBef>
                <a:spcPts val="200"/>
              </a:spcBef>
              <a:spcAft>
                <a:spcPts val="600"/>
              </a:spcAft>
            </a:pPr>
            <a:r>
              <a:rPr sz="1200" b="1">
                <a:solidFill>
                  <a:srgbClr val="0A2540"/>
                </a:solidFill>
                <a:latin typeface="Calibri"/>
              </a:rPr>
              <a:t>Máy ảo EVM Độc lập</a:t>
            </a:r>
          </a:p>
          <a:p>
            <a:pPr>
              <a:spcBef>
                <a:spcPts val="200"/>
              </a:spcBef>
            </a:pPr>
            <a:r>
              <a:rPr sz="1050">
                <a:solidFill>
                  <a:srgbClr val="0F172A"/>
                </a:solidFill>
                <a:latin typeface="Calibri"/>
              </a:rPr>
              <a:t>• Môi trường thực thi thời gian chạy toàn cầu</a:t>
            </a:r>
          </a:p>
          <a:p>
            <a:pPr>
              <a:spcBef>
                <a:spcPts val="200"/>
              </a:spcBef>
            </a:pPr>
            <a:r>
              <a:rPr sz="1050">
                <a:solidFill>
                  <a:srgbClr val="0F172A"/>
                </a:solidFill>
                <a:latin typeface="Calibri"/>
              </a:rPr>
              <a:t>• Biên dịch Solidity thành Bytecode nhị phân</a:t>
            </a:r>
          </a:p>
          <a:p>
            <a:pPr>
              <a:spcBef>
                <a:spcPts val="200"/>
              </a:spcBef>
            </a:pPr>
            <a:r>
              <a:rPr sz="1050">
                <a:solidFill>
                  <a:srgbClr val="0F172A"/>
                </a:solidFill>
                <a:latin typeface="Calibri"/>
              </a:rPr>
              <a:t>• Cách ly hoàn toàn với hạ tầng phần cứng</a:t>
            </a:r>
          </a:p>
          <a:p>
            <a:pPr>
              <a:spcBef>
                <a:spcPts val="200"/>
              </a:spcBef>
            </a:pPr>
            <a:r>
              <a:rPr sz="1050">
                <a:solidFill>
                  <a:srgbClr val="0F172A"/>
                </a:solidFill>
                <a:latin typeface="Calibri"/>
              </a:rPr>
              <a:t>• Ngăn chặn gian lận mã độc qua Gas Limit</a:t>
            </a:r>
          </a:p>
        </p:txBody>
      </p:sp>
      <p:sp>
        <p:nvSpPr>
          <p:cNvPr id="9" name="Rounded Rectangle 8"/>
          <p:cNvSpPr/>
          <p:nvPr/>
        </p:nvSpPr>
        <p:spPr>
          <a:xfrm>
            <a:off x="6217920" y="1645920"/>
            <a:ext cx="51206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55080" y="1783080"/>
            <a:ext cx="4846320" cy="54864"/>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20240"/>
            <a:ext cx="4754880" cy="4206240"/>
          </a:xfrm>
          <a:prstGeom prst="rect">
            <a:avLst/>
          </a:prstGeom>
          <a:noFill/>
        </p:spPr>
        <p:txBody>
          <a:bodyPr wrap="square">
            <a:spAutoFit/>
          </a:bodyPr>
          <a:lstStyle/>
          <a:p>
            <a:pPr algn="l"/>
            <a:r>
              <a:rPr sz="3000" b="1">
                <a:solidFill>
                  <a:srgbClr val="C00000"/>
                </a:solidFill>
                <a:latin typeface="Calibri"/>
              </a:rPr>
              <a:t>Self-Executing</a:t>
            </a:r>
          </a:p>
          <a:p>
            <a:pPr>
              <a:spcBef>
                <a:spcPts val="200"/>
              </a:spcBef>
              <a:spcAft>
                <a:spcPts val="600"/>
              </a:spcAft>
            </a:pPr>
            <a:r>
              <a:rPr sz="1200" b="1">
                <a:solidFill>
                  <a:srgbClr val="0A2540"/>
                </a:solidFill>
                <a:latin typeface="Calibri"/>
              </a:rPr>
              <a:t>Đặc tính Tự thực thi</a:t>
            </a:r>
          </a:p>
          <a:p>
            <a:pPr>
              <a:spcBef>
                <a:spcPts val="200"/>
              </a:spcBef>
            </a:pPr>
            <a:r>
              <a:rPr sz="1050">
                <a:solidFill>
                  <a:srgbClr val="0F172A"/>
                </a:solidFill>
                <a:latin typeface="Calibri"/>
              </a:rPr>
              <a:t>• Chạy tự động khi thỏa điều kiện logic</a:t>
            </a:r>
          </a:p>
          <a:p>
            <a:pPr>
              <a:spcBef>
                <a:spcPts val="200"/>
              </a:spcBef>
            </a:pPr>
            <a:r>
              <a:rPr sz="1050">
                <a:solidFill>
                  <a:srgbClr val="0F172A"/>
                </a:solidFill>
                <a:latin typeface="Calibri"/>
              </a:rPr>
              <a:t>• Không bị can thiệp bởi con người</a:t>
            </a:r>
          </a:p>
          <a:p>
            <a:pPr>
              <a:spcBef>
                <a:spcPts val="200"/>
              </a:spcBef>
            </a:pPr>
            <a:r>
              <a:rPr sz="1050">
                <a:solidFill>
                  <a:srgbClr val="0F172A"/>
                </a:solidFill>
                <a:latin typeface="Calibri"/>
              </a:rPr>
              <a:t>• Bảo đảm tính thực thi công bằng giữa các bên</a:t>
            </a:r>
          </a:p>
          <a:p>
            <a:pPr>
              <a:spcBef>
                <a:spcPts val="200"/>
              </a:spcBef>
            </a:pPr>
            <a:r>
              <a:rPr sz="1050">
                <a:solidFill>
                  <a:srgbClr val="0F172A"/>
                </a:solidFill>
                <a:latin typeface="Calibri"/>
              </a:rPr>
              <a:t>• Mọi hành động đều phát Event Logs minh bạch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TIÊU CHUẨN KỸ THUẬT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Chuẩn ERC-20: Chuẩn hóa Điểm thưởng thành Utility Token Thanh khoản Cao</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07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MINT (ĐÚC TOKEN)</a:t>
            </a:r>
          </a:p>
          <a:p>
            <a:pPr>
              <a:spcBef>
                <a:spcPts val="600"/>
              </a:spcBef>
            </a:pPr>
            <a:r>
              <a:rPr sz="1050">
                <a:solidFill>
                  <a:srgbClr val="0F172A"/>
                </a:solidFill>
              </a:rPr>
              <a:t>• Khởi tạo 10.000.000 điểm</a:t>
            </a:r>
          </a:p>
          <a:p>
            <a:pPr>
              <a:spcBef>
                <a:spcPts val="600"/>
              </a:spcBef>
            </a:pPr>
            <a:r>
              <a:rPr sz="1050">
                <a:solidFill>
                  <a:srgbClr val="0F172A"/>
                </a:solidFill>
              </a:rPr>
              <a:t>• Lưu tại ví Techcombank</a:t>
            </a:r>
          </a:p>
          <a:p>
            <a:pPr>
              <a:spcBef>
                <a:spcPts val="600"/>
              </a:spcBef>
            </a:pPr>
            <a:r>
              <a:rPr sz="1050">
                <a:solidFill>
                  <a:srgbClr val="0F172A"/>
                </a:solidFill>
              </a:rPr>
              <a:t>• Kiểm soát trần tổng cung</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REWARD (THƯỞNG)</a:t>
            </a:r>
          </a:p>
          <a:p>
            <a:pPr>
              <a:spcBef>
                <a:spcPts val="600"/>
              </a:spcBef>
            </a:pPr>
            <a:r>
              <a:rPr sz="1050">
                <a:solidFill>
                  <a:srgbClr val="0F172A"/>
                </a:solidFill>
              </a:rPr>
              <a:t>• Cộng điểm khi quẹt thẻ</a:t>
            </a:r>
          </a:p>
          <a:p>
            <a:pPr>
              <a:spcBef>
                <a:spcPts val="600"/>
              </a:spcBef>
            </a:pPr>
            <a:r>
              <a:rPr sz="1050">
                <a:solidFill>
                  <a:srgbClr val="0F172A"/>
                </a:solidFill>
              </a:rPr>
              <a:t>• Chuyển điểm vào ví khách</a:t>
            </a:r>
          </a:p>
          <a:p>
            <a:pPr>
              <a:spcBef>
                <a:spcPts val="600"/>
              </a:spcBef>
            </a:pPr>
            <a:r>
              <a:rPr sz="1050">
                <a:solidFill>
                  <a:srgbClr val="0F172A"/>
                </a:solidFill>
              </a:rPr>
              <a:t>• Ghi nhận mã POS lõi</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TRANSFER (CHUYỂN)</a:t>
            </a:r>
          </a:p>
          <a:p>
            <a:pPr>
              <a:spcBef>
                <a:spcPts val="600"/>
              </a:spcBef>
            </a:pPr>
            <a:r>
              <a:rPr sz="1050">
                <a:solidFill>
                  <a:srgbClr val="0F172A"/>
                </a:solidFill>
              </a:rPr>
              <a:t>• Khách hàng tặng điểm P2P</a:t>
            </a:r>
          </a:p>
          <a:p>
            <a:pPr>
              <a:spcBef>
                <a:spcPts val="600"/>
              </a:spcBef>
            </a:pPr>
            <a:r>
              <a:rPr sz="1050">
                <a:solidFill>
                  <a:srgbClr val="0F172A"/>
                </a:solidFill>
              </a:rPr>
              <a:t>• Chuyển điểm người thân</a:t>
            </a:r>
          </a:p>
          <a:p>
            <a:pPr>
              <a:spcBef>
                <a:spcPts val="600"/>
              </a:spcBef>
            </a:pPr>
            <a:r>
              <a:rPr sz="1050">
                <a:solidFill>
                  <a:srgbClr val="0F172A"/>
                </a:solidFill>
              </a:rPr>
              <a:t>• Tăng thanh khoản điểm</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BURN (ĐỐT TOKEN)</a:t>
            </a:r>
          </a:p>
          <a:p>
            <a:pPr>
              <a:spcBef>
                <a:spcPts val="600"/>
              </a:spcBef>
            </a:pPr>
            <a:r>
              <a:rPr sz="1050">
                <a:solidFill>
                  <a:srgbClr val="0F172A"/>
                </a:solidFill>
              </a:rPr>
              <a:t>• Đốt khi đổi lấy Voucher</a:t>
            </a:r>
          </a:p>
          <a:p>
            <a:pPr>
              <a:spcBef>
                <a:spcPts val="600"/>
              </a:spcBef>
            </a:pPr>
            <a:r>
              <a:rPr sz="1050">
                <a:solidFill>
                  <a:srgbClr val="0F172A"/>
                </a:solidFill>
              </a:rPr>
              <a:t>• Giảm tổng cung lưu thông</a:t>
            </a:r>
          </a:p>
          <a:p>
            <a:pPr>
              <a:spcBef>
                <a:spcPts val="600"/>
              </a:spcBef>
            </a:pPr>
            <a:r>
              <a:rPr sz="1050">
                <a:solidFill>
                  <a:srgbClr val="0F172A"/>
                </a:solidFill>
              </a:rPr>
              <a:t>• Chống lạm phát điểm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THỰC TIỄN QUỐC TẾ</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Bài học Thành công từ Singapore Airlines Kris+ và Xu hướng FinTech Việt Nam</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08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Kris+</a:t>
            </a:r>
          </a:p>
          <a:p>
            <a:pPr>
              <a:spcBef>
                <a:spcPts val="200"/>
              </a:spcBef>
              <a:spcAft>
                <a:spcPts val="600"/>
              </a:spcAft>
            </a:pPr>
            <a:r>
              <a:rPr sz="1200" b="1">
                <a:solidFill>
                  <a:srgbClr val="0A2540"/>
                </a:solidFill>
                <a:latin typeface="Calibri"/>
              </a:rPr>
              <a:t>Singapore Airlines</a:t>
            </a:r>
          </a:p>
          <a:p>
            <a:pPr>
              <a:spcBef>
                <a:spcPts val="200"/>
              </a:spcBef>
            </a:pPr>
            <a:r>
              <a:rPr sz="1050">
                <a:solidFill>
                  <a:srgbClr val="0F172A"/>
                </a:solidFill>
                <a:latin typeface="Calibri"/>
              </a:rPr>
              <a:t>• Số hóa dặm bay thành token</a:t>
            </a:r>
          </a:p>
          <a:p>
            <a:pPr>
              <a:spcBef>
                <a:spcPts val="200"/>
              </a:spcBef>
            </a:pPr>
            <a:r>
              <a:rPr sz="1050">
                <a:solidFill>
                  <a:srgbClr val="0F172A"/>
                </a:solidFill>
                <a:latin typeface="Calibri"/>
              </a:rPr>
              <a:t>• Liên kết 1.000+ đối tác bán lẻ</a:t>
            </a:r>
          </a:p>
          <a:p>
            <a:pPr>
              <a:spcBef>
                <a:spcPts val="200"/>
              </a:spcBef>
            </a:pPr>
            <a:r>
              <a:rPr sz="1050">
                <a:solidFill>
                  <a:srgbClr val="0F172A"/>
                </a:solidFill>
                <a:latin typeface="Calibri"/>
              </a:rPr>
              <a:t>• Tăng 34% mức độ tương tác</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D97706"/>
                </a:solidFill>
                <a:latin typeface="Calibri"/>
              </a:rPr>
              <a:t>AmEx</a:t>
            </a:r>
          </a:p>
          <a:p>
            <a:pPr>
              <a:spcBef>
                <a:spcPts val="200"/>
              </a:spcBef>
              <a:spcAft>
                <a:spcPts val="600"/>
              </a:spcAft>
            </a:pPr>
            <a:r>
              <a:rPr sz="1200" b="1">
                <a:solidFill>
                  <a:srgbClr val="0A2540"/>
                </a:solidFill>
                <a:latin typeface="Calibri"/>
              </a:rPr>
              <a:t>Boxed Alliance</a:t>
            </a:r>
          </a:p>
          <a:p>
            <a:pPr>
              <a:spcBef>
                <a:spcPts val="200"/>
              </a:spcBef>
            </a:pPr>
            <a:r>
              <a:rPr sz="1050">
                <a:solidFill>
                  <a:srgbClr val="0F172A"/>
                </a:solidFill>
                <a:latin typeface="Calibri"/>
              </a:rPr>
              <a:t>• Ứng dụng Hyperledger Fabric</a:t>
            </a:r>
          </a:p>
          <a:p>
            <a:pPr>
              <a:spcBef>
                <a:spcPts val="200"/>
              </a:spcBef>
            </a:pPr>
            <a:r>
              <a:rPr sz="1050">
                <a:solidFill>
                  <a:srgbClr val="0F172A"/>
                </a:solidFill>
                <a:latin typeface="Calibri"/>
              </a:rPr>
              <a:t>• Tự động hóa ưu đãi cá nhân</a:t>
            </a:r>
          </a:p>
          <a:p>
            <a:pPr>
              <a:spcBef>
                <a:spcPts val="200"/>
              </a:spcBef>
            </a:pPr>
            <a:r>
              <a:rPr sz="1050">
                <a:solidFill>
                  <a:srgbClr val="0F172A"/>
                </a:solidFill>
                <a:latin typeface="Calibri"/>
              </a:rPr>
              <a:t>• Bảo mật tuyệt đối số thẻ thô</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C00000"/>
                </a:solidFill>
                <a:latin typeface="Calibri"/>
              </a:rPr>
              <a:t>VN Bank</a:t>
            </a:r>
          </a:p>
          <a:p>
            <a:pPr>
              <a:spcBef>
                <a:spcPts val="200"/>
              </a:spcBef>
              <a:spcAft>
                <a:spcPts val="600"/>
              </a:spcAft>
            </a:pPr>
            <a:r>
              <a:rPr sz="1200" b="1">
                <a:solidFill>
                  <a:srgbClr val="0A2540"/>
                </a:solidFill>
                <a:latin typeface="Calibri"/>
              </a:rPr>
              <a:t>Cơ hội Techcombank</a:t>
            </a:r>
          </a:p>
          <a:p>
            <a:pPr>
              <a:spcBef>
                <a:spcPts val="200"/>
              </a:spcBef>
            </a:pPr>
            <a:r>
              <a:rPr sz="1050">
                <a:solidFill>
                  <a:srgbClr val="0F172A"/>
                </a:solidFill>
                <a:latin typeface="Calibri"/>
              </a:rPr>
              <a:t>• Tiên phong bán lẻ Web3</a:t>
            </a:r>
          </a:p>
          <a:p>
            <a:pPr>
              <a:spcBef>
                <a:spcPts val="200"/>
              </a:spcBef>
            </a:pPr>
            <a:r>
              <a:rPr sz="1050">
                <a:solidFill>
                  <a:srgbClr val="0F172A"/>
                </a:solidFill>
                <a:latin typeface="Calibri"/>
              </a:rPr>
              <a:t>• Kế thừa hạ tầng e-L/C Contour</a:t>
            </a:r>
          </a:p>
          <a:p>
            <a:pPr>
              <a:spcBef>
                <a:spcPts val="200"/>
              </a:spcBef>
            </a:pPr>
            <a:r>
              <a:rPr sz="1050">
                <a:solidFill>
                  <a:srgbClr val="0F172A"/>
                </a:solidFill>
                <a:latin typeface="Calibri"/>
              </a:rPr>
              <a:t>• Tạo lợi thế cạnh tranh CASA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QUY TRÌNH AS-IS</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Mô hình Hiện tại: Phụ thuộc Nặng nề vào Đối soát Thủ công và Cơ sở Dữ liệu Đóng</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09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CHI TIÊU THẺ</a:t>
            </a:r>
          </a:p>
          <a:p>
            <a:pPr>
              <a:spcBef>
                <a:spcPts val="600"/>
              </a:spcBef>
            </a:pPr>
            <a:r>
              <a:rPr sz="1050">
                <a:solidFill>
                  <a:srgbClr val="0F172A"/>
                </a:solidFill>
              </a:rPr>
              <a:t>• Khách quẹt thẻ tại POS</a:t>
            </a:r>
          </a:p>
          <a:p>
            <a:pPr>
              <a:spcBef>
                <a:spcPts val="600"/>
              </a:spcBef>
            </a:pPr>
            <a:r>
              <a:rPr sz="1050">
                <a:solidFill>
                  <a:srgbClr val="0F172A"/>
                </a:solidFill>
              </a:rPr>
              <a:t>• Core Banking trừ tiền</a:t>
            </a:r>
          </a:p>
          <a:p>
            <a:pPr>
              <a:spcBef>
                <a:spcPts val="600"/>
              </a:spcBef>
            </a:pPr>
            <a:r>
              <a:rPr sz="1050">
                <a:solidFill>
                  <a:srgbClr val="0F172A"/>
                </a:solidFill>
              </a:rPr>
              <a:t>• Ghi điểm vào Loyalty DB</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ĐỔI VOUCHER</a:t>
            </a:r>
          </a:p>
          <a:p>
            <a:pPr>
              <a:spcBef>
                <a:spcPts val="600"/>
              </a:spcBef>
            </a:pPr>
            <a:r>
              <a:rPr sz="1050">
                <a:solidFill>
                  <a:srgbClr val="0F172A"/>
                </a:solidFill>
              </a:rPr>
              <a:t>• Khách bấm đổi quà trên App</a:t>
            </a:r>
          </a:p>
          <a:p>
            <a:pPr>
              <a:spcBef>
                <a:spcPts val="600"/>
              </a:spcBef>
            </a:pPr>
            <a:r>
              <a:rPr sz="1050">
                <a:solidFill>
                  <a:srgbClr val="0F172A"/>
                </a:solidFill>
              </a:rPr>
              <a:t>• Sinh mã voucher tĩnh</a:t>
            </a:r>
          </a:p>
          <a:p>
            <a:pPr>
              <a:spcBef>
                <a:spcPts val="600"/>
              </a:spcBef>
            </a:pPr>
            <a:r>
              <a:rPr sz="1050">
                <a:solidFill>
                  <a:srgbClr val="0F172A"/>
                </a:solidFill>
              </a:rPr>
              <a:t>• Gửi mã qua SMS/Email</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SỬ DỤNG VOUCHER</a:t>
            </a:r>
          </a:p>
          <a:p>
            <a:pPr>
              <a:spcBef>
                <a:spcPts val="600"/>
              </a:spcBef>
            </a:pPr>
            <a:r>
              <a:rPr sz="1050">
                <a:solidFill>
                  <a:srgbClr val="0F172A"/>
                </a:solidFill>
              </a:rPr>
              <a:t>• Khách đưa mã cho thu ngân</a:t>
            </a:r>
          </a:p>
          <a:p>
            <a:pPr>
              <a:spcBef>
                <a:spcPts val="600"/>
              </a:spcBef>
            </a:pPr>
            <a:r>
              <a:rPr sz="1050">
                <a:solidFill>
                  <a:srgbClr val="0F172A"/>
                </a:solidFill>
              </a:rPr>
              <a:t>• Đối tác lưu mã nội bộ</a:t>
            </a:r>
          </a:p>
          <a:p>
            <a:pPr>
              <a:spcBef>
                <a:spcPts val="600"/>
              </a:spcBef>
            </a:pPr>
            <a:r>
              <a:rPr sz="1050">
                <a:solidFill>
                  <a:srgbClr val="0F172A"/>
                </a:solidFill>
              </a:rPr>
              <a:t>• Chưa thể kiểm tra số dư</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ĐỐI SOÁT CUỐI THÁNG</a:t>
            </a:r>
          </a:p>
          <a:p>
            <a:pPr>
              <a:spcBef>
                <a:spcPts val="600"/>
              </a:spcBef>
            </a:pPr>
            <a:r>
              <a:rPr sz="1050">
                <a:solidFill>
                  <a:srgbClr val="0F172A"/>
                </a:solidFill>
              </a:rPr>
              <a:t>• Kết xuất Excel ngày 25</a:t>
            </a:r>
          </a:p>
          <a:p>
            <a:pPr>
              <a:spcBef>
                <a:spcPts val="600"/>
              </a:spcBef>
            </a:pPr>
            <a:r>
              <a:rPr sz="1050">
                <a:solidFill>
                  <a:srgbClr val="0F172A"/>
                </a:solidFill>
              </a:rPr>
              <a:t>• Đối chiếu thủ công 7 ngày</a:t>
            </a:r>
          </a:p>
          <a:p>
            <a:pPr>
              <a:spcBef>
                <a:spcPts val="600"/>
              </a:spcBef>
            </a:pPr>
            <a:r>
              <a:rPr sz="1050">
                <a:solidFill>
                  <a:srgbClr val="0F172A"/>
                </a:solidFill>
              </a:rPr>
              <a:t>• Chuyển tiền bù trừ trễ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KIẾN TRÚC ĐỀ XUẤT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Mô hình To-Be Phân tầng Kết hợp Core Banking với Mạng lưới Blockchain EVM</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10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TẦNG 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TRẢI NGHIỆM CLIENT</a:t>
            </a:r>
          </a:p>
          <a:p>
            <a:pPr>
              <a:spcBef>
                <a:spcPts val="600"/>
              </a:spcBef>
            </a:pPr>
            <a:r>
              <a:rPr sz="1050">
                <a:solidFill>
                  <a:srgbClr val="0F172A"/>
                </a:solidFill>
              </a:rPr>
              <a:t>• Techcombank Mobile App</a:t>
            </a:r>
          </a:p>
          <a:p>
            <a:pPr>
              <a:spcBef>
                <a:spcPts val="600"/>
              </a:spcBef>
            </a:pPr>
            <a:r>
              <a:rPr sz="1050">
                <a:solidFill>
                  <a:srgbClr val="0F172A"/>
                </a:solidFill>
              </a:rPr>
              <a:t>• Web Portal Đối tác bán lẻ</a:t>
            </a:r>
          </a:p>
          <a:p>
            <a:pPr>
              <a:spcBef>
                <a:spcPts val="600"/>
              </a:spcBef>
            </a:pPr>
            <a:r>
              <a:rPr sz="1050">
                <a:solidFill>
                  <a:srgbClr val="0F172A"/>
                </a:solidFill>
              </a:rPr>
              <a:t>• Ví điện tử MetaMask Web3</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TẦNG 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GATEWAY TÍCH HỢP</a:t>
            </a:r>
          </a:p>
          <a:p>
            <a:pPr>
              <a:spcBef>
                <a:spcPts val="600"/>
              </a:spcBef>
            </a:pPr>
            <a:r>
              <a:rPr sz="1050">
                <a:solidFill>
                  <a:srgbClr val="0F172A"/>
                </a:solidFill>
              </a:rPr>
              <a:t>• API Gateway bảo mật cao</a:t>
            </a:r>
          </a:p>
          <a:p>
            <a:pPr>
              <a:spcBef>
                <a:spcPts val="600"/>
              </a:spcBef>
            </a:pPr>
            <a:r>
              <a:rPr sz="1050">
                <a:solidFill>
                  <a:srgbClr val="0F172A"/>
                </a:solidFill>
              </a:rPr>
              <a:t>• Core Banking Adapter</a:t>
            </a:r>
          </a:p>
          <a:p>
            <a:pPr>
              <a:spcBef>
                <a:spcPts val="600"/>
              </a:spcBef>
            </a:pPr>
            <a:r>
              <a:rPr sz="1050">
                <a:solidFill>
                  <a:srgbClr val="0F172A"/>
                </a:solidFill>
              </a:rPr>
              <a:t>• Apache Kafka Event Bus</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TẦNG 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SMART CONTRACT</a:t>
            </a:r>
          </a:p>
          <a:p>
            <a:pPr>
              <a:spcBef>
                <a:spcPts val="600"/>
              </a:spcBef>
            </a:pPr>
            <a:r>
              <a:rPr sz="1050">
                <a:solidFill>
                  <a:srgbClr val="0F172A"/>
                </a:solidFill>
              </a:rPr>
              <a:t>• TechcombankLoyaltyToken</a:t>
            </a:r>
          </a:p>
          <a:p>
            <a:pPr>
              <a:spcBef>
                <a:spcPts val="600"/>
              </a:spcBef>
            </a:pPr>
            <a:r>
              <a:rPr sz="1050">
                <a:solidFill>
                  <a:srgbClr val="0F172A"/>
                </a:solidFill>
              </a:rPr>
              <a:t>• Chuẩn OpenZeppelin ERC-20</a:t>
            </a:r>
          </a:p>
          <a:p>
            <a:pPr>
              <a:spcBef>
                <a:spcPts val="600"/>
              </a:spcBef>
            </a:pPr>
            <a:r>
              <a:rPr sz="1050">
                <a:solidFill>
                  <a:srgbClr val="0F172A"/>
                </a:solidFill>
              </a:rPr>
              <a:t>• Phân quyền quản trị Ownable</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TẦNG 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CHUỖI KHỐI SỔ CÁI</a:t>
            </a:r>
          </a:p>
          <a:p>
            <a:pPr>
              <a:spcBef>
                <a:spcPts val="600"/>
              </a:spcBef>
            </a:pPr>
            <a:r>
              <a:rPr sz="1050">
                <a:solidFill>
                  <a:srgbClr val="0F172A"/>
                </a:solidFill>
              </a:rPr>
              <a:t>• Ethereum L2 Consortium</a:t>
            </a:r>
          </a:p>
          <a:p>
            <a:pPr>
              <a:spcBef>
                <a:spcPts val="600"/>
              </a:spcBef>
            </a:pPr>
            <a:r>
              <a:rPr sz="1050">
                <a:solidFill>
                  <a:srgbClr val="0F172A"/>
                </a:solidFill>
              </a:rPr>
              <a:t>• Consensus PoS Sub-second</a:t>
            </a:r>
          </a:p>
          <a:p>
            <a:pPr>
              <a:spcBef>
                <a:spcPts val="600"/>
              </a:spcBef>
            </a:pPr>
            <a:r>
              <a:rPr sz="1050">
                <a:solidFill>
                  <a:srgbClr val="0F172A"/>
                </a:solidFill>
              </a:rPr>
              <a:t>• Sổ cái giao dịch bất biến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QUY TRÌNH TO-BE</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Tự động Hóa Hoàn toàn: Thưởng Điểm, Đốt Token &amp; Bù trừ Doanh thu Tức thời</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11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QUẸT THẺ NHẬN TOKEN</a:t>
            </a:r>
          </a:p>
          <a:p>
            <a:pPr>
              <a:spcBef>
                <a:spcPts val="600"/>
              </a:spcBef>
            </a:pPr>
            <a:r>
              <a:rPr sz="1050">
                <a:solidFill>
                  <a:srgbClr val="0F172A"/>
                </a:solidFill>
              </a:rPr>
              <a:t>• Core banking kích hoạt Kafka</a:t>
            </a:r>
          </a:p>
          <a:p>
            <a:pPr>
              <a:spcBef>
                <a:spcPts val="600"/>
              </a:spcBef>
            </a:pPr>
            <a:r>
              <a:rPr sz="1050">
                <a:solidFill>
                  <a:srgbClr val="0F172A"/>
                </a:solidFill>
              </a:rPr>
              <a:t>• Ký số giao dịch bằng HSM</a:t>
            </a:r>
          </a:p>
          <a:p>
            <a:pPr>
              <a:spcBef>
                <a:spcPts val="600"/>
              </a:spcBef>
            </a:pPr>
            <a:r>
              <a:rPr sz="1050">
                <a:solidFill>
                  <a:srgbClr val="0F172A"/>
                </a:solidFill>
              </a:rPr>
              <a:t>• Token về ví khách trong 1.2s</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ĐỔI QUÀ ĐỐT TOKEN</a:t>
            </a:r>
          </a:p>
          <a:p>
            <a:pPr>
              <a:spcBef>
                <a:spcPts val="600"/>
              </a:spcBef>
            </a:pPr>
            <a:r>
              <a:rPr sz="1050">
                <a:solidFill>
                  <a:srgbClr val="0F172A"/>
                </a:solidFill>
              </a:rPr>
              <a:t>• Khách bấm đổi Voucher</a:t>
            </a:r>
          </a:p>
          <a:p>
            <a:pPr>
              <a:spcBef>
                <a:spcPts val="600"/>
              </a:spcBef>
            </a:pPr>
            <a:r>
              <a:rPr sz="1050">
                <a:solidFill>
                  <a:srgbClr val="0F172A"/>
                </a:solidFill>
              </a:rPr>
              <a:t>• Smart Contract tự động Burn</a:t>
            </a:r>
          </a:p>
          <a:p>
            <a:pPr>
              <a:spcBef>
                <a:spcPts val="600"/>
              </a:spcBef>
            </a:pPr>
            <a:r>
              <a:rPr sz="1050">
                <a:solidFill>
                  <a:srgbClr val="0F172A"/>
                </a:solidFill>
              </a:rPr>
              <a:t>• Sinh mã băm keccak256</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QUÉT QR ĐỐI TÁC</a:t>
            </a:r>
          </a:p>
          <a:p>
            <a:pPr>
              <a:spcBef>
                <a:spcPts val="600"/>
              </a:spcBef>
            </a:pPr>
            <a:r>
              <a:rPr sz="1050">
                <a:solidFill>
                  <a:srgbClr val="0F172A"/>
                </a:solidFill>
              </a:rPr>
              <a:t>• Cửa hàng quét QR xác thực</a:t>
            </a:r>
          </a:p>
          <a:p>
            <a:pPr>
              <a:spcBef>
                <a:spcPts val="600"/>
              </a:spcBef>
            </a:pPr>
            <a:r>
              <a:rPr sz="1050">
                <a:solidFill>
                  <a:srgbClr val="0F172A"/>
                </a:solidFill>
              </a:rPr>
              <a:t>• Hàm validate đánh dấu dùng</a:t>
            </a:r>
          </a:p>
          <a:p>
            <a:pPr>
              <a:spcBef>
                <a:spcPts val="600"/>
              </a:spcBef>
            </a:pPr>
            <a:r>
              <a:rPr sz="1050">
                <a:solidFill>
                  <a:srgbClr val="0F172A"/>
                </a:solidFill>
              </a:rPr>
              <a:t>• Ngăn chặn gian lận lặp lại</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BÙ TRỪ THỜI GIAN THỰC</a:t>
            </a:r>
          </a:p>
          <a:p>
            <a:pPr>
              <a:spcBef>
                <a:spcPts val="600"/>
              </a:spcBef>
            </a:pPr>
            <a:r>
              <a:rPr sz="1050">
                <a:solidFill>
                  <a:srgbClr val="0F172A"/>
                </a:solidFill>
              </a:rPr>
              <a:t>• Event kích hoạt hạch toán</a:t>
            </a:r>
          </a:p>
          <a:p>
            <a:pPr>
              <a:spcBef>
                <a:spcPts val="600"/>
              </a:spcBef>
            </a:pPr>
            <a:r>
              <a:rPr sz="1050">
                <a:solidFill>
                  <a:srgbClr val="0F172A"/>
                </a:solidFill>
              </a:rPr>
              <a:t>• Ghi nợ tự động tài khoản TCB</a:t>
            </a:r>
          </a:p>
          <a:p>
            <a:pPr>
              <a:spcBef>
                <a:spcPts val="600"/>
              </a:spcBef>
            </a:pPr>
            <a:r>
              <a:rPr sz="1050">
                <a:solidFill>
                  <a:srgbClr val="0F172A"/>
                </a:solidFill>
              </a:rPr>
              <a:t>• Zero-Reconciliation hoàn tất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GIAO THỨC ZERO-RECONCILIATION</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Sổ cái Phân tán Là 'Trọng tài Khách quan Duy nhất' (Single Source of Truth)</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12 / 18</a:t>
            </a:r>
          </a:p>
        </p:txBody>
      </p:sp>
      <p:sp>
        <p:nvSpPr>
          <p:cNvPr id="6" name="Rounded Rectangle 5"/>
          <p:cNvSpPr/>
          <p:nvPr/>
        </p:nvSpPr>
        <p:spPr>
          <a:xfrm>
            <a:off x="731520" y="1645920"/>
            <a:ext cx="51206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48463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4206240"/>
          </a:xfrm>
          <a:prstGeom prst="rect">
            <a:avLst/>
          </a:prstGeom>
          <a:noFill/>
        </p:spPr>
        <p:txBody>
          <a:bodyPr wrap="square">
            <a:spAutoFit/>
          </a:bodyPr>
          <a:lstStyle/>
          <a:p>
            <a:pPr algn="l"/>
            <a:r>
              <a:rPr sz="3000" b="1">
                <a:solidFill>
                  <a:srgbClr val="10B981"/>
                </a:solidFill>
                <a:latin typeface="Calibri"/>
              </a:rPr>
              <a:t>0 Ngày</a:t>
            </a:r>
          </a:p>
          <a:p>
            <a:pPr>
              <a:spcBef>
                <a:spcPts val="200"/>
              </a:spcBef>
              <a:spcAft>
                <a:spcPts val="600"/>
              </a:spcAft>
            </a:pPr>
            <a:r>
              <a:rPr sz="1200" b="1">
                <a:solidFill>
                  <a:srgbClr val="0A2540"/>
                </a:solidFill>
                <a:latin typeface="Calibri"/>
              </a:rPr>
              <a:t>Thời gian Đối soát Chờ đợi</a:t>
            </a:r>
          </a:p>
          <a:p>
            <a:pPr>
              <a:spcBef>
                <a:spcPts val="200"/>
              </a:spcBef>
            </a:pPr>
            <a:r>
              <a:rPr sz="1050">
                <a:solidFill>
                  <a:srgbClr val="0F172A"/>
                </a:solidFill>
                <a:latin typeface="Calibri"/>
              </a:rPr>
              <a:t>• Không còn quy trình kết xuất Excel ngày 25</a:t>
            </a:r>
          </a:p>
          <a:p>
            <a:pPr>
              <a:spcBef>
                <a:spcPts val="200"/>
              </a:spcBef>
            </a:pPr>
            <a:r>
              <a:rPr sz="1050">
                <a:solidFill>
                  <a:srgbClr val="0F172A"/>
                </a:solidFill>
                <a:latin typeface="Calibri"/>
              </a:rPr>
              <a:t>• Không còn chênh lệch số liệu kế toán hai bên</a:t>
            </a:r>
          </a:p>
          <a:p>
            <a:pPr>
              <a:spcBef>
                <a:spcPts val="200"/>
              </a:spcBef>
            </a:pPr>
            <a:r>
              <a:rPr sz="1050">
                <a:solidFill>
                  <a:srgbClr val="0F172A"/>
                </a:solidFill>
                <a:latin typeface="Calibri"/>
              </a:rPr>
              <a:t>• Bản ghi giao dịch bất biến có giá trị pháp lý</a:t>
            </a:r>
          </a:p>
          <a:p>
            <a:pPr>
              <a:spcBef>
                <a:spcPts val="200"/>
              </a:spcBef>
            </a:pPr>
            <a:r>
              <a:rPr sz="1050">
                <a:solidFill>
                  <a:srgbClr val="0F172A"/>
                </a:solidFill>
                <a:latin typeface="Calibri"/>
              </a:rPr>
              <a:t>• Tự động bù trừ công nợ ngay tại thời điểm quẹt thẻ</a:t>
            </a:r>
          </a:p>
        </p:txBody>
      </p:sp>
      <p:sp>
        <p:nvSpPr>
          <p:cNvPr id="9" name="Rounded Rectangle 8"/>
          <p:cNvSpPr/>
          <p:nvPr/>
        </p:nvSpPr>
        <p:spPr>
          <a:xfrm>
            <a:off x="6217920" y="1645920"/>
            <a:ext cx="51206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55080" y="1783080"/>
            <a:ext cx="48463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20240"/>
            <a:ext cx="4754880" cy="4206240"/>
          </a:xfrm>
          <a:prstGeom prst="rect">
            <a:avLst/>
          </a:prstGeom>
          <a:noFill/>
        </p:spPr>
        <p:txBody>
          <a:bodyPr wrap="square">
            <a:spAutoFit/>
          </a:bodyPr>
          <a:lstStyle/>
          <a:p>
            <a:pPr algn="l"/>
            <a:r>
              <a:rPr sz="3000" b="1">
                <a:solidFill>
                  <a:srgbClr val="0F233C"/>
                </a:solidFill>
                <a:latin typeface="Calibri"/>
              </a:rPr>
              <a:t>0%</a:t>
            </a:r>
          </a:p>
          <a:p>
            <a:pPr>
              <a:spcBef>
                <a:spcPts val="200"/>
              </a:spcBef>
              <a:spcAft>
                <a:spcPts val="600"/>
              </a:spcAft>
            </a:pPr>
            <a:r>
              <a:rPr sz="1200" b="1">
                <a:solidFill>
                  <a:srgbClr val="0A2540"/>
                </a:solidFill>
                <a:latin typeface="Calibri"/>
              </a:rPr>
              <a:t>Rủi ro Gian lận Tiêu Lặp</a:t>
            </a:r>
          </a:p>
          <a:p>
            <a:pPr>
              <a:spcBef>
                <a:spcPts val="200"/>
              </a:spcBef>
            </a:pPr>
            <a:r>
              <a:rPr sz="1050">
                <a:solidFill>
                  <a:srgbClr val="0F172A"/>
                </a:solidFill>
                <a:latin typeface="Calibri"/>
              </a:rPr>
              <a:t>• Mã voucher liên kết mã băm keccak256</a:t>
            </a:r>
          </a:p>
          <a:p>
            <a:pPr>
              <a:spcBef>
                <a:spcPts val="200"/>
              </a:spcBef>
            </a:pPr>
            <a:r>
              <a:rPr sz="1050">
                <a:solidFill>
                  <a:srgbClr val="0F172A"/>
                </a:solidFill>
                <a:latin typeface="Calibri"/>
              </a:rPr>
              <a:t>• Voucher chỉ hợp lệ khi token đã bị đốt (Burn)</a:t>
            </a:r>
          </a:p>
          <a:p>
            <a:pPr>
              <a:spcBef>
                <a:spcPts val="200"/>
              </a:spcBef>
            </a:pPr>
            <a:r>
              <a:rPr sz="1050">
                <a:solidFill>
                  <a:srgbClr val="0F172A"/>
                </a:solidFill>
                <a:latin typeface="Calibri"/>
              </a:rPr>
              <a:t>• Cửa hàng đối tác quét QR xác thực tức thì</a:t>
            </a:r>
          </a:p>
          <a:p>
            <a:pPr>
              <a:spcBef>
                <a:spcPts val="200"/>
              </a:spcBef>
            </a:pPr>
            <a:r>
              <a:rPr sz="1050">
                <a:solidFill>
                  <a:srgbClr val="0F172A"/>
                </a:solidFill>
                <a:latin typeface="Calibri"/>
              </a:rPr>
              <a:t>• Không thể chỉnh sửa số dư hay tái sử dụng mã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THIẾT KẾ MÃ NGUỒN</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Đặc tả Hợp đồng TechcombankLoyaltyToken.sol Kế thừa OpenZeppelin v5.0</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13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HÀM 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rewardPoints()</a:t>
            </a:r>
          </a:p>
          <a:p>
            <a:pPr>
              <a:spcBef>
                <a:spcPts val="600"/>
              </a:spcBef>
            </a:pPr>
            <a:r>
              <a:rPr sz="1050">
                <a:solidFill>
                  <a:srgbClr val="0F172A"/>
                </a:solidFill>
              </a:rPr>
              <a:t>• Phân quyền: onlyOwner</a:t>
            </a:r>
          </a:p>
          <a:p>
            <a:pPr>
              <a:spcBef>
                <a:spcPts val="600"/>
              </a:spcBef>
            </a:pPr>
            <a:r>
              <a:rPr sz="1050">
                <a:solidFill>
                  <a:srgbClr val="0F172A"/>
                </a:solidFill>
              </a:rPr>
              <a:t>• Thưởng điểm quẹt thẻ</a:t>
            </a:r>
          </a:p>
          <a:p>
            <a:pPr>
              <a:spcBef>
                <a:spcPts val="600"/>
              </a:spcBef>
            </a:pPr>
            <a:r>
              <a:rPr sz="1050">
                <a:solidFill>
                  <a:srgbClr val="0F172A"/>
                </a:solidFill>
              </a:rPr>
              <a:t>• Ghi nhận mã POS</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HÀM 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batchReward()</a:t>
            </a:r>
          </a:p>
          <a:p>
            <a:pPr>
              <a:spcBef>
                <a:spcPts val="600"/>
              </a:spcBef>
            </a:pPr>
            <a:r>
              <a:rPr sz="1050">
                <a:solidFill>
                  <a:srgbClr val="0F172A"/>
                </a:solidFill>
              </a:rPr>
              <a:t>• Tối ưu hóa chi phí Gas</a:t>
            </a:r>
          </a:p>
          <a:p>
            <a:pPr>
              <a:spcBef>
                <a:spcPts val="600"/>
              </a:spcBef>
            </a:pPr>
            <a:r>
              <a:rPr sz="1050">
                <a:solidFill>
                  <a:srgbClr val="0F172A"/>
                </a:solidFill>
              </a:rPr>
              <a:t>• Gộp 1.000 khách/lô</a:t>
            </a:r>
          </a:p>
          <a:p>
            <a:pPr>
              <a:spcBef>
                <a:spcPts val="600"/>
              </a:spcBef>
            </a:pPr>
            <a:r>
              <a:rPr sz="1050">
                <a:solidFill>
                  <a:srgbClr val="0F172A"/>
                </a:solidFill>
              </a:rPr>
              <a:t>• Tiết kiệm 68% chi phí</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HÀM 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redeemVoucher()</a:t>
            </a:r>
          </a:p>
          <a:p>
            <a:pPr>
              <a:spcBef>
                <a:spcPts val="600"/>
              </a:spcBef>
            </a:pPr>
            <a:r>
              <a:rPr sz="1050">
                <a:solidFill>
                  <a:srgbClr val="0F172A"/>
                </a:solidFill>
              </a:rPr>
              <a:t>• Khách hàng tự gọi hàm</a:t>
            </a:r>
          </a:p>
          <a:p>
            <a:pPr>
              <a:spcBef>
                <a:spcPts val="600"/>
              </a:spcBef>
            </a:pPr>
            <a:r>
              <a:rPr sz="1050">
                <a:solidFill>
                  <a:srgbClr val="0F172A"/>
                </a:solidFill>
              </a:rPr>
              <a:t>• Đốt (Burn) token số dư</a:t>
            </a:r>
          </a:p>
          <a:p>
            <a:pPr>
              <a:spcBef>
                <a:spcPts val="600"/>
              </a:spcBef>
            </a:pPr>
            <a:r>
              <a:rPr sz="1050">
                <a:solidFill>
                  <a:srgbClr val="0F172A"/>
                </a:solidFill>
              </a:rPr>
              <a:t>• Emit Event đối soát</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HÀM 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validateVoucher()</a:t>
            </a:r>
          </a:p>
          <a:p>
            <a:pPr>
              <a:spcBef>
                <a:spcPts val="600"/>
              </a:spcBef>
            </a:pPr>
            <a:r>
              <a:rPr sz="1050">
                <a:solidFill>
                  <a:srgbClr val="0F172A"/>
                </a:solidFill>
              </a:rPr>
              <a:t>• Đối tác quét mã xác thực</a:t>
            </a:r>
          </a:p>
          <a:p>
            <a:pPr>
              <a:spcBef>
                <a:spcPts val="600"/>
              </a:spcBef>
            </a:pPr>
            <a:r>
              <a:rPr sz="1050">
                <a:solidFill>
                  <a:srgbClr val="0F172A"/>
                </a:solidFill>
              </a:rPr>
              <a:t>• Khóa voucher đã dùng</a:t>
            </a:r>
          </a:p>
          <a:p>
            <a:pPr>
              <a:spcBef>
                <a:spcPts val="600"/>
              </a:spcBef>
            </a:pPr>
            <a:r>
              <a:rPr sz="1050">
                <a:solidFill>
                  <a:srgbClr val="0F172A"/>
                </a:solidFill>
              </a:rPr>
              <a:t>• Ngăn chặn gian lận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KẾT QUẢ THỰC NGHIỆM</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Kiểm thử 100% Kịch bản Nghiệp vụ trên Remix VM với Chi phí Gas Tối ưu</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14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48.5K</a:t>
            </a:r>
          </a:p>
          <a:p>
            <a:pPr>
              <a:spcBef>
                <a:spcPts val="200"/>
              </a:spcBef>
              <a:spcAft>
                <a:spcPts val="600"/>
              </a:spcAft>
            </a:pPr>
            <a:r>
              <a:rPr sz="1200" b="1">
                <a:solidFill>
                  <a:srgbClr val="0A2540"/>
                </a:solidFill>
                <a:latin typeface="Calibri"/>
              </a:rPr>
              <a:t>Gas Thưởng đơn lẻ</a:t>
            </a:r>
          </a:p>
          <a:p>
            <a:pPr>
              <a:spcBef>
                <a:spcPts val="200"/>
              </a:spcBef>
            </a:pPr>
            <a:r>
              <a:rPr sz="1050">
                <a:solidFill>
                  <a:srgbClr val="0F172A"/>
                </a:solidFill>
                <a:latin typeface="Calibri"/>
              </a:rPr>
              <a:t>• Thời gian thực thi &lt; 0.8s</a:t>
            </a:r>
          </a:p>
          <a:p>
            <a:pPr>
              <a:spcBef>
                <a:spcPts val="200"/>
              </a:spcBef>
            </a:pPr>
            <a:r>
              <a:rPr sz="1050">
                <a:solidFill>
                  <a:srgbClr val="0F172A"/>
                </a:solidFill>
                <a:latin typeface="Calibri"/>
              </a:rPr>
              <a:t>• Kiểm soát quyền onlyOwner</a:t>
            </a:r>
          </a:p>
          <a:p>
            <a:pPr>
              <a:spcBef>
                <a:spcPts val="200"/>
              </a:spcBef>
            </a:pPr>
            <a:r>
              <a:rPr sz="1050">
                <a:solidFill>
                  <a:srgbClr val="0F172A"/>
                </a:solidFill>
                <a:latin typeface="Calibri"/>
              </a:rPr>
              <a:t>• Tương thích EVM Shanghai</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10B981"/>
                </a:solidFill>
                <a:latin typeface="Calibri"/>
              </a:rPr>
              <a:t>26.2K</a:t>
            </a:r>
          </a:p>
          <a:p>
            <a:pPr>
              <a:spcBef>
                <a:spcPts val="200"/>
              </a:spcBef>
              <a:spcAft>
                <a:spcPts val="600"/>
              </a:spcAft>
            </a:pPr>
            <a:r>
              <a:rPr sz="1200" b="1">
                <a:solidFill>
                  <a:srgbClr val="0A2540"/>
                </a:solidFill>
                <a:latin typeface="Calibri"/>
              </a:rPr>
              <a:t>Gas Thưởng theo Lô</a:t>
            </a:r>
          </a:p>
          <a:p>
            <a:pPr>
              <a:spcBef>
                <a:spcPts val="200"/>
              </a:spcBef>
            </a:pPr>
            <a:r>
              <a:rPr sz="1050">
                <a:solidFill>
                  <a:srgbClr val="0F172A"/>
                </a:solidFill>
                <a:latin typeface="Calibri"/>
              </a:rPr>
              <a:t>• Tiết kiệm 46% Gas/giao dịch</a:t>
            </a:r>
          </a:p>
          <a:p>
            <a:pPr>
              <a:spcBef>
                <a:spcPts val="200"/>
              </a:spcBef>
            </a:pPr>
            <a:r>
              <a:rPr sz="1050">
                <a:solidFill>
                  <a:srgbClr val="0F172A"/>
                </a:solidFill>
                <a:latin typeface="Calibri"/>
              </a:rPr>
              <a:t>• Xử lý hàng nghìn chủ thẻ</a:t>
            </a:r>
          </a:p>
          <a:p>
            <a:pPr>
              <a:spcBef>
                <a:spcPts val="200"/>
              </a:spcBef>
            </a:pPr>
            <a:r>
              <a:rPr sz="1050">
                <a:solidFill>
                  <a:srgbClr val="0F172A"/>
                </a:solidFill>
                <a:latin typeface="Calibri"/>
              </a:rPr>
              <a:t>• Tối ưu hóa nghẽn mạng</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D97706"/>
                </a:solidFill>
                <a:latin typeface="Calibri"/>
              </a:rPr>
              <a:t>100%</a:t>
            </a:r>
          </a:p>
          <a:p>
            <a:pPr>
              <a:spcBef>
                <a:spcPts val="200"/>
              </a:spcBef>
              <a:spcAft>
                <a:spcPts val="600"/>
              </a:spcAft>
            </a:pPr>
            <a:r>
              <a:rPr sz="1200" b="1">
                <a:solidFill>
                  <a:srgbClr val="0A2540"/>
                </a:solidFill>
                <a:latin typeface="Calibri"/>
              </a:rPr>
              <a:t>Test Cases Pass</a:t>
            </a:r>
          </a:p>
          <a:p>
            <a:pPr>
              <a:spcBef>
                <a:spcPts val="200"/>
              </a:spcBef>
            </a:pPr>
            <a:r>
              <a:rPr sz="1050">
                <a:solidFill>
                  <a:srgbClr val="0F172A"/>
                </a:solidFill>
                <a:latin typeface="Calibri"/>
              </a:rPr>
              <a:t>• Chặn đứng đúc điểm lậu</a:t>
            </a:r>
          </a:p>
          <a:p>
            <a:pPr>
              <a:spcBef>
                <a:spcPts val="200"/>
              </a:spcBef>
            </a:pPr>
            <a:r>
              <a:rPr sz="1050">
                <a:solidFill>
                  <a:srgbClr val="0F172A"/>
                </a:solidFill>
                <a:latin typeface="Calibri"/>
              </a:rPr>
              <a:t>• Bảo toàn số dư token</a:t>
            </a:r>
          </a:p>
          <a:p>
            <a:pPr>
              <a:spcBef>
                <a:spcPts val="200"/>
              </a:spcBef>
            </a:pPr>
            <a:r>
              <a:rPr sz="1050">
                <a:solidFill>
                  <a:srgbClr val="0F172A"/>
                </a:solidFill>
                <a:latin typeface="Calibri"/>
              </a:rPr>
              <a:t>• Bảo vệ an toàn Reentrancy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MINH HỌA THỰC NGHIỆM</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Kịch bản Trình diễn PoC: Web DApp Tương tác &amp; Trực quan hóa Sổ cái</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15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BƯỚC 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ADMIN THƯỞNG ĐIỂM</a:t>
            </a:r>
          </a:p>
          <a:p>
            <a:pPr>
              <a:spcBef>
                <a:spcPts val="600"/>
              </a:spcBef>
            </a:pPr>
            <a:r>
              <a:rPr sz="1050">
                <a:solidFill>
                  <a:srgbClr val="0F172A"/>
                </a:solidFill>
              </a:rPr>
              <a:t>• Nhập giá trị quẹt thẻ thẻ</a:t>
            </a:r>
          </a:p>
          <a:p>
            <a:pPr>
              <a:spcBef>
                <a:spcPts val="600"/>
              </a:spcBef>
            </a:pPr>
            <a:r>
              <a:rPr sz="1050">
                <a:solidFill>
                  <a:srgbClr val="0F172A"/>
                </a:solidFill>
              </a:rPr>
              <a:t>• Bấm 'Phát thưởng Blockchain'</a:t>
            </a:r>
          </a:p>
          <a:p>
            <a:pPr>
              <a:spcBef>
                <a:spcPts val="600"/>
              </a:spcBef>
            </a:pPr>
            <a:r>
              <a:rPr sz="1050">
                <a:solidFill>
                  <a:srgbClr val="0F172A"/>
                </a:solidFill>
              </a:rPr>
              <a:t>• Số dư ví khách tăng tức thì</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BƯỚC 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KHÁCH ĐỔI VOUCHER</a:t>
            </a:r>
          </a:p>
          <a:p>
            <a:pPr>
              <a:spcBef>
                <a:spcPts val="600"/>
              </a:spcBef>
            </a:pPr>
            <a:r>
              <a:rPr sz="1050">
                <a:solidFill>
                  <a:srgbClr val="0F172A"/>
                </a:solidFill>
              </a:rPr>
              <a:t>• Chọn Highlands Coffee 50k</a:t>
            </a:r>
          </a:p>
          <a:p>
            <a:pPr>
              <a:spcBef>
                <a:spcPts val="600"/>
              </a:spcBef>
            </a:pPr>
            <a:r>
              <a:rPr sz="1050">
                <a:solidFill>
                  <a:srgbClr val="0F172A"/>
                </a:solidFill>
              </a:rPr>
              <a:t>• Bấm 'Đổi quà ngay'</a:t>
            </a:r>
          </a:p>
          <a:p>
            <a:pPr>
              <a:spcBef>
                <a:spcPts val="600"/>
              </a:spcBef>
            </a:pPr>
            <a:r>
              <a:rPr sz="1050">
                <a:solidFill>
                  <a:srgbClr val="0F172A"/>
                </a:solidFill>
              </a:rPr>
              <a:t>• Hệ thống tự trừ &amp; Đốt token</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BƯỚC 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ĐỐI TÁC ĐỐI SOÁT</a:t>
            </a:r>
          </a:p>
          <a:p>
            <a:pPr>
              <a:spcBef>
                <a:spcPts val="600"/>
              </a:spcBef>
            </a:pPr>
            <a:r>
              <a:rPr sz="1050">
                <a:solidFill>
                  <a:srgbClr val="0F172A"/>
                </a:solidFill>
              </a:rPr>
              <a:t>• Mở Sổ cái Zero-Rec</a:t>
            </a:r>
          </a:p>
          <a:p>
            <a:pPr>
              <a:spcBef>
                <a:spcPts val="600"/>
              </a:spcBef>
            </a:pPr>
            <a:r>
              <a:rPr sz="1050">
                <a:solidFill>
                  <a:srgbClr val="0F172A"/>
                </a:solidFill>
              </a:rPr>
              <a:t>• Xem mã băm TxHash bất biến</a:t>
            </a:r>
          </a:p>
          <a:p>
            <a:pPr>
              <a:spcBef>
                <a:spcPts val="600"/>
              </a:spcBef>
            </a:pPr>
            <a:r>
              <a:rPr sz="1050">
                <a:solidFill>
                  <a:srgbClr val="0F172A"/>
                </a:solidFill>
              </a:rPr>
              <a:t>• Trạng thái AUTO_SETTLED</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BƯỚC 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XUẤT BÁO CÁO CSV</a:t>
            </a:r>
          </a:p>
          <a:p>
            <a:pPr>
              <a:spcBef>
                <a:spcPts val="600"/>
              </a:spcBef>
            </a:pPr>
            <a:r>
              <a:rPr sz="1050">
                <a:solidFill>
                  <a:srgbClr val="0F172A"/>
                </a:solidFill>
              </a:rPr>
              <a:t>• Tải file kiểm toán một chạm</a:t>
            </a:r>
          </a:p>
          <a:p>
            <a:pPr>
              <a:spcBef>
                <a:spcPts val="600"/>
              </a:spcBef>
            </a:pPr>
            <a:r>
              <a:rPr sz="1050">
                <a:solidFill>
                  <a:srgbClr val="0F172A"/>
                </a:solidFill>
              </a:rPr>
              <a:t>• Thay thế hoàn toàn Excel</a:t>
            </a:r>
          </a:p>
          <a:p>
            <a:pPr>
              <a:spcBef>
                <a:spcPts val="600"/>
              </a:spcBef>
            </a:pPr>
            <a:r>
              <a:rPr sz="1050">
                <a:solidFill>
                  <a:srgbClr val="0F172A"/>
                </a:solidFill>
              </a:rPr>
              <a:t>• Dữ liệu ký số mật mã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KHẢ THI KỸ THUẬT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Mở rộng Quy mô qua Layer-2 Rollups: Sẵn sàng Phục vụ 3.000 Giao dịch/giây</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16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3.000</a:t>
            </a:r>
          </a:p>
          <a:p>
            <a:pPr>
              <a:spcBef>
                <a:spcPts val="200"/>
              </a:spcBef>
              <a:spcAft>
                <a:spcPts val="600"/>
              </a:spcAft>
            </a:pPr>
            <a:r>
              <a:rPr sz="1200" b="1">
                <a:solidFill>
                  <a:srgbClr val="0A2540"/>
                </a:solidFill>
                <a:latin typeface="Calibri"/>
              </a:rPr>
              <a:t>Throughput TPS</a:t>
            </a:r>
          </a:p>
          <a:p>
            <a:pPr>
              <a:spcBef>
                <a:spcPts val="200"/>
              </a:spcBef>
            </a:pPr>
            <a:r>
              <a:rPr sz="1050">
                <a:solidFill>
                  <a:srgbClr val="0F172A"/>
                </a:solidFill>
                <a:latin typeface="Calibri"/>
              </a:rPr>
              <a:t>• Đảm bảo mùa Flash Sale</a:t>
            </a:r>
          </a:p>
          <a:p>
            <a:pPr>
              <a:spcBef>
                <a:spcPts val="200"/>
              </a:spcBef>
            </a:pPr>
            <a:r>
              <a:rPr sz="1050">
                <a:solidFill>
                  <a:srgbClr val="0F172A"/>
                </a:solidFill>
                <a:latin typeface="Calibri"/>
              </a:rPr>
              <a:t>• Xử lý thông suốt ngày Tết</a:t>
            </a:r>
          </a:p>
          <a:p>
            <a:pPr>
              <a:spcBef>
                <a:spcPts val="200"/>
              </a:spcBef>
            </a:pPr>
            <a:r>
              <a:rPr sz="1050">
                <a:solidFill>
                  <a:srgbClr val="0F172A"/>
                </a:solidFill>
                <a:latin typeface="Calibri"/>
              </a:rPr>
              <a:t>• Không lo nghẽn mạng thẻ</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10B981"/>
                </a:solidFill>
                <a:latin typeface="Calibri"/>
              </a:rPr>
              <a:t>&lt; 1.0s</a:t>
            </a:r>
          </a:p>
          <a:p>
            <a:pPr>
              <a:spcBef>
                <a:spcPts val="200"/>
              </a:spcBef>
              <a:spcAft>
                <a:spcPts val="600"/>
              </a:spcAft>
            </a:pPr>
            <a:r>
              <a:rPr sz="1200" b="1">
                <a:solidFill>
                  <a:srgbClr val="0A2540"/>
                </a:solidFill>
                <a:latin typeface="Calibri"/>
              </a:rPr>
              <a:t>Thời gian Chốt khối</a:t>
            </a:r>
          </a:p>
          <a:p>
            <a:pPr>
              <a:spcBef>
                <a:spcPts val="200"/>
              </a:spcBef>
            </a:pPr>
            <a:r>
              <a:rPr sz="1050">
                <a:solidFill>
                  <a:srgbClr val="0F172A"/>
                </a:solidFill>
                <a:latin typeface="Calibri"/>
              </a:rPr>
              <a:t>• Độ trễ giao dịch sub-second</a:t>
            </a:r>
          </a:p>
          <a:p>
            <a:pPr>
              <a:spcBef>
                <a:spcPts val="200"/>
              </a:spcBef>
            </a:pPr>
            <a:r>
              <a:rPr sz="1050">
                <a:solidFill>
                  <a:srgbClr val="0F172A"/>
                </a:solidFill>
                <a:latin typeface="Calibri"/>
              </a:rPr>
              <a:t>• Trải nghiệm mượt mà tại POS</a:t>
            </a:r>
          </a:p>
          <a:p>
            <a:pPr>
              <a:spcBef>
                <a:spcPts val="200"/>
              </a:spcBef>
            </a:pPr>
            <a:r>
              <a:rPr sz="1050">
                <a:solidFill>
                  <a:srgbClr val="0F172A"/>
                </a:solidFill>
                <a:latin typeface="Calibri"/>
              </a:rPr>
              <a:t>• Xác nhận gần như tức thì</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C00000"/>
                </a:solidFill>
                <a:latin typeface="Calibri"/>
              </a:rPr>
              <a:t>Off-Chain</a:t>
            </a:r>
          </a:p>
          <a:p>
            <a:pPr>
              <a:spcBef>
                <a:spcPts val="200"/>
              </a:spcBef>
              <a:spcAft>
                <a:spcPts val="600"/>
              </a:spcAft>
            </a:pPr>
            <a:r>
              <a:rPr sz="1200" b="1">
                <a:solidFill>
                  <a:srgbClr val="0A2540"/>
                </a:solidFill>
                <a:latin typeface="Calibri"/>
              </a:rPr>
              <a:t>Bảo vệ Dữ liệu Cá nhân</a:t>
            </a:r>
          </a:p>
          <a:p>
            <a:pPr>
              <a:spcBef>
                <a:spcPts val="200"/>
              </a:spcBef>
            </a:pPr>
            <a:r>
              <a:rPr sz="1050">
                <a:solidFill>
                  <a:srgbClr val="0F172A"/>
                </a:solidFill>
                <a:latin typeface="Calibri"/>
              </a:rPr>
              <a:t>• Chỉ lưu địa chỉ ví trên chuỗi</a:t>
            </a:r>
          </a:p>
          <a:p>
            <a:pPr>
              <a:spcBef>
                <a:spcPts val="200"/>
              </a:spcBef>
            </a:pPr>
            <a:r>
              <a:rPr sz="1050">
                <a:solidFill>
                  <a:srgbClr val="0F172A"/>
                </a:solidFill>
                <a:latin typeface="Calibri"/>
              </a:rPr>
              <a:t>• Thông tin PII lưu tại On-premise</a:t>
            </a:r>
          </a:p>
          <a:p>
            <a:pPr>
              <a:spcBef>
                <a:spcPts val="200"/>
              </a:spcBef>
            </a:pPr>
            <a:r>
              <a:rPr sz="1050">
                <a:solidFill>
                  <a:srgbClr val="0F172A"/>
                </a:solidFill>
                <a:latin typeface="Calibri"/>
              </a:rPr>
              <a:t>• Tuân thủ Nghị định 13/2023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KHẢ THI KINH TẾ</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Hiệu quả Đầu tư Vượt trội: Tiết kiệm 2.04 Tỷ VNĐ &amp; Hoàn vốn trong 11.5 Tháng</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17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10B981"/>
                </a:solidFill>
                <a:latin typeface="Calibri"/>
              </a:rPr>
              <a:t>2.04 Tỷ</a:t>
            </a:r>
          </a:p>
          <a:p>
            <a:pPr>
              <a:spcBef>
                <a:spcPts val="200"/>
              </a:spcBef>
              <a:spcAft>
                <a:spcPts val="600"/>
              </a:spcAft>
            </a:pPr>
            <a:r>
              <a:rPr sz="1200" b="1">
                <a:solidFill>
                  <a:srgbClr val="0A2540"/>
                </a:solidFill>
                <a:latin typeface="Calibri"/>
              </a:rPr>
              <a:t>Chi phí Tiết kiệm/Năm</a:t>
            </a:r>
          </a:p>
          <a:p>
            <a:pPr>
              <a:spcBef>
                <a:spcPts val="200"/>
              </a:spcBef>
            </a:pPr>
            <a:r>
              <a:rPr sz="1050">
                <a:solidFill>
                  <a:srgbClr val="0F172A"/>
                </a:solidFill>
                <a:latin typeface="Calibri"/>
              </a:rPr>
              <a:t>• Cắt giảm 85% nhân lực đối soát</a:t>
            </a:r>
          </a:p>
          <a:p>
            <a:pPr>
              <a:spcBef>
                <a:spcPts val="200"/>
              </a:spcBef>
            </a:pPr>
            <a:r>
              <a:rPr sz="1050">
                <a:solidFill>
                  <a:srgbClr val="0F172A"/>
                </a:solidFill>
                <a:latin typeface="Calibri"/>
              </a:rPr>
              <a:t>• Loại bỏ hoàn toàn sai lệch số</a:t>
            </a:r>
          </a:p>
          <a:p>
            <a:pPr>
              <a:spcBef>
                <a:spcPts val="200"/>
              </a:spcBef>
            </a:pPr>
            <a:r>
              <a:rPr sz="1050">
                <a:solidFill>
                  <a:srgbClr val="0F172A"/>
                </a:solidFill>
                <a:latin typeface="Calibri"/>
              </a:rPr>
              <a:t>• Giảm chi phí duy trì quỹ điểm</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0F233C"/>
                </a:solidFill>
                <a:latin typeface="Calibri"/>
              </a:rPr>
              <a:t>+16%</a:t>
            </a:r>
          </a:p>
          <a:p>
            <a:pPr>
              <a:spcBef>
                <a:spcPts val="200"/>
              </a:spcBef>
              <a:spcAft>
                <a:spcPts val="600"/>
              </a:spcAft>
            </a:pPr>
            <a:r>
              <a:rPr sz="1200" b="1">
                <a:solidFill>
                  <a:srgbClr val="0A2540"/>
                </a:solidFill>
                <a:latin typeface="Calibri"/>
              </a:rPr>
              <a:t>Tỷ lệ Kích hoạt Thẻ</a:t>
            </a:r>
          </a:p>
          <a:p>
            <a:pPr>
              <a:spcBef>
                <a:spcPts val="200"/>
              </a:spcBef>
            </a:pPr>
            <a:r>
              <a:rPr sz="1050">
                <a:solidFill>
                  <a:srgbClr val="0F172A"/>
                </a:solidFill>
                <a:latin typeface="Calibri"/>
              </a:rPr>
              <a:t>• Khách hào hứng vì điểm có giá</a:t>
            </a:r>
          </a:p>
          <a:p>
            <a:pPr>
              <a:spcBef>
                <a:spcPts val="200"/>
              </a:spcBef>
            </a:pPr>
            <a:r>
              <a:rPr sz="1050">
                <a:solidFill>
                  <a:srgbClr val="0F172A"/>
                </a:solidFill>
                <a:latin typeface="Calibri"/>
              </a:rPr>
              <a:t>• Đổi quà đa dạng tại nhiều hãng</a:t>
            </a:r>
          </a:p>
          <a:p>
            <a:pPr>
              <a:spcBef>
                <a:spcPts val="200"/>
              </a:spcBef>
            </a:pPr>
            <a:r>
              <a:rPr sz="1050">
                <a:solidFill>
                  <a:srgbClr val="0F172A"/>
                </a:solidFill>
                <a:latin typeface="Calibri"/>
              </a:rPr>
              <a:t>• Thúc đẩy chi tiêu thanh toán</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D97706"/>
                </a:solidFill>
                <a:latin typeface="Calibri"/>
              </a:rPr>
              <a:t>11.5</a:t>
            </a:r>
          </a:p>
          <a:p>
            <a:pPr>
              <a:spcBef>
                <a:spcPts val="200"/>
              </a:spcBef>
              <a:spcAft>
                <a:spcPts val="600"/>
              </a:spcAft>
            </a:pPr>
            <a:r>
              <a:rPr sz="1200" b="1">
                <a:solidFill>
                  <a:srgbClr val="0A2540"/>
                </a:solidFill>
                <a:latin typeface="Calibri"/>
              </a:rPr>
              <a:t>Tháng Hoàn vốn (Payback)</a:t>
            </a:r>
          </a:p>
          <a:p>
            <a:pPr>
              <a:spcBef>
                <a:spcPts val="200"/>
              </a:spcBef>
            </a:pPr>
            <a:r>
              <a:rPr sz="1050">
                <a:solidFill>
                  <a:srgbClr val="0F172A"/>
                </a:solidFill>
                <a:latin typeface="Calibri"/>
              </a:rPr>
              <a:t>• Chi phí CAPEX ban đầu hợp lý</a:t>
            </a:r>
          </a:p>
          <a:p>
            <a:pPr>
              <a:spcBef>
                <a:spcPts val="200"/>
              </a:spcBef>
            </a:pPr>
            <a:r>
              <a:rPr sz="1050">
                <a:solidFill>
                  <a:srgbClr val="0F172A"/>
                </a:solidFill>
                <a:latin typeface="Calibri"/>
              </a:rPr>
              <a:t>• ROI năm đầu tiên đạt 142%</a:t>
            </a:r>
          </a:p>
          <a:p>
            <a:pPr>
              <a:spcBef>
                <a:spcPts val="200"/>
              </a:spcBef>
            </a:pPr>
            <a:r>
              <a:rPr sz="1050">
                <a:solidFill>
                  <a:srgbClr val="0F172A"/>
                </a:solidFill>
                <a:latin typeface="Calibri"/>
              </a:rPr>
              <a:t>• Hiệu quả tài chính thuyết phục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PHÁP LÝ &amp; KẾT LUẬN</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Tuân thủ Trọn vẹn Khung Pháp lý Ngân hàng Nhà nước &amp; Định hướng Sandbox</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18 / 18</a:t>
            </a:r>
          </a:p>
        </p:txBody>
      </p:sp>
      <p:sp>
        <p:nvSpPr>
          <p:cNvPr id="6" name="Rounded Rectangle 5"/>
          <p:cNvSpPr/>
          <p:nvPr/>
        </p:nvSpPr>
        <p:spPr>
          <a:xfrm>
            <a:off x="7315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3017520" cy="54864"/>
          </a:xfrm>
          <a:prstGeom prst="roundRect">
            <a:avLst/>
          </a:prstGeom>
          <a:solidFill>
            <a:srgbClr val="0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926080" cy="4206240"/>
          </a:xfrm>
          <a:prstGeom prst="rect">
            <a:avLst/>
          </a:prstGeom>
          <a:noFill/>
        </p:spPr>
        <p:txBody>
          <a:bodyPr wrap="square">
            <a:spAutoFit/>
          </a:bodyPr>
          <a:lstStyle/>
          <a:p>
            <a:pPr algn="l"/>
            <a:r>
              <a:rPr sz="3000" b="1">
                <a:solidFill>
                  <a:srgbClr val="0F233C"/>
                </a:solidFill>
                <a:latin typeface="Calibri"/>
              </a:rPr>
              <a:t>Luật TCTD</a:t>
            </a:r>
          </a:p>
          <a:p>
            <a:pPr>
              <a:spcBef>
                <a:spcPts val="200"/>
              </a:spcBef>
              <a:spcAft>
                <a:spcPts val="600"/>
              </a:spcAft>
            </a:pPr>
            <a:r>
              <a:rPr sz="1200" b="1">
                <a:solidFill>
                  <a:srgbClr val="0A2540"/>
                </a:solidFill>
                <a:latin typeface="Calibri"/>
              </a:rPr>
              <a:t>Điều 10 Luật TCTD 2024</a:t>
            </a:r>
          </a:p>
          <a:p>
            <a:pPr>
              <a:spcBef>
                <a:spcPts val="200"/>
              </a:spcBef>
            </a:pPr>
            <a:r>
              <a:rPr sz="1050">
                <a:solidFill>
                  <a:srgbClr val="0F172A"/>
                </a:solidFill>
                <a:latin typeface="Calibri"/>
              </a:rPr>
              <a:t>• Token là điểm thưởng tiện ích</a:t>
            </a:r>
          </a:p>
          <a:p>
            <a:pPr>
              <a:spcBef>
                <a:spcPts val="200"/>
              </a:spcBef>
            </a:pPr>
            <a:r>
              <a:rPr sz="1050">
                <a:solidFill>
                  <a:srgbClr val="0F172A"/>
                </a:solidFill>
                <a:latin typeface="Calibri"/>
              </a:rPr>
              <a:t>• Không thay thế tiền pháp định</a:t>
            </a:r>
          </a:p>
          <a:p>
            <a:pPr>
              <a:spcBef>
                <a:spcPts val="200"/>
              </a:spcBef>
            </a:pPr>
            <a:r>
              <a:rPr sz="1050">
                <a:solidFill>
                  <a:srgbClr val="0F172A"/>
                </a:solidFill>
                <a:latin typeface="Calibri"/>
              </a:rPr>
              <a:t>• Tuyệt đối an toàn về mặt pháp lý</a:t>
            </a:r>
          </a:p>
        </p:txBody>
      </p:sp>
      <p:sp>
        <p:nvSpPr>
          <p:cNvPr id="9" name="Rounded Rectangle 8"/>
          <p:cNvSpPr/>
          <p:nvPr/>
        </p:nvSpPr>
        <p:spPr>
          <a:xfrm>
            <a:off x="43891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783080"/>
            <a:ext cx="301752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20240"/>
            <a:ext cx="2926080" cy="4206240"/>
          </a:xfrm>
          <a:prstGeom prst="rect">
            <a:avLst/>
          </a:prstGeom>
          <a:noFill/>
        </p:spPr>
        <p:txBody>
          <a:bodyPr wrap="square">
            <a:spAutoFit/>
          </a:bodyPr>
          <a:lstStyle/>
          <a:p>
            <a:pPr algn="l"/>
            <a:r>
              <a:rPr sz="3000" b="1">
                <a:solidFill>
                  <a:srgbClr val="D97706"/>
                </a:solidFill>
                <a:latin typeface="Calibri"/>
              </a:rPr>
              <a:t>TT 09 / QĐ 2345</a:t>
            </a:r>
          </a:p>
          <a:p>
            <a:pPr>
              <a:spcBef>
                <a:spcPts val="200"/>
              </a:spcBef>
              <a:spcAft>
                <a:spcPts val="600"/>
              </a:spcAft>
            </a:pPr>
            <a:r>
              <a:rPr sz="1200" b="1">
                <a:solidFill>
                  <a:srgbClr val="0A2540"/>
                </a:solidFill>
                <a:latin typeface="Calibri"/>
              </a:rPr>
              <a:t>An toàn Hệ thống Thông tin</a:t>
            </a:r>
          </a:p>
          <a:p>
            <a:pPr>
              <a:spcBef>
                <a:spcPts val="200"/>
              </a:spcBef>
            </a:pPr>
            <a:r>
              <a:rPr sz="1050">
                <a:solidFill>
                  <a:srgbClr val="0F172A"/>
                </a:solidFill>
                <a:latin typeface="Calibri"/>
              </a:rPr>
              <a:t>• Nhật ký kiểm toán Audit Trail</a:t>
            </a:r>
          </a:p>
          <a:p>
            <a:pPr>
              <a:spcBef>
                <a:spcPts val="200"/>
              </a:spcBef>
            </a:pPr>
            <a:r>
              <a:rPr sz="1050">
                <a:solidFill>
                  <a:srgbClr val="0F172A"/>
                </a:solidFill>
                <a:latin typeface="Calibri"/>
              </a:rPr>
              <a:t>• Xác thực sinh trắc học đổi quà</a:t>
            </a:r>
          </a:p>
          <a:p>
            <a:pPr>
              <a:spcBef>
                <a:spcPts val="200"/>
              </a:spcBef>
            </a:pPr>
            <a:r>
              <a:rPr sz="1050">
                <a:solidFill>
                  <a:srgbClr val="0F172A"/>
                </a:solidFill>
                <a:latin typeface="Calibri"/>
              </a:rPr>
              <a:t>• Kiểm soát an ninh cấp độ 3</a:t>
            </a:r>
          </a:p>
        </p:txBody>
      </p:sp>
      <p:sp>
        <p:nvSpPr>
          <p:cNvPr id="12" name="Rounded Rectangle 11"/>
          <p:cNvSpPr/>
          <p:nvPr/>
        </p:nvSpPr>
        <p:spPr>
          <a:xfrm>
            <a:off x="8046720" y="1645920"/>
            <a:ext cx="329184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3880" y="1783080"/>
            <a:ext cx="3017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2926080" cy="4206240"/>
          </a:xfrm>
          <a:prstGeom prst="rect">
            <a:avLst/>
          </a:prstGeom>
          <a:noFill/>
        </p:spPr>
        <p:txBody>
          <a:bodyPr wrap="square">
            <a:spAutoFit/>
          </a:bodyPr>
          <a:lstStyle/>
          <a:p>
            <a:pPr algn="l"/>
            <a:r>
              <a:rPr sz="3000" b="1">
                <a:solidFill>
                  <a:srgbClr val="10B981"/>
                </a:solidFill>
                <a:latin typeface="Calibri"/>
              </a:rPr>
              <a:t>Sẵn sàng</a:t>
            </a:r>
          </a:p>
          <a:p>
            <a:pPr>
              <a:spcBef>
                <a:spcPts val="200"/>
              </a:spcBef>
              <a:spcAft>
                <a:spcPts val="600"/>
              </a:spcAft>
            </a:pPr>
            <a:r>
              <a:rPr sz="1200" b="1">
                <a:solidFill>
                  <a:srgbClr val="0A2540"/>
                </a:solidFill>
                <a:latin typeface="Calibri"/>
              </a:rPr>
              <a:t>Bảo vệ &amp; Hỏi đáp Q&amp;A</a:t>
            </a:r>
          </a:p>
          <a:p>
            <a:pPr>
              <a:spcBef>
                <a:spcPts val="200"/>
              </a:spcBef>
            </a:pPr>
            <a:r>
              <a:rPr sz="1050">
                <a:solidFill>
                  <a:srgbClr val="0F172A"/>
                </a:solidFill>
                <a:latin typeface="Calibri"/>
              </a:rPr>
              <a:t>• Đề xuất thử nghiệm Sandbox</a:t>
            </a:r>
          </a:p>
          <a:p>
            <a:pPr>
              <a:spcBef>
                <a:spcPts val="200"/>
              </a:spcBef>
            </a:pPr>
            <a:r>
              <a:rPr sz="1050">
                <a:solidFill>
                  <a:srgbClr val="0F172A"/>
                </a:solidFill>
                <a:latin typeface="Calibri"/>
              </a:rPr>
              <a:t>• Mở rộng đối tác bán lẻ 2027</a:t>
            </a:r>
          </a:p>
          <a:p>
            <a:pPr>
              <a:spcBef>
                <a:spcPts val="200"/>
              </a:spcBef>
            </a:pPr>
            <a:r>
              <a:rPr sz="1050">
                <a:solidFill>
                  <a:srgbClr val="0F172A"/>
                </a:solidFill>
                <a:latin typeface="Calibri"/>
              </a:rPr>
              <a:t>• Sẵn sàng nhận câu hỏi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