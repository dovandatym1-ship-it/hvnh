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a8ef05d9844ded" /><Relationship Type="http://schemas.openxmlformats.org/officeDocument/2006/relationships/extended-properties" Target="/docProps/app.xml" Id="R198d402e97ae4fed" /><Relationship Type="http://schemas.openxmlformats.org/officeDocument/2006/relationships/officeDocument" Target="/ppt/presentation.xml" Id="R9c3e91e12f584265" /></Relationships>
</file>

<file path=ppt/presentation.xml><?xml version="1.0" encoding="utf-8"?>
<p:presentation xmlns:p="http://schemas.openxmlformats.org/presentationml/2006/main">
  <p:sldMasterIdLst>
    <p:sldMasterId xmlns:r="http://schemas.openxmlformats.org/officeDocument/2006/relationships" id="2147483648" r:id="R7ab1215876e94778"/>
  </p:sldMasterIdLst>
  <p:notesMasterIdLst>
    <p:notesMasterId xmlns:r="http://schemas.openxmlformats.org/officeDocument/2006/relationships" r:id="R926b73027a154a51"/>
  </p:notesMasterIdLst>
  <p:sldIdLst>
    <p:sldId xmlns:r="http://schemas.openxmlformats.org/officeDocument/2006/relationships" id="256" r:id="R532e83ef80d2404e"/>
    <p:sldId xmlns:r="http://schemas.openxmlformats.org/officeDocument/2006/relationships" id="257" r:id="R70678bdeea58466f"/>
    <p:sldId xmlns:r="http://schemas.openxmlformats.org/officeDocument/2006/relationships" id="258" r:id="Rb0f5fa7792c74ecb"/>
    <p:sldId xmlns:r="http://schemas.openxmlformats.org/officeDocument/2006/relationships" id="259" r:id="R9b747c8701f7461c"/>
    <p:sldId xmlns:r="http://schemas.openxmlformats.org/officeDocument/2006/relationships" id="260" r:id="R25b5d9cd9dc84857"/>
    <p:sldId xmlns:r="http://schemas.openxmlformats.org/officeDocument/2006/relationships" id="261" r:id="R9ae59ea7518d47a8"/>
    <p:sldId xmlns:r="http://schemas.openxmlformats.org/officeDocument/2006/relationships" id="262" r:id="R1299beef3dc442f0"/>
    <p:sldId xmlns:r="http://schemas.openxmlformats.org/officeDocument/2006/relationships" id="263" r:id="R31d8ac7c539f46cb"/>
    <p:sldId xmlns:r="http://schemas.openxmlformats.org/officeDocument/2006/relationships" id="264" r:id="Recf63c3326c444d1"/>
    <p:sldId xmlns:r="http://schemas.openxmlformats.org/officeDocument/2006/relationships" id="265" r:id="R7f6c0ca8a5b444bd"/>
    <p:sldId xmlns:r="http://schemas.openxmlformats.org/officeDocument/2006/relationships" id="266" r:id="Ra5fc9f02c40c4123"/>
    <p:sldId xmlns:r="http://schemas.openxmlformats.org/officeDocument/2006/relationships" id="267" r:id="R22bead9f28a2460e"/>
    <p:sldId xmlns:r="http://schemas.openxmlformats.org/officeDocument/2006/relationships" id="268" r:id="Raac51e60ca0d4843"/>
    <p:sldId xmlns:r="http://schemas.openxmlformats.org/officeDocument/2006/relationships" id="269" r:id="Rb5182f2a104f4e8c"/>
    <p:sldId xmlns:r="http://schemas.openxmlformats.org/officeDocument/2006/relationships" id="270" r:id="R3f0b99a6fd5a4452"/>
    <p:sldId xmlns:r="http://schemas.openxmlformats.org/officeDocument/2006/relationships" id="271" r:id="Rbfc491271af14ebc"/>
    <p:sldId xmlns:r="http://schemas.openxmlformats.org/officeDocument/2006/relationships" id="272" r:id="R746a2fe105e742a9"/>
    <p:sldId xmlns:r="http://schemas.openxmlformats.org/officeDocument/2006/relationships" id="273" r:id="R02df73459e6b44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f8a27922ed406c" /><Relationship Type="http://schemas.openxmlformats.org/officeDocument/2006/relationships/slideMaster" Target="/ppt/slideMasters/slideMaster1.xml" Id="R7ab1215876e94778" /><Relationship Type="http://schemas.openxmlformats.org/officeDocument/2006/relationships/notesMaster" Target="/ppt/notesMasters/notesMaster1.xml" Id="R926b73027a154a51" /><Relationship Type="http://schemas.openxmlformats.org/officeDocument/2006/relationships/presProps" Target="/ppt/presProps.xml" Id="Rc6f87ef7f0e24b89" /><Relationship Type="http://schemas.openxmlformats.org/officeDocument/2006/relationships/tableStyles" Target="/ppt/tableStyles.xml" Id="R5d48e2909ecf4ab8" /><Relationship Type="http://schemas.openxmlformats.org/officeDocument/2006/relationships/slide" Target="/ppt/slides/slide1.xml" Id="R532e83ef80d2404e" /><Relationship Type="http://schemas.openxmlformats.org/officeDocument/2006/relationships/slide" Target="/ppt/slides/slide2.xml" Id="R70678bdeea58466f" /><Relationship Type="http://schemas.openxmlformats.org/officeDocument/2006/relationships/slide" Target="/ppt/slides/slide3.xml" Id="Rb0f5fa7792c74ecb" /><Relationship Type="http://schemas.openxmlformats.org/officeDocument/2006/relationships/slide" Target="/ppt/slides/slide4.xml" Id="R9b747c8701f7461c" /><Relationship Type="http://schemas.openxmlformats.org/officeDocument/2006/relationships/slide" Target="/ppt/slides/slide5.xml" Id="R25b5d9cd9dc84857" /><Relationship Type="http://schemas.openxmlformats.org/officeDocument/2006/relationships/slide" Target="/ppt/slides/slide6.xml" Id="R9ae59ea7518d47a8" /><Relationship Type="http://schemas.openxmlformats.org/officeDocument/2006/relationships/slide" Target="/ppt/slides/slide7.xml" Id="R1299beef3dc442f0" /><Relationship Type="http://schemas.openxmlformats.org/officeDocument/2006/relationships/slide" Target="/ppt/slides/slide8.xml" Id="R31d8ac7c539f46cb" /><Relationship Type="http://schemas.openxmlformats.org/officeDocument/2006/relationships/slide" Target="/ppt/slides/slide9.xml" Id="Recf63c3326c444d1" /><Relationship Type="http://schemas.openxmlformats.org/officeDocument/2006/relationships/slide" Target="/ppt/slides/slide10.xml" Id="R7f6c0ca8a5b444bd" /><Relationship Type="http://schemas.openxmlformats.org/officeDocument/2006/relationships/slide" Target="/ppt/slides/slide11.xml" Id="Ra5fc9f02c40c4123" /><Relationship Type="http://schemas.openxmlformats.org/officeDocument/2006/relationships/slide" Target="/ppt/slides/slide12.xml" Id="R22bead9f28a2460e" /><Relationship Type="http://schemas.openxmlformats.org/officeDocument/2006/relationships/slide" Target="/ppt/slides/slide13.xml" Id="Raac51e60ca0d4843" /><Relationship Type="http://schemas.openxmlformats.org/officeDocument/2006/relationships/slide" Target="/ppt/slides/slide14.xml" Id="Rb5182f2a104f4e8c" /><Relationship Type="http://schemas.openxmlformats.org/officeDocument/2006/relationships/slide" Target="/ppt/slides/slide15.xml" Id="R3f0b99a6fd5a4452" /><Relationship Type="http://schemas.openxmlformats.org/officeDocument/2006/relationships/slide" Target="/ppt/slides/slide16.xml" Id="Rbfc491271af14ebc" /><Relationship Type="http://schemas.openxmlformats.org/officeDocument/2006/relationships/slide" Target="/ppt/slides/slide17.xml" Id="R746a2fe105e742a9" /><Relationship Type="http://schemas.openxmlformats.org/officeDocument/2006/relationships/slide" Target="/ppt/slides/slide18.xml" Id="R02df73459e6b44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1a77c6a2254a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98f096af854931" /><Relationship Type="http://schemas.openxmlformats.org/officeDocument/2006/relationships/notesMaster" Target="/ppt/notesMasters/notesMaster1.xml" Id="R04741287b7d149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2f0ac82ed642c1" /><Relationship Type="http://schemas.openxmlformats.org/officeDocument/2006/relationships/notesMaster" Target="/ppt/notesMasters/notesMaster1.xml" Id="Rdaf56e1d28164e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973f75bd2f4d9e" /><Relationship Type="http://schemas.openxmlformats.org/officeDocument/2006/relationships/notesMaster" Target="/ppt/notesMasters/notesMaster1.xml" Id="Rd51ec3648dc94d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b411b576244c71" /><Relationship Type="http://schemas.openxmlformats.org/officeDocument/2006/relationships/notesMaster" Target="/ppt/notesMasters/notesMaster1.xml" Id="R42bab60ace4542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95115280294470" /><Relationship Type="http://schemas.openxmlformats.org/officeDocument/2006/relationships/notesMaster" Target="/ppt/notesMasters/notesMaster1.xml" Id="R41e80912fb0c42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9b355d46a84626" /><Relationship Type="http://schemas.openxmlformats.org/officeDocument/2006/relationships/notesMaster" Target="/ppt/notesMasters/notesMaster1.xml" Id="R534476db0cc842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058f251427417a" /><Relationship Type="http://schemas.openxmlformats.org/officeDocument/2006/relationships/notesMaster" Target="/ppt/notesMasters/notesMaster1.xml" Id="R6d0b8b010afb48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ac974fe17a456b" /><Relationship Type="http://schemas.openxmlformats.org/officeDocument/2006/relationships/notesMaster" Target="/ppt/notesMasters/notesMaster1.xml" Id="R618fb0c879e14f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353d0fc2604293" /><Relationship Type="http://schemas.openxmlformats.org/officeDocument/2006/relationships/notesMaster" Target="/ppt/notesMasters/notesMaster1.xml" Id="Re1057fa84fac40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06b97b936e4d2e" /><Relationship Type="http://schemas.openxmlformats.org/officeDocument/2006/relationships/notesMaster" Target="/ppt/notesMasters/notesMaster1.xml" Id="R523602dccda34a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d3db8603904ccc" /><Relationship Type="http://schemas.openxmlformats.org/officeDocument/2006/relationships/notesMaster" Target="/ppt/notesMasters/notesMaster1.xml" Id="Rf0beb86ddf3e4f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3c039bc01947f3" /><Relationship Type="http://schemas.openxmlformats.org/officeDocument/2006/relationships/notesMaster" Target="/ppt/notesMasters/notesMaster1.xml" Id="Rf36fc0e2918343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a214147fc140c2" /><Relationship Type="http://schemas.openxmlformats.org/officeDocument/2006/relationships/notesMaster" Target="/ppt/notesMasters/notesMaster1.xml" Id="Ra42c5b26bb934c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162e456f7d47ed" /><Relationship Type="http://schemas.openxmlformats.org/officeDocument/2006/relationships/notesMaster" Target="/ppt/notesMasters/notesMaster1.xml" Id="R3683ae0cb7a74d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41eafd4b2248d2" /><Relationship Type="http://schemas.openxmlformats.org/officeDocument/2006/relationships/notesMaster" Target="/ppt/notesMasters/notesMaster1.xml" Id="R7e2533420f7d49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ac90f57bf14f6c" /><Relationship Type="http://schemas.openxmlformats.org/officeDocument/2006/relationships/notesMaster" Target="/ppt/notesMasters/notesMaster1.xml" Id="R1ecb91b52c9145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d0b685cd5d487b" /><Relationship Type="http://schemas.openxmlformats.org/officeDocument/2006/relationships/notesMaster" Target="/ppt/notesMasters/notesMaster1.xml" Id="R444f31a78bd349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b1ec8d5344a4d7e" /><Relationship Type="http://schemas.openxmlformats.org/officeDocument/2006/relationships/notesMaster" Target="/ppt/notesMasters/notesMaster1.xml" Id="Rfe08afb78b9840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xác định rõ đây là PoC học thuật trên dữ liệu tổng hợp, MB chỉ là bối cảnh nghiên cứu. Giới thiệu câu hỏi nghiên cứu, không tuyên bố đây là hệ thống của MB.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success criteria. Thành công không gắn với phải đạt một con số precision/recall kỳ vọng. Nhóm kiểm chứng code path và trade-off trên một bộ dữ liệu mô phỏng. Chuyển: nêu bối cảnh công khai và khoảng trống nghiên cứu.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S02 và S01 chỉ dùng làm bối cảnh ngành. Đây là báo cáo người dùng và tín hiệu cảnh báo công khai, không phải số liệu giao dịch hay quy trình nội bộ MB. Chuyển: so sánh với nghiên cứu liên quan để làm rõ khoảng trống.</a:t>
            </a:r>
          </a:p>
          <a:p xmlns:a="http://schemas.openxmlformats.org/drawingml/2006/main">
            <a:r>
              <a:t/>
            </a:r>
          </a:p>
          <a:p xmlns:a="http://schemas.openxmlformats.org/drawingml/2006/main">
            <a:r>
              <a:t>Nguồn/ghi chú: S02 https://english.mst.gov.vn/over-220000-reports-of-online-fraud-received-in-vietnams-banking-sector-197241030085335181.htm</a:t>
            </a:r>
          </a:p>
          <a:p xmlns:a="http://schemas.openxmlformats.org/drawingml/2006/main">
            <a:r>
              <a:t>S01 https://www.sbv.gov.vn/vi/web/sbv_portal/w/sbv592485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ba nguồn như bài học có phạm vi, không gọi nghiên cứu mô phỏng là triển khai thành công tại MB. Dal Pozzolo et al. bàn về mất cân bằng, drift và nhãn; PaySim là simulator; ECB/EBA nêu kiểm soát xác thực mạnh và payer manipulation trong phạm vi EEA. Chuyển: dùng bài học để xác định stakeholder và As-Is tham chiếu trước khi thiết kế To-Be.</a:t>
            </a:r>
          </a:p>
          <a:p xmlns:a="http://schemas.openxmlformats.org/drawingml/2006/main">
            <a:r>
              <a:t/>
            </a:r>
          </a:p>
          <a:p xmlns:a="http://schemas.openxmlformats.org/drawingml/2006/main">
            <a:r>
              <a:t>Nguồn/ghi chú: Dal Pozzolo et al. (2014): https://doi.org/10.1016/j.eswa.2014.02.026</a:t>
            </a:r>
          </a:p>
          <a:p xmlns:a="http://schemas.openxmlformats.org/drawingml/2006/main">
            <a:r>
              <a:t>Dal Pozzolo et al. (2018): https://doi.org/10.1109/TNNLS.2017.2736643</a:t>
            </a:r>
          </a:p>
          <a:p xmlns:a="http://schemas.openxmlformats.org/drawingml/2006/main">
            <a:r>
              <a:t>PaySim (2016): https://www.msc-les.org/proceedings/emss/2016/EMSS2016_249.pdf</a:t>
            </a:r>
          </a:p>
          <a:p xmlns:a="http://schemas.openxmlformats.org/drawingml/2006/main">
            <a:r>
              <a:t>ECB/EBA (2025): https://www.ecb.europa.eu/press/pr/date/2025/html/ecb.pr251215~e133d9d683.et.html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stakeholder matrix là đề xuất phân tích, không phải sơ đồ tổ chức MB. Không đồng nhất SOC an ninh mạng với bộ phận chống gian lận. Chuyển: minh họa quy trình tham chiếu trước khi đề xuất quy trình mới.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As-Is minh họa một luồng tham chiếu với mandatory controls và xử lý ngoại lệ. Trước khi mô tả MB cần phỏng vấn/chứng cứ quy trình. Sau khi nêu quy trình hiện tại giả định, chuyển sang To-Be đề xuất.</a:t>
            </a:r>
          </a:p>
          <a:p xmlns:a="http://schemas.openxmlformats.org/drawingml/2006/main">
            <a:r>
              <a:t/>
            </a:r>
          </a:p>
          <a:p xmlns:a="http://schemas.openxmlformats.org/drawingml/2006/main">
            <a:r>
              <a:t>Nguồn/ghi chú: Object Management Group (2010), BPMN 2.0. https://www.omg.org/spec/BPMN/2.0/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To-Be là đề xuất. Rủi ro cao dẫn tới chuyên viên xem xét, không phải kết luận gian lận. Vùng thấp không bỏ qua kiểm soát bắt buộc. Chuyển: sau quy trình, trình bày thành phần kỹ thuật hỗ trợ luồng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XGBoost được giới thiệu trong bài báo Chen và Guestrin tại KDD 2016. Đề tài áp dụng thuật toán, không tuyên bố phát minh thuật toán mới. Chuyển: làm rõ dữ liệu/nhãn mà mô hình nhận.</a:t>
            </a:r>
          </a:p>
          <a:p xmlns:a="http://schemas.openxmlformats.org/drawingml/2006/main">
            <a:r>
              <a:t/>
            </a:r>
          </a:p>
          <a:p xmlns:a="http://schemas.openxmlformats.org/drawingml/2006/main">
            <a:r>
              <a:t>Nguồn/ghi chú: Chen, T., &amp; Guestrin, C. (2016). XGBoost. https://doi.org/10.1145/2939672.2939785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phỏng như PaySim hỗ trợ thử nghiệm khi dữ liệu thật khó chia sẻ, nhưng kết luận phải giới hạn trong simulator. Nhãn tổng hợp là một lựa chọn nghiên cứu riêng. Chuyển: chuyển từ bài học nghiên cứu sang stakeholder và quy trình tham chiếu.</a:t>
            </a:r>
          </a:p>
          <a:p xmlns:a="http://schemas.openxmlformats.org/drawingml/2006/main">
            <a:r>
              <a:t/>
            </a:r>
          </a:p>
          <a:p xmlns:a="http://schemas.openxmlformats.org/drawingml/2006/main">
            <a:r>
              <a:t>Nguồn/ghi chú: Lopez-Rojas et al. (2016), PaySim. https://www.msc-les.org/proceedings/emss/2016/EMSS2016_249.pdf</a:t>
            </a:r>
          </a:p>
          <a:p xmlns:a="http://schemas.openxmlformats.org/drawingml/2006/main">
            <a:r>
              <a:t>Kennedy et al. (2024). https://doi.org/10.1186/s40537-024-00897-7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F2 là lựa chọn đánh giá nghiên cứu, không phải chính sách business. Việc chọn ngưỡng trên validation và giữ test làm holdout theo hướng dẫn scikit-learn về threshold tuning. Chuyển: xem kết quả sau khi ngưỡng đã khóa trên validation.</a:t>
            </a:r>
          </a:p>
          <a:p xmlns:a="http://schemas.openxmlformats.org/drawingml/2006/main">
            <a:r>
              <a:t/>
            </a:r>
          </a:p>
          <a:p xmlns:a="http://schemas.openxmlformats.org/drawingml/2006/main">
            <a:r>
              <a:t>Nguồn/ghi chú: scikit-learn, Tuning the decision threshold: https://scikit-learn.org/stable/modules/classification_threshold.html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chỉ số lấy từ metrics.json, test n=5000, có 90 nhãn dương. XGBoost seed42 có TP65, FP122, FN25, TN4788. Không dùng “gian lận bị chặn”. Chuyển: PR curve cho thấy trade-off trên nhiều ngưỡng.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Đường PR được tạo từ score test seed42; chart downsampled để dễ đọc, AP tính bằng average_precision_score trên toàn bộ test. Davis &amp; Goadrich mô tả quan hệ giữa PR và ROC; tài liệu scikit-learn định nghĩa AP. Chuyển: xem lỗi cụ thể tại ngưỡng seed 42.</a:t>
            </a:r>
          </a:p>
          <a:p xmlns:a="http://schemas.openxmlformats.org/drawingml/2006/main">
            <a:r>
              <a:t/>
            </a:r>
          </a:p>
          <a:p xmlns:a="http://schemas.openxmlformats.org/drawingml/2006/main">
            <a:r>
              <a:t>Nguồn/ghi chú: Davis &amp; Goadrich (2006): https://doi.org/10.1145/1143844.1143874</a:t>
            </a:r>
          </a:p>
          <a:p xmlns:a="http://schemas.openxmlformats.org/drawingml/2006/main">
            <a:r>
              <a:t>scikit-learn Precision-Recall: https://scikit-learn.org/stable/auto_examples/model_selection/plot_precision_recall.html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Hàng của confusion matrix là nhãn thật, cột là dự đoán; c=[TN=4788, FP=122, FN=25, TP=65]. Cảnh báo sai được xác định so với nhãn generator, không phải kết luận điều tra. Chuyển: kiểm tra độ nhạy theo seed và độ trễ.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seeds cùng train/validation/test. Trung bình và sample SD là độ nhạy huấn luyện. Latency từ metrics.json; ghi đúng phương pháp, không nói “real-time under 100ms”. Chuyển: đánh giá tính khả thi và rủi ro vận 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có dữ liệu chi phí/hành vi MB nên không đưa ROI. NIST AI RMF là tham chiếu quản trị; Oslo Manual giúp phân biệt đề xuất quy trình với đổi mới đã triển khai. Chuyển: xem cách giao diện giải thích score trong demo.</a:t>
            </a:r>
          </a:p>
          <a:p xmlns:a="http://schemas.openxmlformats.org/drawingml/2006/main">
            <a:r>
              <a:t/>
            </a:r>
          </a:p>
          <a:p xmlns:a="http://schemas.openxmlformats.org/drawingml/2006/main">
            <a:r>
              <a:t>Nguồn/ghi chú: Tabassi (2023), NIST AI RMF 1.0: https://doi.org/10.6028/NIST.AI.100-1</a:t>
            </a:r>
          </a:p>
          <a:p xmlns:a="http://schemas.openxmlformats.org/drawingml/2006/main">
            <a:r>
              <a:t>OECD/Eurostat (2018), Oslo Manual: https://doi.org/10.1787/9789264304604-en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XGBoost pred_contribs cung cấp feature contributions dạng TreeSHAP cho cây. Giải thích model là local attribution, không phải nguyên nhân. Chuyển: dừng phần trình chiếu và mở demo local.</a:t>
            </a:r>
          </a:p>
          <a:p xmlns:a="http://schemas.openxmlformats.org/drawingml/2006/main">
            <a:r>
              <a:t/>
            </a:r>
          </a:p>
          <a:p xmlns:a="http://schemas.openxmlformats.org/drawingml/2006/main">
            <a:r>
              <a:t>Nguồn/ghi chú: XGBoost Prediction API: https://xgboost.readthedocs.io/en/latest/prediction.html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mượt từ kết quả học thuật sang demo. Tạm dừng trình chiếu, mở Streamlit local. Chạy kịch bản ít tín hiệu (tần suất 1, người nhận cũ) và nhiều tín hiệu (tần suất 6, người nhận mới); quan sát score, gợi ý, TreeSHAP, history. Không nhập dữ liệu thật. Sau demo quay lại slide 18 để kết luận và hỏi đáp.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kết luận sau demo live. Trả lời câu hỏi nghiên cứu trong đúng phạm vi: pipeline chạy trên dữ liệu tổng hợp. Nhấn mạnh số liệu là holdout giả lập, 122 FP theo nhãn generator chứ không phải sự vụ thực tế. Kết thúc bằng Q&amp;A.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aaff4c4c5b49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8f9531ca504bb8" /><Relationship Type="http://schemas.openxmlformats.org/officeDocument/2006/relationships/slideLayout" Target="/ppt/slideLayouts/slideLayout1.xml" Id="R55224a421dc146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224a421dc146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e8759b95db4b08" /><Relationship Type="http://schemas.openxmlformats.org/officeDocument/2006/relationships/notesSlide" Target="/ppt/notesSlides/notesSlide1.xml" Id="R5f16745f2f0744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005d67f3cd481d" /><Relationship Type="http://schemas.openxmlformats.org/officeDocument/2006/relationships/notesSlide" Target="/ppt/notesSlides/notesSlide2.xml" Id="Rab996f37778943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adc62df04c4051" /><Relationship Type="http://schemas.openxmlformats.org/officeDocument/2006/relationships/notesSlide" Target="/ppt/notesSlides/notesSlide3.xml" Id="R2a8c764f72f54e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6db4cf044348a7" /><Relationship Type="http://schemas.openxmlformats.org/officeDocument/2006/relationships/notesSlide" Target="/ppt/notesSlides/notesSlide4.xml" Id="Re1cad77a5e614c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82ba6334044a95" /><Relationship Type="http://schemas.openxmlformats.org/officeDocument/2006/relationships/notesSlide" Target="/ppt/notesSlides/notesSlide5.xml" Id="R4a6092cfc30546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981b9754f64104" /><Relationship Type="http://schemas.openxmlformats.org/officeDocument/2006/relationships/notesSlide" Target="/ppt/notesSlides/notesSlide6.xml" Id="R3e83516f5aeb4f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28c2fb548d4a17" /><Relationship Type="http://schemas.openxmlformats.org/officeDocument/2006/relationships/notesSlide" Target="/ppt/notesSlides/notesSlide7.xml" Id="Ra989575e65f74d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b8841d4a9b405c" /><Relationship Type="http://schemas.openxmlformats.org/officeDocument/2006/relationships/notesSlide" Target="/ppt/notesSlides/notesSlide8.xml" Id="Raa5ae12345a847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861a7d02724ff2" /><Relationship Type="http://schemas.openxmlformats.org/officeDocument/2006/relationships/notesSlide" Target="/ppt/notesSlides/notesSlide9.xml" Id="R0969c2a48c1e4c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b1709cea6049bc" /><Relationship Type="http://schemas.openxmlformats.org/officeDocument/2006/relationships/notesSlide" Target="/ppt/notesSlides/notesSlide10.xml" Id="R48916c1b274e4d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a76efa7d244aa2" /><Relationship Type="http://schemas.openxmlformats.org/officeDocument/2006/relationships/notesSlide" Target="/ppt/notesSlides/notesSlide11.xml" Id="R04ccfcbb75e54d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16b8bb22974eaf" /><Relationship Type="http://schemas.openxmlformats.org/officeDocument/2006/relationships/chart" Target="/ppt/slides/charts/chart1.xml" Id="R074ddabe1bd445e1" /><Relationship Type="http://schemas.openxmlformats.org/officeDocument/2006/relationships/notesSlide" Target="/ppt/notesSlides/notesSlide12.xml" Id="R703b04b409ab44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bd2c75a7ef4eda" /><Relationship Type="http://schemas.openxmlformats.org/officeDocument/2006/relationships/notesSlide" Target="/ppt/notesSlides/notesSlide13.xml" Id="Rcbb9ad8824e740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a0b785a7c4499f" /><Relationship Type="http://schemas.openxmlformats.org/officeDocument/2006/relationships/notesSlide" Target="/ppt/notesSlides/notesSlide14.xml" Id="R051bb067aeb444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0c47f85a9f4a10" /><Relationship Type="http://schemas.openxmlformats.org/officeDocument/2006/relationships/notesSlide" Target="/ppt/notesSlides/notesSlide15.xml" Id="Rdeba2c867c8448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8df95988f445b0" /><Relationship Type="http://schemas.openxmlformats.org/officeDocument/2006/relationships/notesSlide" Target="/ppt/notesSlides/notesSlide16.xml" Id="R73d7208fb86f47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1326dc64eb4054" /><Relationship Type="http://schemas.openxmlformats.org/officeDocument/2006/relationships/notesSlide" Target="/ppt/notesSlides/notesSlide17.xml" Id="R73d7f989cab346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fa8d4067bb482a" /><Relationship Type="http://schemas.openxmlformats.org/officeDocument/2006/relationships/notesSlide" Target="/ppt/notesSlides/notesSlide18.xml" Id="Rc3dd08a543184be4"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b="1">
                <a:solidFill>
                  <a:srgbClr val="14365D"/>
                </a:solidFill>
                <a:latin typeface="Arial"/>
                <a:ea typeface="Arial"/>
                <a:cs typeface="Arial"/>
              </a:rPr>
              <a:t>PR curve • XGBoost seed 42 • test</a:t>
            </a:r>
          </a:p>
        </c:rich>
      </c:tx>
      <c:overlay val="0"/>
      <c:txPr>
        <a:bodyPr xmlns:a="http://schemas.openxmlformats.org/drawingml/2006/main" anchorCtr="1"/>
        <a:lstStyle xmlns:a="http://schemas.openxmlformats.org/drawingml/2006/main"/>
        <a:p xmlns:a="http://schemas.openxmlformats.org/drawingml/2006/main">
          <a:pPr>
            <a:defRPr sz="1500" b="1">
              <a:solidFill>
                <a:srgbClr val="14365D"/>
              </a:solidFill>
              <a:latin typeface="Arial"/>
              <a:ea typeface="Arial"/>
              <a:cs typeface="Arial"/>
            </a:defRPr>
          </a:pPr>
        </a:p>
      </c:txPr>
    </c:title>
    <c:plotArea>
      <c:lineChart>
        <c:grouping val="standard"/>
        <c:varyColors val="0"/>
        <c:ser>
          <c:idx val="0"/>
          <c:order val="0"/>
          <c:tx>
            <c:v>Precision</c:v>
          </c:tx>
          <c:spPr>
            <a:ln xmlns:a="http://schemas.openxmlformats.org/drawingml/2006/main" w="28575">
              <a:solidFill>
                <a:srgbClr val="3E6B97"/>
              </a:solidFill>
            </a:ln>
          </c:spPr>
          <c:marker>
            <c:symbol val="circle"/>
            <c:size val="5"/>
            <c:spPr>
              <a:solidFill xmlns:a="http://schemas.openxmlformats.org/drawingml/2006/main">
                <a:srgbClr val="3E6B97"/>
              </a:solidFill>
            </c:spPr>
          </c:marker>
          <c:cat>
            <c:strLit>
              <c:ptCount val="2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strLit>
          </c:cat>
          <c:val>
            <c:numLit>
              <c:formatCode>0%</c:formatCode>
              <c:ptCount val="21"/>
              <c:pt idx="0">
                <c:v>1</c:v>
              </c:pt>
              <c:pt idx="1">
                <c:v>1</c:v>
              </c:pt>
              <c:pt idx="2">
                <c:v>0.9</c:v>
              </c:pt>
              <c:pt idx="3">
                <c:v>0.8235294117647058</c:v>
              </c:pt>
              <c:pt idx="4">
                <c:v>0.8181818181818182</c:v>
              </c:pt>
              <c:pt idx="5">
                <c:v>0.8214285714285714</c:v>
              </c:pt>
              <c:pt idx="6">
                <c:v>0.7941176470588235</c:v>
              </c:pt>
              <c:pt idx="7">
                <c:v>0.6888888888888889</c:v>
              </c:pt>
              <c:pt idx="8">
                <c:v>0.5901639344262295</c:v>
              </c:pt>
              <c:pt idx="9">
                <c:v>0.5189873417721519</c:v>
              </c:pt>
              <c:pt idx="10">
                <c:v>0.4787234042553192</c:v>
              </c:pt>
              <c:pt idx="11">
                <c:v>0.4424778761061947</c:v>
              </c:pt>
              <c:pt idx="12">
                <c:v>0.43902439024390244</c:v>
              </c:pt>
              <c:pt idx="13">
                <c:v>0.4097222222222222</c:v>
              </c:pt>
              <c:pt idx="14">
                <c:v>0.38181818181818183</c:v>
              </c:pt>
              <c:pt idx="15">
                <c:v>0.3383084577114428</c:v>
              </c:pt>
              <c:pt idx="16">
                <c:v>0.3333333333333333</c:v>
              </c:pt>
              <c:pt idx="17">
                <c:v>0.33189655172413796</c:v>
              </c:pt>
              <c:pt idx="18">
                <c:v>0.2892857142857143</c:v>
              </c:pt>
              <c:pt idx="19">
                <c:v>0.24495677233429394</c:v>
              </c:pt>
              <c:pt idx="20">
                <c:v>0.1388888888888889</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Recall</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5717D"/>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Precision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5717D"/>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3EC0BA-2D49-45B2-9A21-B759E25FE949}"/>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8EB94A-DA7C-4F8C-92A4-1C3A4A94D2A0}"/>
              </a:ext>
            </a:extLst>
          </p:cNvPr>
          <p:cNvSpPr>
            <a:spLocks xmlns:a="http://schemas.openxmlformats.org/drawingml/2006/main" noGrp="1"/>
          </p:cNvSpPr>
          <p:nvPr/>
        </p:nvSpPr>
        <p:spPr>
          <a:xfrm xmlns:a="http://schemas.openxmlformats.org/drawingml/2006/main">
            <a:off x="666750" y="876300"/>
            <a:ext cx="1524000" cy="47625"/>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AB7C28-FB62-47CB-8789-1AE4E2979571}"/>
              </a:ext>
            </a:extLst>
          </p:cNvPr>
          <p:cNvSpPr>
            <a:spLocks xmlns:a="http://schemas.openxmlformats.org/drawingml/2006/main" noGrp="1"/>
          </p:cNvSpPr>
          <p:nvPr/>
        </p:nvSpPr>
        <p:spPr>
          <a:xfrm xmlns:a="http://schemas.openxmlformats.org/drawingml/2006/main">
            <a:off x="723900" y="11239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7302"/>
          </a:bodyPr>
          <a:lstStyle xmlns:a="http://schemas.openxmlformats.org/drawingml/2006/main"/>
          <a:p xmlns:a="http://schemas.openxmlformats.org/drawingml/2006/main">
            <a:pPr algn="l">
              <a:lnSpc>
                <a:spcPct val="105000"/>
              </a:lnSpc>
              <a:buNone/>
              <a:defRPr sz="1500" b="1">
                <a:solidFill>
                  <a:srgbClr val="65717D"/>
                </a:solidFill>
                <a:latin typeface="Arial"/>
                <a:ea typeface="Arial"/>
                <a:cs typeface="Arial"/>
              </a:defRPr>
            </a:pPr>
            <a:r>
              <a:rPr sz="1500" b="1">
                <a:solidFill>
                  <a:srgbClr val="65717D"/>
                </a:solidFill>
                <a:latin typeface="Arial"/>
                <a:ea typeface="Arial"/>
                <a:cs typeface="Arial"/>
              </a:rPr>
              <a:t>HỌC VIỆN NGÂN HÀNG</a:t>
            </a:r>
          </a:p>
        </p:txBody>
      </p:sp>
      <p:sp>
        <p:nvSpPr>
          <p:cNvPr id="4" name="">
            <a:extLst xmlns:a="http://schemas.openxmlformats.org/drawingml/2006/main">
              <a:ext uri="{FF2B5EF4-FFF2-40B4-BE49-F238E27FC236}">
                <a16:creationId xmlns:a16="http://schemas.microsoft.com/office/drawing/2014/main" id="{03246E54-C8ED-469A-851B-E1DCC85A0645}"/>
              </a:ext>
            </a:extLst>
          </p:cNvPr>
          <p:cNvSpPr>
            <a:spLocks xmlns:a="http://schemas.openxmlformats.org/drawingml/2006/main" noGrp="1"/>
          </p:cNvSpPr>
          <p:nvPr/>
        </p:nvSpPr>
        <p:spPr>
          <a:xfrm xmlns:a="http://schemas.openxmlformats.org/drawingml/2006/main">
            <a:off x="723900" y="156210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350" b="1">
                <a:solidFill>
                  <a:srgbClr val="3E6B97"/>
                </a:solidFill>
                <a:latin typeface="Arial"/>
                <a:ea typeface="Arial"/>
                <a:cs typeface="Arial"/>
              </a:defRPr>
            </a:pPr>
            <a:r>
              <a:rPr sz="1350" b="1">
                <a:solidFill>
                  <a:srgbClr val="3E6B97"/>
                </a:solidFill>
                <a:latin typeface="Arial"/>
                <a:ea typeface="Arial"/>
                <a:cs typeface="Arial"/>
              </a:rPr>
              <a:t>BÀI TẬP LỚN – CÔNG NGHỆ MỚI NỔI VÀ ĐỔI MỚI</a:t>
            </a:r>
          </a:p>
        </p:txBody>
      </p:sp>
      <p:sp>
        <p:nvSpPr>
          <p:cNvPr id="5" name="">
            <a:extLst xmlns:a="http://schemas.openxmlformats.org/drawingml/2006/main">
              <a:ext uri="{FF2B5EF4-FFF2-40B4-BE49-F238E27FC236}">
                <a16:creationId xmlns:a16="http://schemas.microsoft.com/office/drawing/2014/main" id="{50A3BE21-B8C5-4E4E-B825-C8B079F094A6}"/>
              </a:ext>
            </a:extLst>
          </p:cNvPr>
          <p:cNvSpPr>
            <a:spLocks xmlns:a="http://schemas.openxmlformats.org/drawingml/2006/main" noGrp="1"/>
          </p:cNvSpPr>
          <p:nvPr/>
        </p:nvSpPr>
        <p:spPr>
          <a:xfrm xmlns:a="http://schemas.openxmlformats.org/drawingml/2006/main">
            <a:off x="723900" y="2190750"/>
            <a:ext cx="10096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0000"/>
              </a:lnSpc>
              <a:buNone/>
              <a:defRPr sz="3450" b="1">
                <a:solidFill>
                  <a:srgbClr val="14365D"/>
                </a:solidFill>
                <a:latin typeface="Arial"/>
                <a:ea typeface="Arial"/>
                <a:cs typeface="Arial"/>
              </a:defRPr>
            </a:pPr>
            <a:r>
              <a:rPr sz="3450" b="1">
                <a:solidFill>
                  <a:srgbClr val="14365D"/>
                </a:solidFill>
                <a:latin typeface="Arial"/>
                <a:ea typeface="Arial"/>
                <a:cs typeface="Arial"/>
              </a:rPr>
              <a:t>Ứng dụng học máy hỗ trợ phát hiện</a:t>
            </a:r>
          </a:p>
          <a:p xmlns:a="http://schemas.openxmlformats.org/drawingml/2006/main">
            <a:pPr algn="l">
              <a:lnSpc>
                <a:spcPct val="100000"/>
              </a:lnSpc>
              <a:buNone/>
              <a:defRPr sz="3450" b="1">
                <a:solidFill>
                  <a:srgbClr val="14365D"/>
                </a:solidFill>
                <a:latin typeface="Arial"/>
                <a:ea typeface="Arial"/>
                <a:cs typeface="Arial"/>
              </a:defRPr>
            </a:pPr>
            <a:r>
              <a:rPr sz="3450" b="1">
                <a:solidFill>
                  <a:srgbClr val="14365D"/>
                </a:solidFill>
                <a:latin typeface="Arial"/>
                <a:ea typeface="Arial"/>
                <a:cs typeface="Arial"/>
              </a:rPr>
              <a:t>giao dịch nghi ngờ gian lận</a:t>
            </a:r>
          </a:p>
        </p:txBody>
      </p:sp>
      <p:sp>
        <p:nvSpPr>
          <p:cNvPr id="6" name="">
            <a:extLst xmlns:a="http://schemas.openxmlformats.org/drawingml/2006/main">
              <a:ext uri="{FF2B5EF4-FFF2-40B4-BE49-F238E27FC236}">
                <a16:creationId xmlns:a16="http://schemas.microsoft.com/office/drawing/2014/main" id="{538455D5-BD3A-49FF-9354-ECB4D2F4D3D5}"/>
              </a:ext>
            </a:extLst>
          </p:cNvPr>
          <p:cNvSpPr>
            <a:spLocks xmlns:a="http://schemas.openxmlformats.org/drawingml/2006/main" noGrp="1"/>
          </p:cNvSpPr>
          <p:nvPr/>
        </p:nvSpPr>
        <p:spPr>
          <a:xfrm xmlns:a="http://schemas.openxmlformats.org/drawingml/2006/main">
            <a:off x="762000" y="3857625"/>
            <a:ext cx="933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950" b="0">
                <a:solidFill>
                  <a:srgbClr val="65717D"/>
                </a:solidFill>
                <a:latin typeface="Arial"/>
                <a:ea typeface="Arial"/>
                <a:cs typeface="Arial"/>
              </a:defRPr>
            </a:pPr>
            <a:r>
              <a:rPr sz="1950" b="0">
                <a:solidFill>
                  <a:srgbClr val="65717D"/>
                </a:solidFill>
                <a:latin typeface="Arial"/>
                <a:ea typeface="Arial"/>
                <a:cs typeface="Arial"/>
              </a:rPr>
              <a:t>Xây dựng và đánh giá PoC trên dữ liệu tổng hợp</a:t>
            </a:r>
          </a:p>
          <a:p xmlns:a="http://schemas.openxmlformats.org/drawingml/2006/main">
            <a:pPr algn="l">
              <a:lnSpc>
                <a:spcPct val="105000"/>
              </a:lnSpc>
              <a:buNone/>
              <a:defRPr sz="1950" b="0">
                <a:solidFill>
                  <a:srgbClr val="65717D"/>
                </a:solidFill>
                <a:latin typeface="Arial"/>
                <a:ea typeface="Arial"/>
                <a:cs typeface="Arial"/>
              </a:defRPr>
            </a:pPr>
            <a:r>
              <a:rPr sz="1950" b="0">
                <a:solidFill>
                  <a:srgbClr val="65717D"/>
                </a:solidFill>
                <a:latin typeface="Arial"/>
                <a:ea typeface="Arial"/>
                <a:cs typeface="Arial"/>
              </a:rPr>
              <a:t>trong bối cảnh nghiên cứu MB</a:t>
            </a:r>
          </a:p>
        </p:txBody>
      </p:sp>
      <p:sp>
        <p:nvSpPr>
          <p:cNvPr id="7" name="">
            <a:extLst xmlns:a="http://schemas.openxmlformats.org/drawingml/2006/main">
              <a:ext uri="{FF2B5EF4-FFF2-40B4-BE49-F238E27FC236}">
                <a16:creationId xmlns:a16="http://schemas.microsoft.com/office/drawing/2014/main" id="{9D45385A-C4CA-4891-AD4B-D949016F6A0E}"/>
              </a:ext>
            </a:extLst>
          </p:cNvPr>
          <p:cNvSpPr>
            <a:spLocks xmlns:a="http://schemas.openxmlformats.org/drawingml/2006/main" noGrp="1"/>
          </p:cNvSpPr>
          <p:nvPr/>
        </p:nvSpPr>
        <p:spPr>
          <a:xfrm xmlns:a="http://schemas.openxmlformats.org/drawingml/2006/main">
            <a:off x="742950" y="5010150"/>
            <a:ext cx="6858000" cy="9525"/>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00D1E9-166D-485E-A055-486AD997C57E}"/>
              </a:ext>
            </a:extLst>
          </p:cNvPr>
          <p:cNvSpPr>
            <a:spLocks xmlns:a="http://schemas.openxmlformats.org/drawingml/2006/main" noGrp="1"/>
          </p:cNvSpPr>
          <p:nvPr/>
        </p:nvSpPr>
        <p:spPr>
          <a:xfrm xmlns:a="http://schemas.openxmlformats.org/drawingml/2006/main">
            <a:off x="762000" y="5238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0">
                <a:solidFill>
                  <a:srgbClr val="202A35"/>
                </a:solidFill>
                <a:latin typeface="Arial"/>
                <a:ea typeface="Arial"/>
                <a:cs typeface="Arial"/>
              </a:defRPr>
            </a:pPr>
            <a:r>
              <a:rPr sz="1425" b="0">
                <a:solidFill>
                  <a:srgbClr val="202A35"/>
                </a:solidFill>
                <a:latin typeface="Arial"/>
                <a:ea typeface="Arial"/>
                <a:cs typeface="Arial"/>
              </a:rPr>
              <a:t>Nhóm thực hiện: [bổ sung]     Giảng viên: [bổ sung]     Lớp: [bổ sung]</a:t>
            </a:r>
          </a:p>
        </p:txBody>
      </p:sp>
      <p:sp>
        <p:nvSpPr>
          <p:cNvPr id="9" name="">
            <a:extLst xmlns:a="http://schemas.openxmlformats.org/drawingml/2006/main">
              <a:ext uri="{FF2B5EF4-FFF2-40B4-BE49-F238E27FC236}">
                <a16:creationId xmlns:a16="http://schemas.microsoft.com/office/drawing/2014/main" id="{A60AEF27-8381-4811-927B-87ABB6833107}"/>
              </a:ext>
            </a:extLst>
          </p:cNvPr>
          <p:cNvSpPr>
            <a:spLocks xmlns:a="http://schemas.openxmlformats.org/drawingml/2006/main" noGrp="1"/>
          </p:cNvSpPr>
          <p:nvPr/>
        </p:nvSpPr>
        <p:spPr>
          <a:xfrm xmlns:a="http://schemas.openxmlformats.org/drawingml/2006/main">
            <a:off x="762000" y="57245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350" b="1">
                <a:solidFill>
                  <a:srgbClr val="C84646"/>
                </a:solidFill>
                <a:latin typeface="Arial"/>
                <a:ea typeface="Arial"/>
                <a:cs typeface="Arial"/>
              </a:defRPr>
            </a:pPr>
            <a:r>
              <a:rPr sz="1350" b="1">
                <a:solidFill>
                  <a:srgbClr val="C84646"/>
                </a:solidFill>
                <a:latin typeface="Arial"/>
                <a:ea typeface="Arial"/>
                <a:cs typeface="Arial"/>
              </a:rPr>
              <a:t>Dữ liệu tổng hợp • Không kết nối ngân hàng • Không chặn giao dịch thật</a:t>
            </a:r>
          </a:p>
        </p:txBody>
      </p:sp>
      <p:sp>
        <p:nvSpPr>
          <p:cNvPr id="10" name="">
            <a:extLst xmlns:a="http://schemas.openxmlformats.org/drawingml/2006/main">
              <a:ext uri="{FF2B5EF4-FFF2-40B4-BE49-F238E27FC236}">
                <a16:creationId xmlns:a16="http://schemas.microsoft.com/office/drawing/2014/main" id="{F7201A2E-28E0-4BDE-9512-35B783AAD57C}"/>
              </a:ext>
            </a:extLst>
          </p:cNvPr>
          <p:cNvSpPr>
            <a:spLocks xmlns:a="http://schemas.openxmlformats.org/drawingml/2006/main" noGrp="1"/>
          </p:cNvSpPr>
          <p:nvPr/>
        </p:nvSpPr>
        <p:spPr>
          <a:xfrm xmlns:a="http://schemas.openxmlformats.org/drawingml/2006/main">
            <a:off x="762000" y="63436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9365"/>
          </a:bodyPr>
          <a:lstStyle xmlns:a="http://schemas.openxmlformats.org/drawingml/2006/main"/>
          <a:p xmlns:a="http://schemas.openxmlformats.org/drawingml/2006/main">
            <a:pPr algn="l">
              <a:lnSpc>
                <a:spcPct val="105000"/>
              </a:lnSpc>
              <a:buNone/>
              <a:defRPr sz="1200" b="0">
                <a:solidFill>
                  <a:srgbClr val="65717D"/>
                </a:solidFill>
                <a:latin typeface="Arial"/>
                <a:ea typeface="Arial"/>
                <a:cs typeface="Arial"/>
              </a:defRPr>
            </a:pPr>
            <a:r>
              <a:rPr sz="1200" b="0">
                <a:solidFill>
                  <a:srgbClr val="65717D"/>
                </a:solidFill>
                <a:latin typeface="Arial"/>
                <a:ea typeface="Arial"/>
                <a:cs typeface="Arial"/>
              </a:rPr>
              <a:t>Hà Nội – 2026</a:t>
            </a:r>
          </a:p>
        </p:txBody>
      </p:sp>
    </p:spTree>
    <p:extLst>
      <p:ext uri="{BB962C8B-B14F-4D97-AF65-F5344CB8AC3E}">
        <p14:creationId xmlns:p14="http://schemas.microsoft.com/office/powerpoint/2010/main" val="17103962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739F33-FAB7-49BB-9D31-357FF268E757}"/>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AA53E6-A315-4525-9387-DF4A6FA8F695}"/>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MỤC TIÊU</a:t>
            </a:r>
          </a:p>
        </p:txBody>
      </p:sp>
      <p:sp>
        <p:nvSpPr>
          <p:cNvPr id="3" name="">
            <a:extLst xmlns:a="http://schemas.openxmlformats.org/drawingml/2006/main">
              <a:ext uri="{FF2B5EF4-FFF2-40B4-BE49-F238E27FC236}">
                <a16:creationId xmlns:a16="http://schemas.microsoft.com/office/drawing/2014/main" id="{F482AA25-8775-4893-93FF-8F26CAC03F75}"/>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Câu hỏi nghiên cứu và tiêu chí thành công</a:t>
            </a:r>
          </a:p>
        </p:txBody>
      </p:sp>
      <p:sp>
        <p:nvSpPr>
          <p:cNvPr id="4" name="">
            <a:extLst xmlns:a="http://schemas.openxmlformats.org/drawingml/2006/main">
              <a:ext uri="{FF2B5EF4-FFF2-40B4-BE49-F238E27FC236}">
                <a16:creationId xmlns:a16="http://schemas.microsoft.com/office/drawing/2014/main" id="{99295076-8CFD-4693-B112-3E7B02724653}"/>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D7B807-B743-49B4-99F2-06E7FE8E114E}"/>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C56E5D74-DA04-427A-A4E8-17A2A5B8A47C}"/>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676516FB-B2D5-4186-88FE-AAD8D7B15CCD}"/>
              </a:ext>
            </a:extLst>
          </p:cNvPr>
          <p:cNvSpPr>
            <a:spLocks xmlns:a="http://schemas.openxmlformats.org/drawingml/2006/main" noGrp="1"/>
          </p:cNvSpPr>
          <p:nvPr/>
        </p:nvSpPr>
        <p:spPr>
          <a:xfrm xmlns:a="http://schemas.openxmlformats.org/drawingml/2006/main">
            <a:off x="742950" y="14287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500" b="1">
                <a:solidFill>
                  <a:srgbClr val="3E6B97"/>
                </a:solidFill>
                <a:latin typeface="Arial"/>
                <a:ea typeface="Arial"/>
                <a:cs typeface="Arial"/>
              </a:defRPr>
            </a:pPr>
            <a:r>
              <a:rPr sz="1500" b="1">
                <a:solidFill>
                  <a:srgbClr val="3E6B97"/>
                </a:solidFill>
                <a:latin typeface="Arial"/>
                <a:ea typeface="Arial"/>
                <a:cs typeface="Arial"/>
              </a:rPr>
              <a:t>Câu hỏi</a:t>
            </a:r>
          </a:p>
        </p:txBody>
      </p:sp>
      <p:sp>
        <p:nvSpPr>
          <p:cNvPr id="8" name="">
            <a:extLst xmlns:a="http://schemas.openxmlformats.org/drawingml/2006/main">
              <a:ext uri="{FF2B5EF4-FFF2-40B4-BE49-F238E27FC236}">
                <a16:creationId xmlns:a16="http://schemas.microsoft.com/office/drawing/2014/main" id="{A65802C6-F654-4B93-984F-89C922B90BFF}"/>
              </a:ext>
            </a:extLst>
          </p:cNvPr>
          <p:cNvSpPr>
            <a:spLocks xmlns:a="http://schemas.openxmlformats.org/drawingml/2006/main" noGrp="1"/>
          </p:cNvSpPr>
          <p:nvPr/>
        </p:nvSpPr>
        <p:spPr>
          <a:xfrm xmlns:a="http://schemas.openxmlformats.org/drawingml/2006/main">
            <a:off x="742950" y="1828800"/>
            <a:ext cx="1000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400" b="1">
                <a:solidFill>
                  <a:srgbClr val="14365D"/>
                </a:solidFill>
                <a:latin typeface="Arial"/>
                <a:ea typeface="Arial"/>
                <a:cs typeface="Arial"/>
              </a:defRPr>
            </a:pPr>
            <a:r>
              <a:rPr sz="2400" b="1">
                <a:solidFill>
                  <a:srgbClr val="14365D"/>
                </a:solidFill>
                <a:latin typeface="Arial"/>
                <a:ea typeface="Arial"/>
                <a:cs typeface="Arial"/>
              </a:rPr>
              <a:t>PoC học máy có thể xếp hạng giao dịch tổng hợp để ưu tiên kiểm tra như thế nào so với baseline đơn giản?</a:t>
            </a:r>
          </a:p>
        </p:txBody>
      </p:sp>
      <p:sp>
        <p:nvSpPr>
          <p:cNvPr id="9" name="">
            <a:extLst xmlns:a="http://schemas.openxmlformats.org/drawingml/2006/main">
              <a:ext uri="{FF2B5EF4-FFF2-40B4-BE49-F238E27FC236}">
                <a16:creationId xmlns:a16="http://schemas.microsoft.com/office/drawing/2014/main" id="{94538277-6106-404C-B1DF-D263D6AE01D5}"/>
              </a:ext>
            </a:extLst>
          </p:cNvPr>
          <p:cNvSpPr>
            <a:spLocks xmlns:a="http://schemas.openxmlformats.org/drawingml/2006/main" noGrp="1"/>
          </p:cNvSpPr>
          <p:nvPr/>
        </p:nvSpPr>
        <p:spPr>
          <a:xfrm xmlns:a="http://schemas.openxmlformats.org/drawingml/2006/main">
            <a:off x="742950" y="3009900"/>
            <a:ext cx="4953000" cy="2286000"/>
          </a:xfrm>
          <a:prstGeom xmlns:a="http://schemas.openxmlformats.org/drawingml/2006/main" prst="roundRect">
            <a:avLst>
              <a:gd name="adj" fmla="val 3333"/>
            </a:avLst>
          </a:prstGeom>
          <a:solidFill xmlns:a="http://schemas.openxmlformats.org/drawingml/2006/main">
            <a:srgbClr val="EAF1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9C2DCFC-7295-4ADE-A135-F5770355725A}"/>
              </a:ext>
            </a:extLst>
          </p:cNvPr>
          <p:cNvSpPr>
            <a:spLocks xmlns:a="http://schemas.openxmlformats.org/drawingml/2006/main" noGrp="1"/>
          </p:cNvSpPr>
          <p:nvPr/>
        </p:nvSpPr>
        <p:spPr>
          <a:xfrm xmlns:a="http://schemas.openxmlformats.org/drawingml/2006/main">
            <a:off x="971550" y="31813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650" b="1">
                <a:solidFill>
                  <a:srgbClr val="3E6B97"/>
                </a:solidFill>
                <a:latin typeface="Arial"/>
                <a:ea typeface="Arial"/>
                <a:cs typeface="Arial"/>
              </a:defRPr>
            </a:pPr>
            <a:r>
              <a:rPr sz="1650" b="1">
                <a:solidFill>
                  <a:srgbClr val="3E6B97"/>
                </a:solidFill>
                <a:latin typeface="Arial"/>
                <a:ea typeface="Arial"/>
                <a:cs typeface="Arial"/>
              </a:rPr>
              <a:t>Trong phạm vi</a:t>
            </a:r>
          </a:p>
        </p:txBody>
      </p:sp>
      <p:sp>
        <p:nvSpPr>
          <p:cNvPr id="11" name="">
            <a:extLst xmlns:a="http://schemas.openxmlformats.org/drawingml/2006/main">
              <a:ext uri="{FF2B5EF4-FFF2-40B4-BE49-F238E27FC236}">
                <a16:creationId xmlns:a16="http://schemas.microsoft.com/office/drawing/2014/main" id="{BFB05F92-AF0C-438B-A167-6776D660B042}"/>
              </a:ext>
            </a:extLst>
          </p:cNvPr>
          <p:cNvSpPr>
            <a:spLocks xmlns:a="http://schemas.openxmlformats.org/drawingml/2006/main" noGrp="1"/>
          </p:cNvSpPr>
          <p:nvPr/>
        </p:nvSpPr>
        <p:spPr>
          <a:xfrm xmlns:a="http://schemas.openxmlformats.org/drawingml/2006/main">
            <a:off x="914400" y="3543300"/>
            <a:ext cx="45243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97403"/>
          </a:bodyPr>
          <a:lstStyle xmlns:a="http://schemas.openxmlformats.org/drawingml/2006/main"/>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25.000 giao dịch tổng hợp</a:t>
            </a:r>
          </a:p>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XGBoost, rule baseline và baseline luôn âm</a:t>
            </a:r>
          </a:p>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Threshold chọn trên validation</a:t>
            </a:r>
          </a:p>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Điểm số gợi ý, không thực thi giao dịch</a:t>
            </a:r>
          </a:p>
        </p:txBody>
      </p:sp>
      <p:sp>
        <p:nvSpPr>
          <p:cNvPr id="12" name="">
            <a:extLst xmlns:a="http://schemas.openxmlformats.org/drawingml/2006/main">
              <a:ext uri="{FF2B5EF4-FFF2-40B4-BE49-F238E27FC236}">
                <a16:creationId xmlns:a16="http://schemas.microsoft.com/office/drawing/2014/main" id="{73F75B59-77CD-46EA-9EB3-D5ADFFDF7570}"/>
              </a:ext>
            </a:extLst>
          </p:cNvPr>
          <p:cNvSpPr>
            <a:spLocks xmlns:a="http://schemas.openxmlformats.org/drawingml/2006/main" noGrp="1"/>
          </p:cNvSpPr>
          <p:nvPr/>
        </p:nvSpPr>
        <p:spPr>
          <a:xfrm xmlns:a="http://schemas.openxmlformats.org/drawingml/2006/main">
            <a:off x="6096000" y="3009900"/>
            <a:ext cx="5381625" cy="2286000"/>
          </a:xfrm>
          <a:prstGeom xmlns:a="http://schemas.openxmlformats.org/drawingml/2006/main" prst="roundRect">
            <a:avLst>
              <a:gd name="adj" fmla="val 3333"/>
            </a:avLst>
          </a:prstGeom>
          <a:solidFill xmlns:a="http://schemas.openxmlformats.org/drawingml/2006/main">
            <a:srgbClr val="FFF4D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3C66985-4D65-425C-9B64-E1FE6B90225F}"/>
              </a:ext>
            </a:extLst>
          </p:cNvPr>
          <p:cNvSpPr>
            <a:spLocks xmlns:a="http://schemas.openxmlformats.org/drawingml/2006/main" noGrp="1"/>
          </p:cNvSpPr>
          <p:nvPr/>
        </p:nvSpPr>
        <p:spPr>
          <a:xfrm xmlns:a="http://schemas.openxmlformats.org/drawingml/2006/main">
            <a:off x="6343650" y="3181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650" b="1">
                <a:solidFill>
                  <a:srgbClr val="D49122"/>
                </a:solidFill>
                <a:latin typeface="Arial"/>
                <a:ea typeface="Arial"/>
                <a:cs typeface="Arial"/>
              </a:defRPr>
            </a:pPr>
            <a:r>
              <a:rPr sz="1650" b="1">
                <a:solidFill>
                  <a:srgbClr val="D49122"/>
                </a:solidFill>
                <a:latin typeface="Arial"/>
                <a:ea typeface="Arial"/>
                <a:cs typeface="Arial"/>
              </a:rPr>
              <a:t>Không kết luận</a:t>
            </a:r>
          </a:p>
        </p:txBody>
      </p:sp>
      <p:sp>
        <p:nvSpPr>
          <p:cNvPr id="14" name="">
            <a:extLst xmlns:a="http://schemas.openxmlformats.org/drawingml/2006/main">
              <a:ext uri="{FF2B5EF4-FFF2-40B4-BE49-F238E27FC236}">
                <a16:creationId xmlns:a16="http://schemas.microsoft.com/office/drawing/2014/main" id="{47E98D52-905B-431D-A649-D25A875B61A1}"/>
              </a:ext>
            </a:extLst>
          </p:cNvPr>
          <p:cNvSpPr>
            <a:spLocks xmlns:a="http://schemas.openxmlformats.org/drawingml/2006/main" noGrp="1"/>
          </p:cNvSpPr>
          <p:nvPr/>
        </p:nvSpPr>
        <p:spPr>
          <a:xfrm xmlns:a="http://schemas.openxmlformats.org/drawingml/2006/main">
            <a:off x="6229350" y="3543300"/>
            <a:ext cx="4953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97403"/>
          </a:bodyPr>
          <a:lstStyle xmlns:a="http://schemas.openxmlformats.org/drawingml/2006/main"/>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Không có dữ liệu nội bộ MB</a:t>
            </a:r>
          </a:p>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Không đo hiệu quả nghiệp vụ thật</a:t>
            </a:r>
          </a:p>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Không tích hợp Kafka/Core Banking</a:t>
            </a:r>
          </a:p>
          <a:p xmlns:a="http://schemas.openxmlformats.org/drawingml/2006/main">
            <a:pPr marL="254000" indent="-114300">
              <a:lnSpc>
                <a:spcPct val="110000"/>
              </a:lnSpc>
              <a:spcAft>
                <a:spcPts val="1000"/>
              </a:spcAft>
              <a:buNone/>
              <a:defRPr sz="1575">
                <a:solidFill>
                  <a:srgbClr val="202A35"/>
                </a:solidFill>
                <a:latin typeface="Arial"/>
                <a:ea typeface="Arial"/>
                <a:cs typeface="Arial"/>
              </a:defRPr>
            </a:pPr>
            <a:r>
              <a:rPr sz="1575">
                <a:solidFill>
                  <a:srgbClr val="202A35"/>
                </a:solidFill>
                <a:latin typeface="Arial"/>
                <a:ea typeface="Arial"/>
                <a:cs typeface="Arial"/>
              </a:rPr>
              <a:t>Không tự động giữ hoặc chặn tiền</a:t>
            </a:r>
          </a:p>
        </p:txBody>
      </p:sp>
      <p:sp>
        <p:nvSpPr>
          <p:cNvPr id="15" name="">
            <a:extLst xmlns:a="http://schemas.openxmlformats.org/drawingml/2006/main">
              <a:ext uri="{FF2B5EF4-FFF2-40B4-BE49-F238E27FC236}">
                <a16:creationId xmlns:a16="http://schemas.microsoft.com/office/drawing/2014/main" id="{7D3999A8-1D23-42BA-8245-E69BF6B2E28C}"/>
              </a:ext>
            </a:extLst>
          </p:cNvPr>
          <p:cNvSpPr>
            <a:spLocks xmlns:a="http://schemas.openxmlformats.org/drawingml/2006/main" noGrp="1"/>
          </p:cNvSpPr>
          <p:nvPr/>
        </p:nvSpPr>
        <p:spPr>
          <a:xfrm xmlns:a="http://schemas.openxmlformats.org/drawingml/2006/main">
            <a:off x="742950" y="56388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8261"/>
          </a:bodyPr>
          <a:lstStyle xmlns:a="http://schemas.openxmlformats.org/drawingml/2006/main"/>
          <a:p xmlns:a="http://schemas.openxmlformats.org/drawingml/2006/main">
            <a:pPr algn="l">
              <a:lnSpc>
                <a:spcPct val="105000"/>
              </a:lnSpc>
              <a:buNone/>
              <a:defRPr sz="1575" b="1">
                <a:solidFill>
                  <a:srgbClr val="2B7A62"/>
                </a:solidFill>
                <a:latin typeface="Arial"/>
                <a:ea typeface="Arial"/>
                <a:cs typeface="Arial"/>
              </a:defRPr>
            </a:pPr>
            <a:r>
              <a:rPr sz="1575" b="1">
                <a:solidFill>
                  <a:srgbClr val="2B7A62"/>
                </a:solidFill>
                <a:latin typeface="Arial"/>
                <a:ea typeface="Arial"/>
                <a:cs typeface="Arial"/>
              </a:rPr>
              <a:t>Thành công = pipeline tái lập + đánh giá đúng protocol + giới hạn công bố rõ</a:t>
            </a:r>
          </a:p>
        </p:txBody>
      </p:sp>
      <p:sp>
        <p:nvSpPr>
          <p:cNvPr id="16" name="">
            <a:extLst xmlns:a="http://schemas.openxmlformats.org/drawingml/2006/main">
              <a:ext uri="{FF2B5EF4-FFF2-40B4-BE49-F238E27FC236}">
                <a16:creationId xmlns:a16="http://schemas.microsoft.com/office/drawing/2014/main" id="{CE54C3E3-B71C-4FB4-A31C-BE05A1E4859A}"/>
              </a:ext>
            </a:extLst>
          </p:cNvPr>
          <p:cNvSpPr>
            <a:spLocks xmlns:a="http://schemas.openxmlformats.org/drawingml/2006/main" noGrp="1"/>
          </p:cNvSpPr>
          <p:nvPr/>
        </p:nvSpPr>
        <p:spPr>
          <a:xfrm xmlns:a="http://schemas.openxmlformats.org/drawingml/2006/main">
            <a:off x="742950" y="6019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3371"/>
          </a:bodyPr>
          <a:lstStyle xmlns:a="http://schemas.openxmlformats.org/drawingml/2006/main"/>
          <a:p xmlns:a="http://schemas.openxmlformats.org/drawingml/2006/main">
            <a:pPr algn="l">
              <a:lnSpc>
                <a:spcPct val="105000"/>
              </a:lnSpc>
              <a:buNone/>
              <a:defRPr sz="1275" b="0">
                <a:solidFill>
                  <a:srgbClr val="65717D"/>
                </a:solidFill>
                <a:latin typeface="Arial"/>
                <a:ea typeface="Arial"/>
                <a:cs typeface="Arial"/>
              </a:defRPr>
            </a:pPr>
            <a:r>
              <a:rPr sz="1275" b="0">
                <a:solidFill>
                  <a:srgbClr val="65717D"/>
                </a:solidFill>
                <a:latin typeface="Arial"/>
                <a:ea typeface="Arial"/>
                <a:cs typeface="Arial"/>
              </a:rPr>
              <a:t>Lộ trình: bối cảnh → nghiên cứu → nghiệp vụ → giải pháp → thực nghiệm → demo → kết luận</a:t>
            </a:r>
          </a:p>
        </p:txBody>
      </p:sp>
    </p:spTree>
    <p:extLst>
      <p:ext uri="{BB962C8B-B14F-4D97-AF65-F5344CB8AC3E}">
        <p14:creationId xmlns:p14="http://schemas.microsoft.com/office/powerpoint/2010/main" val="15685843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3F7E5A-BD60-4ABE-A011-E139C2F0D1C5}"/>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FEA327-8B2F-4DE0-A602-2962361BFAC6}"/>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NHU CẦU NGHIÊN CỨU</a:t>
            </a:r>
          </a:p>
        </p:txBody>
      </p:sp>
      <p:sp>
        <p:nvSpPr>
          <p:cNvPr id="3" name="">
            <a:extLst xmlns:a="http://schemas.openxmlformats.org/drawingml/2006/main">
              <a:ext uri="{FF2B5EF4-FFF2-40B4-BE49-F238E27FC236}">
                <a16:creationId xmlns:a16="http://schemas.microsoft.com/office/drawing/2014/main" id="{A0787F7B-B7FF-4D90-9913-CA6A78BC4241}"/>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Bối cảnh và khoảng trống nghiên cứu</a:t>
            </a:r>
          </a:p>
        </p:txBody>
      </p:sp>
      <p:sp>
        <p:nvSpPr>
          <p:cNvPr id="4" name="">
            <a:extLst xmlns:a="http://schemas.openxmlformats.org/drawingml/2006/main">
              <a:ext uri="{FF2B5EF4-FFF2-40B4-BE49-F238E27FC236}">
                <a16:creationId xmlns:a16="http://schemas.microsoft.com/office/drawing/2014/main" id="{1E3AE2E9-EB62-43A8-A68F-400B98838EDD}"/>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5DA7F3-A7AA-46A8-B280-FEB9A411A6E2}"/>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78605EEB-E8EB-45F2-9651-E8ACC4B306A4}"/>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909A0286-0D2E-4ABF-9AA9-E916F33C12D0}"/>
              </a:ext>
            </a:extLst>
          </p:cNvPr>
          <p:cNvSpPr>
            <a:spLocks xmlns:a="http://schemas.openxmlformats.org/drawingml/2006/main" noGrp="1"/>
          </p:cNvSpPr>
          <p:nvPr/>
        </p:nvSpPr>
        <p:spPr>
          <a:xfrm xmlns:a="http://schemas.openxmlformats.org/drawingml/2006/main">
            <a:off x="838200" y="161925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4650" b="1">
                <a:solidFill>
                  <a:srgbClr val="14365D"/>
                </a:solidFill>
                <a:latin typeface="Arial"/>
                <a:ea typeface="Arial"/>
                <a:cs typeface="Arial"/>
              </a:defRPr>
            </a:pPr>
            <a:r>
              <a:rPr sz="4650" b="1">
                <a:solidFill>
                  <a:srgbClr val="14365D"/>
                </a:solidFill>
                <a:latin typeface="Arial"/>
                <a:ea typeface="Arial"/>
                <a:cs typeface="Arial"/>
              </a:rPr>
              <a:t>&gt;220.000</a:t>
            </a:r>
          </a:p>
        </p:txBody>
      </p:sp>
      <p:sp>
        <p:nvSpPr>
          <p:cNvPr id="8" name="">
            <a:extLst xmlns:a="http://schemas.openxmlformats.org/drawingml/2006/main">
              <a:ext uri="{FF2B5EF4-FFF2-40B4-BE49-F238E27FC236}">
                <a16:creationId xmlns:a16="http://schemas.microsoft.com/office/drawing/2014/main" id="{4CD79622-FE91-454D-9854-81A076BBC53D}"/>
              </a:ext>
            </a:extLst>
          </p:cNvPr>
          <p:cNvSpPr>
            <a:spLocks xmlns:a="http://schemas.openxmlformats.org/drawingml/2006/main" noGrp="1"/>
          </p:cNvSpPr>
          <p:nvPr/>
        </p:nvSpPr>
        <p:spPr>
          <a:xfrm xmlns:a="http://schemas.openxmlformats.org/drawingml/2006/main">
            <a:off x="857250" y="25717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4062"/>
          </a:bodyPr>
          <a:lstStyle xmlns:a="http://schemas.openxmlformats.org/drawingml/2006/main"/>
          <a:p xmlns:a="http://schemas.openxmlformats.org/drawingml/2006/main">
            <a:pPr algn="l">
              <a:lnSpc>
                <a:spcPct val="105000"/>
              </a:lnSpc>
              <a:buNone/>
              <a:defRPr sz="2025" b="1">
                <a:solidFill>
                  <a:srgbClr val="202A35"/>
                </a:solidFill>
                <a:latin typeface="Arial"/>
                <a:ea typeface="Arial"/>
                <a:cs typeface="Arial"/>
              </a:defRPr>
            </a:pPr>
            <a:r>
              <a:rPr sz="2025" b="1">
                <a:solidFill>
                  <a:srgbClr val="202A35"/>
                </a:solidFill>
                <a:latin typeface="Arial"/>
                <a:ea typeface="Arial"/>
                <a:cs typeface="Arial"/>
              </a:rPr>
              <a:t>báo cáo lừa đảo trực tuyến trong 10 tháng đầu năm 2024</a:t>
            </a:r>
          </a:p>
        </p:txBody>
      </p:sp>
      <p:sp>
        <p:nvSpPr>
          <p:cNvPr id="9" name="">
            <a:extLst xmlns:a="http://schemas.openxmlformats.org/drawingml/2006/main">
              <a:ext uri="{FF2B5EF4-FFF2-40B4-BE49-F238E27FC236}">
                <a16:creationId xmlns:a16="http://schemas.microsoft.com/office/drawing/2014/main" id="{2100B950-9571-49AA-9A79-65B7C96FB1D0}"/>
              </a:ext>
            </a:extLst>
          </p:cNvPr>
          <p:cNvSpPr>
            <a:spLocks xmlns:a="http://schemas.openxmlformats.org/drawingml/2006/main" noGrp="1"/>
          </p:cNvSpPr>
          <p:nvPr/>
        </p:nvSpPr>
        <p:spPr>
          <a:xfrm xmlns:a="http://schemas.openxmlformats.org/drawingml/2006/main">
            <a:off x="6096000" y="1571625"/>
            <a:ext cx="19050" cy="37147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737CAF1-DA90-4066-A8CD-D68274BCBEF5}"/>
              </a:ext>
            </a:extLst>
          </p:cNvPr>
          <p:cNvSpPr>
            <a:spLocks xmlns:a="http://schemas.openxmlformats.org/drawingml/2006/main" noGrp="1"/>
          </p:cNvSpPr>
          <p:nvPr/>
        </p:nvSpPr>
        <p:spPr>
          <a:xfrm xmlns:a="http://schemas.openxmlformats.org/drawingml/2006/main">
            <a:off x="6572250" y="1666875"/>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650">
                <a:solidFill>
                  <a:srgbClr val="202A35"/>
                </a:solidFill>
                <a:latin typeface="Arial"/>
                <a:ea typeface="Arial"/>
                <a:cs typeface="Arial"/>
              </a:defRPr>
            </a:pPr>
            <a:r>
              <a:rPr sz="1650">
                <a:solidFill>
                  <a:srgbClr val="202A35"/>
                </a:solidFill>
                <a:latin typeface="Arial"/>
                <a:ea typeface="Arial"/>
                <a:cs typeface="Arial"/>
              </a:rPr>
              <a:t>Báo cáo người dùng, không phải giao dịch gian lận đã xác nhận</a:t>
            </a:r>
          </a:p>
          <a:p xmlns:a="http://schemas.openxmlformats.org/drawingml/2006/main">
            <a:pPr marL="254000" indent="-114300">
              <a:lnSpc>
                <a:spcPct val="110000"/>
              </a:lnSpc>
              <a:spcAft>
                <a:spcPts val="1000"/>
              </a:spcAft>
              <a:buNone/>
              <a:defRPr sz="1650">
                <a:solidFill>
                  <a:srgbClr val="202A35"/>
                </a:solidFill>
                <a:latin typeface="Arial"/>
                <a:ea typeface="Arial"/>
                <a:cs typeface="Arial"/>
              </a:defRPr>
            </a:pPr>
            <a:r>
              <a:rPr sz="1650">
                <a:solidFill>
                  <a:srgbClr val="202A35"/>
                </a:solidFill>
                <a:latin typeface="Arial"/>
                <a:ea typeface="Arial"/>
                <a:cs typeface="Arial"/>
              </a:rPr>
              <a:t>Số liệu cấp quốc gia, không riêng MB</a:t>
            </a:r>
          </a:p>
          <a:p xmlns:a="http://schemas.openxmlformats.org/drawingml/2006/main">
            <a:pPr marL="254000" indent="-114300">
              <a:lnSpc>
                <a:spcPct val="110000"/>
              </a:lnSpc>
              <a:spcAft>
                <a:spcPts val="1000"/>
              </a:spcAft>
              <a:buNone/>
              <a:defRPr sz="1650">
                <a:solidFill>
                  <a:srgbClr val="202A35"/>
                </a:solidFill>
                <a:latin typeface="Arial"/>
                <a:ea typeface="Arial"/>
                <a:cs typeface="Arial"/>
              </a:defRPr>
            </a:pPr>
            <a:r>
              <a:rPr sz="1650">
                <a:solidFill>
                  <a:srgbClr val="202A35"/>
                </a:solidFill>
                <a:latin typeface="Arial"/>
                <a:ea typeface="Arial"/>
                <a:cs typeface="Arial"/>
              </a:rPr>
              <a:t>Nguồn NHNN đề cập nhóm tín hiệu như thời gian, vị trí, tần suất, số tiền và đăng nhập sai</a:t>
            </a:r>
          </a:p>
          <a:p xmlns:a="http://schemas.openxmlformats.org/drawingml/2006/main">
            <a:pPr marL="254000" indent="-114300">
              <a:lnSpc>
                <a:spcPct val="110000"/>
              </a:lnSpc>
              <a:spcAft>
                <a:spcPts val="1000"/>
              </a:spcAft>
              <a:buNone/>
              <a:defRPr sz="1650">
                <a:solidFill>
                  <a:srgbClr val="202A35"/>
                </a:solidFill>
                <a:latin typeface="Arial"/>
                <a:ea typeface="Arial"/>
                <a:cs typeface="Arial"/>
              </a:defRPr>
            </a:pPr>
            <a:r>
              <a:rPr sz="1650">
                <a:solidFill>
                  <a:srgbClr val="202A35"/>
                </a:solidFill>
                <a:latin typeface="Arial"/>
                <a:ea typeface="Arial"/>
                <a:cs typeface="Arial"/>
              </a:rPr>
              <a:t>Dữ liệu PoC không lấy từ các nguồn này</a:t>
            </a:r>
          </a:p>
        </p:txBody>
      </p:sp>
      <p:sp>
        <p:nvSpPr>
          <p:cNvPr id="11" name="">
            <a:extLst xmlns:a="http://schemas.openxmlformats.org/drawingml/2006/main">
              <a:ext uri="{FF2B5EF4-FFF2-40B4-BE49-F238E27FC236}">
                <a16:creationId xmlns:a16="http://schemas.microsoft.com/office/drawing/2014/main" id="{208A7AD2-0B39-4105-ADC8-0AAC7F048F30}"/>
              </a:ext>
            </a:extLst>
          </p:cNvPr>
          <p:cNvSpPr>
            <a:spLocks xmlns:a="http://schemas.openxmlformats.org/drawingml/2006/main" noGrp="1"/>
          </p:cNvSpPr>
          <p:nvPr/>
        </p:nvSpPr>
        <p:spPr>
          <a:xfrm xmlns:a="http://schemas.openxmlformats.org/drawingml/2006/main">
            <a:off x="857250" y="5410200"/>
            <a:ext cx="10477500" cy="590550"/>
          </a:xfrm>
          <a:prstGeom xmlns:a="http://schemas.openxmlformats.org/drawingml/2006/main" prst="roundRect">
            <a:avLst>
              <a:gd name="adj" fmla="val 12903"/>
            </a:avLst>
          </a:prstGeom>
          <a:solidFill xmlns:a="http://schemas.openxmlformats.org/drawingml/2006/main">
            <a:srgbClr val="FDEEE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CA62B0F-3BA0-4B60-AC16-95800D8434D5}"/>
              </a:ext>
            </a:extLst>
          </p:cNvPr>
          <p:cNvSpPr>
            <a:spLocks xmlns:a="http://schemas.openxmlformats.org/drawingml/2006/main" noGrp="1"/>
          </p:cNvSpPr>
          <p:nvPr/>
        </p:nvSpPr>
        <p:spPr>
          <a:xfrm xmlns:a="http://schemas.openxmlformats.org/drawingml/2006/main">
            <a:off x="1028700" y="551497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575" b="1">
                <a:solidFill>
                  <a:srgbClr val="C84646"/>
                </a:solidFill>
                <a:latin typeface="Arial"/>
                <a:ea typeface="Arial"/>
                <a:cs typeface="Arial"/>
              </a:defRPr>
            </a:pPr>
            <a:r>
              <a:rPr sz="1575" b="1">
                <a:solidFill>
                  <a:srgbClr val="C84646"/>
                </a:solidFill>
                <a:latin typeface="Arial"/>
                <a:ea typeface="Arial"/>
                <a:cs typeface="Arial"/>
              </a:rPr>
              <a:t>Không suy rộng số báo cáo thành tỷ lệ gian lận hay hiệu quả của mô hình tại MB.</a:t>
            </a:r>
          </a:p>
        </p:txBody>
      </p:sp>
      <p:sp>
        <p:nvSpPr>
          <p:cNvPr id="13" name="">
            <a:extLst xmlns:a="http://schemas.openxmlformats.org/drawingml/2006/main">
              <a:ext uri="{FF2B5EF4-FFF2-40B4-BE49-F238E27FC236}">
                <a16:creationId xmlns:a16="http://schemas.microsoft.com/office/drawing/2014/main" id="{9E0C0B4F-B450-4605-BEE3-B1F49EF0515C}"/>
              </a:ext>
            </a:extLst>
          </p:cNvPr>
          <p:cNvSpPr>
            <a:spLocks xmlns:a="http://schemas.openxmlformats.org/drawingml/2006/main" noGrp="1"/>
          </p:cNvSpPr>
          <p:nvPr/>
        </p:nvSpPr>
        <p:spPr>
          <a:xfrm xmlns:a="http://schemas.openxmlformats.org/drawingml/2006/main">
            <a:off x="838200" y="6134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4656"/>
          </a:bodyPr>
          <a:lstStyle xmlns:a="http://schemas.openxmlformats.org/drawingml/2006/main"/>
          <a:p xmlns:a="http://schemas.openxmlformats.org/drawingml/2006/main">
            <a:pPr algn="l">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Nguồn: Bộ TT&amp;TT được dẫn lại trên cổng Bộ KH&amp;CN (2024); NHNN (n.d.)</a:t>
            </a:r>
          </a:p>
        </p:txBody>
      </p:sp>
    </p:spTree>
    <p:extLst>
      <p:ext uri="{BB962C8B-B14F-4D97-AF65-F5344CB8AC3E}">
        <p14:creationId xmlns:p14="http://schemas.microsoft.com/office/powerpoint/2010/main" val="12451350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B95C0B-E894-4144-81CC-59EADE0EEF69}"/>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73767F-6047-4D78-B934-7EA4154CFFE7}"/>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TỔNG QUAN NGHIÊN CỨU</a:t>
            </a:r>
          </a:p>
        </p:txBody>
      </p:sp>
      <p:sp>
        <p:nvSpPr>
          <p:cNvPr id="3" name="">
            <a:extLst xmlns:a="http://schemas.openxmlformats.org/drawingml/2006/main">
              <a:ext uri="{FF2B5EF4-FFF2-40B4-BE49-F238E27FC236}">
                <a16:creationId xmlns:a16="http://schemas.microsoft.com/office/drawing/2014/main" id="{65D8E512-CD97-40F3-AA78-CB0272D8744C}"/>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Nghiên cứu liên quan và bài học áp dụng</a:t>
            </a:r>
          </a:p>
        </p:txBody>
      </p:sp>
      <p:sp>
        <p:nvSpPr>
          <p:cNvPr id="4" name="">
            <a:extLst xmlns:a="http://schemas.openxmlformats.org/drawingml/2006/main">
              <a:ext uri="{FF2B5EF4-FFF2-40B4-BE49-F238E27FC236}">
                <a16:creationId xmlns:a16="http://schemas.microsoft.com/office/drawing/2014/main" id="{A083DE75-925E-4989-89C9-A38C5D677273}"/>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3D3658-8667-438B-B197-270A953979A3}"/>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9B3CF57C-30A6-4EEF-8092-454532404B27}"/>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4</a:t>
            </a:r>
          </a:p>
        </p:txBody>
      </p:sp>
      <p:graphicFrame>
        <p:nvGraphicFramePr>
          <p:cNvPr id="17" name=""/>
          <p:cNvGraphicFramePr/>
          <p:nvPr/>
        </p:nvGraphicFramePr>
        <p:xfrm>
          <a:off xmlns:a="http://schemas.openxmlformats.org/drawingml/2006/main" x="723900" y="1495425"/>
          <a:ext xmlns:a="http://schemas.openxmlformats.org/drawingml/2006/main" cx="10744200" cy="3276600"/>
        </p:xfrm>
        <a:graphic xmlns:a="http://schemas.openxmlformats.org/drawingml/2006/main">
          <a:graphicData uri="http://schemas.openxmlformats.org/drawingml/2006/table">
            <a:tbl>
              <a:tblPr firstRow="1" bandRow="1"/>
              <a:tblGrid>
                <a:gridCol w="2714625"/>
                <a:gridCol w="4191000"/>
                <a:gridCol w="3838575"/>
              </a:tblGrid>
              <a:tr h="819150">
                <a:tc>
                  <a:txBody>
                    <a:bodyPr>
                      <a:normAutofit/>
                    </a:bodyPr>
                    <a:lstStyle/>
                    <a:p>
                      <a:pPr algn="ctr"/>
                      <a:r>
                        <a:rPr sz="1350" b="1">
                          <a:solidFill>
                            <a:srgbClr val="FFFFFF"/>
                          </a:solidFill>
                          <a:latin typeface="Arial"/>
                          <a:ea typeface="Arial"/>
                          <a:cs typeface="Arial"/>
                        </a:rPr>
                        <a:t>Nguồn / trường hợp</a:t>
                      </a:r>
                    </a:p>
                  </a:txBody>
                  <a:tcPr marL="91440" marR="91440" marT="45720" marB="45720" anchor="ctr">
                    <a:solidFill>
                      <a:srgbClr val="14365D"/>
                    </a:solidFill>
                  </a:tcPr>
                </a:tc>
                <a:tc>
                  <a:txBody>
                    <a:bodyPr>
                      <a:normAutofit/>
                    </a:bodyPr>
                    <a:lstStyle/>
                    <a:p>
                      <a:pPr algn="ctr"/>
                      <a:r>
                        <a:rPr sz="1350" b="1">
                          <a:solidFill>
                            <a:srgbClr val="FFFFFF"/>
                          </a:solidFill>
                          <a:latin typeface="Arial"/>
                          <a:ea typeface="Arial"/>
                          <a:cs typeface="Arial"/>
                        </a:rPr>
                        <a:t>Bài học rút ra</a:t>
                      </a:r>
                    </a:p>
                  </a:txBody>
                  <a:tcPr marL="91440" marR="91440" marT="45720" marB="45720" anchor="ctr">
                    <a:solidFill>
                      <a:srgbClr val="14365D"/>
                    </a:solidFill>
                  </a:tcPr>
                </a:tc>
                <a:tc>
                  <a:txBody>
                    <a:bodyPr>
                      <a:normAutofit/>
                    </a:bodyPr>
                    <a:lstStyle/>
                    <a:p>
                      <a:pPr algn="ctr"/>
                      <a:r>
                        <a:rPr sz="1350" b="1">
                          <a:solidFill>
                            <a:srgbClr val="FFFFFF"/>
                          </a:solidFill>
                          <a:latin typeface="Arial"/>
                          <a:ea typeface="Arial"/>
                          <a:cs typeface="Arial"/>
                        </a:rPr>
                        <a:t>Giới hạn khi áp dụng vào đề tài</a:t>
                      </a:r>
                    </a:p>
                  </a:txBody>
                  <a:tcPr marL="91440" marR="91440" marT="45720" marB="45720" anchor="ctr">
                    <a:solidFill>
                      <a:srgbClr val="14365D"/>
                    </a:solidFill>
                  </a:tcPr>
                </a:tc>
              </a:tr>
              <a:tr h="819150">
                <a:tc>
                  <a:txBody>
                    <a:bodyPr>
                      <a:normAutofit/>
                    </a:bodyPr>
                    <a:lstStyle/>
                    <a:p>
                      <a:pPr algn="ctr"/>
                      <a:r>
                        <a:rPr sz="1350" b="0">
                          <a:solidFill>
                            <a:srgbClr val="202A35"/>
                          </a:solidFill>
                          <a:latin typeface="Arial"/>
                          <a:ea typeface="Arial"/>
                          <a:cs typeface="Arial"/>
                        </a:rPr>
                        <a:t>Dal Pozzolo et al. (2014, 2018)</a:t>
                      </a:r>
                    </a:p>
                    <a:p>
                      <a:pPr algn="ctr"/>
                      <a:r>
                        <a:rPr sz="1350" b="0">
                          <a:solidFill>
                            <a:srgbClr val="202A35"/>
                          </a:solidFill>
                          <a:latin typeface="Arial"/>
                          <a:ea typeface="Arial"/>
                          <a:cs typeface="Arial"/>
                        </a:rPr>
                        <a:t>Fraud detection từ dữ liệu giao dịch</a:t>
                      </a:r>
                    </a:p>
                  </a:txBody>
                  <a:tcPr marL="91440" marR="91440" marT="45720" marB="45720" anchor="ctr">
                    <a:solidFill>
                      <a:srgbClr val="FFFFFF"/>
                    </a:solidFill>
                  </a:tcPr>
                </a:tc>
                <a:tc>
                  <a:txBody>
                    <a:bodyPr>
                      <a:normAutofit/>
                    </a:bodyPr>
                    <a:lstStyle/>
                    <a:p>
                      <a:pPr algn="ctr"/>
                      <a:r>
                        <a:rPr sz="1350" b="0">
                          <a:solidFill>
                            <a:srgbClr val="202A35"/>
                          </a:solidFill>
                          <a:latin typeface="Arial"/>
                          <a:ea typeface="Arial"/>
                          <a:cs typeface="Arial"/>
                        </a:rPr>
                        <a:t>Mất cân bằng, drift và nhãn xác nhận trễ cần được tính đến trong đánh giá.</a:t>
                      </a:r>
                    </a:p>
                  </a:txBody>
                  <a:tcPr marL="91440" marR="91440" marT="45720" marB="45720" anchor="ctr">
                    <a:solidFill>
                      <a:srgbClr val="FFFFFF"/>
                    </a:solidFill>
                  </a:tcPr>
                </a:tc>
                <a:tc>
                  <a:txBody>
                    <a:bodyPr>
                      <a:normAutofit/>
                    </a:bodyPr>
                    <a:lstStyle/>
                    <a:p>
                      <a:pPr algn="ctr"/>
                      <a:r>
                        <a:rPr sz="1350" b="0">
                          <a:solidFill>
                            <a:srgbClr val="202A35"/>
                          </a:solidFill>
                          <a:latin typeface="Arial"/>
                          <a:ea typeface="Arial"/>
                          <a:cs typeface="Arial"/>
                        </a:rPr>
                        <a:t>Dữ liệu và tổ chức nghiên cứu khác MB; PoC chưa kiểm tra drift.</a:t>
                      </a:r>
                    </a:p>
                  </a:txBody>
                  <a:tcPr marL="91440" marR="91440" marT="45720" marB="45720" anchor="ctr">
                    <a:solidFill>
                      <a:srgbClr val="FFFFFF"/>
                    </a:solidFill>
                  </a:tcPr>
                </a:tc>
              </a:tr>
              <a:tr h="819150">
                <a:tc>
                  <a:txBody>
                    <a:bodyPr>
                      <a:normAutofit/>
                    </a:bodyPr>
                    <a:lstStyle/>
                    <a:p>
                      <a:pPr algn="ctr"/>
                      <a:r>
                        <a:rPr sz="1350" b="0">
                          <a:solidFill>
                            <a:srgbClr val="202A35"/>
                          </a:solidFill>
                          <a:latin typeface="Arial"/>
                          <a:ea typeface="Arial"/>
                          <a:cs typeface="Arial"/>
                        </a:rPr>
                        <a:t>PaySim (Lopez-Rojas et al., 2016)</a:t>
                      </a:r>
                    </a:p>
                    <a:p>
                      <a:pPr algn="ctr"/>
                      <a:r>
                        <a:rPr sz="1350" b="0">
                          <a:solidFill>
                            <a:srgbClr val="202A35"/>
                          </a:solidFill>
                          <a:latin typeface="Arial"/>
                          <a:ea typeface="Arial"/>
                          <a:cs typeface="Arial"/>
                        </a:rPr>
                        <a:t>Mô phỏng mobile money</a:t>
                      </a:r>
                    </a:p>
                  </a:txBody>
                  <a:tcPr marL="91440" marR="91440" marT="45720" marB="45720" anchor="ctr">
                    <a:solidFill>
                      <a:srgbClr val="EAF1F8"/>
                    </a:solidFill>
                  </a:tcPr>
                </a:tc>
                <a:tc>
                  <a:txBody>
                    <a:bodyPr>
                      <a:normAutofit/>
                    </a:bodyPr>
                    <a:lstStyle/>
                    <a:p>
                      <a:pPr algn="ctr"/>
                      <a:r>
                        <a:rPr sz="1350" b="0">
                          <a:solidFill>
                            <a:srgbClr val="202A35"/>
                          </a:solidFill>
                          <a:latin typeface="Arial"/>
                          <a:ea typeface="Arial"/>
                          <a:cs typeface="Arial"/>
                        </a:rPr>
                        <a:t>Simulator giúp thử nghiệm phương pháp khi dữ liệu tài chính thật khó chia sẻ.</a:t>
                      </a:r>
                    </a:p>
                  </a:txBody>
                  <a:tcPr marL="91440" marR="91440" marT="45720" marB="45720" anchor="ctr">
                    <a:solidFill>
                      <a:srgbClr val="EAF1F8"/>
                    </a:solidFill>
                  </a:tcPr>
                </a:tc>
                <a:tc>
                  <a:txBody>
                    <a:bodyPr>
                      <a:normAutofit/>
                    </a:bodyPr>
                    <a:lstStyle/>
                    <a:p>
                      <a:pPr algn="ctr"/>
                      <a:r>
                        <a:rPr sz="1350" b="0">
                          <a:solidFill>
                            <a:srgbClr val="202A35"/>
                          </a:solidFill>
                          <a:latin typeface="Arial"/>
                          <a:ea typeface="Arial"/>
                          <a:cs typeface="Arial"/>
                        </a:rPr>
                        <a:t>Dữ liệu tổng hợp không thay thế luồng giao dịch/nhãn thật.</a:t>
                      </a:r>
                    </a:p>
                  </a:txBody>
                  <a:tcPr marL="91440" marR="91440" marT="45720" marB="45720" anchor="ctr">
                    <a:solidFill>
                      <a:srgbClr val="EAF1F8"/>
                    </a:solidFill>
                  </a:tcPr>
                </a:tc>
              </a:tr>
              <a:tr h="819150">
                <a:tc>
                  <a:txBody>
                    <a:bodyPr>
                      <a:normAutofit/>
                    </a:bodyPr>
                    <a:lstStyle/>
                    <a:p>
                      <a:pPr algn="ctr"/>
                      <a:r>
                        <a:rPr sz="1350" b="0">
                          <a:solidFill>
                            <a:srgbClr val="202A35"/>
                          </a:solidFill>
                          <a:latin typeface="Arial"/>
                          <a:ea typeface="Arial"/>
                          <a:cs typeface="Arial"/>
                        </a:rPr>
                        <a:t>ECB/EBA (2025)</a:t>
                      </a:r>
                    </a:p>
                    <a:p>
                      <a:pPr algn="ctr"/>
                      <a:r>
                        <a:rPr sz="1350" b="0">
                          <a:solidFill>
                            <a:srgbClr val="202A35"/>
                          </a:solidFill>
                          <a:latin typeface="Arial"/>
                          <a:ea typeface="Arial"/>
                          <a:cs typeface="Arial"/>
                        </a:rPr>
                        <a:t>Báo cáo gian lận thanh toán EEA</a:t>
                      </a:r>
                    </a:p>
                  </a:txBody>
                  <a:tcPr marL="91440" marR="91440" marT="45720" marB="45720" anchor="ctr">
                    <a:solidFill>
                      <a:srgbClr val="FFFFFF"/>
                    </a:solidFill>
                  </a:tcPr>
                </a:tc>
                <a:tc>
                  <a:txBody>
                    <a:bodyPr>
                      <a:normAutofit/>
                    </a:bodyPr>
                    <a:lstStyle/>
                    <a:p>
                      <a:pPr algn="ctr"/>
                      <a:r>
                        <a:rPr sz="1350" b="0">
                          <a:solidFill>
                            <a:srgbClr val="202A35"/>
                          </a:solidFill>
                          <a:latin typeface="Arial"/>
                          <a:ea typeface="Arial"/>
                          <a:cs typeface="Arial"/>
                        </a:rPr>
                        <a:t>Xác thực mạnh hữu ích với một số loại gian lận; thao túng người trả tiền vẫn là thách thức.</a:t>
                      </a:r>
                    </a:p>
                  </a:txBody>
                  <a:tcPr marL="91440" marR="91440" marT="45720" marB="45720" anchor="ctr">
                    <a:solidFill>
                      <a:srgbClr val="FFFFFF"/>
                    </a:solidFill>
                  </a:tcPr>
                </a:tc>
                <a:tc>
                  <a:txBody>
                    <a:bodyPr>
                      <a:normAutofit/>
                    </a:bodyPr>
                    <a:lstStyle/>
                    <a:p>
                      <a:pPr algn="ctr"/>
                      <a:r>
                        <a:rPr sz="1350" b="0">
                          <a:solidFill>
                            <a:srgbClr val="202A35"/>
                          </a:solidFill>
                          <a:latin typeface="Arial"/>
                          <a:ea typeface="Arial"/>
                          <a:cs typeface="Arial"/>
                        </a:rPr>
                        <a:t>Phạm vi EEA, không suy rộng số liệu hay chính sách sang Việt Nam.</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70D546B-E421-4185-AFC4-BEE3A1678A51}"/>
              </a:ext>
            </a:extLst>
          </p:cNvPr>
          <p:cNvSpPr>
            <a:spLocks xmlns:a="http://schemas.openxmlformats.org/drawingml/2006/main" noGrp="1"/>
          </p:cNvSpPr>
          <p:nvPr/>
        </p:nvSpPr>
        <p:spPr>
          <a:xfrm xmlns:a="http://schemas.openxmlformats.org/drawingml/2006/main">
            <a:off x="781050" y="5114925"/>
            <a:ext cx="10620375" cy="628650"/>
          </a:xfrm>
          <a:prstGeom xmlns:a="http://schemas.openxmlformats.org/drawingml/2006/main" prst="roundRect">
            <a:avLst>
              <a:gd name="adj" fmla="val 12121"/>
            </a:avLst>
          </a:prstGeom>
          <a:solidFill xmlns:a="http://schemas.openxmlformats.org/drawingml/2006/main">
            <a:srgbClr val="FFF4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1A1484-5103-4ED1-B7A7-4388FBF71C59}"/>
              </a:ext>
            </a:extLst>
          </p:cNvPr>
          <p:cNvSpPr>
            <a:spLocks xmlns:a="http://schemas.openxmlformats.org/drawingml/2006/main" noGrp="1"/>
          </p:cNvSpPr>
          <p:nvPr/>
        </p:nvSpPr>
        <p:spPr>
          <a:xfrm xmlns:a="http://schemas.openxmlformats.org/drawingml/2006/main">
            <a:off x="962025" y="521970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7447"/>
          </a:bodyPr>
          <a:lstStyle xmlns:a="http://schemas.openxmlformats.org/drawingml/2006/main"/>
          <a:p xmlns:a="http://schemas.openxmlformats.org/drawingml/2006/main">
            <a:pPr algn="ctr">
              <a:lnSpc>
                <a:spcPct val="105000"/>
              </a:lnSpc>
              <a:buNone/>
              <a:defRPr sz="1500" b="1">
                <a:solidFill>
                  <a:srgbClr val="202A35"/>
                </a:solidFill>
                <a:latin typeface="Arial"/>
                <a:ea typeface="Arial"/>
                <a:cs typeface="Arial"/>
              </a:defRPr>
            </a:pPr>
            <a:r>
              <a:rPr sz="1500" b="1">
                <a:solidFill>
                  <a:srgbClr val="202A35"/>
                </a:solidFill>
                <a:latin typeface="Arial"/>
                <a:ea typeface="Arial"/>
                <a:cs typeface="Arial"/>
              </a:rPr>
              <a:t>Bài học: mô hình là một lớp hỗ trợ trong kiểm soát đa tầng; cần nhãn thật, dữ liệu theo thời gian và quy trình xử lý.</a:t>
            </a:r>
          </a:p>
        </p:txBody>
      </p:sp>
      <p:sp>
        <p:nvSpPr>
          <p:cNvPr id="10" name="">
            <a:extLst xmlns:a="http://schemas.openxmlformats.org/drawingml/2006/main">
              <a:ext uri="{FF2B5EF4-FFF2-40B4-BE49-F238E27FC236}">
                <a16:creationId xmlns:a16="http://schemas.microsoft.com/office/drawing/2014/main" id="{25818B7D-80B0-4033-8A5E-B1B938C1D8CB}"/>
              </a:ext>
            </a:extLst>
          </p:cNvPr>
          <p:cNvSpPr>
            <a:spLocks xmlns:a="http://schemas.openxmlformats.org/drawingml/2006/main" noGrp="1"/>
          </p:cNvSpPr>
          <p:nvPr/>
        </p:nvSpPr>
        <p:spPr>
          <a:xfrm xmlns:a="http://schemas.openxmlformats.org/drawingml/2006/main">
            <a:off x="781050" y="593407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Nguồn: Dal Pozzolo et al. (2014, 2018); Lopez-Rojas et al. (2016); ECB/EBA (2025)</a:t>
            </a:r>
          </a:p>
        </p:txBody>
      </p:sp>
    </p:spTree>
    <p:extLst>
      <p:ext uri="{BB962C8B-B14F-4D97-AF65-F5344CB8AC3E}">
        <p14:creationId xmlns:p14="http://schemas.microsoft.com/office/powerpoint/2010/main" val="21297328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02A1D4-A876-447F-BBF4-D03D34E4F740}"/>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225AD3-CDA4-4276-BC73-136F87264D3C}"/>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PHÂN TÍCH NGHIỆP VỤ</a:t>
            </a:r>
          </a:p>
        </p:txBody>
      </p:sp>
      <p:sp>
        <p:nvSpPr>
          <p:cNvPr id="3" name="">
            <a:extLst xmlns:a="http://schemas.openxmlformats.org/drawingml/2006/main">
              <a:ext uri="{FF2B5EF4-FFF2-40B4-BE49-F238E27FC236}">
                <a16:creationId xmlns:a16="http://schemas.microsoft.com/office/drawing/2014/main" id="{0BD5F168-D73F-4E76-8A55-B126BF918606}"/>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Các bên liên quan và nhu cầu cần giải quyết</a:t>
            </a:r>
          </a:p>
        </p:txBody>
      </p:sp>
      <p:sp>
        <p:nvSpPr>
          <p:cNvPr id="4" name="">
            <a:extLst xmlns:a="http://schemas.openxmlformats.org/drawingml/2006/main">
              <a:ext uri="{FF2B5EF4-FFF2-40B4-BE49-F238E27FC236}">
                <a16:creationId xmlns:a16="http://schemas.microsoft.com/office/drawing/2014/main" id="{05A32D5A-226B-4C26-A30F-8FA68FE6AFEA}"/>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CB14A4-CBD6-4149-8935-B4E332E03AF8}"/>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B2DE6628-7CB6-4206-BEB1-7A8ECA6B57AA}"/>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5</a:t>
            </a:r>
          </a:p>
        </p:txBody>
      </p:sp>
      <p:graphicFrame>
        <p:nvGraphicFramePr>
          <p:cNvPr id="15" name=""/>
          <p:cNvGraphicFramePr/>
          <p:nvPr/>
        </p:nvGraphicFramePr>
        <p:xfrm>
          <a:off xmlns:a="http://schemas.openxmlformats.org/drawingml/2006/main" x="714375" y="1495425"/>
          <a:ext xmlns:a="http://schemas.openxmlformats.org/drawingml/2006/main" cx="10763250" cy="4143375"/>
        </p:xfrm>
        <a:graphic xmlns:a="http://schemas.openxmlformats.org/drawingml/2006/main">
          <a:graphicData uri="http://schemas.openxmlformats.org/drawingml/2006/table">
            <a:tbl>
              <a:tblPr firstRow="1" bandRow="1"/>
              <a:tblGrid>
                <a:gridCol w="2047875"/>
                <a:gridCol w="4143375"/>
                <a:gridCol w="4572000"/>
              </a:tblGrid>
              <a:tr h="690563">
                <a:tc>
                  <a:txBody>
                    <a:bodyPr>
                      <a:normAutofit/>
                    </a:bodyPr>
                    <a:lstStyle/>
                    <a:p>
                      <a:pPr algn="ctr"/>
                      <a:r>
                        <a:rPr sz="1425" b="1">
                          <a:solidFill>
                            <a:srgbClr val="FFFFFF"/>
                          </a:solidFill>
                          <a:latin typeface="Arial"/>
                          <a:ea typeface="Arial"/>
                          <a:cs typeface="Arial"/>
                        </a:rPr>
                        <a:t>Vai trò</a:t>
                      </a:r>
                    </a:p>
                  </a:txBody>
                  <a:tcPr marL="91440" marR="91440" marT="45720" marB="45720" anchor="ctr">
                    <a:solidFill>
                      <a:srgbClr val="14365D"/>
                    </a:solidFill>
                  </a:tcPr>
                </a:tc>
                <a:tc>
                  <a:txBody>
                    <a:bodyPr>
                      <a:normAutofit/>
                    </a:bodyPr>
                    <a:lstStyle/>
                    <a:p>
                      <a:pPr algn="ctr"/>
                      <a:r>
                        <a:rPr sz="1425" b="1">
                          <a:solidFill>
                            <a:srgbClr val="FFFFFF"/>
                          </a:solidFill>
                          <a:latin typeface="Arial"/>
                          <a:ea typeface="Arial"/>
                          <a:cs typeface="Arial"/>
                        </a:rPr>
                        <a:t>Câu hỏi nghiệp vụ</a:t>
                      </a:r>
                    </a:p>
                  </a:txBody>
                  <a:tcPr marL="91440" marR="91440" marT="45720" marB="45720" anchor="ctr">
                    <a:solidFill>
                      <a:srgbClr val="14365D"/>
                    </a:solidFill>
                  </a:tcPr>
                </a:tc>
                <a:tc>
                  <a:txBody>
                    <a:bodyPr>
                      <a:normAutofit/>
                    </a:bodyPr>
                    <a:lstStyle/>
                    <a:p>
                      <a:pPr algn="ctr"/>
                      <a:r>
                        <a:rPr sz="1425" b="1">
                          <a:solidFill>
                            <a:srgbClr val="FFFFFF"/>
                          </a:solidFill>
                          <a:latin typeface="Arial"/>
                          <a:ea typeface="Arial"/>
                          <a:cs typeface="Arial"/>
                        </a:rPr>
                        <a:t>Nhu cầu của PoC</a:t>
                      </a:r>
                    </a:p>
                  </a:txBody>
                  <a:tcPr marL="91440" marR="91440" marT="45720" marB="45720" anchor="ctr">
                    <a:solidFill>
                      <a:srgbClr val="14365D"/>
                    </a:solidFill>
                  </a:tcPr>
                </a:tc>
              </a:tr>
              <a:tr h="690563">
                <a:tc>
                  <a:txBody>
                    <a:bodyPr>
                      <a:normAutofit/>
                    </a:bodyPr>
                    <a:lstStyle/>
                    <a:p>
                      <a:pPr algn="ctr"/>
                      <a:r>
                        <a:rPr sz="1425" b="0">
                          <a:solidFill>
                            <a:srgbClr val="202A35"/>
                          </a:solidFill>
                          <a:latin typeface="Arial"/>
                          <a:ea typeface="Arial"/>
                          <a:cs typeface="Arial"/>
                        </a:rPr>
                        <a:t>Chủ quy trình</a:t>
                      </a:r>
                    </a:p>
                  </a:txBody>
                  <a:tcPr marL="91440" marR="91440" marT="45720" marB="45720" anchor="ctr">
                    <a:solidFill>
                      <a:srgbClr val="FFFFFF"/>
                    </a:solidFill>
                  </a:tcPr>
                </a:tc>
                <a:tc>
                  <a:txBody>
                    <a:bodyPr>
                      <a:normAutofit/>
                    </a:bodyPr>
                    <a:lstStyle/>
                    <a:p>
                      <a:pPr algn="ctr"/>
                      <a:r>
                        <a:rPr sz="1425" b="0">
                          <a:solidFill>
                            <a:srgbClr val="202A35"/>
                          </a:solidFill>
                          <a:latin typeface="Arial"/>
                          <a:ea typeface="Arial"/>
                          <a:cs typeface="Arial"/>
                        </a:rPr>
                        <a:t>Khi nào cần xác thực/đưa người xem xét?</a:t>
                      </a:r>
                    </a:p>
                  </a:txBody>
                  <a:tcPr marL="91440" marR="91440" marT="45720" marB="45720" anchor="ctr">
                    <a:solidFill>
                      <a:srgbClr val="FFFFFF"/>
                    </a:solidFill>
                  </a:tcPr>
                </a:tc>
                <a:tc>
                  <a:txBody>
                    <a:bodyPr>
                      <a:normAutofit/>
                    </a:bodyPr>
                    <a:lstStyle/>
                    <a:p>
                      <a:pPr algn="ctr"/>
                      <a:r>
                        <a:rPr sz="1425" b="0">
                          <a:solidFill>
                            <a:srgbClr val="202A35"/>
                          </a:solidFill>
                          <a:latin typeface="Arial"/>
                          <a:ea typeface="Arial"/>
                          <a:cs typeface="Arial"/>
                        </a:rPr>
                        <a:t>Policy là giả định, cần chủ quy trình xác nhận</a:t>
                      </a:r>
                    </a:p>
                  </a:txBody>
                  <a:tcPr marL="91440" marR="91440" marT="45720" marB="45720" anchor="ctr">
                    <a:solidFill>
                      <a:srgbClr val="FFFFFF"/>
                    </a:solidFill>
                  </a:tcPr>
                </a:tc>
              </a:tr>
              <a:tr h="690563">
                <a:tc>
                  <a:txBody>
                    <a:bodyPr>
                      <a:normAutofit/>
                    </a:bodyPr>
                    <a:lstStyle/>
                    <a:p>
                      <a:pPr algn="ctr"/>
                      <a:r>
                        <a:rPr sz="1425" b="0">
                          <a:solidFill>
                            <a:srgbClr val="202A35"/>
                          </a:solidFill>
                          <a:latin typeface="Arial"/>
                          <a:ea typeface="Arial"/>
                          <a:cs typeface="Arial"/>
                        </a:rPr>
                        <a:t>Chuyên viên chống gian lận</a:t>
                      </a:r>
                    </a:p>
                  </a:txBody>
                  <a:tcPr marL="91440" marR="91440" marT="45720" marB="45720" anchor="ctr">
                    <a:solidFill>
                      <a:srgbClr val="EAF1F8"/>
                    </a:solidFill>
                  </a:tcPr>
                </a:tc>
                <a:tc>
                  <a:txBody>
                    <a:bodyPr>
                      <a:normAutofit/>
                    </a:bodyPr>
                    <a:lstStyle/>
                    <a:p>
                      <a:pPr algn="ctr"/>
                      <a:r>
                        <a:rPr sz="1425" b="0">
                          <a:solidFill>
                            <a:srgbClr val="202A35"/>
                          </a:solidFill>
                          <a:latin typeface="Arial"/>
                          <a:ea typeface="Arial"/>
                          <a:cs typeface="Arial"/>
                        </a:rPr>
                        <a:t>Cảnh báo nào đáng xử lý trước?</a:t>
                      </a:r>
                    </a:p>
                  </a:txBody>
                  <a:tcPr marL="91440" marR="91440" marT="45720" marB="45720" anchor="ctr">
                    <a:solidFill>
                      <a:srgbClr val="EAF1F8"/>
                    </a:solidFill>
                  </a:tcPr>
                </a:tc>
                <a:tc>
                  <a:txBody>
                    <a:bodyPr>
                      <a:normAutofit/>
                    </a:bodyPr>
                    <a:lstStyle/>
                    <a:p>
                      <a:pPr algn="ctr"/>
                      <a:r>
                        <a:rPr sz="1425" b="0">
                          <a:solidFill>
                            <a:srgbClr val="202A35"/>
                          </a:solidFill>
                          <a:latin typeface="Arial"/>
                          <a:ea typeface="Arial"/>
                          <a:cs typeface="Arial"/>
                        </a:rPr>
                        <a:t>Score, lý do mô hình, lịch sử</a:t>
                      </a:r>
                    </a:p>
                  </a:txBody>
                  <a:tcPr marL="91440" marR="91440" marT="45720" marB="45720" anchor="ctr">
                    <a:solidFill>
                      <a:srgbClr val="EAF1F8"/>
                    </a:solidFill>
                  </a:tcPr>
                </a:tc>
              </a:tr>
              <a:tr h="690563">
                <a:tc>
                  <a:txBody>
                    <a:bodyPr>
                      <a:normAutofit/>
                    </a:bodyPr>
                    <a:lstStyle/>
                    <a:p>
                      <a:pPr algn="ctr"/>
                      <a:r>
                        <a:rPr sz="1425" b="0">
                          <a:solidFill>
                            <a:srgbClr val="202A35"/>
                          </a:solidFill>
                          <a:latin typeface="Arial"/>
                          <a:ea typeface="Arial"/>
                          <a:cs typeface="Arial"/>
                        </a:rPr>
                        <a:t>Khách hàng</a:t>
                      </a:r>
                    </a:p>
                  </a:txBody>
                  <a:tcPr marL="91440" marR="91440" marT="45720" marB="45720" anchor="ctr">
                    <a:solidFill>
                      <a:srgbClr val="FFFFFF"/>
                    </a:solidFill>
                  </a:tcPr>
                </a:tc>
                <a:tc>
                  <a:txBody>
                    <a:bodyPr>
                      <a:normAutofit/>
                    </a:bodyPr>
                    <a:lstStyle/>
                    <a:p>
                      <a:pPr algn="ctr"/>
                      <a:r>
                        <a:rPr sz="1425" b="0">
                          <a:solidFill>
                            <a:srgbClr val="202A35"/>
                          </a:solidFill>
                          <a:latin typeface="Arial"/>
                          <a:ea typeface="Arial"/>
                          <a:cs typeface="Arial"/>
                        </a:rPr>
                        <a:t>Có bị gián đoạn nhầm không?</a:t>
                      </a:r>
                    </a:p>
                  </a:txBody>
                  <a:tcPr marL="91440" marR="91440" marT="45720" marB="45720" anchor="ctr">
                    <a:solidFill>
                      <a:srgbClr val="FFFFFF"/>
                    </a:solidFill>
                  </a:tcPr>
                </a:tc>
                <a:tc>
                  <a:txBody>
                    <a:bodyPr>
                      <a:normAutofit/>
                    </a:bodyPr>
                    <a:lstStyle/>
                    <a:p>
                      <a:pPr algn="ctr"/>
                      <a:r>
                        <a:rPr sz="1425" b="0">
                          <a:solidFill>
                            <a:srgbClr val="202A35"/>
                          </a:solidFill>
                          <a:latin typeface="Arial"/>
                          <a:ea typeface="Arial"/>
                          <a:cs typeface="Arial"/>
                        </a:rPr>
                        <a:t>Chưa tham gia PoC; phải đo trong pilot</a:t>
                      </a:r>
                    </a:p>
                  </a:txBody>
                  <a:tcPr marL="91440" marR="91440" marT="45720" marB="45720" anchor="ctr">
                    <a:solidFill>
                      <a:srgbClr val="FFFFFF"/>
                    </a:solidFill>
                  </a:tcPr>
                </a:tc>
              </a:tr>
              <a:tr h="690563">
                <a:tc>
                  <a:txBody>
                    <a:bodyPr>
                      <a:normAutofit/>
                    </a:bodyPr>
                    <a:lstStyle/>
                    <a:p>
                      <a:pPr algn="ctr"/>
                      <a:r>
                        <a:rPr sz="1425" b="0">
                          <a:solidFill>
                            <a:srgbClr val="202A35"/>
                          </a:solidFill>
                          <a:latin typeface="Arial"/>
                          <a:ea typeface="Arial"/>
                          <a:cs typeface="Arial"/>
                        </a:rPr>
                        <a:t>CNTT / mô hình</a:t>
                      </a:r>
                    </a:p>
                  </a:txBody>
                  <a:tcPr marL="91440" marR="91440" marT="45720" marB="45720" anchor="ctr">
                    <a:solidFill>
                      <a:srgbClr val="EAF1F8"/>
                    </a:solidFill>
                  </a:tcPr>
                </a:tc>
                <a:tc>
                  <a:txBody>
                    <a:bodyPr>
                      <a:normAutofit/>
                    </a:bodyPr>
                    <a:lstStyle/>
                    <a:p>
                      <a:pPr algn="ctr"/>
                      <a:r>
                        <a:rPr sz="1425" b="0">
                          <a:solidFill>
                            <a:srgbClr val="202A35"/>
                          </a:solidFill>
                          <a:latin typeface="Arial"/>
                          <a:ea typeface="Arial"/>
                          <a:cs typeface="Arial"/>
                        </a:rPr>
                        <a:t>Có thể truy vết phiên bản và lỗi không?</a:t>
                      </a:r>
                    </a:p>
                  </a:txBody>
                  <a:tcPr marL="91440" marR="91440" marT="45720" marB="45720" anchor="ctr">
                    <a:solidFill>
                      <a:srgbClr val="EAF1F8"/>
                    </a:solidFill>
                  </a:tcPr>
                </a:tc>
                <a:tc>
                  <a:txBody>
                    <a:bodyPr>
                      <a:normAutofit/>
                    </a:bodyPr>
                    <a:lstStyle/>
                    <a:p>
                      <a:pPr algn="ctr"/>
                      <a:r>
                        <a:rPr sz="1425" b="0">
                          <a:solidFill>
                            <a:srgbClr val="202A35"/>
                          </a:solidFill>
                          <a:latin typeface="Arial"/>
                          <a:ea typeface="Arial"/>
                          <a:cs typeface="Arial"/>
                        </a:rPr>
                        <a:t>Run ID, manifest, fail-closed</a:t>
                      </a:r>
                    </a:p>
                  </a:txBody>
                  <a:tcPr marL="91440" marR="91440" marT="45720" marB="45720" anchor="ctr">
                    <a:solidFill>
                      <a:srgbClr val="EAF1F8"/>
                    </a:solidFill>
                  </a:tcPr>
                </a:tc>
              </a:tr>
              <a:tr h="690563">
                <a:tc>
                  <a:txBody>
                    <a:bodyPr>
                      <a:normAutofit/>
                    </a:bodyPr>
                    <a:lstStyle/>
                    <a:p>
                      <a:pPr algn="ctr"/>
                      <a:r>
                        <a:rPr sz="1425" b="0">
                          <a:solidFill>
                            <a:srgbClr val="202A35"/>
                          </a:solidFill>
                          <a:latin typeface="Arial"/>
                          <a:ea typeface="Arial"/>
                          <a:cs typeface="Arial"/>
                        </a:rPr>
                        <a:t>ATTT / tuân thủ</a:t>
                      </a:r>
                    </a:p>
                  </a:txBody>
                  <a:tcPr marL="91440" marR="91440" marT="45720" marB="45720" anchor="ctr">
                    <a:solidFill>
                      <a:srgbClr val="FFFFFF"/>
                    </a:solidFill>
                  </a:tcPr>
                </a:tc>
                <a:tc>
                  <a:txBody>
                    <a:bodyPr>
                      <a:normAutofit/>
                    </a:bodyPr>
                    <a:lstStyle/>
                    <a:p>
                      <a:pPr algn="ctr"/>
                      <a:r>
                        <a:rPr sz="1425" b="0">
                          <a:solidFill>
                            <a:srgbClr val="202A35"/>
                          </a:solidFill>
                          <a:latin typeface="Arial"/>
                          <a:ea typeface="Arial"/>
                          <a:cs typeface="Arial"/>
                        </a:rPr>
                        <a:t>Dữ liệu và hành động có được phép?</a:t>
                      </a:r>
                    </a:p>
                  </a:txBody>
                  <a:tcPr marL="91440" marR="91440" marT="45720" marB="45720" anchor="ctr">
                    <a:solidFill>
                      <a:srgbClr val="FFFFFF"/>
                    </a:solidFill>
                  </a:tcPr>
                </a:tc>
                <a:tc>
                  <a:txBody>
                    <a:bodyPr>
                      <a:normAutofit/>
                    </a:bodyPr>
                    <a:lstStyle/>
                    <a:p>
                      <a:pPr algn="ctr"/>
                      <a:r>
                        <a:rPr sz="1425" b="0">
                          <a:solidFill>
                            <a:srgbClr val="202A35"/>
                          </a:solidFill>
                          <a:latin typeface="Arial"/>
                          <a:ea typeface="Arial"/>
                          <a:cs typeface="Arial"/>
                        </a:rPr>
                        <a:t>Ngoài phạm vi, cần phê duyệt trước pilot</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82954BA-2D16-4B4D-B07B-0B4E988AAC08}"/>
              </a:ext>
            </a:extLst>
          </p:cNvPr>
          <p:cNvSpPr>
            <a:spLocks xmlns:a="http://schemas.openxmlformats.org/drawingml/2006/main" noGrp="1"/>
          </p:cNvSpPr>
          <p:nvPr/>
        </p:nvSpPr>
        <p:spPr>
          <a:xfrm xmlns:a="http://schemas.openxmlformats.org/drawingml/2006/main">
            <a:off x="781050" y="58102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500" b="1">
                <a:solidFill>
                  <a:srgbClr val="C84646"/>
                </a:solidFill>
                <a:latin typeface="Arial"/>
                <a:ea typeface="Arial"/>
                <a:cs typeface="Arial"/>
              </a:defRPr>
            </a:pPr>
            <a:r>
              <a:rPr sz="1500" b="1">
                <a:solidFill>
                  <a:srgbClr val="C84646"/>
                </a:solidFill>
                <a:latin typeface="Arial"/>
                <a:ea typeface="Arial"/>
                <a:cs typeface="Arial"/>
              </a:rPr>
              <a:t>As-Is MB chưa được xác minh. Các vai trò là mô hình tham chiếu để đặt câu hỏi.</a:t>
            </a:r>
          </a:p>
        </p:txBody>
      </p:sp>
    </p:spTree>
    <p:extLst>
      <p:ext uri="{BB962C8B-B14F-4D97-AF65-F5344CB8AC3E}">
        <p14:creationId xmlns:p14="http://schemas.microsoft.com/office/powerpoint/2010/main" val="9461698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C5BE859-637B-4E4F-87B9-9AC66ADA35E1}"/>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E00D37-AE2E-4874-81EA-EDF1C36D2FD2}"/>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QUY TRÌNH HIỆN TẠI – GIẢ ĐỊNH</a:t>
            </a:r>
          </a:p>
        </p:txBody>
      </p:sp>
      <p:sp>
        <p:nvSpPr>
          <p:cNvPr id="3" name="">
            <a:extLst xmlns:a="http://schemas.openxmlformats.org/drawingml/2006/main">
              <a:ext uri="{FF2B5EF4-FFF2-40B4-BE49-F238E27FC236}">
                <a16:creationId xmlns:a16="http://schemas.microsoft.com/office/drawing/2014/main" id="{550AACCE-091A-463F-A768-44B0D1208DA1}"/>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As-Is tham chiếu: kiểm soát và xử lý ngoại lệ</a:t>
            </a:r>
          </a:p>
        </p:txBody>
      </p:sp>
      <p:sp>
        <p:nvSpPr>
          <p:cNvPr id="4" name="">
            <a:extLst xmlns:a="http://schemas.openxmlformats.org/drawingml/2006/main">
              <a:ext uri="{FF2B5EF4-FFF2-40B4-BE49-F238E27FC236}">
                <a16:creationId xmlns:a16="http://schemas.microsoft.com/office/drawing/2014/main" id="{BCACC95F-ABB7-47C9-8B30-8249236F24E5}"/>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94CD3F-F186-4106-BC04-9F850C577EAF}"/>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C6A2E1BD-5BEC-4006-B519-9503870DA17A}"/>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BF4F4569-1CFF-47E8-9B78-9463DD0D2FF4}"/>
              </a:ext>
            </a:extLst>
          </p:cNvPr>
          <p:cNvSpPr>
            <a:spLocks xmlns:a="http://schemas.openxmlformats.org/drawingml/2006/main" noGrp="1"/>
          </p:cNvSpPr>
          <p:nvPr/>
        </p:nvSpPr>
        <p:spPr>
          <a:xfrm xmlns:a="http://schemas.openxmlformats.org/drawingml/2006/main">
            <a:off x="762000" y="1524000"/>
            <a:ext cx="10620375" cy="4000500"/>
          </a:xfrm>
          <a:prstGeom xmlns:a="http://schemas.openxmlformats.org/drawingml/2006/main" prst="rect">
            <a:avLst/>
          </a:prstGeom>
          <a:solidFill xmlns:a="http://schemas.openxmlformats.org/drawingml/2006/main">
            <a:srgbClr val="FFFFFF"/>
          </a:solidFill>
          <a:ln xmlns:a="http://schemas.openxmlformats.org/drawingml/2006/main" w="19050">
            <a:solidFill>
              <a:srgbClr val="D7E0E8"/>
            </a:solidFill>
          </a:ln>
        </p:spPr>
      </p:sp>
      <p:sp>
        <p:nvSpPr>
          <p:cNvPr id="8" name="">
            <a:extLst xmlns:a="http://schemas.openxmlformats.org/drawingml/2006/main">
              <a:ext uri="{FF2B5EF4-FFF2-40B4-BE49-F238E27FC236}">
                <a16:creationId xmlns:a16="http://schemas.microsoft.com/office/drawing/2014/main" id="{4C0666AA-FCCB-4B23-A373-B857D7096D96}"/>
              </a:ext>
            </a:extLst>
          </p:cNvPr>
          <p:cNvSpPr>
            <a:spLocks xmlns:a="http://schemas.openxmlformats.org/drawingml/2006/main" noGrp="1"/>
          </p:cNvSpPr>
          <p:nvPr/>
        </p:nvSpPr>
        <p:spPr>
          <a:xfrm xmlns:a="http://schemas.openxmlformats.org/drawingml/2006/main">
            <a:off x="762000" y="1524000"/>
            <a:ext cx="10620375" cy="2000250"/>
          </a:xfrm>
          <a:prstGeom xmlns:a="http://schemas.openxmlformats.org/drawingml/2006/main" prst="rect">
            <a:avLst/>
          </a:prstGeom>
          <a:solidFill xmlns:a="http://schemas.openxmlformats.org/drawingml/2006/main">
            <a:srgbClr val="FBFCFD"/>
          </a:solidFill>
          <a:ln xmlns:a="http://schemas.openxmlformats.org/drawingml/2006/main" w="9525">
            <a:solidFill>
              <a:srgbClr val="D7E0E8"/>
            </a:solidFill>
          </a:ln>
        </p:spPr>
      </p:sp>
      <p:sp>
        <p:nvSpPr>
          <p:cNvPr id="9" name="">
            <a:extLst xmlns:a="http://schemas.openxmlformats.org/drawingml/2006/main">
              <a:ext uri="{FF2B5EF4-FFF2-40B4-BE49-F238E27FC236}">
                <a16:creationId xmlns:a16="http://schemas.microsoft.com/office/drawing/2014/main" id="{98F49793-CB24-43FA-8B34-0394CE526EA7}"/>
              </a:ext>
            </a:extLst>
          </p:cNvPr>
          <p:cNvSpPr>
            <a:spLocks xmlns:a="http://schemas.openxmlformats.org/drawingml/2006/main" noGrp="1"/>
          </p:cNvSpPr>
          <p:nvPr/>
        </p:nvSpPr>
        <p:spPr>
          <a:xfrm xmlns:a="http://schemas.openxmlformats.org/drawingml/2006/main">
            <a:off x="762000" y="3524250"/>
            <a:ext cx="10620375" cy="2000250"/>
          </a:xfrm>
          <a:prstGeom xmlns:a="http://schemas.openxmlformats.org/drawingml/2006/main" prst="rect">
            <a:avLst/>
          </a:prstGeom>
          <a:solidFill xmlns:a="http://schemas.openxmlformats.org/drawingml/2006/main">
            <a:srgbClr val="F6F9FC"/>
          </a:solidFill>
          <a:ln xmlns:a="http://schemas.openxmlformats.org/drawingml/2006/main" w="9525">
            <a:solidFill>
              <a:srgbClr val="D7E0E8"/>
            </a:solidFill>
          </a:ln>
        </p:spPr>
      </p:sp>
      <p:sp>
        <p:nvSpPr>
          <p:cNvPr id="10" name="">
            <a:extLst xmlns:a="http://schemas.openxmlformats.org/drawingml/2006/main">
              <a:ext uri="{FF2B5EF4-FFF2-40B4-BE49-F238E27FC236}">
                <a16:creationId xmlns:a16="http://schemas.microsoft.com/office/drawing/2014/main" id="{F82C91F3-9BC1-482F-8B5A-4842F3308404}"/>
              </a:ext>
            </a:extLst>
          </p:cNvPr>
          <p:cNvSpPr>
            <a:spLocks xmlns:a="http://schemas.openxmlformats.org/drawingml/2006/main" noGrp="1"/>
          </p:cNvSpPr>
          <p:nvPr/>
        </p:nvSpPr>
        <p:spPr>
          <a:xfrm xmlns:a="http://schemas.openxmlformats.org/drawingml/2006/main">
            <a:off x="876300" y="22383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350" b="1">
                <a:solidFill>
                  <a:srgbClr val="65717D"/>
                </a:solidFill>
                <a:latin typeface="Arial"/>
                <a:ea typeface="Arial"/>
                <a:cs typeface="Arial"/>
              </a:defRPr>
            </a:pPr>
            <a:r>
              <a:rPr sz="1350" b="1">
                <a:solidFill>
                  <a:srgbClr val="65717D"/>
                </a:solidFill>
                <a:latin typeface="Arial"/>
                <a:ea typeface="Arial"/>
                <a:cs typeface="Arial"/>
              </a:rPr>
              <a:t>Người gửi</a:t>
            </a:r>
          </a:p>
        </p:txBody>
      </p:sp>
      <p:sp>
        <p:nvSpPr>
          <p:cNvPr id="11" name="">
            <a:extLst xmlns:a="http://schemas.openxmlformats.org/drawingml/2006/main">
              <a:ext uri="{FF2B5EF4-FFF2-40B4-BE49-F238E27FC236}">
                <a16:creationId xmlns:a16="http://schemas.microsoft.com/office/drawing/2014/main" id="{6FA76CAA-540C-40EA-8678-4D5EA608C5B8}"/>
              </a:ext>
            </a:extLst>
          </p:cNvPr>
          <p:cNvSpPr>
            <a:spLocks xmlns:a="http://schemas.openxmlformats.org/drawingml/2006/main" noGrp="1"/>
          </p:cNvSpPr>
          <p:nvPr/>
        </p:nvSpPr>
        <p:spPr>
          <a:xfrm xmlns:a="http://schemas.openxmlformats.org/drawingml/2006/main">
            <a:off x="876300" y="4229100"/>
            <a:ext cx="157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1681"/>
          </a:bodyPr>
          <a:lstStyle xmlns:a="http://schemas.openxmlformats.org/drawingml/2006/main"/>
          <a:p xmlns:a="http://schemas.openxmlformats.org/drawingml/2006/main">
            <a:pPr algn="l">
              <a:lnSpc>
                <a:spcPct val="105000"/>
              </a:lnSpc>
              <a:buNone/>
              <a:defRPr sz="1350" b="1">
                <a:solidFill>
                  <a:srgbClr val="65717D"/>
                </a:solidFill>
                <a:latin typeface="Arial"/>
                <a:ea typeface="Arial"/>
                <a:cs typeface="Arial"/>
              </a:defRPr>
            </a:pPr>
            <a:r>
              <a:rPr sz="1350" b="1">
                <a:solidFill>
                  <a:srgbClr val="65717D"/>
                </a:solidFill>
                <a:latin typeface="Arial"/>
                <a:ea typeface="Arial"/>
                <a:cs typeface="Arial"/>
              </a:rPr>
              <a:t>Hệ thống / vận hành</a:t>
            </a:r>
          </a:p>
        </p:txBody>
      </p:sp>
      <p:sp>
        <p:nvSpPr>
          <p:cNvPr id="12" name="">
            <a:extLst xmlns:a="http://schemas.openxmlformats.org/drawingml/2006/main">
              <a:ext uri="{FF2B5EF4-FFF2-40B4-BE49-F238E27FC236}">
                <a16:creationId xmlns:a16="http://schemas.microsoft.com/office/drawing/2014/main" id="{BF3124FA-11CC-4143-A1F3-788A9A619ECB}"/>
              </a:ext>
            </a:extLst>
          </p:cNvPr>
          <p:cNvSpPr>
            <a:spLocks xmlns:a="http://schemas.openxmlformats.org/drawingml/2006/main" noGrp="1"/>
          </p:cNvSpPr>
          <p:nvPr/>
        </p:nvSpPr>
        <p:spPr>
          <a:xfrm xmlns:a="http://schemas.openxmlformats.org/drawingml/2006/main">
            <a:off x="2714625" y="2247900"/>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2B7A62"/>
            </a:solidFill>
          </a:ln>
        </p:spPr>
      </p:sp>
      <p:sp>
        <p:nvSpPr>
          <p:cNvPr id="13" name="">
            <a:extLst xmlns:a="http://schemas.openxmlformats.org/drawingml/2006/main">
              <a:ext uri="{FF2B5EF4-FFF2-40B4-BE49-F238E27FC236}">
                <a16:creationId xmlns:a16="http://schemas.microsoft.com/office/drawing/2014/main" id="{4EA1D07E-D75D-4563-9F5D-EB507F20A1CD}"/>
              </a:ext>
            </a:extLst>
          </p:cNvPr>
          <p:cNvSpPr>
            <a:spLocks xmlns:a="http://schemas.openxmlformats.org/drawingml/2006/main" noGrp="1"/>
          </p:cNvSpPr>
          <p:nvPr/>
        </p:nvSpPr>
        <p:spPr>
          <a:xfrm xmlns:a="http://schemas.openxmlformats.org/drawingml/2006/main">
            <a:off x="3524250" y="2095500"/>
            <a:ext cx="1762125" cy="809625"/>
          </a:xfrm>
          <a:prstGeom xmlns:a="http://schemas.openxmlformats.org/drawingml/2006/main" prst="roundRect">
            <a:avLst>
              <a:gd name="adj" fmla="val 9412"/>
            </a:avLst>
          </a:prstGeom>
          <a:solidFill xmlns:a="http://schemas.openxmlformats.org/drawingml/2006/main">
            <a:srgbClr val="EAF1F8"/>
          </a:solidFill>
          <a:ln xmlns:a="http://schemas.openxmlformats.org/drawingml/2006/main" w="19050">
            <a:solidFill>
              <a:srgbClr val="3E6B97"/>
            </a:solidFill>
          </a:ln>
        </p:spPr>
      </p:sp>
      <p:sp>
        <p:nvSpPr>
          <p:cNvPr id="14" name="">
            <a:extLst xmlns:a="http://schemas.openxmlformats.org/drawingml/2006/main">
              <a:ext uri="{FF2B5EF4-FFF2-40B4-BE49-F238E27FC236}">
                <a16:creationId xmlns:a16="http://schemas.microsoft.com/office/drawing/2014/main" id="{4E8E5292-0673-4B18-B16E-F3985DC3632F}"/>
              </a:ext>
            </a:extLst>
          </p:cNvPr>
          <p:cNvSpPr>
            <a:spLocks xmlns:a="http://schemas.openxmlformats.org/drawingml/2006/main" noGrp="1"/>
          </p:cNvSpPr>
          <p:nvPr/>
        </p:nvSpPr>
        <p:spPr>
          <a:xfrm xmlns:a="http://schemas.openxmlformats.org/drawingml/2006/main">
            <a:off x="3600450" y="2143125"/>
            <a:ext cx="1609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Khởi tạo</a:t>
            </a:r>
          </a:p>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giao dịch</a:t>
            </a:r>
          </a:p>
        </p:txBody>
      </p:sp>
      <p:sp>
        <p:nvSpPr>
          <p:cNvPr id="15" name="">
            <a:extLst xmlns:a="http://schemas.openxmlformats.org/drawingml/2006/main">
              <a:ext uri="{FF2B5EF4-FFF2-40B4-BE49-F238E27FC236}">
                <a16:creationId xmlns:a16="http://schemas.microsoft.com/office/drawing/2014/main" id="{F943824D-E493-4BA1-BB3C-254F4C2341F6}"/>
              </a:ext>
            </a:extLst>
          </p:cNvPr>
          <p:cNvSpPr>
            <a:spLocks xmlns:a="http://schemas.openxmlformats.org/drawingml/2006/main" noGrp="1"/>
          </p:cNvSpPr>
          <p:nvPr/>
        </p:nvSpPr>
        <p:spPr>
          <a:xfrm xmlns:a="http://schemas.openxmlformats.org/drawingml/2006/main">
            <a:off x="5905500" y="3981450"/>
            <a:ext cx="2190750" cy="857250"/>
          </a:xfrm>
          <a:prstGeom xmlns:a="http://schemas.openxmlformats.org/drawingml/2006/main" prst="roundRect">
            <a:avLst>
              <a:gd name="adj" fmla="val 8889"/>
            </a:avLst>
          </a:prstGeom>
          <a:solidFill xmlns:a="http://schemas.openxmlformats.org/drawingml/2006/main">
            <a:srgbClr val="EAF1F8"/>
          </a:solidFill>
          <a:ln xmlns:a="http://schemas.openxmlformats.org/drawingml/2006/main" w="19050">
            <a:solidFill>
              <a:srgbClr val="3E6B97"/>
            </a:solidFill>
          </a:ln>
        </p:spPr>
      </p:sp>
      <p:sp>
        <p:nvSpPr>
          <p:cNvPr id="16" name="">
            <a:extLst xmlns:a="http://schemas.openxmlformats.org/drawingml/2006/main">
              <a:ext uri="{FF2B5EF4-FFF2-40B4-BE49-F238E27FC236}">
                <a16:creationId xmlns:a16="http://schemas.microsoft.com/office/drawing/2014/main" id="{870D3634-AA78-4996-B1D4-49F9EDBE90D1}"/>
              </a:ext>
            </a:extLst>
          </p:cNvPr>
          <p:cNvSpPr>
            <a:spLocks xmlns:a="http://schemas.openxmlformats.org/drawingml/2006/main" noGrp="1"/>
          </p:cNvSpPr>
          <p:nvPr/>
        </p:nvSpPr>
        <p:spPr>
          <a:xfrm xmlns:a="http://schemas.openxmlformats.org/drawingml/2006/main">
            <a:off x="5981700" y="4029075"/>
            <a:ext cx="2038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Kiểm soát bắt buộc</a:t>
            </a:r>
          </a:p>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 quy tắc hiện có</a:t>
            </a:r>
          </a:p>
        </p:txBody>
      </p:sp>
      <p:sp>
        <p:nvSpPr>
          <p:cNvPr id="17" name="">
            <a:extLst xmlns:a="http://schemas.openxmlformats.org/drawingml/2006/main">
              <a:ext uri="{FF2B5EF4-FFF2-40B4-BE49-F238E27FC236}">
                <a16:creationId xmlns:a16="http://schemas.microsoft.com/office/drawing/2014/main" id="{94BF46A6-4437-4FD3-AF1F-639BBAC15A42}"/>
              </a:ext>
            </a:extLst>
          </p:cNvPr>
          <p:cNvSpPr>
            <a:spLocks xmlns:a="http://schemas.openxmlformats.org/drawingml/2006/main" noGrp="1"/>
          </p:cNvSpPr>
          <p:nvPr/>
        </p:nvSpPr>
        <p:spPr>
          <a:xfrm xmlns:a="http://schemas.openxmlformats.org/drawingml/2006/main">
            <a:off x="8667750" y="4029075"/>
            <a:ext cx="781050" cy="781050"/>
          </a:xfrm>
          <a:prstGeom xmlns:a="http://schemas.openxmlformats.org/drawingml/2006/main" prst="diamond">
            <a:avLst/>
          </a:prstGeom>
          <a:solidFill xmlns:a="http://schemas.openxmlformats.org/drawingml/2006/main">
            <a:srgbClr val="FFF4DE"/>
          </a:solidFill>
          <a:ln xmlns:a="http://schemas.openxmlformats.org/drawingml/2006/main" w="19050">
            <a:solidFill>
              <a:srgbClr val="D49122"/>
            </a:solidFill>
          </a:ln>
        </p:spPr>
      </p:sp>
      <p:sp>
        <p:nvSpPr>
          <p:cNvPr id="18" name="">
            <a:extLst xmlns:a="http://schemas.openxmlformats.org/drawingml/2006/main">
              <a:ext uri="{FF2B5EF4-FFF2-40B4-BE49-F238E27FC236}">
                <a16:creationId xmlns:a16="http://schemas.microsoft.com/office/drawing/2014/main" id="{A0A9E0C8-9159-4369-B501-8D3C0717D57E}"/>
              </a:ext>
            </a:extLst>
          </p:cNvPr>
          <p:cNvSpPr>
            <a:spLocks xmlns:a="http://schemas.openxmlformats.org/drawingml/2006/main" noGrp="1"/>
          </p:cNvSpPr>
          <p:nvPr/>
        </p:nvSpPr>
        <p:spPr>
          <a:xfrm xmlns:a="http://schemas.openxmlformats.org/drawingml/2006/main">
            <a:off x="8743950" y="4171950"/>
            <a:ext cx="628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3034"/>
          </a:bodyPr>
          <a:lstStyle xmlns:a="http://schemas.openxmlformats.org/drawingml/2006/main"/>
          <a:p xmlns:a="http://schemas.openxmlformats.org/drawingml/2006/main">
            <a:pPr algn="ctr">
              <a:lnSpc>
                <a:spcPct val="105000"/>
              </a:lnSpc>
              <a:buNone/>
              <a:defRPr sz="1200" b="1">
                <a:solidFill>
                  <a:srgbClr val="202A35"/>
                </a:solidFill>
                <a:latin typeface="Arial"/>
                <a:ea typeface="Arial"/>
                <a:cs typeface="Arial"/>
              </a:defRPr>
            </a:pPr>
            <a:r>
              <a:rPr sz="1200" b="1">
                <a:solidFill>
                  <a:srgbClr val="202A35"/>
                </a:solidFill>
                <a:latin typeface="Arial"/>
                <a:ea typeface="Arial"/>
                <a:cs typeface="Arial"/>
              </a:rPr>
              <a:t>Đủ</a:t>
            </a:r>
          </a:p>
          <a:p xmlns:a="http://schemas.openxmlformats.org/drawingml/2006/main">
            <a:pPr algn="ctr">
              <a:lnSpc>
                <a:spcPct val="105000"/>
              </a:lnSpc>
              <a:buNone/>
              <a:defRPr sz="1200" b="1">
                <a:solidFill>
                  <a:srgbClr val="202A35"/>
                </a:solidFill>
                <a:latin typeface="Arial"/>
                <a:ea typeface="Arial"/>
                <a:cs typeface="Arial"/>
              </a:defRPr>
            </a:pPr>
            <a:r>
              <a:rPr sz="1200" b="1">
                <a:solidFill>
                  <a:srgbClr val="202A35"/>
                </a:solidFill>
                <a:latin typeface="Arial"/>
                <a:ea typeface="Arial"/>
                <a:cs typeface="Arial"/>
              </a:rPr>
              <a:t>điều kiện?</a:t>
            </a:r>
          </a:p>
        </p:txBody>
      </p:sp>
      <p:sp>
        <p:nvSpPr>
          <p:cNvPr id="19" name="">
            <a:extLst xmlns:a="http://schemas.openxmlformats.org/drawingml/2006/main">
              <a:ext uri="{FF2B5EF4-FFF2-40B4-BE49-F238E27FC236}">
                <a16:creationId xmlns:a16="http://schemas.microsoft.com/office/drawing/2014/main" id="{083756E0-D578-4ABC-9C85-0F11D4543915}"/>
              </a:ext>
            </a:extLst>
          </p:cNvPr>
          <p:cNvSpPr>
            <a:spLocks xmlns:a="http://schemas.openxmlformats.org/drawingml/2006/main" noGrp="1"/>
          </p:cNvSpPr>
          <p:nvPr/>
        </p:nvSpPr>
        <p:spPr>
          <a:xfrm xmlns:a="http://schemas.openxmlformats.org/drawingml/2006/main">
            <a:off x="10001250" y="3762375"/>
            <a:ext cx="1238250" cy="619125"/>
          </a:xfrm>
          <a:prstGeom xmlns:a="http://schemas.openxmlformats.org/drawingml/2006/main" prst="roundRect">
            <a:avLst>
              <a:gd name="adj" fmla="val 12308"/>
            </a:avLst>
          </a:prstGeom>
          <a:solidFill xmlns:a="http://schemas.openxmlformats.org/drawingml/2006/main">
            <a:srgbClr val="EAF5EF"/>
          </a:solidFill>
          <a:ln xmlns:a="http://schemas.openxmlformats.org/drawingml/2006/main" w="19050">
            <a:solidFill>
              <a:srgbClr val="2B7A62"/>
            </a:solidFill>
          </a:ln>
        </p:spPr>
      </p:sp>
      <p:sp>
        <p:nvSpPr>
          <p:cNvPr id="20" name="">
            <a:extLst xmlns:a="http://schemas.openxmlformats.org/drawingml/2006/main">
              <a:ext uri="{FF2B5EF4-FFF2-40B4-BE49-F238E27FC236}">
                <a16:creationId xmlns:a16="http://schemas.microsoft.com/office/drawing/2014/main" id="{92B36264-4F18-4047-9D62-80C87774EAA2}"/>
              </a:ext>
            </a:extLst>
          </p:cNvPr>
          <p:cNvSpPr>
            <a:spLocks xmlns:a="http://schemas.openxmlformats.org/drawingml/2006/main" noGrp="1"/>
          </p:cNvSpPr>
          <p:nvPr/>
        </p:nvSpPr>
        <p:spPr>
          <a:xfrm xmlns:a="http://schemas.openxmlformats.org/drawingml/2006/main">
            <a:off x="10077450" y="3810000"/>
            <a:ext cx="1085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1">
                <a:solidFill>
                  <a:srgbClr val="202A35"/>
                </a:solidFill>
                <a:latin typeface="Arial"/>
                <a:ea typeface="Arial"/>
                <a:cs typeface="Arial"/>
              </a:defRPr>
            </a:pPr>
            <a:r>
              <a:rPr sz="1350" b="1">
                <a:solidFill>
                  <a:srgbClr val="202A35"/>
                </a:solidFill>
                <a:latin typeface="Arial"/>
                <a:ea typeface="Arial"/>
                <a:cs typeface="Arial"/>
              </a:rPr>
              <a:t>Tiếp tục</a:t>
            </a:r>
          </a:p>
          <a:p xmlns:a="http://schemas.openxmlformats.org/drawingml/2006/main">
            <a:pPr algn="ctr">
              <a:lnSpc>
                <a:spcPct val="105000"/>
              </a:lnSpc>
              <a:buNone/>
              <a:defRPr sz="1350" b="1">
                <a:solidFill>
                  <a:srgbClr val="202A35"/>
                </a:solidFill>
                <a:latin typeface="Arial"/>
                <a:ea typeface="Arial"/>
                <a:cs typeface="Arial"/>
              </a:defRPr>
            </a:pPr>
            <a:r>
              <a:rPr sz="1350" b="1">
                <a:solidFill>
                  <a:srgbClr val="202A35"/>
                </a:solidFill>
                <a:latin typeface="Arial"/>
                <a:ea typeface="Arial"/>
                <a:cs typeface="Arial"/>
              </a:rPr>
              <a:t>xử lý</a:t>
            </a:r>
          </a:p>
        </p:txBody>
      </p:sp>
      <p:sp>
        <p:nvSpPr>
          <p:cNvPr id="21" name="">
            <a:extLst xmlns:a="http://schemas.openxmlformats.org/drawingml/2006/main">
              <a:ext uri="{FF2B5EF4-FFF2-40B4-BE49-F238E27FC236}">
                <a16:creationId xmlns:a16="http://schemas.microsoft.com/office/drawing/2014/main" id="{703A09B6-A9DD-46FD-8932-5CA70F293696}"/>
              </a:ext>
            </a:extLst>
          </p:cNvPr>
          <p:cNvSpPr>
            <a:spLocks xmlns:a="http://schemas.openxmlformats.org/drawingml/2006/main" noGrp="1"/>
          </p:cNvSpPr>
          <p:nvPr/>
        </p:nvSpPr>
        <p:spPr>
          <a:xfrm xmlns:a="http://schemas.openxmlformats.org/drawingml/2006/main">
            <a:off x="10001250" y="4572000"/>
            <a:ext cx="1238250" cy="619125"/>
          </a:xfrm>
          <a:prstGeom xmlns:a="http://schemas.openxmlformats.org/drawingml/2006/main" prst="roundRect">
            <a:avLst>
              <a:gd name="adj" fmla="val 12308"/>
            </a:avLst>
          </a:prstGeom>
          <a:solidFill xmlns:a="http://schemas.openxmlformats.org/drawingml/2006/main">
            <a:srgbClr val="FFF4DE"/>
          </a:solidFill>
          <a:ln xmlns:a="http://schemas.openxmlformats.org/drawingml/2006/main" w="19050">
            <a:solidFill>
              <a:srgbClr val="D49122"/>
            </a:solidFill>
          </a:ln>
        </p:spPr>
      </p:sp>
      <p:sp>
        <p:nvSpPr>
          <p:cNvPr id="22" name="">
            <a:extLst xmlns:a="http://schemas.openxmlformats.org/drawingml/2006/main">
              <a:ext uri="{FF2B5EF4-FFF2-40B4-BE49-F238E27FC236}">
                <a16:creationId xmlns:a16="http://schemas.microsoft.com/office/drawing/2014/main" id="{CFDCC34C-3170-4BFC-BF1B-6372A36675BF}"/>
              </a:ext>
            </a:extLst>
          </p:cNvPr>
          <p:cNvSpPr>
            <a:spLocks xmlns:a="http://schemas.openxmlformats.org/drawingml/2006/main" noGrp="1"/>
          </p:cNvSpPr>
          <p:nvPr/>
        </p:nvSpPr>
        <p:spPr>
          <a:xfrm xmlns:a="http://schemas.openxmlformats.org/drawingml/2006/main">
            <a:off x="10077450" y="4619625"/>
            <a:ext cx="1085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1">
                <a:solidFill>
                  <a:srgbClr val="202A35"/>
                </a:solidFill>
                <a:latin typeface="Arial"/>
                <a:ea typeface="Arial"/>
                <a:cs typeface="Arial"/>
              </a:defRPr>
            </a:pPr>
            <a:r>
              <a:rPr sz="1350" b="1">
                <a:solidFill>
                  <a:srgbClr val="202A35"/>
                </a:solidFill>
                <a:latin typeface="Arial"/>
                <a:ea typeface="Arial"/>
                <a:cs typeface="Arial"/>
              </a:rPr>
              <a:t>Rà soát</a:t>
            </a:r>
          </a:p>
          <a:p xmlns:a="http://schemas.openxmlformats.org/drawingml/2006/main">
            <a:pPr algn="ctr">
              <a:lnSpc>
                <a:spcPct val="105000"/>
              </a:lnSpc>
              <a:buNone/>
              <a:defRPr sz="1350" b="1">
                <a:solidFill>
                  <a:srgbClr val="202A35"/>
                </a:solidFill>
                <a:latin typeface="Arial"/>
                <a:ea typeface="Arial"/>
                <a:cs typeface="Arial"/>
              </a:defRPr>
            </a:pPr>
            <a:r>
              <a:rPr sz="1350" b="1">
                <a:solidFill>
                  <a:srgbClr val="202A35"/>
                </a:solidFill>
                <a:latin typeface="Arial"/>
                <a:ea typeface="Arial"/>
                <a:cs typeface="Arial"/>
              </a:rPr>
              <a:t>goại lệ</a:t>
            </a:r>
          </a:p>
        </p:txBody>
      </p:sp>
      <p:sp>
        <p:nvSpPr>
          <p:cNvPr id="23" name="">
            <a:extLst xmlns:a="http://schemas.openxmlformats.org/drawingml/2006/main">
              <a:ext uri="{FF2B5EF4-FFF2-40B4-BE49-F238E27FC236}">
                <a16:creationId xmlns:a16="http://schemas.microsoft.com/office/drawing/2014/main" id="{60AE67E9-4A9B-4884-8837-C53625C07702}"/>
              </a:ext>
            </a:extLst>
          </p:cNvPr>
          <p:cNvSpPr>
            <a:spLocks xmlns:a="http://schemas.openxmlformats.org/drawingml/2006/main" noGrp="1"/>
          </p:cNvSpPr>
          <p:nvPr/>
        </p:nvSpPr>
        <p:spPr>
          <a:xfrm xmlns:a="http://schemas.openxmlformats.org/drawingml/2006/main">
            <a:off x="3219450" y="2409825"/>
            <a:ext cx="257175"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22210C5-DB30-455A-89EE-34EB24F0126B}"/>
              </a:ext>
            </a:extLst>
          </p:cNvPr>
          <p:cNvSpPr>
            <a:spLocks xmlns:a="http://schemas.openxmlformats.org/drawingml/2006/main" noGrp="1"/>
          </p:cNvSpPr>
          <p:nvPr/>
        </p:nvSpPr>
        <p:spPr>
          <a:xfrm xmlns:a="http://schemas.openxmlformats.org/drawingml/2006/main">
            <a:off x="5286375" y="2476500"/>
            <a:ext cx="27622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093E349-EC80-4FEB-9466-605E321E0338}"/>
              </a:ext>
            </a:extLst>
          </p:cNvPr>
          <p:cNvSpPr>
            <a:spLocks xmlns:a="http://schemas.openxmlformats.org/drawingml/2006/main" noGrp="1"/>
          </p:cNvSpPr>
          <p:nvPr/>
        </p:nvSpPr>
        <p:spPr>
          <a:xfrm xmlns:a="http://schemas.openxmlformats.org/drawingml/2006/main">
            <a:off x="5543550" y="2495550"/>
            <a:ext cx="38100" cy="1914525"/>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7D4A0D1-C231-4AA3-8DB5-AA3C193242D5}"/>
              </a:ext>
            </a:extLst>
          </p:cNvPr>
          <p:cNvSpPr>
            <a:spLocks xmlns:a="http://schemas.openxmlformats.org/drawingml/2006/main" noGrp="1"/>
          </p:cNvSpPr>
          <p:nvPr/>
        </p:nvSpPr>
        <p:spPr>
          <a:xfrm xmlns:a="http://schemas.openxmlformats.org/drawingml/2006/main">
            <a:off x="5562600" y="4333875"/>
            <a:ext cx="304800"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8D3B873-A492-4AED-9398-51F9E3F3FBC6}"/>
              </a:ext>
            </a:extLst>
          </p:cNvPr>
          <p:cNvSpPr>
            <a:spLocks xmlns:a="http://schemas.openxmlformats.org/drawingml/2006/main" noGrp="1"/>
          </p:cNvSpPr>
          <p:nvPr/>
        </p:nvSpPr>
        <p:spPr>
          <a:xfrm xmlns:a="http://schemas.openxmlformats.org/drawingml/2006/main">
            <a:off x="8143875" y="4333875"/>
            <a:ext cx="428625"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2E766C2-E5E3-46E5-8B15-75D16987340E}"/>
              </a:ext>
            </a:extLst>
          </p:cNvPr>
          <p:cNvSpPr>
            <a:spLocks xmlns:a="http://schemas.openxmlformats.org/drawingml/2006/main" noGrp="1"/>
          </p:cNvSpPr>
          <p:nvPr/>
        </p:nvSpPr>
        <p:spPr>
          <a:xfrm xmlns:a="http://schemas.openxmlformats.org/drawingml/2006/main">
            <a:off x="9448800" y="4400550"/>
            <a:ext cx="247650"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0F984A3-8DA0-4329-B6DE-25E1C4C02FB6}"/>
              </a:ext>
            </a:extLst>
          </p:cNvPr>
          <p:cNvSpPr>
            <a:spLocks xmlns:a="http://schemas.openxmlformats.org/drawingml/2006/main" noGrp="1"/>
          </p:cNvSpPr>
          <p:nvPr/>
        </p:nvSpPr>
        <p:spPr>
          <a:xfrm xmlns:a="http://schemas.openxmlformats.org/drawingml/2006/main">
            <a:off x="9677400" y="4067175"/>
            <a:ext cx="38100" cy="809625"/>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51ACB77-C559-4F67-ACFF-0CA02CED9AA8}"/>
              </a:ext>
            </a:extLst>
          </p:cNvPr>
          <p:cNvSpPr>
            <a:spLocks xmlns:a="http://schemas.openxmlformats.org/drawingml/2006/main" noGrp="1"/>
          </p:cNvSpPr>
          <p:nvPr/>
        </p:nvSpPr>
        <p:spPr>
          <a:xfrm xmlns:a="http://schemas.openxmlformats.org/drawingml/2006/main">
            <a:off x="9696450" y="4048125"/>
            <a:ext cx="25717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5E11DE0-88EE-4EAF-BC59-65F221415E4D}"/>
              </a:ext>
            </a:extLst>
          </p:cNvPr>
          <p:cNvSpPr>
            <a:spLocks xmlns:a="http://schemas.openxmlformats.org/drawingml/2006/main" noGrp="1"/>
          </p:cNvSpPr>
          <p:nvPr/>
        </p:nvSpPr>
        <p:spPr>
          <a:xfrm xmlns:a="http://schemas.openxmlformats.org/drawingml/2006/main">
            <a:off x="9734550" y="4000500"/>
            <a:ext cx="266700"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D689C1F-6D6B-4600-B66C-D6C400113D27}"/>
              </a:ext>
            </a:extLst>
          </p:cNvPr>
          <p:cNvSpPr>
            <a:spLocks xmlns:a="http://schemas.openxmlformats.org/drawingml/2006/main" noGrp="1"/>
          </p:cNvSpPr>
          <p:nvPr/>
        </p:nvSpPr>
        <p:spPr>
          <a:xfrm xmlns:a="http://schemas.openxmlformats.org/drawingml/2006/main">
            <a:off x="9696450" y="4857750"/>
            <a:ext cx="25717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5079604-4C5D-4BA4-A963-F50177C7ABA5}"/>
              </a:ext>
            </a:extLst>
          </p:cNvPr>
          <p:cNvSpPr>
            <a:spLocks xmlns:a="http://schemas.openxmlformats.org/drawingml/2006/main" noGrp="1"/>
          </p:cNvSpPr>
          <p:nvPr/>
        </p:nvSpPr>
        <p:spPr>
          <a:xfrm xmlns:a="http://schemas.openxmlformats.org/drawingml/2006/main">
            <a:off x="9734550" y="4810125"/>
            <a:ext cx="266700"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EA0A7A1-3F07-4199-A2D1-47E2307B0AF7}"/>
              </a:ext>
            </a:extLst>
          </p:cNvPr>
          <p:cNvSpPr>
            <a:spLocks xmlns:a="http://schemas.openxmlformats.org/drawingml/2006/main" noGrp="1"/>
          </p:cNvSpPr>
          <p:nvPr/>
        </p:nvSpPr>
        <p:spPr>
          <a:xfrm xmlns:a="http://schemas.openxmlformats.org/drawingml/2006/main">
            <a:off x="9496425" y="3800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l">
              <a:lnSpc>
                <a:spcPct val="105000"/>
              </a:lnSpc>
              <a:buNone/>
              <a:defRPr sz="1125" b="1">
                <a:solidFill>
                  <a:srgbClr val="65717D"/>
                </a:solidFill>
                <a:latin typeface="Arial"/>
                <a:ea typeface="Arial"/>
                <a:cs typeface="Arial"/>
              </a:defRPr>
            </a:pPr>
            <a:r>
              <a:rPr sz="1125" b="1">
                <a:solidFill>
                  <a:srgbClr val="65717D"/>
                </a:solidFill>
                <a:latin typeface="Arial"/>
                <a:ea typeface="Arial"/>
                <a:cs typeface="Arial"/>
              </a:rPr>
              <a:t>Đạt</a:t>
            </a:r>
          </a:p>
        </p:txBody>
      </p:sp>
      <p:sp>
        <p:nvSpPr>
          <p:cNvPr id="35" name="">
            <a:extLst xmlns:a="http://schemas.openxmlformats.org/drawingml/2006/main">
              <a:ext uri="{FF2B5EF4-FFF2-40B4-BE49-F238E27FC236}">
                <a16:creationId xmlns:a16="http://schemas.microsoft.com/office/drawing/2014/main" id="{D8706667-E1EB-4D73-ABBF-E400745589A1}"/>
              </a:ext>
            </a:extLst>
          </p:cNvPr>
          <p:cNvSpPr>
            <a:spLocks xmlns:a="http://schemas.openxmlformats.org/drawingml/2006/main" noGrp="1"/>
          </p:cNvSpPr>
          <p:nvPr/>
        </p:nvSpPr>
        <p:spPr>
          <a:xfrm xmlns:a="http://schemas.openxmlformats.org/drawingml/2006/main">
            <a:off x="9477375" y="49530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9365"/>
          </a:bodyPr>
          <a:lstStyle xmlns:a="http://schemas.openxmlformats.org/drawingml/2006/main"/>
          <a:p xmlns:a="http://schemas.openxmlformats.org/drawingml/2006/main">
            <a:pPr algn="l">
              <a:lnSpc>
                <a:spcPct val="105000"/>
              </a:lnSpc>
              <a:buNone/>
              <a:defRPr sz="1050" b="1">
                <a:solidFill>
                  <a:srgbClr val="65717D"/>
                </a:solidFill>
                <a:latin typeface="Arial"/>
                <a:ea typeface="Arial"/>
                <a:cs typeface="Arial"/>
              </a:defRPr>
            </a:pPr>
            <a:r>
              <a:rPr sz="1050" b="1">
                <a:solidFill>
                  <a:srgbClr val="65717D"/>
                </a:solidFill>
                <a:latin typeface="Arial"/>
                <a:ea typeface="Arial"/>
                <a:cs typeface="Arial"/>
              </a:rPr>
              <a:t>Ngoại lệ</a:t>
            </a:r>
          </a:p>
        </p:txBody>
      </p:sp>
      <p:sp>
        <p:nvSpPr>
          <p:cNvPr id="36" name="">
            <a:extLst xmlns:a="http://schemas.openxmlformats.org/drawingml/2006/main">
              <a:ext uri="{FF2B5EF4-FFF2-40B4-BE49-F238E27FC236}">
                <a16:creationId xmlns:a16="http://schemas.microsoft.com/office/drawing/2014/main" id="{3BEE6F07-E206-450A-B1D9-FF1C5FA711E2}"/>
              </a:ext>
            </a:extLst>
          </p:cNvPr>
          <p:cNvSpPr>
            <a:spLocks xmlns:a="http://schemas.openxmlformats.org/drawingml/2006/main" noGrp="1"/>
          </p:cNvSpPr>
          <p:nvPr/>
        </p:nvSpPr>
        <p:spPr>
          <a:xfrm xmlns:a="http://schemas.openxmlformats.org/drawingml/2006/main">
            <a:off x="762000" y="5734050"/>
            <a:ext cx="733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8261"/>
          </a:bodyPr>
          <a:lstStyle xmlns:a="http://schemas.openxmlformats.org/drawingml/2006/main"/>
          <a:p xmlns:a="http://schemas.openxmlformats.org/drawingml/2006/main">
            <a:pPr algn="l">
              <a:lnSpc>
                <a:spcPct val="105000"/>
              </a:lnSpc>
              <a:buNone/>
              <a:defRPr sz="1575" b="1">
                <a:solidFill>
                  <a:srgbClr val="C84646"/>
                </a:solidFill>
                <a:latin typeface="Arial"/>
                <a:ea typeface="Arial"/>
                <a:cs typeface="Arial"/>
              </a:defRPr>
            </a:pPr>
            <a:r>
              <a:rPr sz="1575" b="1">
                <a:solidFill>
                  <a:srgbClr val="C84646"/>
                </a:solidFill>
                <a:latin typeface="Arial"/>
                <a:ea typeface="Arial"/>
                <a:cs typeface="Arial"/>
              </a:rPr>
              <a:t>THAM CHIẾU, CHƯA XÁC MINH TẠI MB</a:t>
            </a:r>
          </a:p>
        </p:txBody>
      </p:sp>
      <p:sp>
        <p:nvSpPr>
          <p:cNvPr id="37" name="">
            <a:extLst xmlns:a="http://schemas.openxmlformats.org/drawingml/2006/main">
              <a:ext uri="{FF2B5EF4-FFF2-40B4-BE49-F238E27FC236}">
                <a16:creationId xmlns:a16="http://schemas.microsoft.com/office/drawing/2014/main" id="{3F40645D-5482-4CB9-BCD4-7E5B24625CE6}"/>
              </a:ext>
            </a:extLst>
          </p:cNvPr>
          <p:cNvSpPr>
            <a:spLocks xmlns:a="http://schemas.openxmlformats.org/drawingml/2006/main" noGrp="1"/>
          </p:cNvSpPr>
          <p:nvPr/>
        </p:nvSpPr>
        <p:spPr>
          <a:xfrm xmlns:a="http://schemas.openxmlformats.org/drawingml/2006/main">
            <a:off x="762000" y="6096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9286"/>
          </a:bodyPr>
          <a:lstStyle xmlns:a="http://schemas.openxmlformats.org/drawingml/2006/main"/>
          <a:p xmlns:a="http://schemas.openxmlformats.org/drawingml/2006/main">
            <a:pPr algn="l">
              <a:lnSpc>
                <a:spcPct val="105000"/>
              </a:lnSpc>
              <a:buNone/>
              <a:defRPr sz="1200" b="0">
                <a:solidFill>
                  <a:srgbClr val="65717D"/>
                </a:solidFill>
                <a:latin typeface="Arial"/>
                <a:ea typeface="Arial"/>
                <a:cs typeface="Arial"/>
              </a:defRPr>
            </a:pPr>
            <a:r>
              <a:rPr sz="1200" b="0">
                <a:solidFill>
                  <a:srgbClr val="65717D"/>
                </a:solidFill>
                <a:latin typeface="Arial"/>
                <a:ea typeface="Arial"/>
                <a:cs typeface="Arial"/>
              </a:rPr>
              <a:t>BPMN 2.0: sự kiện, tác vụ, gateway và luồng tuần tự</a:t>
            </a:r>
          </a:p>
        </p:txBody>
      </p:sp>
    </p:spTree>
    <p:extLst>
      <p:ext uri="{BB962C8B-B14F-4D97-AF65-F5344CB8AC3E}">
        <p14:creationId xmlns:p14="http://schemas.microsoft.com/office/powerpoint/2010/main" val="3221858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C5464038-8B7A-4664-A0AC-81B03578CF0E}"/>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E0D3CF-5B58-4901-BB87-7E7237F21C8A}"/>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QUY TRÌNH ĐỀ XUẤT</a:t>
            </a:r>
          </a:p>
        </p:txBody>
      </p:sp>
      <p:sp>
        <p:nvSpPr>
          <p:cNvPr id="3" name="">
            <a:extLst xmlns:a="http://schemas.openxmlformats.org/drawingml/2006/main">
              <a:ext uri="{FF2B5EF4-FFF2-40B4-BE49-F238E27FC236}">
                <a16:creationId xmlns:a16="http://schemas.microsoft.com/office/drawing/2014/main" id="{EE61FFA1-35D2-43A4-82BE-B5E76D69C75A}"/>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To-Be: gợi ý kiểm tra có con người giám sát</a:t>
            </a:r>
          </a:p>
        </p:txBody>
      </p:sp>
      <p:sp>
        <p:nvSpPr>
          <p:cNvPr id="4" name="">
            <a:extLst xmlns:a="http://schemas.openxmlformats.org/drawingml/2006/main">
              <a:ext uri="{FF2B5EF4-FFF2-40B4-BE49-F238E27FC236}">
                <a16:creationId xmlns:a16="http://schemas.microsoft.com/office/drawing/2014/main" id="{05C6B1AE-4C1C-4A9A-A355-F08922117D69}"/>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B0FF44-A042-40A4-8C73-D3835DFF7A1E}"/>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14143EC3-3FC9-4E83-AF3D-C2EC2C0B6068}"/>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87EBBB82-BC3C-4FCB-8017-68F54B0B0849}"/>
              </a:ext>
            </a:extLst>
          </p:cNvPr>
          <p:cNvSpPr>
            <a:spLocks xmlns:a="http://schemas.openxmlformats.org/drawingml/2006/main" noGrp="1"/>
          </p:cNvSpPr>
          <p:nvPr/>
        </p:nvSpPr>
        <p:spPr>
          <a:xfrm xmlns:a="http://schemas.openxmlformats.org/drawingml/2006/main">
            <a:off x="762000" y="1428750"/>
            <a:ext cx="10620375" cy="4238625"/>
          </a:xfrm>
          <a:prstGeom xmlns:a="http://schemas.openxmlformats.org/drawingml/2006/main" prst="rect">
            <a:avLst/>
          </a:prstGeom>
          <a:solidFill xmlns:a="http://schemas.openxmlformats.org/drawingml/2006/main">
            <a:srgbClr val="FFFFFF"/>
          </a:solidFill>
          <a:ln xmlns:a="http://schemas.openxmlformats.org/drawingml/2006/main" w="19050">
            <a:solidFill>
              <a:srgbClr val="D7E0E8"/>
            </a:solidFill>
          </a:ln>
        </p:spPr>
      </p:sp>
      <p:sp>
        <p:nvSpPr>
          <p:cNvPr id="8" name="">
            <a:extLst xmlns:a="http://schemas.openxmlformats.org/drawingml/2006/main">
              <a:ext uri="{FF2B5EF4-FFF2-40B4-BE49-F238E27FC236}">
                <a16:creationId xmlns:a16="http://schemas.microsoft.com/office/drawing/2014/main" id="{171C4C49-9B3E-4CA3-B7D1-68675B4BFD32}"/>
              </a:ext>
            </a:extLst>
          </p:cNvPr>
          <p:cNvSpPr>
            <a:spLocks xmlns:a="http://schemas.openxmlformats.org/drawingml/2006/main" noGrp="1"/>
          </p:cNvSpPr>
          <p:nvPr/>
        </p:nvSpPr>
        <p:spPr>
          <a:xfrm xmlns:a="http://schemas.openxmlformats.org/drawingml/2006/main">
            <a:off x="762000" y="1428750"/>
            <a:ext cx="10620375" cy="1333500"/>
          </a:xfrm>
          <a:prstGeom xmlns:a="http://schemas.openxmlformats.org/drawingml/2006/main" prst="rect">
            <a:avLst/>
          </a:prstGeom>
          <a:solidFill xmlns:a="http://schemas.openxmlformats.org/drawingml/2006/main">
            <a:srgbClr val="FBFCFD"/>
          </a:solidFill>
          <a:ln xmlns:a="http://schemas.openxmlformats.org/drawingml/2006/main" w="9525">
            <a:solidFill>
              <a:srgbClr val="D7E0E8"/>
            </a:solidFill>
          </a:ln>
        </p:spPr>
      </p:sp>
      <p:sp>
        <p:nvSpPr>
          <p:cNvPr id="9" name="">
            <a:extLst xmlns:a="http://schemas.openxmlformats.org/drawingml/2006/main">
              <a:ext uri="{FF2B5EF4-FFF2-40B4-BE49-F238E27FC236}">
                <a16:creationId xmlns:a16="http://schemas.microsoft.com/office/drawing/2014/main" id="{04289FCF-2EE9-41D5-BEC6-EF0C3E9E7D15}"/>
              </a:ext>
            </a:extLst>
          </p:cNvPr>
          <p:cNvSpPr>
            <a:spLocks xmlns:a="http://schemas.openxmlformats.org/drawingml/2006/main" noGrp="1"/>
          </p:cNvSpPr>
          <p:nvPr/>
        </p:nvSpPr>
        <p:spPr>
          <a:xfrm xmlns:a="http://schemas.openxmlformats.org/drawingml/2006/main">
            <a:off x="762000" y="2762250"/>
            <a:ext cx="10620375" cy="1524000"/>
          </a:xfrm>
          <a:prstGeom xmlns:a="http://schemas.openxmlformats.org/drawingml/2006/main" prst="rect">
            <a:avLst/>
          </a:prstGeom>
          <a:solidFill xmlns:a="http://schemas.openxmlformats.org/drawingml/2006/main">
            <a:srgbClr val="F6F9FC"/>
          </a:solidFill>
          <a:ln xmlns:a="http://schemas.openxmlformats.org/drawingml/2006/main" w="9525">
            <a:solidFill>
              <a:srgbClr val="D7E0E8"/>
            </a:solidFill>
          </a:ln>
        </p:spPr>
      </p:sp>
      <p:sp>
        <p:nvSpPr>
          <p:cNvPr id="10" name="">
            <a:extLst xmlns:a="http://schemas.openxmlformats.org/drawingml/2006/main">
              <a:ext uri="{FF2B5EF4-FFF2-40B4-BE49-F238E27FC236}">
                <a16:creationId xmlns:a16="http://schemas.microsoft.com/office/drawing/2014/main" id="{9EC7B405-237A-4077-973A-5C56706483CC}"/>
              </a:ext>
            </a:extLst>
          </p:cNvPr>
          <p:cNvSpPr>
            <a:spLocks xmlns:a="http://schemas.openxmlformats.org/drawingml/2006/main" noGrp="1"/>
          </p:cNvSpPr>
          <p:nvPr/>
        </p:nvSpPr>
        <p:spPr>
          <a:xfrm xmlns:a="http://schemas.openxmlformats.org/drawingml/2006/main">
            <a:off x="762000" y="4286250"/>
            <a:ext cx="10620375" cy="1381125"/>
          </a:xfrm>
          <a:prstGeom xmlns:a="http://schemas.openxmlformats.org/drawingml/2006/main" prst="rect">
            <a:avLst/>
          </a:prstGeom>
          <a:solidFill xmlns:a="http://schemas.openxmlformats.org/drawingml/2006/main">
            <a:srgbClr val="FBFCFD"/>
          </a:solidFill>
          <a:ln xmlns:a="http://schemas.openxmlformats.org/drawingml/2006/main" w="9525">
            <a:solidFill>
              <a:srgbClr val="D7E0E8"/>
            </a:solidFill>
          </a:ln>
        </p:spPr>
      </p:sp>
      <p:sp>
        <p:nvSpPr>
          <p:cNvPr id="11" name="">
            <a:extLst xmlns:a="http://schemas.openxmlformats.org/drawingml/2006/main">
              <a:ext uri="{FF2B5EF4-FFF2-40B4-BE49-F238E27FC236}">
                <a16:creationId xmlns:a16="http://schemas.microsoft.com/office/drawing/2014/main" id="{D347AB59-7074-4F8E-B5AD-F96EC9B8527F}"/>
              </a:ext>
            </a:extLst>
          </p:cNvPr>
          <p:cNvSpPr>
            <a:spLocks xmlns:a="http://schemas.openxmlformats.org/drawingml/2006/main" noGrp="1"/>
          </p:cNvSpPr>
          <p:nvPr/>
        </p:nvSpPr>
        <p:spPr>
          <a:xfrm xmlns:a="http://schemas.openxmlformats.org/drawingml/2006/main">
            <a:off x="857250" y="19240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275" b="1">
                <a:solidFill>
                  <a:srgbClr val="65717D"/>
                </a:solidFill>
                <a:latin typeface="Arial"/>
                <a:ea typeface="Arial"/>
                <a:cs typeface="Arial"/>
              </a:defRPr>
            </a:pPr>
            <a:r>
              <a:rPr sz="1275" b="1">
                <a:solidFill>
                  <a:srgbClr val="65717D"/>
                </a:solidFill>
                <a:latin typeface="Arial"/>
                <a:ea typeface="Arial"/>
                <a:cs typeface="Arial"/>
              </a:rPr>
              <a:t>Khách hàng / kênh</a:t>
            </a:r>
          </a:p>
        </p:txBody>
      </p:sp>
      <p:sp>
        <p:nvSpPr>
          <p:cNvPr id="12" name="">
            <a:extLst xmlns:a="http://schemas.openxmlformats.org/drawingml/2006/main">
              <a:ext uri="{FF2B5EF4-FFF2-40B4-BE49-F238E27FC236}">
                <a16:creationId xmlns:a16="http://schemas.microsoft.com/office/drawing/2014/main" id="{384158EC-A8A0-495E-AA21-3B6D7DC943E6}"/>
              </a:ext>
            </a:extLst>
          </p:cNvPr>
          <p:cNvSpPr>
            <a:spLocks xmlns:a="http://schemas.openxmlformats.org/drawingml/2006/main" noGrp="1"/>
          </p:cNvSpPr>
          <p:nvPr/>
        </p:nvSpPr>
        <p:spPr>
          <a:xfrm xmlns:a="http://schemas.openxmlformats.org/drawingml/2006/main">
            <a:off x="857250" y="33337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275" b="1">
                <a:solidFill>
                  <a:srgbClr val="65717D"/>
                </a:solidFill>
                <a:latin typeface="Arial"/>
                <a:ea typeface="Arial"/>
                <a:cs typeface="Arial"/>
              </a:defRPr>
            </a:pPr>
            <a:r>
              <a:rPr sz="1275" b="1">
                <a:solidFill>
                  <a:srgbClr val="65717D"/>
                </a:solidFill>
                <a:latin typeface="Arial"/>
                <a:ea typeface="Arial"/>
                <a:cs typeface="Arial"/>
              </a:rPr>
              <a:t>Scoring + policy</a:t>
            </a:r>
          </a:p>
        </p:txBody>
      </p:sp>
      <p:sp>
        <p:nvSpPr>
          <p:cNvPr id="13" name="">
            <a:extLst xmlns:a="http://schemas.openxmlformats.org/drawingml/2006/main">
              <a:ext uri="{FF2B5EF4-FFF2-40B4-BE49-F238E27FC236}">
                <a16:creationId xmlns:a16="http://schemas.microsoft.com/office/drawing/2014/main" id="{EFE73C96-5699-4242-B6EA-096CA6EAB98F}"/>
              </a:ext>
            </a:extLst>
          </p:cNvPr>
          <p:cNvSpPr>
            <a:spLocks xmlns:a="http://schemas.openxmlformats.org/drawingml/2006/main" noGrp="1"/>
          </p:cNvSpPr>
          <p:nvPr/>
        </p:nvSpPr>
        <p:spPr>
          <a:xfrm xmlns:a="http://schemas.openxmlformats.org/drawingml/2006/main">
            <a:off x="857250" y="48006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275" b="1">
                <a:solidFill>
                  <a:srgbClr val="65717D"/>
                </a:solidFill>
                <a:latin typeface="Arial"/>
                <a:ea typeface="Arial"/>
                <a:cs typeface="Arial"/>
              </a:defRPr>
            </a:pPr>
            <a:r>
              <a:rPr sz="1275" b="1">
                <a:solidFill>
                  <a:srgbClr val="65717D"/>
                </a:solidFill>
                <a:latin typeface="Arial"/>
                <a:ea typeface="Arial"/>
                <a:cs typeface="Arial"/>
              </a:rPr>
              <a:t>Chuyên viên</a:t>
            </a:r>
          </a:p>
        </p:txBody>
      </p:sp>
      <p:sp>
        <p:nvSpPr>
          <p:cNvPr id="14" name="">
            <a:extLst xmlns:a="http://schemas.openxmlformats.org/drawingml/2006/main">
              <a:ext uri="{FF2B5EF4-FFF2-40B4-BE49-F238E27FC236}">
                <a16:creationId xmlns:a16="http://schemas.microsoft.com/office/drawing/2014/main" id="{AC2FF201-742D-467D-B306-9CCC4C021BB3}"/>
              </a:ext>
            </a:extLst>
          </p:cNvPr>
          <p:cNvSpPr>
            <a:spLocks xmlns:a="http://schemas.openxmlformats.org/drawingml/2006/main" noGrp="1"/>
          </p:cNvSpPr>
          <p:nvPr/>
        </p:nvSpPr>
        <p:spPr>
          <a:xfrm xmlns:a="http://schemas.openxmlformats.org/drawingml/2006/main">
            <a:off x="2619375" y="1876425"/>
            <a:ext cx="457200" cy="457200"/>
          </a:xfrm>
          <a:prstGeom xmlns:a="http://schemas.openxmlformats.org/drawingml/2006/main" prst="ellipse">
            <a:avLst/>
          </a:prstGeom>
          <a:solidFill xmlns:a="http://schemas.openxmlformats.org/drawingml/2006/main">
            <a:srgbClr val="FFFFFF"/>
          </a:solidFill>
          <a:ln xmlns:a="http://schemas.openxmlformats.org/drawingml/2006/main" w="38100">
            <a:solidFill>
              <a:srgbClr val="2B7A62"/>
            </a:solidFill>
          </a:ln>
        </p:spPr>
      </p:sp>
      <p:sp>
        <p:nvSpPr>
          <p:cNvPr id="15" name="">
            <a:extLst xmlns:a="http://schemas.openxmlformats.org/drawingml/2006/main">
              <a:ext uri="{FF2B5EF4-FFF2-40B4-BE49-F238E27FC236}">
                <a16:creationId xmlns:a16="http://schemas.microsoft.com/office/drawing/2014/main" id="{AAB1C4E8-435E-482F-A685-26BD76EDDC82}"/>
              </a:ext>
            </a:extLst>
          </p:cNvPr>
          <p:cNvSpPr>
            <a:spLocks xmlns:a="http://schemas.openxmlformats.org/drawingml/2006/main" noGrp="1"/>
          </p:cNvSpPr>
          <p:nvPr/>
        </p:nvSpPr>
        <p:spPr>
          <a:xfrm xmlns:a="http://schemas.openxmlformats.org/drawingml/2006/main">
            <a:off x="3333750" y="1714500"/>
            <a:ext cx="1571625" cy="742950"/>
          </a:xfrm>
          <a:prstGeom xmlns:a="http://schemas.openxmlformats.org/drawingml/2006/main" prst="roundRect">
            <a:avLst>
              <a:gd name="adj" fmla="val 10256"/>
            </a:avLst>
          </a:prstGeom>
          <a:solidFill xmlns:a="http://schemas.openxmlformats.org/drawingml/2006/main">
            <a:srgbClr val="EAF1F8"/>
          </a:solidFill>
          <a:ln xmlns:a="http://schemas.openxmlformats.org/drawingml/2006/main" w="19050">
            <a:solidFill>
              <a:srgbClr val="3E6B97"/>
            </a:solidFill>
          </a:ln>
        </p:spPr>
      </p:sp>
      <p:sp>
        <p:nvSpPr>
          <p:cNvPr id="16" name="">
            <a:extLst xmlns:a="http://schemas.openxmlformats.org/drawingml/2006/main">
              <a:ext uri="{FF2B5EF4-FFF2-40B4-BE49-F238E27FC236}">
                <a16:creationId xmlns:a16="http://schemas.microsoft.com/office/drawing/2014/main" id="{B17E2F29-EE12-4783-951D-00D51B21A698}"/>
              </a:ext>
            </a:extLst>
          </p:cNvPr>
          <p:cNvSpPr>
            <a:spLocks xmlns:a="http://schemas.openxmlformats.org/drawingml/2006/main" noGrp="1"/>
          </p:cNvSpPr>
          <p:nvPr/>
        </p:nvSpPr>
        <p:spPr>
          <a:xfrm xmlns:a="http://schemas.openxmlformats.org/drawingml/2006/main">
            <a:off x="3409950" y="1762125"/>
            <a:ext cx="14192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Gửi giao dịch</a:t>
            </a:r>
          </a:p>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 tín hiệu</a:t>
            </a:r>
          </a:p>
        </p:txBody>
      </p:sp>
      <p:sp>
        <p:nvSpPr>
          <p:cNvPr id="17" name="">
            <a:extLst xmlns:a="http://schemas.openxmlformats.org/drawingml/2006/main">
              <a:ext uri="{FF2B5EF4-FFF2-40B4-BE49-F238E27FC236}">
                <a16:creationId xmlns:a16="http://schemas.microsoft.com/office/drawing/2014/main" id="{C2E69A66-ADD8-44D7-96C1-D8A1CC14268F}"/>
              </a:ext>
            </a:extLst>
          </p:cNvPr>
          <p:cNvSpPr>
            <a:spLocks xmlns:a="http://schemas.openxmlformats.org/drawingml/2006/main" noGrp="1"/>
          </p:cNvSpPr>
          <p:nvPr/>
        </p:nvSpPr>
        <p:spPr>
          <a:xfrm xmlns:a="http://schemas.openxmlformats.org/drawingml/2006/main">
            <a:off x="5381625" y="3114675"/>
            <a:ext cx="1571625" cy="819150"/>
          </a:xfrm>
          <a:prstGeom xmlns:a="http://schemas.openxmlformats.org/drawingml/2006/main" prst="roundRect">
            <a:avLst>
              <a:gd name="adj" fmla="val 9302"/>
            </a:avLst>
          </a:prstGeom>
          <a:solidFill xmlns:a="http://schemas.openxmlformats.org/drawingml/2006/main">
            <a:srgbClr val="EAF1F8"/>
          </a:solidFill>
          <a:ln xmlns:a="http://schemas.openxmlformats.org/drawingml/2006/main" w="19050">
            <a:solidFill>
              <a:srgbClr val="3E6B97"/>
            </a:solidFill>
          </a:ln>
        </p:spPr>
      </p:sp>
      <p:sp>
        <p:nvSpPr>
          <p:cNvPr id="18" name="">
            <a:extLst xmlns:a="http://schemas.openxmlformats.org/drawingml/2006/main">
              <a:ext uri="{FF2B5EF4-FFF2-40B4-BE49-F238E27FC236}">
                <a16:creationId xmlns:a16="http://schemas.microsoft.com/office/drawing/2014/main" id="{7AA7289B-4D40-4DB1-9A75-A72667A75899}"/>
              </a:ext>
            </a:extLst>
          </p:cNvPr>
          <p:cNvSpPr>
            <a:spLocks xmlns:a="http://schemas.openxmlformats.org/drawingml/2006/main" noGrp="1"/>
          </p:cNvSpPr>
          <p:nvPr/>
        </p:nvSpPr>
        <p:spPr>
          <a:xfrm xmlns:a="http://schemas.openxmlformats.org/drawingml/2006/main">
            <a:off x="5457825" y="3162300"/>
            <a:ext cx="14192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Validate →</a:t>
            </a:r>
          </a:p>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scoring</a:t>
            </a:r>
          </a:p>
        </p:txBody>
      </p:sp>
      <p:sp>
        <p:nvSpPr>
          <p:cNvPr id="19" name="">
            <a:extLst xmlns:a="http://schemas.openxmlformats.org/drawingml/2006/main">
              <a:ext uri="{FF2B5EF4-FFF2-40B4-BE49-F238E27FC236}">
                <a16:creationId xmlns:a16="http://schemas.microsoft.com/office/drawing/2014/main" id="{37720076-3AE9-4FC1-BA58-960D4A2DC827}"/>
              </a:ext>
            </a:extLst>
          </p:cNvPr>
          <p:cNvSpPr>
            <a:spLocks xmlns:a="http://schemas.openxmlformats.org/drawingml/2006/main" noGrp="1"/>
          </p:cNvSpPr>
          <p:nvPr/>
        </p:nvSpPr>
        <p:spPr>
          <a:xfrm xmlns:a="http://schemas.openxmlformats.org/drawingml/2006/main">
            <a:off x="7334250" y="3143250"/>
            <a:ext cx="704850" cy="704850"/>
          </a:xfrm>
          <a:prstGeom xmlns:a="http://schemas.openxmlformats.org/drawingml/2006/main" prst="diamond">
            <a:avLst/>
          </a:prstGeom>
          <a:solidFill xmlns:a="http://schemas.openxmlformats.org/drawingml/2006/main">
            <a:srgbClr val="FFF4DE"/>
          </a:solidFill>
          <a:ln xmlns:a="http://schemas.openxmlformats.org/drawingml/2006/main" w="19050">
            <a:solidFill>
              <a:srgbClr val="D49122"/>
            </a:solidFill>
          </a:ln>
        </p:spPr>
      </p:sp>
      <p:sp>
        <p:nvSpPr>
          <p:cNvPr id="20" name="">
            <a:extLst xmlns:a="http://schemas.openxmlformats.org/drawingml/2006/main">
              <a:ext uri="{FF2B5EF4-FFF2-40B4-BE49-F238E27FC236}">
                <a16:creationId xmlns:a16="http://schemas.microsoft.com/office/drawing/2014/main" id="{ADB4B722-941E-41DC-A94C-FE83FE083E92}"/>
              </a:ext>
            </a:extLst>
          </p:cNvPr>
          <p:cNvSpPr>
            <a:spLocks xmlns:a="http://schemas.openxmlformats.org/drawingml/2006/main" noGrp="1"/>
          </p:cNvSpPr>
          <p:nvPr/>
        </p:nvSpPr>
        <p:spPr>
          <a:xfrm xmlns:a="http://schemas.openxmlformats.org/drawingml/2006/main">
            <a:off x="7391400" y="32575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200" b="1">
                <a:solidFill>
                  <a:srgbClr val="202A35"/>
                </a:solidFill>
                <a:latin typeface="Arial"/>
                <a:ea typeface="Arial"/>
                <a:cs typeface="Arial"/>
              </a:defRPr>
            </a:pPr>
            <a:r>
              <a:rPr sz="1200" b="1">
                <a:solidFill>
                  <a:srgbClr val="202A35"/>
                </a:solidFill>
                <a:latin typeface="Arial"/>
                <a:ea typeface="Arial"/>
                <a:cs typeface="Arial"/>
              </a:rPr>
              <a:t>Vùng</a:t>
            </a:r>
          </a:p>
          <a:p xmlns:a="http://schemas.openxmlformats.org/drawingml/2006/main">
            <a:pPr algn="ctr">
              <a:lnSpc>
                <a:spcPct val="105000"/>
              </a:lnSpc>
              <a:buNone/>
              <a:defRPr sz="1200" b="1">
                <a:solidFill>
                  <a:srgbClr val="202A35"/>
                </a:solidFill>
                <a:latin typeface="Arial"/>
                <a:ea typeface="Arial"/>
                <a:cs typeface="Arial"/>
              </a:defRPr>
            </a:pPr>
            <a:r>
              <a:rPr sz="1200" b="1">
                <a:solidFill>
                  <a:srgbClr val="202A35"/>
                </a:solidFill>
                <a:latin typeface="Arial"/>
                <a:ea typeface="Arial"/>
                <a:cs typeface="Arial"/>
              </a:rPr>
              <a:t>score?</a:t>
            </a:r>
          </a:p>
        </p:txBody>
      </p:sp>
      <p:sp>
        <p:nvSpPr>
          <p:cNvPr id="21" name="">
            <a:extLst xmlns:a="http://schemas.openxmlformats.org/drawingml/2006/main">
              <a:ext uri="{FF2B5EF4-FFF2-40B4-BE49-F238E27FC236}">
                <a16:creationId xmlns:a16="http://schemas.microsoft.com/office/drawing/2014/main" id="{228A7CEC-ACBF-44A8-BBC7-9B7A8A56C995}"/>
              </a:ext>
            </a:extLst>
          </p:cNvPr>
          <p:cNvSpPr>
            <a:spLocks xmlns:a="http://schemas.openxmlformats.org/drawingml/2006/main" noGrp="1"/>
          </p:cNvSpPr>
          <p:nvPr/>
        </p:nvSpPr>
        <p:spPr>
          <a:xfrm xmlns:a="http://schemas.openxmlformats.org/drawingml/2006/main">
            <a:off x="8382000" y="2886075"/>
            <a:ext cx="2667000" cy="523875"/>
          </a:xfrm>
          <a:prstGeom xmlns:a="http://schemas.openxmlformats.org/drawingml/2006/main" prst="roundRect">
            <a:avLst>
              <a:gd name="adj" fmla="val 14545"/>
            </a:avLst>
          </a:prstGeom>
          <a:solidFill xmlns:a="http://schemas.openxmlformats.org/drawingml/2006/main">
            <a:srgbClr val="EAF5EF"/>
          </a:solidFill>
          <a:ln xmlns:a="http://schemas.openxmlformats.org/drawingml/2006/main" w="19050">
            <a:solidFill>
              <a:srgbClr val="2B7A62"/>
            </a:solidFill>
          </a:ln>
        </p:spPr>
      </p:sp>
      <p:sp>
        <p:nvSpPr>
          <p:cNvPr id="22" name="">
            <a:extLst xmlns:a="http://schemas.openxmlformats.org/drawingml/2006/main">
              <a:ext uri="{FF2B5EF4-FFF2-40B4-BE49-F238E27FC236}">
                <a16:creationId xmlns:a16="http://schemas.microsoft.com/office/drawing/2014/main" id="{BAE1ABA8-4C0F-4F06-AA3A-9E0A380CBEE4}"/>
              </a:ext>
            </a:extLst>
          </p:cNvPr>
          <p:cNvSpPr>
            <a:spLocks xmlns:a="http://schemas.openxmlformats.org/drawingml/2006/main" noGrp="1"/>
          </p:cNvSpPr>
          <p:nvPr/>
        </p:nvSpPr>
        <p:spPr>
          <a:xfrm xmlns:a="http://schemas.openxmlformats.org/drawingml/2006/main">
            <a:off x="8458200" y="29337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1036"/>
          </a:bodyPr>
          <a:lstStyle xmlns:a="http://schemas.openxmlformats.org/drawingml/2006/main"/>
          <a:p xmlns:a="http://schemas.openxmlformats.org/drawingml/2006/main">
            <a:pPr algn="ctr">
              <a:lnSpc>
                <a:spcPct val="105000"/>
              </a:lnSpc>
              <a:buNone/>
              <a:defRPr sz="1275" b="1">
                <a:solidFill>
                  <a:srgbClr val="202A35"/>
                </a:solidFill>
                <a:latin typeface="Arial"/>
                <a:ea typeface="Arial"/>
                <a:cs typeface="Arial"/>
              </a:defRPr>
            </a:pPr>
            <a:r>
              <a:rPr sz="1275" b="1">
                <a:solidFill>
                  <a:srgbClr val="202A35"/>
                </a:solidFill>
                <a:latin typeface="Arial"/>
                <a:ea typeface="Arial"/>
                <a:cs typeface="Arial"/>
              </a:rPr>
              <a:t>Thấp: giữ mandatory</a:t>
            </a:r>
          </a:p>
          <a:p xmlns:a="http://schemas.openxmlformats.org/drawingml/2006/main">
            <a:pPr algn="ctr">
              <a:lnSpc>
                <a:spcPct val="105000"/>
              </a:lnSpc>
              <a:buNone/>
              <a:defRPr sz="1275" b="1">
                <a:solidFill>
                  <a:srgbClr val="202A35"/>
                </a:solidFill>
                <a:latin typeface="Arial"/>
                <a:ea typeface="Arial"/>
                <a:cs typeface="Arial"/>
              </a:defRPr>
            </a:pPr>
            <a:r>
              <a:rPr sz="1275" b="1">
                <a:solidFill>
                  <a:srgbClr val="202A35"/>
                </a:solidFill>
                <a:latin typeface="Arial"/>
                <a:ea typeface="Arial"/>
                <a:cs typeface="Arial"/>
              </a:rPr>
              <a:t>controls</a:t>
            </a:r>
          </a:p>
        </p:txBody>
      </p:sp>
      <p:sp>
        <p:nvSpPr>
          <p:cNvPr id="23" name="">
            <a:extLst xmlns:a="http://schemas.openxmlformats.org/drawingml/2006/main">
              <a:ext uri="{FF2B5EF4-FFF2-40B4-BE49-F238E27FC236}">
                <a16:creationId xmlns:a16="http://schemas.microsoft.com/office/drawing/2014/main" id="{A40EE914-CE71-435D-9148-6F64F1CBC11C}"/>
              </a:ext>
            </a:extLst>
          </p:cNvPr>
          <p:cNvSpPr>
            <a:spLocks xmlns:a="http://schemas.openxmlformats.org/drawingml/2006/main" noGrp="1"/>
          </p:cNvSpPr>
          <p:nvPr/>
        </p:nvSpPr>
        <p:spPr>
          <a:xfrm xmlns:a="http://schemas.openxmlformats.org/drawingml/2006/main">
            <a:off x="8382000" y="3476625"/>
            <a:ext cx="2667000" cy="476250"/>
          </a:xfrm>
          <a:prstGeom xmlns:a="http://schemas.openxmlformats.org/drawingml/2006/main" prst="roundRect">
            <a:avLst>
              <a:gd name="adj" fmla="val 16000"/>
            </a:avLst>
          </a:prstGeom>
          <a:solidFill xmlns:a="http://schemas.openxmlformats.org/drawingml/2006/main">
            <a:srgbClr val="FFF4DE"/>
          </a:solidFill>
          <a:ln xmlns:a="http://schemas.openxmlformats.org/drawingml/2006/main" w="19050">
            <a:solidFill>
              <a:srgbClr val="D49122"/>
            </a:solidFill>
          </a:ln>
        </p:spPr>
      </p:sp>
      <p:sp>
        <p:nvSpPr>
          <p:cNvPr id="24" name="">
            <a:extLst xmlns:a="http://schemas.openxmlformats.org/drawingml/2006/main">
              <a:ext uri="{FF2B5EF4-FFF2-40B4-BE49-F238E27FC236}">
                <a16:creationId xmlns:a16="http://schemas.microsoft.com/office/drawing/2014/main" id="{2DF3EEBB-1405-4411-80A7-E57DC4B1B4E5}"/>
              </a:ext>
            </a:extLst>
          </p:cNvPr>
          <p:cNvSpPr>
            <a:spLocks xmlns:a="http://schemas.openxmlformats.org/drawingml/2006/main" noGrp="1"/>
          </p:cNvSpPr>
          <p:nvPr/>
        </p:nvSpPr>
        <p:spPr>
          <a:xfrm xmlns:a="http://schemas.openxmlformats.org/drawingml/2006/main">
            <a:off x="8458200" y="3524250"/>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275" b="1">
                <a:solidFill>
                  <a:srgbClr val="202A35"/>
                </a:solidFill>
                <a:latin typeface="Arial"/>
                <a:ea typeface="Arial"/>
                <a:cs typeface="Arial"/>
              </a:defRPr>
            </a:pPr>
            <a:r>
              <a:rPr sz="1275" b="1">
                <a:solidFill>
                  <a:srgbClr val="202A35"/>
                </a:solidFill>
                <a:latin typeface="Arial"/>
                <a:ea typeface="Arial"/>
                <a:cs typeface="Arial"/>
              </a:rPr>
              <a:t>Trung bình: xác thực*</a:t>
            </a:r>
          </a:p>
        </p:txBody>
      </p:sp>
      <p:sp>
        <p:nvSpPr>
          <p:cNvPr id="25" name="">
            <a:extLst xmlns:a="http://schemas.openxmlformats.org/drawingml/2006/main">
              <a:ext uri="{FF2B5EF4-FFF2-40B4-BE49-F238E27FC236}">
                <a16:creationId xmlns:a16="http://schemas.microsoft.com/office/drawing/2014/main" id="{7F8B9054-E640-4281-83FB-00AC0674F5AB}"/>
              </a:ext>
            </a:extLst>
          </p:cNvPr>
          <p:cNvSpPr>
            <a:spLocks xmlns:a="http://schemas.openxmlformats.org/drawingml/2006/main" noGrp="1"/>
          </p:cNvSpPr>
          <p:nvPr/>
        </p:nvSpPr>
        <p:spPr>
          <a:xfrm xmlns:a="http://schemas.openxmlformats.org/drawingml/2006/main">
            <a:off x="8382000" y="4552950"/>
            <a:ext cx="2667000" cy="523875"/>
          </a:xfrm>
          <a:prstGeom xmlns:a="http://schemas.openxmlformats.org/drawingml/2006/main" prst="roundRect">
            <a:avLst>
              <a:gd name="adj" fmla="val 14545"/>
            </a:avLst>
          </a:prstGeom>
          <a:solidFill xmlns:a="http://schemas.openxmlformats.org/drawingml/2006/main">
            <a:srgbClr val="FDEEEE"/>
          </a:solidFill>
          <a:ln xmlns:a="http://schemas.openxmlformats.org/drawingml/2006/main" w="19050">
            <a:solidFill>
              <a:srgbClr val="C84646"/>
            </a:solidFill>
          </a:ln>
        </p:spPr>
      </p:sp>
      <p:sp>
        <p:nvSpPr>
          <p:cNvPr id="26" name="">
            <a:extLst xmlns:a="http://schemas.openxmlformats.org/drawingml/2006/main">
              <a:ext uri="{FF2B5EF4-FFF2-40B4-BE49-F238E27FC236}">
                <a16:creationId xmlns:a16="http://schemas.microsoft.com/office/drawing/2014/main" id="{C4705185-C70F-447A-80DE-98C1562A23FA}"/>
              </a:ext>
            </a:extLst>
          </p:cNvPr>
          <p:cNvSpPr>
            <a:spLocks xmlns:a="http://schemas.openxmlformats.org/drawingml/2006/main" noGrp="1"/>
          </p:cNvSpPr>
          <p:nvPr/>
        </p:nvSpPr>
        <p:spPr>
          <a:xfrm xmlns:a="http://schemas.openxmlformats.org/drawingml/2006/main">
            <a:off x="8458200" y="460057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275" b="1">
                <a:solidFill>
                  <a:srgbClr val="202A35"/>
                </a:solidFill>
                <a:latin typeface="Arial"/>
                <a:ea typeface="Arial"/>
                <a:cs typeface="Arial"/>
              </a:defRPr>
            </a:pPr>
            <a:r>
              <a:rPr sz="1275" b="1">
                <a:solidFill>
                  <a:srgbClr val="202A35"/>
                </a:solidFill>
                <a:latin typeface="Arial"/>
                <a:ea typeface="Arial"/>
                <a:cs typeface="Arial"/>
              </a:rPr>
              <a:t>Cao: đề xuất chuyên viên</a:t>
            </a:r>
          </a:p>
        </p:txBody>
      </p:sp>
      <p:sp>
        <p:nvSpPr>
          <p:cNvPr id="27" name="">
            <a:extLst xmlns:a="http://schemas.openxmlformats.org/drawingml/2006/main">
              <a:ext uri="{FF2B5EF4-FFF2-40B4-BE49-F238E27FC236}">
                <a16:creationId xmlns:a16="http://schemas.microsoft.com/office/drawing/2014/main" id="{30DAC361-63A5-4D7C-8317-ED14AE82BEFC}"/>
              </a:ext>
            </a:extLst>
          </p:cNvPr>
          <p:cNvSpPr>
            <a:spLocks xmlns:a="http://schemas.openxmlformats.org/drawingml/2006/main" noGrp="1"/>
          </p:cNvSpPr>
          <p:nvPr/>
        </p:nvSpPr>
        <p:spPr>
          <a:xfrm xmlns:a="http://schemas.openxmlformats.org/drawingml/2006/main">
            <a:off x="3095625" y="2028825"/>
            <a:ext cx="238125"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EB701D2-617B-4D3C-80A5-0B689AD8347E}"/>
              </a:ext>
            </a:extLst>
          </p:cNvPr>
          <p:cNvSpPr>
            <a:spLocks xmlns:a="http://schemas.openxmlformats.org/drawingml/2006/main" noGrp="1"/>
          </p:cNvSpPr>
          <p:nvPr/>
        </p:nvSpPr>
        <p:spPr>
          <a:xfrm xmlns:a="http://schemas.openxmlformats.org/drawingml/2006/main">
            <a:off x="4905375" y="2066925"/>
            <a:ext cx="23812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C340186-D995-47EE-8C75-0272820D7DE2}"/>
              </a:ext>
            </a:extLst>
          </p:cNvPr>
          <p:cNvSpPr>
            <a:spLocks xmlns:a="http://schemas.openxmlformats.org/drawingml/2006/main" noGrp="1"/>
          </p:cNvSpPr>
          <p:nvPr/>
        </p:nvSpPr>
        <p:spPr>
          <a:xfrm xmlns:a="http://schemas.openxmlformats.org/drawingml/2006/main">
            <a:off x="5124450" y="2085975"/>
            <a:ext cx="38100" cy="1438275"/>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0FF258E-D0BE-40E3-B6DA-33ADF9DEDEF9}"/>
              </a:ext>
            </a:extLst>
          </p:cNvPr>
          <p:cNvSpPr>
            <a:spLocks xmlns:a="http://schemas.openxmlformats.org/drawingml/2006/main" noGrp="1"/>
          </p:cNvSpPr>
          <p:nvPr/>
        </p:nvSpPr>
        <p:spPr>
          <a:xfrm xmlns:a="http://schemas.openxmlformats.org/drawingml/2006/main">
            <a:off x="5143500" y="3448050"/>
            <a:ext cx="238125"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F04F8BD-22B5-4CDD-BB1D-1A21C903D44C}"/>
              </a:ext>
            </a:extLst>
          </p:cNvPr>
          <p:cNvSpPr>
            <a:spLocks xmlns:a="http://schemas.openxmlformats.org/drawingml/2006/main" noGrp="1"/>
          </p:cNvSpPr>
          <p:nvPr/>
        </p:nvSpPr>
        <p:spPr>
          <a:xfrm xmlns:a="http://schemas.openxmlformats.org/drawingml/2006/main">
            <a:off x="6981825" y="3438525"/>
            <a:ext cx="285750"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B581B37-0BC4-4C79-82A3-878AFA9B8F9B}"/>
              </a:ext>
            </a:extLst>
          </p:cNvPr>
          <p:cNvSpPr>
            <a:spLocks xmlns:a="http://schemas.openxmlformats.org/drawingml/2006/main" noGrp="1"/>
          </p:cNvSpPr>
          <p:nvPr/>
        </p:nvSpPr>
        <p:spPr>
          <a:xfrm xmlns:a="http://schemas.openxmlformats.org/drawingml/2006/main">
            <a:off x="8039100" y="3476625"/>
            <a:ext cx="10477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CD16CE2-2F44-4F22-8A21-10FC08038730}"/>
              </a:ext>
            </a:extLst>
          </p:cNvPr>
          <p:cNvSpPr>
            <a:spLocks xmlns:a="http://schemas.openxmlformats.org/drawingml/2006/main" noGrp="1"/>
          </p:cNvSpPr>
          <p:nvPr/>
        </p:nvSpPr>
        <p:spPr>
          <a:xfrm xmlns:a="http://schemas.openxmlformats.org/drawingml/2006/main">
            <a:off x="8124825" y="3143250"/>
            <a:ext cx="38100" cy="1666875"/>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30A1232-1EF2-4125-8B6A-7C78184F9F50}"/>
              </a:ext>
            </a:extLst>
          </p:cNvPr>
          <p:cNvSpPr>
            <a:spLocks xmlns:a="http://schemas.openxmlformats.org/drawingml/2006/main" noGrp="1"/>
          </p:cNvSpPr>
          <p:nvPr/>
        </p:nvSpPr>
        <p:spPr>
          <a:xfrm xmlns:a="http://schemas.openxmlformats.org/drawingml/2006/main">
            <a:off x="8143875" y="3124200"/>
            <a:ext cx="20002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0D875B4-AC2E-46E2-954B-9C315F423D2C}"/>
              </a:ext>
            </a:extLst>
          </p:cNvPr>
          <p:cNvSpPr>
            <a:spLocks xmlns:a="http://schemas.openxmlformats.org/drawingml/2006/main" noGrp="1"/>
          </p:cNvSpPr>
          <p:nvPr/>
        </p:nvSpPr>
        <p:spPr>
          <a:xfrm xmlns:a="http://schemas.openxmlformats.org/drawingml/2006/main">
            <a:off x="8134350" y="3067050"/>
            <a:ext cx="276225"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1D28789-2BBC-4367-94AE-512E06D6159D}"/>
              </a:ext>
            </a:extLst>
          </p:cNvPr>
          <p:cNvSpPr>
            <a:spLocks xmlns:a="http://schemas.openxmlformats.org/drawingml/2006/main" noGrp="1"/>
          </p:cNvSpPr>
          <p:nvPr/>
        </p:nvSpPr>
        <p:spPr>
          <a:xfrm xmlns:a="http://schemas.openxmlformats.org/drawingml/2006/main">
            <a:off x="8143875" y="3695700"/>
            <a:ext cx="20002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92BBB29-A518-46BC-8913-7C3F3795C158}"/>
              </a:ext>
            </a:extLst>
          </p:cNvPr>
          <p:cNvSpPr>
            <a:spLocks xmlns:a="http://schemas.openxmlformats.org/drawingml/2006/main" noGrp="1"/>
          </p:cNvSpPr>
          <p:nvPr/>
        </p:nvSpPr>
        <p:spPr>
          <a:xfrm xmlns:a="http://schemas.openxmlformats.org/drawingml/2006/main">
            <a:off x="8134350" y="3638550"/>
            <a:ext cx="276225"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FD2600F-9C3C-44B7-822E-19ECC923A0B3}"/>
              </a:ext>
            </a:extLst>
          </p:cNvPr>
          <p:cNvSpPr>
            <a:spLocks xmlns:a="http://schemas.openxmlformats.org/drawingml/2006/main" noGrp="1"/>
          </p:cNvSpPr>
          <p:nvPr/>
        </p:nvSpPr>
        <p:spPr>
          <a:xfrm xmlns:a="http://schemas.openxmlformats.org/drawingml/2006/main">
            <a:off x="7667625" y="3848100"/>
            <a:ext cx="38100" cy="962025"/>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DB7D7EB-42C3-4ADF-A353-6D61EF777FD2}"/>
              </a:ext>
            </a:extLst>
          </p:cNvPr>
          <p:cNvSpPr>
            <a:spLocks xmlns:a="http://schemas.openxmlformats.org/drawingml/2006/main" noGrp="1"/>
          </p:cNvSpPr>
          <p:nvPr/>
        </p:nvSpPr>
        <p:spPr>
          <a:xfrm xmlns:a="http://schemas.openxmlformats.org/drawingml/2006/main">
            <a:off x="7686675" y="4791075"/>
            <a:ext cx="657225" cy="38100"/>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61487A9-2A30-49C6-A053-5DCD208D8168}"/>
              </a:ext>
            </a:extLst>
          </p:cNvPr>
          <p:cNvSpPr>
            <a:spLocks xmlns:a="http://schemas.openxmlformats.org/drawingml/2006/main" noGrp="1"/>
          </p:cNvSpPr>
          <p:nvPr/>
        </p:nvSpPr>
        <p:spPr>
          <a:xfrm xmlns:a="http://schemas.openxmlformats.org/drawingml/2006/main">
            <a:off x="8115300" y="4733925"/>
            <a:ext cx="276225" cy="142875"/>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2E0437B-8B15-43A3-851E-3457CEABC673}"/>
              </a:ext>
            </a:extLst>
          </p:cNvPr>
          <p:cNvSpPr>
            <a:spLocks xmlns:a="http://schemas.openxmlformats.org/drawingml/2006/main" noGrp="1"/>
          </p:cNvSpPr>
          <p:nvPr/>
        </p:nvSpPr>
        <p:spPr>
          <a:xfrm xmlns:a="http://schemas.openxmlformats.org/drawingml/2006/main">
            <a:off x="762000" y="582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350" b="0">
                <a:solidFill>
                  <a:srgbClr val="65717D"/>
                </a:solidFill>
                <a:latin typeface="Arial"/>
                <a:ea typeface="Arial"/>
                <a:cs typeface="Arial"/>
              </a:defRPr>
            </a:pPr>
            <a:r>
              <a:rPr sz="1350" b="0">
                <a:solidFill>
                  <a:srgbClr val="65717D"/>
                </a:solidFill>
                <a:latin typeface="Arial"/>
                <a:ea typeface="Arial"/>
                <a:cs typeface="Arial"/>
              </a:rPr>
              <a:t>* Cơ chế xác thực, timeout và hold/release cần được chủ quy trình phê duyệt.</a:t>
            </a:r>
          </a:p>
        </p:txBody>
      </p:sp>
      <p:sp>
        <p:nvSpPr>
          <p:cNvPr id="42" name="">
            <a:extLst xmlns:a="http://schemas.openxmlformats.org/drawingml/2006/main">
              <a:ext uri="{FF2B5EF4-FFF2-40B4-BE49-F238E27FC236}">
                <a16:creationId xmlns:a16="http://schemas.microsoft.com/office/drawing/2014/main" id="{9CADBC43-38E9-47B3-9024-D356B593BFB2}"/>
              </a:ext>
            </a:extLst>
          </p:cNvPr>
          <p:cNvSpPr>
            <a:spLocks xmlns:a="http://schemas.openxmlformats.org/drawingml/2006/main" noGrp="1"/>
          </p:cNvSpPr>
          <p:nvPr/>
        </p:nvSpPr>
        <p:spPr>
          <a:xfrm xmlns:a="http://schemas.openxmlformats.org/drawingml/2006/main">
            <a:off x="762000" y="61626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7002"/>
          </a:bodyPr>
          <a:lstStyle xmlns:a="http://schemas.openxmlformats.org/drawingml/2006/main"/>
          <a:p xmlns:a="http://schemas.openxmlformats.org/drawingml/2006/main">
            <a:pPr algn="l">
              <a:lnSpc>
                <a:spcPct val="105000"/>
              </a:lnSpc>
              <a:buNone/>
              <a:defRPr sz="1350" b="1">
                <a:solidFill>
                  <a:srgbClr val="C84646"/>
                </a:solidFill>
                <a:latin typeface="Arial"/>
                <a:ea typeface="Arial"/>
                <a:cs typeface="Arial"/>
              </a:defRPr>
            </a:pPr>
            <a:r>
              <a:rPr sz="1350" b="1">
                <a:solidFill>
                  <a:srgbClr val="C84646"/>
                </a:solidFill>
                <a:latin typeface="Arial"/>
                <a:ea typeface="Arial"/>
                <a:cs typeface="Arial"/>
              </a:rPr>
              <a:t>PoC hiện chỉ tạo score và gợi ý trên UI; không gửi lệnh giao dịch.</a:t>
            </a:r>
          </a:p>
        </p:txBody>
      </p:sp>
    </p:spTree>
    <p:extLst>
      <p:ext uri="{BB962C8B-B14F-4D97-AF65-F5344CB8AC3E}">
        <p14:creationId xmlns:p14="http://schemas.microsoft.com/office/powerpoint/2010/main" val="20403257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54224C4-EA2F-4FF9-AE22-6B619E27CA7B}"/>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2437B6-665D-42B8-A1C0-E19BB111CF08}"/>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THIẾT KẾ</a:t>
            </a:r>
          </a:p>
        </p:txBody>
      </p:sp>
      <p:sp>
        <p:nvSpPr>
          <p:cNvPr id="3" name="">
            <a:extLst xmlns:a="http://schemas.openxmlformats.org/drawingml/2006/main">
              <a:ext uri="{FF2B5EF4-FFF2-40B4-BE49-F238E27FC236}">
                <a16:creationId xmlns:a16="http://schemas.microsoft.com/office/drawing/2014/main" id="{584BF344-5823-4875-9E52-61B1CCC34753}"/>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Giải pháp kỹ thuật: boosting trên dữ liệu bảng</a:t>
            </a:r>
          </a:p>
        </p:txBody>
      </p:sp>
      <p:sp>
        <p:nvSpPr>
          <p:cNvPr id="4" name="">
            <a:extLst xmlns:a="http://schemas.openxmlformats.org/drawingml/2006/main">
              <a:ext uri="{FF2B5EF4-FFF2-40B4-BE49-F238E27FC236}">
                <a16:creationId xmlns:a16="http://schemas.microsoft.com/office/drawing/2014/main" id="{D886D30F-95FC-45D9-B964-9DE8F516432B}"/>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BC67F5-5B10-4091-8D84-3DF6279223EF}"/>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7D36F78E-F2FA-4573-AC44-5C8BEFB571ED}"/>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C4A8F367-0138-498B-A538-D7670E7C4B25}"/>
              </a:ext>
            </a:extLst>
          </p:cNvPr>
          <p:cNvSpPr>
            <a:spLocks xmlns:a="http://schemas.openxmlformats.org/drawingml/2006/main" noGrp="1"/>
          </p:cNvSpPr>
          <p:nvPr/>
        </p:nvSpPr>
        <p:spPr>
          <a:xfrm xmlns:a="http://schemas.openxmlformats.org/drawingml/2006/main">
            <a:off x="857250" y="2333625"/>
            <a:ext cx="16192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D7E0E8"/>
            </a:solidFill>
          </a:ln>
        </p:spPr>
      </p:sp>
      <p:sp>
        <p:nvSpPr>
          <p:cNvPr id="8" name="">
            <a:extLst xmlns:a="http://schemas.openxmlformats.org/drawingml/2006/main">
              <a:ext uri="{FF2B5EF4-FFF2-40B4-BE49-F238E27FC236}">
                <a16:creationId xmlns:a16="http://schemas.microsoft.com/office/drawing/2014/main" id="{D648280F-C364-4634-9C6E-405DCCF30814}"/>
              </a:ext>
            </a:extLst>
          </p:cNvPr>
          <p:cNvSpPr>
            <a:spLocks xmlns:a="http://schemas.openxmlformats.org/drawingml/2006/main" noGrp="1"/>
          </p:cNvSpPr>
          <p:nvPr/>
        </p:nvSpPr>
        <p:spPr>
          <a:xfrm xmlns:a="http://schemas.openxmlformats.org/drawingml/2006/main">
            <a:off x="933450" y="2381250"/>
            <a:ext cx="1466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Giao dịch</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giả lập</a:t>
            </a:r>
          </a:p>
        </p:txBody>
      </p:sp>
      <p:sp>
        <p:nvSpPr>
          <p:cNvPr id="9" name="">
            <a:extLst xmlns:a="http://schemas.openxmlformats.org/drawingml/2006/main">
              <a:ext uri="{FF2B5EF4-FFF2-40B4-BE49-F238E27FC236}">
                <a16:creationId xmlns:a16="http://schemas.microsoft.com/office/drawing/2014/main" id="{ABB4D6E0-0CED-4C11-8BE4-EA4F57A4B4FB}"/>
              </a:ext>
            </a:extLst>
          </p:cNvPr>
          <p:cNvSpPr>
            <a:spLocks xmlns:a="http://schemas.openxmlformats.org/drawingml/2006/main" noGrp="1"/>
          </p:cNvSpPr>
          <p:nvPr/>
        </p:nvSpPr>
        <p:spPr>
          <a:xfrm xmlns:a="http://schemas.openxmlformats.org/drawingml/2006/main">
            <a:off x="3095625" y="2333625"/>
            <a:ext cx="16192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D7E0E8"/>
            </a:solidFill>
          </a:ln>
        </p:spPr>
      </p:sp>
      <p:sp>
        <p:nvSpPr>
          <p:cNvPr id="10" name="">
            <a:extLst xmlns:a="http://schemas.openxmlformats.org/drawingml/2006/main">
              <a:ext uri="{FF2B5EF4-FFF2-40B4-BE49-F238E27FC236}">
                <a16:creationId xmlns:a16="http://schemas.microsoft.com/office/drawing/2014/main" id="{F99D9E34-1F8E-4C89-85AA-9B28FCD9C30C}"/>
              </a:ext>
            </a:extLst>
          </p:cNvPr>
          <p:cNvSpPr>
            <a:spLocks xmlns:a="http://schemas.openxmlformats.org/drawingml/2006/main" noGrp="1"/>
          </p:cNvSpPr>
          <p:nvPr/>
        </p:nvSpPr>
        <p:spPr>
          <a:xfrm xmlns:a="http://schemas.openxmlformats.org/drawingml/2006/main">
            <a:off x="3171825" y="2381250"/>
            <a:ext cx="1466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Kiểm tra</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8 trường</a:t>
            </a:r>
          </a:p>
        </p:txBody>
      </p:sp>
      <p:sp>
        <p:nvSpPr>
          <p:cNvPr id="11" name="">
            <a:extLst xmlns:a="http://schemas.openxmlformats.org/drawingml/2006/main">
              <a:ext uri="{FF2B5EF4-FFF2-40B4-BE49-F238E27FC236}">
                <a16:creationId xmlns:a16="http://schemas.microsoft.com/office/drawing/2014/main" id="{4655AD56-ED36-43DC-AD1D-0CEE0DF35101}"/>
              </a:ext>
            </a:extLst>
          </p:cNvPr>
          <p:cNvSpPr>
            <a:spLocks xmlns:a="http://schemas.openxmlformats.org/drawingml/2006/main" noGrp="1"/>
          </p:cNvSpPr>
          <p:nvPr/>
        </p:nvSpPr>
        <p:spPr>
          <a:xfrm xmlns:a="http://schemas.openxmlformats.org/drawingml/2006/main">
            <a:off x="5334000" y="2333625"/>
            <a:ext cx="1619250" cy="1047750"/>
          </a:xfrm>
          <a:prstGeom xmlns:a="http://schemas.openxmlformats.org/drawingml/2006/main" prst="roundRect">
            <a:avLst>
              <a:gd name="adj" fmla="val 7273"/>
            </a:avLst>
          </a:prstGeom>
          <a:solidFill xmlns:a="http://schemas.openxmlformats.org/drawingml/2006/main">
            <a:srgbClr val="EAF1F8"/>
          </a:solidFill>
          <a:ln xmlns:a="http://schemas.openxmlformats.org/drawingml/2006/main" w="19050">
            <a:solidFill>
              <a:srgbClr val="3E6B97"/>
            </a:solidFill>
          </a:ln>
        </p:spPr>
      </p:sp>
      <p:sp>
        <p:nvSpPr>
          <p:cNvPr id="12" name="">
            <a:extLst xmlns:a="http://schemas.openxmlformats.org/drawingml/2006/main">
              <a:ext uri="{FF2B5EF4-FFF2-40B4-BE49-F238E27FC236}">
                <a16:creationId xmlns:a16="http://schemas.microsoft.com/office/drawing/2014/main" id="{4355018E-0184-4C58-9211-1371C17B54C2}"/>
              </a:ext>
            </a:extLst>
          </p:cNvPr>
          <p:cNvSpPr>
            <a:spLocks xmlns:a="http://schemas.openxmlformats.org/drawingml/2006/main" noGrp="1"/>
          </p:cNvSpPr>
          <p:nvPr/>
        </p:nvSpPr>
        <p:spPr>
          <a:xfrm xmlns:a="http://schemas.openxmlformats.org/drawingml/2006/main">
            <a:off x="5410200" y="2381250"/>
            <a:ext cx="1466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XGBoost</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seed 42</a:t>
            </a:r>
          </a:p>
        </p:txBody>
      </p:sp>
      <p:sp>
        <p:nvSpPr>
          <p:cNvPr id="13" name="">
            <a:extLst xmlns:a="http://schemas.openxmlformats.org/drawingml/2006/main">
              <a:ext uri="{FF2B5EF4-FFF2-40B4-BE49-F238E27FC236}">
                <a16:creationId xmlns:a16="http://schemas.microsoft.com/office/drawing/2014/main" id="{1AAC070D-9E01-466B-811D-88516DDFF342}"/>
              </a:ext>
            </a:extLst>
          </p:cNvPr>
          <p:cNvSpPr>
            <a:spLocks xmlns:a="http://schemas.openxmlformats.org/drawingml/2006/main" noGrp="1"/>
          </p:cNvSpPr>
          <p:nvPr/>
        </p:nvSpPr>
        <p:spPr>
          <a:xfrm xmlns:a="http://schemas.openxmlformats.org/drawingml/2006/main">
            <a:off x="7572375" y="2333625"/>
            <a:ext cx="16192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D7E0E8"/>
            </a:solidFill>
          </a:ln>
        </p:spPr>
      </p:sp>
      <p:sp>
        <p:nvSpPr>
          <p:cNvPr id="14" name="">
            <a:extLst xmlns:a="http://schemas.openxmlformats.org/drawingml/2006/main">
              <a:ext uri="{FF2B5EF4-FFF2-40B4-BE49-F238E27FC236}">
                <a16:creationId xmlns:a16="http://schemas.microsoft.com/office/drawing/2014/main" id="{10B377EA-B807-4167-9E08-0E6EBA1178F5}"/>
              </a:ext>
            </a:extLst>
          </p:cNvPr>
          <p:cNvSpPr>
            <a:spLocks xmlns:a="http://schemas.openxmlformats.org/drawingml/2006/main" noGrp="1"/>
          </p:cNvSpPr>
          <p:nvPr/>
        </p:nvSpPr>
        <p:spPr>
          <a:xfrm xmlns:a="http://schemas.openxmlformats.org/drawingml/2006/main">
            <a:off x="7648575" y="2381250"/>
            <a:ext cx="1466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Policy demo</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3 vùng</a:t>
            </a:r>
          </a:p>
        </p:txBody>
      </p:sp>
      <p:sp>
        <p:nvSpPr>
          <p:cNvPr id="15" name="">
            <a:extLst xmlns:a="http://schemas.openxmlformats.org/drawingml/2006/main">
              <a:ext uri="{FF2B5EF4-FFF2-40B4-BE49-F238E27FC236}">
                <a16:creationId xmlns:a16="http://schemas.microsoft.com/office/drawing/2014/main" id="{92A7E0A1-2BD4-417D-A5CC-5A8BC1EBAAAF}"/>
              </a:ext>
            </a:extLst>
          </p:cNvPr>
          <p:cNvSpPr>
            <a:spLocks xmlns:a="http://schemas.openxmlformats.org/drawingml/2006/main" noGrp="1"/>
          </p:cNvSpPr>
          <p:nvPr/>
        </p:nvSpPr>
        <p:spPr>
          <a:xfrm xmlns:a="http://schemas.openxmlformats.org/drawingml/2006/main">
            <a:off x="9810750" y="2333625"/>
            <a:ext cx="16192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D7E0E8"/>
            </a:solidFill>
          </a:ln>
        </p:spPr>
      </p:sp>
      <p:sp>
        <p:nvSpPr>
          <p:cNvPr id="16" name="">
            <a:extLst xmlns:a="http://schemas.openxmlformats.org/drawingml/2006/main">
              <a:ext uri="{FF2B5EF4-FFF2-40B4-BE49-F238E27FC236}">
                <a16:creationId xmlns:a16="http://schemas.microsoft.com/office/drawing/2014/main" id="{6BDBBF29-0298-4BFF-B47F-35467B3FD614}"/>
              </a:ext>
            </a:extLst>
          </p:cNvPr>
          <p:cNvSpPr>
            <a:spLocks xmlns:a="http://schemas.openxmlformats.org/drawingml/2006/main" noGrp="1"/>
          </p:cNvSpPr>
          <p:nvPr/>
        </p:nvSpPr>
        <p:spPr>
          <a:xfrm xmlns:a="http://schemas.openxmlformats.org/drawingml/2006/main">
            <a:off x="9886950" y="2381250"/>
            <a:ext cx="1466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Lịch sử</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 CSV</a:t>
            </a:r>
          </a:p>
        </p:txBody>
      </p:sp>
      <p:cxnSp>
        <p:nvCxnSpPr>
          <p:cNvPr id="42" name=""/>
          <p:cNvCxnSpPr>
            <a:stCxn xmlns:a="http://schemas.openxmlformats.org/drawingml/2006/main" id="7" idx="3"/>
            <a:endCxn xmlns:a="http://schemas.openxmlformats.org/drawingml/2006/main" id="9" idx="1"/>
          </p:cNvCxnSpPr>
          <p:nvPr/>
        </p:nvCxnSpPr>
        <p:spPr>
          <a:xfrm xmlns:a="http://schemas.openxmlformats.org/drawingml/2006/main">
            <a:off x="2476500" y="2857500"/>
            <a:ext cx="619125" cy="0"/>
          </a:xfrm>
          <a:prstGeom xmlns:a="http://schemas.openxmlformats.org/drawingml/2006/main" prst="straightConnector1">
            <a:avLst/>
          </a:prstGeom>
          <a:ln xmlns:a="http://schemas.openxmlformats.org/drawingml/2006/main" w="28575">
            <a:solidFill>
              <a:srgbClr val="3E6B97"/>
            </a:solidFill>
            <a:prstDash val="solid"/>
            <a:tailEnd type="arrow" w="med" len="med"/>
          </a:ln>
        </p:spPr>
      </p:cxnSp>
      <p:cxnSp>
        <p:nvCxnSpPr>
          <p:cNvPr id="43" name=""/>
          <p:cNvCxnSpPr>
            <a:stCxn xmlns:a="http://schemas.openxmlformats.org/drawingml/2006/main" id="9" idx="3"/>
            <a:endCxn xmlns:a="http://schemas.openxmlformats.org/drawingml/2006/main" id="11" idx="1"/>
          </p:cNvCxnSpPr>
          <p:nvPr/>
        </p:nvCxnSpPr>
        <p:spPr>
          <a:xfrm xmlns:a="http://schemas.openxmlformats.org/drawingml/2006/main">
            <a:off x="4714875" y="2857500"/>
            <a:ext cx="619125" cy="0"/>
          </a:xfrm>
          <a:prstGeom xmlns:a="http://schemas.openxmlformats.org/drawingml/2006/main" prst="straightConnector1">
            <a:avLst/>
          </a:prstGeom>
          <a:ln xmlns:a="http://schemas.openxmlformats.org/drawingml/2006/main" w="28575">
            <a:solidFill>
              <a:srgbClr val="3E6B97"/>
            </a:solidFill>
            <a:prstDash val="solid"/>
            <a:tailEnd type="arrow" w="med" len="med"/>
          </a:ln>
        </p:spPr>
      </p:cxnSp>
      <p:cxnSp>
        <p:nvCxnSpPr>
          <p:cNvPr id="44" name=""/>
          <p:cNvCxnSpPr>
            <a:stCxn xmlns:a="http://schemas.openxmlformats.org/drawingml/2006/main" id="11" idx="3"/>
            <a:endCxn xmlns:a="http://schemas.openxmlformats.org/drawingml/2006/main" id="13" idx="1"/>
          </p:cNvCxnSpPr>
          <p:nvPr/>
        </p:nvCxnSpPr>
        <p:spPr>
          <a:xfrm xmlns:a="http://schemas.openxmlformats.org/drawingml/2006/main">
            <a:off x="6953250" y="2857500"/>
            <a:ext cx="619125" cy="0"/>
          </a:xfrm>
          <a:prstGeom xmlns:a="http://schemas.openxmlformats.org/drawingml/2006/main" prst="straightConnector1">
            <a:avLst/>
          </a:prstGeom>
          <a:ln xmlns:a="http://schemas.openxmlformats.org/drawingml/2006/main" w="28575">
            <a:solidFill>
              <a:srgbClr val="3E6B97"/>
            </a:solidFill>
            <a:prstDash val="solid"/>
            <a:tailEnd type="arrow" w="med" len="med"/>
          </a:ln>
        </p:spPr>
      </p:cxnSp>
      <p:cxnSp>
        <p:nvCxnSpPr>
          <p:cNvPr id="45" name=""/>
          <p:cNvCxnSpPr>
            <a:stCxn xmlns:a="http://schemas.openxmlformats.org/drawingml/2006/main" id="13" idx="3"/>
            <a:endCxn xmlns:a="http://schemas.openxmlformats.org/drawingml/2006/main" id="15" idx="1"/>
          </p:cNvCxnSpPr>
          <p:nvPr/>
        </p:nvCxnSpPr>
        <p:spPr>
          <a:xfrm xmlns:a="http://schemas.openxmlformats.org/drawingml/2006/main">
            <a:off x="9191625" y="2857500"/>
            <a:ext cx="619125" cy="0"/>
          </a:xfrm>
          <a:prstGeom xmlns:a="http://schemas.openxmlformats.org/drawingml/2006/main" prst="straightConnector1">
            <a:avLst/>
          </a:prstGeom>
          <a:ln xmlns:a="http://schemas.openxmlformats.org/drawingml/2006/main" w="28575">
            <a:solidFill>
              <a:srgbClr val="3E6B97"/>
            </a:solidFill>
            <a:prstDash val="solid"/>
            <a:tailEnd type="arrow" w="med" len="med"/>
          </a:ln>
        </p:spPr>
      </p:cxnSp>
      <p:sp>
        <p:nvSpPr>
          <p:cNvPr id="21" name="">
            <a:extLst xmlns:a="http://schemas.openxmlformats.org/drawingml/2006/main">
              <a:ext uri="{FF2B5EF4-FFF2-40B4-BE49-F238E27FC236}">
                <a16:creationId xmlns:a16="http://schemas.microsoft.com/office/drawing/2014/main" id="{1D6B7189-A76E-46A0-9C84-1BD8B33AC907}"/>
              </a:ext>
            </a:extLst>
          </p:cNvPr>
          <p:cNvSpPr>
            <a:spLocks xmlns:a="http://schemas.openxmlformats.org/drawingml/2006/main" noGrp="1"/>
          </p:cNvSpPr>
          <p:nvPr/>
        </p:nvSpPr>
        <p:spPr>
          <a:xfrm xmlns:a="http://schemas.openxmlformats.org/drawingml/2006/main">
            <a:off x="876300" y="4191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899"/>
          </a:bodyPr>
          <a:lstStyle xmlns:a="http://schemas.openxmlformats.org/drawingml/2006/main"/>
          <a:p xmlns:a="http://schemas.openxmlformats.org/drawingml/2006/main">
            <a:pPr algn="l">
              <a:lnSpc>
                <a:spcPct val="105000"/>
              </a:lnSpc>
              <a:buNone/>
              <a:defRPr sz="1800" b="1">
                <a:solidFill>
                  <a:srgbClr val="3E6B97"/>
                </a:solidFill>
                <a:latin typeface="Arial"/>
                <a:ea typeface="Arial"/>
                <a:cs typeface="Arial"/>
              </a:defRPr>
            </a:pPr>
            <a:r>
              <a:rPr sz="1800" b="1">
                <a:solidFill>
                  <a:srgbClr val="3E6B97"/>
                </a:solidFill>
                <a:latin typeface="Arial"/>
                <a:ea typeface="Arial"/>
                <a:cs typeface="Arial"/>
              </a:rPr>
              <a:t>XGBoost</a:t>
            </a:r>
          </a:p>
        </p:txBody>
      </p:sp>
      <p:sp>
        <p:nvSpPr>
          <p:cNvPr id="22" name="">
            <a:extLst xmlns:a="http://schemas.openxmlformats.org/drawingml/2006/main">
              <a:ext uri="{FF2B5EF4-FFF2-40B4-BE49-F238E27FC236}">
                <a16:creationId xmlns:a16="http://schemas.microsoft.com/office/drawing/2014/main" id="{D99128E3-A17B-4632-8AE6-B47348F854DB}"/>
              </a:ext>
            </a:extLst>
          </p:cNvPr>
          <p:cNvSpPr>
            <a:spLocks xmlns:a="http://schemas.openxmlformats.org/drawingml/2006/main" noGrp="1"/>
          </p:cNvSpPr>
          <p:nvPr/>
        </p:nvSpPr>
        <p:spPr>
          <a:xfrm xmlns:a="http://schemas.openxmlformats.org/drawingml/2006/main">
            <a:off x="857250" y="4619625"/>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89015"/>
          </a:bodyPr>
          <a:lstStyle xmlns:a="http://schemas.openxmlformats.org/drawingml/2006/main"/>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Gradient-boosted trees phù hợp với dữ liệu dạng bảng</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Tỷ lệ lớp dương dùng trong scale_pos_weight chỉ từ train</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Score chưa được calibration</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TreeSHAP mô tả đóng góp vào raw margin</a:t>
            </a:r>
          </a:p>
        </p:txBody>
      </p:sp>
      <p:sp>
        <p:nvSpPr>
          <p:cNvPr id="23" name="">
            <a:extLst xmlns:a="http://schemas.openxmlformats.org/drawingml/2006/main">
              <a:ext uri="{FF2B5EF4-FFF2-40B4-BE49-F238E27FC236}">
                <a16:creationId xmlns:a16="http://schemas.microsoft.com/office/drawing/2014/main" id="{464F5C77-0AD3-4DDD-AA66-6016AEDCCF72}"/>
              </a:ext>
            </a:extLst>
          </p:cNvPr>
          <p:cNvSpPr>
            <a:spLocks xmlns:a="http://schemas.openxmlformats.org/drawingml/2006/main" noGrp="1"/>
          </p:cNvSpPr>
          <p:nvPr/>
        </p:nvSpPr>
        <p:spPr>
          <a:xfrm xmlns:a="http://schemas.openxmlformats.org/drawingml/2006/main">
            <a:off x="6334125" y="4171950"/>
            <a:ext cx="5048250" cy="1952625"/>
          </a:xfrm>
          <a:prstGeom xmlns:a="http://schemas.openxmlformats.org/drawingml/2006/main" prst="roundRect">
            <a:avLst>
              <a:gd name="adj" fmla="val 3902"/>
            </a:avLst>
          </a:prstGeom>
          <a:solidFill xmlns:a="http://schemas.openxmlformats.org/drawingml/2006/main">
            <a:srgbClr val="FFF4D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2C98430-08F5-4E20-861C-127FAA2ED797}"/>
              </a:ext>
            </a:extLst>
          </p:cNvPr>
          <p:cNvSpPr>
            <a:spLocks xmlns:a="http://schemas.openxmlformats.org/drawingml/2006/main" noGrp="1"/>
          </p:cNvSpPr>
          <p:nvPr/>
        </p:nvSpPr>
        <p:spPr>
          <a:xfrm xmlns:a="http://schemas.openxmlformats.org/drawingml/2006/main">
            <a:off x="6610350" y="436245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3795"/>
          </a:bodyPr>
          <a:lstStyle xmlns:a="http://schemas.openxmlformats.org/drawingml/2006/main"/>
          <a:p xmlns:a="http://schemas.openxmlformats.org/drawingml/2006/main">
            <a:pPr algn="l">
              <a:lnSpc>
                <a:spcPct val="105000"/>
              </a:lnSpc>
              <a:buNone/>
              <a:defRPr sz="1650" b="1">
                <a:solidFill>
                  <a:srgbClr val="D49122"/>
                </a:solidFill>
                <a:latin typeface="Arial"/>
                <a:ea typeface="Arial"/>
                <a:cs typeface="Arial"/>
              </a:defRPr>
            </a:pPr>
            <a:r>
              <a:rPr sz="1650" b="1">
                <a:solidFill>
                  <a:srgbClr val="D49122"/>
                </a:solidFill>
                <a:latin typeface="Arial"/>
                <a:ea typeface="Arial"/>
                <a:cs typeface="Arial"/>
              </a:rPr>
              <a:t>Chưa cài / chưa kết nối</a:t>
            </a:r>
          </a:p>
        </p:txBody>
      </p:sp>
      <p:sp>
        <p:nvSpPr>
          <p:cNvPr id="25" name="">
            <a:extLst xmlns:a="http://schemas.openxmlformats.org/drawingml/2006/main">
              <a:ext uri="{FF2B5EF4-FFF2-40B4-BE49-F238E27FC236}">
                <a16:creationId xmlns:a16="http://schemas.microsoft.com/office/drawing/2014/main" id="{2B048D65-D9BC-4759-B7F6-2A14A313ED4B}"/>
              </a:ext>
            </a:extLst>
          </p:cNvPr>
          <p:cNvSpPr>
            <a:spLocks xmlns:a="http://schemas.openxmlformats.org/drawingml/2006/main" noGrp="1"/>
          </p:cNvSpPr>
          <p:nvPr/>
        </p:nvSpPr>
        <p:spPr>
          <a:xfrm xmlns:a="http://schemas.openxmlformats.org/drawingml/2006/main">
            <a:off x="6610350" y="4829175"/>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4931"/>
          </a:bodyPr>
          <a:lstStyle xmlns:a="http://schemas.openxmlformats.org/drawingml/2006/main"/>
          <a:p xmlns:a="http://schemas.openxmlformats.org/drawingml/2006/main">
            <a:pPr algn="l">
              <a:lnSpc>
                <a:spcPct val="112000"/>
              </a:lnSpc>
              <a:buNone/>
              <a:defRPr sz="1575" b="0">
                <a:solidFill>
                  <a:srgbClr val="202A35"/>
                </a:solidFill>
                <a:latin typeface="Arial"/>
                <a:ea typeface="Arial"/>
                <a:cs typeface="Arial"/>
              </a:defRPr>
            </a:pPr>
            <a:r>
              <a:rPr sz="1575" b="0">
                <a:solidFill>
                  <a:srgbClr val="202A35"/>
                </a:solidFill>
                <a:latin typeface="Arial"/>
                <a:ea typeface="Arial"/>
                <a:cs typeface="Arial"/>
              </a:rPr>
              <a:t>Kafka, API Gateway, feature store, Core Banking</a:t>
            </a:r>
          </a:p>
          <a:p xmlns:a="http://schemas.openxmlformats.org/drawingml/2006/main">
            <a:pPr algn="l">
              <a:lnSpc>
                <a:spcPct val="112000"/>
              </a:lnSpc>
              <a:buNone/>
              <a:defRPr sz="1575" b="0">
                <a:solidFill>
                  <a:srgbClr val="202A35"/>
                </a:solidFill>
                <a:latin typeface="Arial"/>
                <a:ea typeface="Arial"/>
                <a:cs typeface="Arial"/>
              </a:defRPr>
            </a:pPr>
            <a:r>
              <a:rPr sz="1575" b="0">
                <a:solidFill>
                  <a:srgbClr val="202A35"/>
                </a:solidFill>
                <a:latin typeface="Arial"/>
                <a:ea typeface="Arial"/>
                <a:cs typeface="Arial"/>
              </a:rPr>
              <a:t>OTP / FaceID, lưu trữ bền vững, HA/DR</a:t>
            </a:r>
          </a:p>
        </p:txBody>
      </p:sp>
    </p:spTree>
    <p:extLst>
      <p:ext uri="{BB962C8B-B14F-4D97-AF65-F5344CB8AC3E}">
        <p14:creationId xmlns:p14="http://schemas.microsoft.com/office/powerpoint/2010/main" val="19764511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C89EF0-FFBB-475A-90A2-9724048B6CEB}"/>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9E66DF-4709-4863-A93F-393B2134929E}"/>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THỰC NGHIỆM</a:t>
            </a:r>
          </a:p>
        </p:txBody>
      </p:sp>
      <p:sp>
        <p:nvSpPr>
          <p:cNvPr id="3" name="">
            <a:extLst xmlns:a="http://schemas.openxmlformats.org/drawingml/2006/main">
              <a:ext uri="{FF2B5EF4-FFF2-40B4-BE49-F238E27FC236}">
                <a16:creationId xmlns:a16="http://schemas.microsoft.com/office/drawing/2014/main" id="{6E86D428-E9FE-4587-A337-F80FCB594690}"/>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Dữ liệu tổng hợp và nhãn thiết kế</a:t>
            </a:r>
          </a:p>
        </p:txBody>
      </p:sp>
      <p:sp>
        <p:nvSpPr>
          <p:cNvPr id="4" name="">
            <a:extLst xmlns:a="http://schemas.openxmlformats.org/drawingml/2006/main">
              <a:ext uri="{FF2B5EF4-FFF2-40B4-BE49-F238E27FC236}">
                <a16:creationId xmlns:a16="http://schemas.microsoft.com/office/drawing/2014/main" id="{9A9C4AD9-067B-4E8E-AC70-6FA548442A81}"/>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0E63F3-4BC8-4720-9C6D-23E1F95B2D81}"/>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64C7A180-1D8A-4D75-AFE6-139CA0D7A5F1}"/>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51EEEC25-37BE-4239-A81B-8A747FBCF094}"/>
              </a:ext>
            </a:extLst>
          </p:cNvPr>
          <p:cNvSpPr>
            <a:spLocks xmlns:a="http://schemas.openxmlformats.org/drawingml/2006/main" noGrp="1"/>
          </p:cNvSpPr>
          <p:nvPr/>
        </p:nvSpPr>
        <p:spPr>
          <a:xfrm xmlns:a="http://schemas.openxmlformats.org/drawingml/2006/main">
            <a:off x="809625" y="158115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2850" b="1">
                <a:solidFill>
                  <a:srgbClr val="14365D"/>
                </a:solidFill>
                <a:latin typeface="Arial"/>
                <a:ea typeface="Arial"/>
                <a:cs typeface="Arial"/>
              </a:defRPr>
            </a:pPr>
            <a:r>
              <a:rPr sz="2850" b="1">
                <a:solidFill>
                  <a:srgbClr val="14365D"/>
                </a:solidFill>
                <a:latin typeface="Arial"/>
                <a:ea typeface="Arial"/>
                <a:cs typeface="Arial"/>
              </a:rPr>
              <a:t>25.000</a:t>
            </a:r>
          </a:p>
        </p:txBody>
      </p:sp>
      <p:sp>
        <p:nvSpPr>
          <p:cNvPr id="8" name="">
            <a:extLst xmlns:a="http://schemas.openxmlformats.org/drawingml/2006/main">
              <a:ext uri="{FF2B5EF4-FFF2-40B4-BE49-F238E27FC236}">
                <a16:creationId xmlns:a16="http://schemas.microsoft.com/office/drawing/2014/main" id="{7AB0767F-E3F0-405D-B87F-C7585397BD48}"/>
              </a:ext>
            </a:extLst>
          </p:cNvPr>
          <p:cNvSpPr>
            <a:spLocks xmlns:a="http://schemas.openxmlformats.org/drawingml/2006/main" noGrp="1"/>
          </p:cNvSpPr>
          <p:nvPr/>
        </p:nvSpPr>
        <p:spPr>
          <a:xfrm xmlns:a="http://schemas.openxmlformats.org/drawingml/2006/main">
            <a:off x="809625" y="22479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0">
                <a:solidFill>
                  <a:srgbClr val="65717D"/>
                </a:solidFill>
                <a:latin typeface="Arial"/>
                <a:ea typeface="Arial"/>
                <a:cs typeface="Arial"/>
              </a:defRPr>
            </a:pPr>
            <a:r>
              <a:rPr sz="1350" b="0">
                <a:solidFill>
                  <a:srgbClr val="65717D"/>
                </a:solidFill>
                <a:latin typeface="Arial"/>
                <a:ea typeface="Arial"/>
                <a:cs typeface="Arial"/>
              </a:rPr>
              <a:t>giao dịch sinh tổng hợp</a:t>
            </a:r>
          </a:p>
        </p:txBody>
      </p:sp>
      <p:sp>
        <p:nvSpPr>
          <p:cNvPr id="9" name="">
            <a:extLst xmlns:a="http://schemas.openxmlformats.org/drawingml/2006/main">
              <a:ext uri="{FF2B5EF4-FFF2-40B4-BE49-F238E27FC236}">
                <a16:creationId xmlns:a16="http://schemas.microsoft.com/office/drawing/2014/main" id="{DED11385-72D4-49E6-AB86-AD44B7D083E2}"/>
              </a:ext>
            </a:extLst>
          </p:cNvPr>
          <p:cNvSpPr>
            <a:spLocks xmlns:a="http://schemas.openxmlformats.org/drawingml/2006/main" noGrp="1"/>
          </p:cNvSpPr>
          <p:nvPr/>
        </p:nvSpPr>
        <p:spPr>
          <a:xfrm xmlns:a="http://schemas.openxmlformats.org/drawingml/2006/main">
            <a:off x="923925" y="2857500"/>
            <a:ext cx="2152650" cy="28575"/>
          </a:xfrm>
          <a:prstGeom xmlns:a="http://schemas.openxmlformats.org/drawingml/2006/main" prst="rect">
            <a:avLst/>
          </a:prstGeom>
          <a:solidFill xmlns:a="http://schemas.openxmlformats.org/drawingml/2006/main">
            <a:srgbClr val="3E6B9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D5BD38E-D00A-4A6D-905C-76B2E4B6A845}"/>
              </a:ext>
            </a:extLst>
          </p:cNvPr>
          <p:cNvSpPr>
            <a:spLocks xmlns:a="http://schemas.openxmlformats.org/drawingml/2006/main" noGrp="1"/>
          </p:cNvSpPr>
          <p:nvPr/>
        </p:nvSpPr>
        <p:spPr>
          <a:xfrm xmlns:a="http://schemas.openxmlformats.org/drawingml/2006/main">
            <a:off x="3495675" y="158115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2850" b="1">
                <a:solidFill>
                  <a:srgbClr val="14365D"/>
                </a:solidFill>
                <a:latin typeface="Arial"/>
                <a:ea typeface="Arial"/>
                <a:cs typeface="Arial"/>
              </a:defRPr>
            </a:pPr>
            <a:r>
              <a:rPr sz="2850" b="1">
                <a:solidFill>
                  <a:srgbClr val="14365D"/>
                </a:solidFill>
                <a:latin typeface="Arial"/>
                <a:ea typeface="Arial"/>
                <a:cs typeface="Arial"/>
              </a:rPr>
              <a:t>1,8%</a:t>
            </a:r>
          </a:p>
        </p:txBody>
      </p:sp>
      <p:sp>
        <p:nvSpPr>
          <p:cNvPr id="11" name="">
            <a:extLst xmlns:a="http://schemas.openxmlformats.org/drawingml/2006/main">
              <a:ext uri="{FF2B5EF4-FFF2-40B4-BE49-F238E27FC236}">
                <a16:creationId xmlns:a16="http://schemas.microsoft.com/office/drawing/2014/main" id="{D346E6C4-B1CE-409B-B10D-BB61387FD176}"/>
              </a:ext>
            </a:extLst>
          </p:cNvPr>
          <p:cNvSpPr>
            <a:spLocks xmlns:a="http://schemas.openxmlformats.org/drawingml/2006/main" noGrp="1"/>
          </p:cNvSpPr>
          <p:nvPr/>
        </p:nvSpPr>
        <p:spPr>
          <a:xfrm xmlns:a="http://schemas.openxmlformats.org/drawingml/2006/main">
            <a:off x="3495675" y="22479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0">
                <a:solidFill>
                  <a:srgbClr val="65717D"/>
                </a:solidFill>
                <a:latin typeface="Arial"/>
                <a:ea typeface="Arial"/>
                <a:cs typeface="Arial"/>
              </a:defRPr>
            </a:pPr>
            <a:r>
              <a:rPr sz="1350" b="0">
                <a:solidFill>
                  <a:srgbClr val="65717D"/>
                </a:solidFill>
                <a:latin typeface="Arial"/>
                <a:ea typeface="Arial"/>
                <a:cs typeface="Arial"/>
              </a:rPr>
              <a:t>tỷ lệ nhãn dương thiết kế</a:t>
            </a:r>
          </a:p>
        </p:txBody>
      </p:sp>
      <p:sp>
        <p:nvSpPr>
          <p:cNvPr id="12" name="">
            <a:extLst xmlns:a="http://schemas.openxmlformats.org/drawingml/2006/main">
              <a:ext uri="{FF2B5EF4-FFF2-40B4-BE49-F238E27FC236}">
                <a16:creationId xmlns:a16="http://schemas.microsoft.com/office/drawing/2014/main" id="{6E226E08-0570-4ED7-B6FB-C77E126BF2E3}"/>
              </a:ext>
            </a:extLst>
          </p:cNvPr>
          <p:cNvSpPr>
            <a:spLocks xmlns:a="http://schemas.openxmlformats.org/drawingml/2006/main" noGrp="1"/>
          </p:cNvSpPr>
          <p:nvPr/>
        </p:nvSpPr>
        <p:spPr>
          <a:xfrm xmlns:a="http://schemas.openxmlformats.org/drawingml/2006/main">
            <a:off x="3609975" y="2857500"/>
            <a:ext cx="2152650" cy="28575"/>
          </a:xfrm>
          <a:prstGeom xmlns:a="http://schemas.openxmlformats.org/drawingml/2006/main" prst="rect">
            <a:avLst/>
          </a:prstGeom>
          <a:solidFill xmlns:a="http://schemas.openxmlformats.org/drawingml/2006/main">
            <a:srgbClr val="2B7A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9629C0B-CBDC-4F13-AB5B-73191222FEBD}"/>
              </a:ext>
            </a:extLst>
          </p:cNvPr>
          <p:cNvSpPr>
            <a:spLocks xmlns:a="http://schemas.openxmlformats.org/drawingml/2006/main" noGrp="1"/>
          </p:cNvSpPr>
          <p:nvPr/>
        </p:nvSpPr>
        <p:spPr>
          <a:xfrm xmlns:a="http://schemas.openxmlformats.org/drawingml/2006/main">
            <a:off x="6181725" y="158115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2850" b="1">
                <a:solidFill>
                  <a:srgbClr val="14365D"/>
                </a:solidFill>
                <a:latin typeface="Arial"/>
                <a:ea typeface="Arial"/>
                <a:cs typeface="Arial"/>
              </a:defRPr>
            </a:pPr>
            <a:r>
              <a:rPr sz="2850" b="1">
                <a:solidFill>
                  <a:srgbClr val="14365D"/>
                </a:solidFill>
                <a:latin typeface="Arial"/>
                <a:ea typeface="Arial"/>
                <a:cs typeface="Arial"/>
              </a:rPr>
              <a:t>8</a:t>
            </a:r>
          </a:p>
        </p:txBody>
      </p:sp>
      <p:sp>
        <p:nvSpPr>
          <p:cNvPr id="14" name="">
            <a:extLst xmlns:a="http://schemas.openxmlformats.org/drawingml/2006/main">
              <a:ext uri="{FF2B5EF4-FFF2-40B4-BE49-F238E27FC236}">
                <a16:creationId xmlns:a16="http://schemas.microsoft.com/office/drawing/2014/main" id="{ECEB43B9-EAC1-462D-BD06-C5232EAD443A}"/>
              </a:ext>
            </a:extLst>
          </p:cNvPr>
          <p:cNvSpPr>
            <a:spLocks xmlns:a="http://schemas.openxmlformats.org/drawingml/2006/main" noGrp="1"/>
          </p:cNvSpPr>
          <p:nvPr/>
        </p:nvSpPr>
        <p:spPr>
          <a:xfrm xmlns:a="http://schemas.openxmlformats.org/drawingml/2006/main">
            <a:off x="6181725" y="22479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0">
                <a:solidFill>
                  <a:srgbClr val="65717D"/>
                </a:solidFill>
                <a:latin typeface="Arial"/>
                <a:ea typeface="Arial"/>
                <a:cs typeface="Arial"/>
              </a:defRPr>
            </a:pPr>
            <a:r>
              <a:rPr sz="1350" b="0">
                <a:solidFill>
                  <a:srgbClr val="65717D"/>
                </a:solidFill>
                <a:latin typeface="Arial"/>
                <a:ea typeface="Arial"/>
                <a:cs typeface="Arial"/>
              </a:rPr>
              <a:t>đặc trưng đầu vào</a:t>
            </a:r>
          </a:p>
        </p:txBody>
      </p:sp>
      <p:sp>
        <p:nvSpPr>
          <p:cNvPr id="15" name="">
            <a:extLst xmlns:a="http://schemas.openxmlformats.org/drawingml/2006/main">
              <a:ext uri="{FF2B5EF4-FFF2-40B4-BE49-F238E27FC236}">
                <a16:creationId xmlns:a16="http://schemas.microsoft.com/office/drawing/2014/main" id="{9AF00819-4B1F-4B7C-B4C8-50106AD1AEFB}"/>
              </a:ext>
            </a:extLst>
          </p:cNvPr>
          <p:cNvSpPr>
            <a:spLocks xmlns:a="http://schemas.openxmlformats.org/drawingml/2006/main" noGrp="1"/>
          </p:cNvSpPr>
          <p:nvPr/>
        </p:nvSpPr>
        <p:spPr>
          <a:xfrm xmlns:a="http://schemas.openxmlformats.org/drawingml/2006/main">
            <a:off x="6296025" y="2857500"/>
            <a:ext cx="2152650" cy="28575"/>
          </a:xfrm>
          <a:prstGeom xmlns:a="http://schemas.openxmlformats.org/drawingml/2006/main" prst="rect">
            <a:avLst/>
          </a:prstGeom>
          <a:solidFill xmlns:a="http://schemas.openxmlformats.org/drawingml/2006/main">
            <a:srgbClr val="D4912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C5176D6-B18F-404D-9549-7BDA66A7C1AF}"/>
              </a:ext>
            </a:extLst>
          </p:cNvPr>
          <p:cNvSpPr>
            <a:spLocks xmlns:a="http://schemas.openxmlformats.org/drawingml/2006/main" noGrp="1"/>
          </p:cNvSpPr>
          <p:nvPr/>
        </p:nvSpPr>
        <p:spPr>
          <a:xfrm xmlns:a="http://schemas.openxmlformats.org/drawingml/2006/main">
            <a:off x="8867775" y="158115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2850" b="1">
                <a:solidFill>
                  <a:srgbClr val="14365D"/>
                </a:solidFill>
                <a:latin typeface="Arial"/>
                <a:ea typeface="Arial"/>
                <a:cs typeface="Arial"/>
              </a:defRPr>
            </a:pPr>
            <a:r>
              <a:rPr sz="2850" b="1">
                <a:solidFill>
                  <a:srgbClr val="14365D"/>
                </a:solidFill>
                <a:latin typeface="Arial"/>
                <a:ea typeface="Arial"/>
                <a:cs typeface="Arial"/>
              </a:rPr>
              <a:t>42 / 52 / 62</a:t>
            </a:r>
          </a:p>
        </p:txBody>
      </p:sp>
      <p:sp>
        <p:nvSpPr>
          <p:cNvPr id="17" name="">
            <a:extLst xmlns:a="http://schemas.openxmlformats.org/drawingml/2006/main">
              <a:ext uri="{FF2B5EF4-FFF2-40B4-BE49-F238E27FC236}">
                <a16:creationId xmlns:a16="http://schemas.microsoft.com/office/drawing/2014/main" id="{1A6CB594-1424-4229-A3E0-36F6E36242A1}"/>
              </a:ext>
            </a:extLst>
          </p:cNvPr>
          <p:cNvSpPr>
            <a:spLocks xmlns:a="http://schemas.openxmlformats.org/drawingml/2006/main" noGrp="1"/>
          </p:cNvSpPr>
          <p:nvPr/>
        </p:nvSpPr>
        <p:spPr>
          <a:xfrm xmlns:a="http://schemas.openxmlformats.org/drawingml/2006/main">
            <a:off x="8867775" y="22479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0">
                <a:solidFill>
                  <a:srgbClr val="65717D"/>
                </a:solidFill>
                <a:latin typeface="Arial"/>
                <a:ea typeface="Arial"/>
                <a:cs typeface="Arial"/>
              </a:defRPr>
            </a:pPr>
            <a:r>
              <a:rPr sz="1350" b="0">
                <a:solidFill>
                  <a:srgbClr val="65717D"/>
                </a:solidFill>
                <a:latin typeface="Arial"/>
                <a:ea typeface="Arial"/>
                <a:cs typeface="Arial"/>
              </a:rPr>
              <a:t>random seed mô hình</a:t>
            </a:r>
          </a:p>
        </p:txBody>
      </p:sp>
      <p:sp>
        <p:nvSpPr>
          <p:cNvPr id="18" name="">
            <a:extLst xmlns:a="http://schemas.openxmlformats.org/drawingml/2006/main">
              <a:ext uri="{FF2B5EF4-FFF2-40B4-BE49-F238E27FC236}">
                <a16:creationId xmlns:a16="http://schemas.microsoft.com/office/drawing/2014/main" id="{CDA2C7F6-5B6C-4D28-B78E-A064B930B037}"/>
              </a:ext>
            </a:extLst>
          </p:cNvPr>
          <p:cNvSpPr>
            <a:spLocks xmlns:a="http://schemas.openxmlformats.org/drawingml/2006/main" noGrp="1"/>
          </p:cNvSpPr>
          <p:nvPr/>
        </p:nvSpPr>
        <p:spPr>
          <a:xfrm xmlns:a="http://schemas.openxmlformats.org/drawingml/2006/main">
            <a:off x="8982075" y="2857500"/>
            <a:ext cx="2152650" cy="28575"/>
          </a:xfrm>
          <a:prstGeom xmlns:a="http://schemas.openxmlformats.org/drawingml/2006/main" prst="rect">
            <a:avLst/>
          </a:prstGeom>
          <a:solidFill xmlns:a="http://schemas.openxmlformats.org/drawingml/2006/main">
            <a:srgbClr val="C8464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FA7316B-610C-45AE-9607-BE7534FED214}"/>
              </a:ext>
            </a:extLst>
          </p:cNvPr>
          <p:cNvSpPr>
            <a:spLocks xmlns:a="http://schemas.openxmlformats.org/drawingml/2006/main" noGrp="1"/>
          </p:cNvSpPr>
          <p:nvPr/>
        </p:nvSpPr>
        <p:spPr>
          <a:xfrm xmlns:a="http://schemas.openxmlformats.org/drawingml/2006/main">
            <a:off x="904875" y="33337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0703"/>
          </a:bodyPr>
          <a:lstStyle xmlns:a="http://schemas.openxmlformats.org/drawingml/2006/main"/>
          <a:p xmlns:a="http://schemas.openxmlformats.org/drawingml/2006/main">
            <a:pPr algn="l">
              <a:lnSpc>
                <a:spcPct val="105000"/>
              </a:lnSpc>
              <a:buNone/>
              <a:defRPr sz="1575" b="1">
                <a:solidFill>
                  <a:srgbClr val="3E6B97"/>
                </a:solidFill>
                <a:latin typeface="Arial"/>
                <a:ea typeface="Arial"/>
                <a:cs typeface="Arial"/>
              </a:defRPr>
            </a:pPr>
            <a:r>
              <a:rPr sz="1575" b="1">
                <a:solidFill>
                  <a:srgbClr val="3E6B97"/>
                </a:solidFill>
                <a:latin typeface="Arial"/>
                <a:ea typeface="Arial"/>
                <a:cs typeface="Arial"/>
              </a:rPr>
              <a:t>Đặc trưng</a:t>
            </a:r>
          </a:p>
        </p:txBody>
      </p:sp>
      <p:sp>
        <p:nvSpPr>
          <p:cNvPr id="20" name="">
            <a:extLst xmlns:a="http://schemas.openxmlformats.org/drawingml/2006/main">
              <a:ext uri="{FF2B5EF4-FFF2-40B4-BE49-F238E27FC236}">
                <a16:creationId xmlns:a16="http://schemas.microsoft.com/office/drawing/2014/main" id="{2F451B89-9016-4EEA-AA00-F9953A7AC786}"/>
              </a:ext>
            </a:extLst>
          </p:cNvPr>
          <p:cNvSpPr>
            <a:spLocks xmlns:a="http://schemas.openxmlformats.org/drawingml/2006/main" noGrp="1"/>
          </p:cNvSpPr>
          <p:nvPr/>
        </p:nvSpPr>
        <p:spPr>
          <a:xfrm xmlns:a="http://schemas.openxmlformats.org/drawingml/2006/main">
            <a:off x="857250" y="3762375"/>
            <a:ext cx="5048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Số tiền, giờ, kênh</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Thiết bị mới, vị trí bất thường</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Sai OTP/PIN, tần suất 10 phút</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Người nhận mới đối với người gửi</a:t>
            </a:r>
          </a:p>
        </p:txBody>
      </p:sp>
      <p:sp>
        <p:nvSpPr>
          <p:cNvPr id="21" name="">
            <a:extLst xmlns:a="http://schemas.openxmlformats.org/drawingml/2006/main">
              <a:ext uri="{FF2B5EF4-FFF2-40B4-BE49-F238E27FC236}">
                <a16:creationId xmlns:a16="http://schemas.microsoft.com/office/drawing/2014/main" id="{175F140D-297A-4F0B-A41F-6F01CECAA385}"/>
              </a:ext>
            </a:extLst>
          </p:cNvPr>
          <p:cNvSpPr>
            <a:spLocks xmlns:a="http://schemas.openxmlformats.org/drawingml/2006/main" noGrp="1"/>
          </p:cNvSpPr>
          <p:nvPr/>
        </p:nvSpPr>
        <p:spPr>
          <a:xfrm xmlns:a="http://schemas.openxmlformats.org/drawingml/2006/main">
            <a:off x="6477000" y="3381375"/>
            <a:ext cx="4857750" cy="2095500"/>
          </a:xfrm>
          <a:prstGeom xmlns:a="http://schemas.openxmlformats.org/drawingml/2006/main" prst="roundRect">
            <a:avLst>
              <a:gd name="adj" fmla="val 3636"/>
            </a:avLst>
          </a:prstGeom>
          <a:solidFill xmlns:a="http://schemas.openxmlformats.org/drawingml/2006/main">
            <a:srgbClr val="FDEEE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8968EFE-D7EE-4433-A37C-9D42B13CFA9B}"/>
              </a:ext>
            </a:extLst>
          </p:cNvPr>
          <p:cNvSpPr>
            <a:spLocks xmlns:a="http://schemas.openxmlformats.org/drawingml/2006/main" noGrp="1"/>
          </p:cNvSpPr>
          <p:nvPr/>
        </p:nvSpPr>
        <p:spPr>
          <a:xfrm xmlns:a="http://schemas.openxmlformats.org/drawingml/2006/main">
            <a:off x="6743700" y="3571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3795"/>
          </a:bodyPr>
          <a:lstStyle xmlns:a="http://schemas.openxmlformats.org/drawingml/2006/main"/>
          <a:p xmlns:a="http://schemas.openxmlformats.org/drawingml/2006/main">
            <a:pPr algn="l">
              <a:lnSpc>
                <a:spcPct val="105000"/>
              </a:lnSpc>
              <a:buNone/>
              <a:defRPr sz="1650" b="1">
                <a:solidFill>
                  <a:srgbClr val="C84646"/>
                </a:solidFill>
                <a:latin typeface="Arial"/>
                <a:ea typeface="Arial"/>
                <a:cs typeface="Arial"/>
              </a:defRPr>
            </a:pPr>
            <a:r>
              <a:rPr sz="1650" b="1">
                <a:solidFill>
                  <a:srgbClr val="C84646"/>
                </a:solidFill>
                <a:latin typeface="Arial"/>
                <a:ea typeface="Arial"/>
                <a:cs typeface="Arial"/>
              </a:rPr>
              <a:t>Hạn chế nhãn</a:t>
            </a:r>
          </a:p>
        </p:txBody>
      </p:sp>
      <p:sp>
        <p:nvSpPr>
          <p:cNvPr id="23" name="">
            <a:extLst xmlns:a="http://schemas.openxmlformats.org/drawingml/2006/main">
              <a:ext uri="{FF2B5EF4-FFF2-40B4-BE49-F238E27FC236}">
                <a16:creationId xmlns:a16="http://schemas.microsoft.com/office/drawing/2014/main" id="{5E910999-2F2E-4F0D-AFBB-1B082EF18D56}"/>
              </a:ext>
            </a:extLst>
          </p:cNvPr>
          <p:cNvSpPr>
            <a:spLocks xmlns:a="http://schemas.openxmlformats.org/drawingml/2006/main" noGrp="1"/>
          </p:cNvSpPr>
          <p:nvPr/>
        </p:nvSpPr>
        <p:spPr>
          <a:xfrm xmlns:a="http://schemas.openxmlformats.org/drawingml/2006/main">
            <a:off x="6743700" y="4057650"/>
            <a:ext cx="4238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9525"/>
          </a:bodyPr>
          <a:lstStyle xmlns:a="http://schemas.openxmlformats.org/drawingml/2006/main"/>
          <a:p xmlns:a="http://schemas.openxmlformats.org/drawingml/2006/main">
            <a:pPr algn="l">
              <a:lnSpc>
                <a:spcPct val="110000"/>
              </a:lnSpc>
              <a:buNone/>
              <a:defRPr sz="1650" b="0">
                <a:solidFill>
                  <a:srgbClr val="202A35"/>
                </a:solidFill>
                <a:latin typeface="Arial"/>
                <a:ea typeface="Arial"/>
                <a:cs typeface="Arial"/>
              </a:defRPr>
            </a:pPr>
            <a:r>
              <a:rPr sz="1650" b="0">
                <a:solidFill>
                  <a:srgbClr val="202A35"/>
                </a:solidFill>
                <a:latin typeface="Arial"/>
                <a:ea typeface="Arial"/>
                <a:cs typeface="Arial"/>
              </a:rPr>
              <a:t>Nhãn = top 1,8% latent risk + nhiễu.</a:t>
            </a:r>
          </a:p>
          <a:p xmlns:a="http://schemas.openxmlformats.org/drawingml/2006/main">
            <a:pPr algn="l">
              <a:lnSpc>
                <a:spcPct val="110000"/>
              </a:lnSpc>
              <a:buNone/>
              <a:defRPr sz="1650" b="0">
                <a:solidFill>
                  <a:srgbClr val="202A35"/>
                </a:solidFill>
                <a:latin typeface="Arial"/>
                <a:ea typeface="Arial"/>
                <a:cs typeface="Arial"/>
              </a:defRPr>
            </a:pPr>
            <a:r>
              <a:rPr sz="1650" b="0">
                <a:solidFill>
                  <a:srgbClr val="202A35"/>
                </a:solidFill>
                <a:latin typeface="Arial"/>
                <a:ea typeface="Arial"/>
                <a:cs typeface="Arial"/>
              </a:rPr>
              <a:t>Mô hình học lại cấu trúc do nhóm định nghĩa.</a:t>
            </a:r>
          </a:p>
          <a:p xmlns:a="http://schemas.openxmlformats.org/drawingml/2006/main">
            <a:pPr algn="l">
              <a:lnSpc>
                <a:spcPct val="110000"/>
              </a:lnSpc>
              <a:buNone/>
              <a:defRPr sz="1650" b="0">
                <a:solidFill>
                  <a:srgbClr val="202A35"/>
                </a:solidFill>
                <a:latin typeface="Arial"/>
                <a:ea typeface="Arial"/>
                <a:cs typeface="Arial"/>
              </a:defRPr>
            </a:pPr>
            <a:r>
              <a:rPr sz="1650" b="0">
                <a:solidFill>
                  <a:srgbClr val="202A35"/>
                </a:solidFill>
                <a:latin typeface="Arial"/>
                <a:ea typeface="Arial"/>
                <a:cs typeface="Arial"/>
              </a:rPr>
              <a:t>Không đại diện hành vi hoặc nhãn của MB.</a:t>
            </a:r>
          </a:p>
        </p:txBody>
      </p:sp>
      <p:sp>
        <p:nvSpPr>
          <p:cNvPr id="24" name="">
            <a:extLst xmlns:a="http://schemas.openxmlformats.org/drawingml/2006/main">
              <a:ext uri="{FF2B5EF4-FFF2-40B4-BE49-F238E27FC236}">
                <a16:creationId xmlns:a16="http://schemas.microsoft.com/office/drawing/2014/main" id="{9CBB84A7-2754-4C6D-9E5D-D50A2E1AABF1}"/>
              </a:ext>
            </a:extLst>
          </p:cNvPr>
          <p:cNvSpPr>
            <a:spLocks xmlns:a="http://schemas.openxmlformats.org/drawingml/2006/main" noGrp="1"/>
          </p:cNvSpPr>
          <p:nvPr/>
        </p:nvSpPr>
        <p:spPr>
          <a:xfrm xmlns:a="http://schemas.openxmlformats.org/drawingml/2006/main">
            <a:off x="876300" y="58578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6580"/>
          </a:bodyPr>
          <a:lstStyle xmlns:a="http://schemas.openxmlformats.org/drawingml/2006/main"/>
          <a:p xmlns:a="http://schemas.openxmlformats.org/drawingml/2006/main">
            <a:pPr algn="l">
              <a:lnSpc>
                <a:spcPct val="105000"/>
              </a:lnSpc>
              <a:buNone/>
              <a:defRPr sz="1650" b="1">
                <a:solidFill>
                  <a:srgbClr val="14365D"/>
                </a:solidFill>
                <a:latin typeface="Arial"/>
                <a:ea typeface="Arial"/>
                <a:cs typeface="Arial"/>
              </a:defRPr>
            </a:pPr>
            <a:r>
              <a:rPr sz="1650" b="1">
                <a:solidFill>
                  <a:srgbClr val="14365D"/>
                </a:solidFill>
                <a:latin typeface="Arial"/>
                <a:ea typeface="Arial"/>
                <a:cs typeface="Arial"/>
              </a:rPr>
              <a:t>Split stratified: 60% train  |  20% validation  |  20% test</a:t>
            </a:r>
          </a:p>
        </p:txBody>
      </p:sp>
    </p:spTree>
    <p:extLst>
      <p:ext uri="{BB962C8B-B14F-4D97-AF65-F5344CB8AC3E}">
        <p14:creationId xmlns:p14="http://schemas.microsoft.com/office/powerpoint/2010/main" val="14473901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98D1A0A-4547-4B27-9D16-659C72491588}"/>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A1A0FD-56AC-49C6-8533-83461A4C40B0}"/>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PHƯƠNG PHÁP</a:t>
            </a:r>
          </a:p>
        </p:txBody>
      </p:sp>
      <p:sp>
        <p:nvSpPr>
          <p:cNvPr id="3" name="">
            <a:extLst xmlns:a="http://schemas.openxmlformats.org/drawingml/2006/main">
              <a:ext uri="{FF2B5EF4-FFF2-40B4-BE49-F238E27FC236}">
                <a16:creationId xmlns:a16="http://schemas.microsoft.com/office/drawing/2014/main" id="{8981ADED-BA6F-4D35-A796-B5F9D0E0D5B9}"/>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Protocol đánh giá tách biệt lựa chọn và kiểm tra</a:t>
            </a:r>
          </a:p>
        </p:txBody>
      </p:sp>
      <p:sp>
        <p:nvSpPr>
          <p:cNvPr id="4" name="">
            <a:extLst xmlns:a="http://schemas.openxmlformats.org/drawingml/2006/main">
              <a:ext uri="{FF2B5EF4-FFF2-40B4-BE49-F238E27FC236}">
                <a16:creationId xmlns:a16="http://schemas.microsoft.com/office/drawing/2014/main" id="{767BD0C9-97E0-4FD3-A44C-3E6051A8CD7A}"/>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7FB43A-8DDE-4F5F-B496-67C08369E956}"/>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16D9AF55-3196-476C-B310-CC61EE3765EF}"/>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925DDF57-7032-48FA-A36B-60485C5D82E7}"/>
              </a:ext>
            </a:extLst>
          </p:cNvPr>
          <p:cNvSpPr>
            <a:spLocks xmlns:a="http://schemas.openxmlformats.org/drawingml/2006/main" noGrp="1"/>
          </p:cNvSpPr>
          <p:nvPr/>
        </p:nvSpPr>
        <p:spPr>
          <a:xfrm xmlns:a="http://schemas.openxmlformats.org/drawingml/2006/main">
            <a:off x="1000125" y="1809750"/>
            <a:ext cx="2857500" cy="1504950"/>
          </a:xfrm>
          <a:prstGeom xmlns:a="http://schemas.openxmlformats.org/drawingml/2006/main" prst="roundRect">
            <a:avLst>
              <a:gd name="adj" fmla="val 5063"/>
            </a:avLst>
          </a:prstGeom>
          <a:solidFill xmlns:a="http://schemas.openxmlformats.org/drawingml/2006/main">
            <a:srgbClr val="EAF1F8"/>
          </a:solidFill>
          <a:ln xmlns:a="http://schemas.openxmlformats.org/drawingml/2006/main" w="19050">
            <a:solidFill>
              <a:srgbClr val="3E6B97"/>
            </a:solidFill>
          </a:ln>
        </p:spPr>
      </p:sp>
      <p:sp>
        <p:nvSpPr>
          <p:cNvPr id="8" name="">
            <a:extLst xmlns:a="http://schemas.openxmlformats.org/drawingml/2006/main">
              <a:ext uri="{FF2B5EF4-FFF2-40B4-BE49-F238E27FC236}">
                <a16:creationId xmlns:a16="http://schemas.microsoft.com/office/drawing/2014/main" id="{33E056B3-2954-4CDA-804E-D08B47F65513}"/>
              </a:ext>
            </a:extLst>
          </p:cNvPr>
          <p:cNvSpPr>
            <a:spLocks xmlns:a="http://schemas.openxmlformats.org/drawingml/2006/main" noGrp="1"/>
          </p:cNvSpPr>
          <p:nvPr/>
        </p:nvSpPr>
        <p:spPr>
          <a:xfrm xmlns:a="http://schemas.openxmlformats.org/drawingml/2006/main">
            <a:off x="1190625" y="2000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7302"/>
          </a:bodyPr>
          <a:lstStyle xmlns:a="http://schemas.openxmlformats.org/drawingml/2006/main"/>
          <a:p xmlns:a="http://schemas.openxmlformats.org/drawingml/2006/main">
            <a:pPr algn="ctr">
              <a:lnSpc>
                <a:spcPct val="105000"/>
              </a:lnSpc>
              <a:buNone/>
              <a:defRPr sz="1500" b="1">
                <a:solidFill>
                  <a:srgbClr val="3E6B97"/>
                </a:solidFill>
                <a:latin typeface="Arial"/>
                <a:ea typeface="Arial"/>
                <a:cs typeface="Arial"/>
              </a:defRPr>
            </a:pPr>
            <a:r>
              <a:rPr sz="1500" b="1">
                <a:solidFill>
                  <a:srgbClr val="3E6B97"/>
                </a:solidFill>
                <a:latin typeface="Arial"/>
                <a:ea typeface="Arial"/>
                <a:cs typeface="Arial"/>
              </a:rPr>
              <a:t>TRAIN</a:t>
            </a:r>
          </a:p>
        </p:txBody>
      </p:sp>
      <p:sp>
        <p:nvSpPr>
          <p:cNvPr id="9" name="">
            <a:extLst xmlns:a="http://schemas.openxmlformats.org/drawingml/2006/main">
              <a:ext uri="{FF2B5EF4-FFF2-40B4-BE49-F238E27FC236}">
                <a16:creationId xmlns:a16="http://schemas.microsoft.com/office/drawing/2014/main" id="{ABF08230-596D-4C7D-B2E3-29E90D08DAFF}"/>
              </a:ext>
            </a:extLst>
          </p:cNvPr>
          <p:cNvSpPr>
            <a:spLocks xmlns:a="http://schemas.openxmlformats.org/drawingml/2006/main" noGrp="1"/>
          </p:cNvSpPr>
          <p:nvPr/>
        </p:nvSpPr>
        <p:spPr>
          <a:xfrm xmlns:a="http://schemas.openxmlformats.org/drawingml/2006/main">
            <a:off x="1190625" y="2333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2593"/>
          </a:bodyPr>
          <a:lstStyle xmlns:a="http://schemas.openxmlformats.org/drawingml/2006/main"/>
          <a:p xmlns:a="http://schemas.openxmlformats.org/drawingml/2006/main">
            <a:pPr algn="ctr">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15.000</a:t>
            </a:r>
          </a:p>
        </p:txBody>
      </p:sp>
      <p:sp>
        <p:nvSpPr>
          <p:cNvPr id="10" name="">
            <a:extLst xmlns:a="http://schemas.openxmlformats.org/drawingml/2006/main">
              <a:ext uri="{FF2B5EF4-FFF2-40B4-BE49-F238E27FC236}">
                <a16:creationId xmlns:a16="http://schemas.microsoft.com/office/drawing/2014/main" id="{055D792A-B71E-4CBD-8DA9-7C5E079D6655}"/>
              </a:ext>
            </a:extLst>
          </p:cNvPr>
          <p:cNvSpPr>
            <a:spLocks xmlns:a="http://schemas.openxmlformats.org/drawingml/2006/main" noGrp="1"/>
          </p:cNvSpPr>
          <p:nvPr/>
        </p:nvSpPr>
        <p:spPr>
          <a:xfrm xmlns:a="http://schemas.openxmlformats.org/drawingml/2006/main">
            <a:off x="1190625" y="2857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0">
                <a:solidFill>
                  <a:srgbClr val="202A35"/>
                </a:solidFill>
                <a:latin typeface="Arial"/>
                <a:ea typeface="Arial"/>
                <a:cs typeface="Arial"/>
              </a:defRPr>
            </a:pPr>
            <a:r>
              <a:rPr sz="1350" b="0">
                <a:solidFill>
                  <a:srgbClr val="202A35"/>
                </a:solidFill>
                <a:latin typeface="Arial"/>
                <a:ea typeface="Arial"/>
                <a:cs typeface="Arial"/>
              </a:rPr>
              <a:t>Ước lượng model</a:t>
            </a:r>
          </a:p>
        </p:txBody>
      </p:sp>
      <p:sp>
        <p:nvSpPr>
          <p:cNvPr id="11" name="">
            <a:extLst xmlns:a="http://schemas.openxmlformats.org/drawingml/2006/main">
              <a:ext uri="{FF2B5EF4-FFF2-40B4-BE49-F238E27FC236}">
                <a16:creationId xmlns:a16="http://schemas.microsoft.com/office/drawing/2014/main" id="{774CEF7D-78C3-45DE-8049-A64C450A84D2}"/>
              </a:ext>
            </a:extLst>
          </p:cNvPr>
          <p:cNvSpPr>
            <a:spLocks xmlns:a="http://schemas.openxmlformats.org/drawingml/2006/main" noGrp="1"/>
          </p:cNvSpPr>
          <p:nvPr/>
        </p:nvSpPr>
        <p:spPr>
          <a:xfrm xmlns:a="http://schemas.openxmlformats.org/drawingml/2006/main">
            <a:off x="4619625" y="1809750"/>
            <a:ext cx="2857500" cy="1504950"/>
          </a:xfrm>
          <a:prstGeom xmlns:a="http://schemas.openxmlformats.org/drawingml/2006/main" prst="roundRect">
            <a:avLst>
              <a:gd name="adj" fmla="val 5063"/>
            </a:avLst>
          </a:prstGeom>
          <a:solidFill xmlns:a="http://schemas.openxmlformats.org/drawingml/2006/main">
            <a:srgbClr val="FFF4DE"/>
          </a:solidFill>
          <a:ln xmlns:a="http://schemas.openxmlformats.org/drawingml/2006/main" w="19050">
            <a:solidFill>
              <a:srgbClr val="D49122"/>
            </a:solidFill>
          </a:ln>
        </p:spPr>
      </p:sp>
      <p:sp>
        <p:nvSpPr>
          <p:cNvPr id="12" name="">
            <a:extLst xmlns:a="http://schemas.openxmlformats.org/drawingml/2006/main">
              <a:ext uri="{FF2B5EF4-FFF2-40B4-BE49-F238E27FC236}">
                <a16:creationId xmlns:a16="http://schemas.microsoft.com/office/drawing/2014/main" id="{AC7191CF-BD28-4444-B9EC-6C6803BCAB6C}"/>
              </a:ext>
            </a:extLst>
          </p:cNvPr>
          <p:cNvSpPr>
            <a:spLocks xmlns:a="http://schemas.openxmlformats.org/drawingml/2006/main" noGrp="1"/>
          </p:cNvSpPr>
          <p:nvPr/>
        </p:nvSpPr>
        <p:spPr>
          <a:xfrm xmlns:a="http://schemas.openxmlformats.org/drawingml/2006/main">
            <a:off x="4810125" y="2000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7302"/>
          </a:bodyPr>
          <a:lstStyle xmlns:a="http://schemas.openxmlformats.org/drawingml/2006/main"/>
          <a:p xmlns:a="http://schemas.openxmlformats.org/drawingml/2006/main">
            <a:pPr algn="ctr">
              <a:lnSpc>
                <a:spcPct val="105000"/>
              </a:lnSpc>
              <a:buNone/>
              <a:defRPr sz="1500" b="1">
                <a:solidFill>
                  <a:srgbClr val="D49122"/>
                </a:solidFill>
                <a:latin typeface="Arial"/>
                <a:ea typeface="Arial"/>
                <a:cs typeface="Arial"/>
              </a:defRPr>
            </a:pPr>
            <a:r>
              <a:rPr sz="1500" b="1">
                <a:solidFill>
                  <a:srgbClr val="D49122"/>
                </a:solidFill>
                <a:latin typeface="Arial"/>
                <a:ea typeface="Arial"/>
                <a:cs typeface="Arial"/>
              </a:rPr>
              <a:t>VALIDATION</a:t>
            </a:r>
          </a:p>
        </p:txBody>
      </p:sp>
      <p:sp>
        <p:nvSpPr>
          <p:cNvPr id="13" name="">
            <a:extLst xmlns:a="http://schemas.openxmlformats.org/drawingml/2006/main">
              <a:ext uri="{FF2B5EF4-FFF2-40B4-BE49-F238E27FC236}">
                <a16:creationId xmlns:a16="http://schemas.microsoft.com/office/drawing/2014/main" id="{6C12A07D-F3F9-4C3B-8821-F5E6075A2D63}"/>
              </a:ext>
            </a:extLst>
          </p:cNvPr>
          <p:cNvSpPr>
            <a:spLocks xmlns:a="http://schemas.openxmlformats.org/drawingml/2006/main" noGrp="1"/>
          </p:cNvSpPr>
          <p:nvPr/>
        </p:nvSpPr>
        <p:spPr>
          <a:xfrm xmlns:a="http://schemas.openxmlformats.org/drawingml/2006/main">
            <a:off x="4810125" y="2333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2593"/>
          </a:bodyPr>
          <a:lstStyle xmlns:a="http://schemas.openxmlformats.org/drawingml/2006/main"/>
          <a:p xmlns:a="http://schemas.openxmlformats.org/drawingml/2006/main">
            <a:pPr algn="ctr">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5.000</a:t>
            </a:r>
          </a:p>
        </p:txBody>
      </p:sp>
      <p:sp>
        <p:nvSpPr>
          <p:cNvPr id="14" name="">
            <a:extLst xmlns:a="http://schemas.openxmlformats.org/drawingml/2006/main">
              <a:ext uri="{FF2B5EF4-FFF2-40B4-BE49-F238E27FC236}">
                <a16:creationId xmlns:a16="http://schemas.microsoft.com/office/drawing/2014/main" id="{FA56B4C2-85A2-4CD4-A426-35DBF013E976}"/>
              </a:ext>
            </a:extLst>
          </p:cNvPr>
          <p:cNvSpPr>
            <a:spLocks xmlns:a="http://schemas.openxmlformats.org/drawingml/2006/main" noGrp="1"/>
          </p:cNvSpPr>
          <p:nvPr/>
        </p:nvSpPr>
        <p:spPr>
          <a:xfrm xmlns:a="http://schemas.openxmlformats.org/drawingml/2006/main">
            <a:off x="4810125" y="2857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0">
                <a:solidFill>
                  <a:srgbClr val="202A35"/>
                </a:solidFill>
                <a:latin typeface="Arial"/>
                <a:ea typeface="Arial"/>
                <a:cs typeface="Arial"/>
              </a:defRPr>
            </a:pPr>
            <a:r>
              <a:rPr sz="1350" b="0">
                <a:solidFill>
                  <a:srgbClr val="202A35"/>
                </a:solidFill>
                <a:latin typeface="Arial"/>
                <a:ea typeface="Arial"/>
                <a:cs typeface="Arial"/>
              </a:rPr>
              <a:t>Chọn F2 threshold</a:t>
            </a:r>
          </a:p>
        </p:txBody>
      </p:sp>
      <p:sp>
        <p:nvSpPr>
          <p:cNvPr id="15" name="">
            <a:extLst xmlns:a="http://schemas.openxmlformats.org/drawingml/2006/main">
              <a:ext uri="{FF2B5EF4-FFF2-40B4-BE49-F238E27FC236}">
                <a16:creationId xmlns:a16="http://schemas.microsoft.com/office/drawing/2014/main" id="{A2C79833-58F7-4A57-87C6-6A83339FC151}"/>
              </a:ext>
            </a:extLst>
          </p:cNvPr>
          <p:cNvSpPr>
            <a:spLocks xmlns:a="http://schemas.openxmlformats.org/drawingml/2006/main" noGrp="1"/>
          </p:cNvSpPr>
          <p:nvPr/>
        </p:nvSpPr>
        <p:spPr>
          <a:xfrm xmlns:a="http://schemas.openxmlformats.org/drawingml/2006/main">
            <a:off x="8239125" y="1809750"/>
            <a:ext cx="2857500" cy="1504950"/>
          </a:xfrm>
          <a:prstGeom xmlns:a="http://schemas.openxmlformats.org/drawingml/2006/main" prst="roundRect">
            <a:avLst>
              <a:gd name="adj" fmla="val 5063"/>
            </a:avLst>
          </a:prstGeom>
          <a:solidFill xmlns:a="http://schemas.openxmlformats.org/drawingml/2006/main">
            <a:srgbClr val="EAF1F8"/>
          </a:solidFill>
          <a:ln xmlns:a="http://schemas.openxmlformats.org/drawingml/2006/main" w="19050">
            <a:solidFill>
              <a:srgbClr val="3E6B97"/>
            </a:solidFill>
          </a:ln>
        </p:spPr>
      </p:sp>
      <p:sp>
        <p:nvSpPr>
          <p:cNvPr id="16" name="">
            <a:extLst xmlns:a="http://schemas.openxmlformats.org/drawingml/2006/main">
              <a:ext uri="{FF2B5EF4-FFF2-40B4-BE49-F238E27FC236}">
                <a16:creationId xmlns:a16="http://schemas.microsoft.com/office/drawing/2014/main" id="{231FE138-D934-47F9-885D-27F4F3EF7692}"/>
              </a:ext>
            </a:extLst>
          </p:cNvPr>
          <p:cNvSpPr>
            <a:spLocks xmlns:a="http://schemas.openxmlformats.org/drawingml/2006/main" noGrp="1"/>
          </p:cNvSpPr>
          <p:nvPr/>
        </p:nvSpPr>
        <p:spPr>
          <a:xfrm xmlns:a="http://schemas.openxmlformats.org/drawingml/2006/main">
            <a:off x="8429625" y="2000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7302"/>
          </a:bodyPr>
          <a:lstStyle xmlns:a="http://schemas.openxmlformats.org/drawingml/2006/main"/>
          <a:p xmlns:a="http://schemas.openxmlformats.org/drawingml/2006/main">
            <a:pPr algn="ctr">
              <a:lnSpc>
                <a:spcPct val="105000"/>
              </a:lnSpc>
              <a:buNone/>
              <a:defRPr sz="1500" b="1">
                <a:solidFill>
                  <a:srgbClr val="3E6B97"/>
                </a:solidFill>
                <a:latin typeface="Arial"/>
                <a:ea typeface="Arial"/>
                <a:cs typeface="Arial"/>
              </a:defRPr>
            </a:pPr>
            <a:r>
              <a:rPr sz="1500" b="1">
                <a:solidFill>
                  <a:srgbClr val="3E6B97"/>
                </a:solidFill>
                <a:latin typeface="Arial"/>
                <a:ea typeface="Arial"/>
                <a:cs typeface="Arial"/>
              </a:rPr>
              <a:t>TEST</a:t>
            </a:r>
          </a:p>
        </p:txBody>
      </p:sp>
      <p:sp>
        <p:nvSpPr>
          <p:cNvPr id="17" name="">
            <a:extLst xmlns:a="http://schemas.openxmlformats.org/drawingml/2006/main">
              <a:ext uri="{FF2B5EF4-FFF2-40B4-BE49-F238E27FC236}">
                <a16:creationId xmlns:a16="http://schemas.microsoft.com/office/drawing/2014/main" id="{55DD8C60-E5FA-4098-9B47-1C5BDB22F24E}"/>
              </a:ext>
            </a:extLst>
          </p:cNvPr>
          <p:cNvSpPr>
            <a:spLocks xmlns:a="http://schemas.openxmlformats.org/drawingml/2006/main" noGrp="1"/>
          </p:cNvSpPr>
          <p:nvPr/>
        </p:nvSpPr>
        <p:spPr>
          <a:xfrm xmlns:a="http://schemas.openxmlformats.org/drawingml/2006/main">
            <a:off x="8429625" y="2333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2593"/>
          </a:bodyPr>
          <a:lstStyle xmlns:a="http://schemas.openxmlformats.org/drawingml/2006/main"/>
          <a:p xmlns:a="http://schemas.openxmlformats.org/drawingml/2006/main">
            <a:pPr algn="ctr">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5.000</a:t>
            </a:r>
          </a:p>
        </p:txBody>
      </p:sp>
      <p:sp>
        <p:nvSpPr>
          <p:cNvPr id="18" name="">
            <a:extLst xmlns:a="http://schemas.openxmlformats.org/drawingml/2006/main">
              <a:ext uri="{FF2B5EF4-FFF2-40B4-BE49-F238E27FC236}">
                <a16:creationId xmlns:a16="http://schemas.microsoft.com/office/drawing/2014/main" id="{633A1D8E-8499-40CB-AD09-C53DEEC47108}"/>
              </a:ext>
            </a:extLst>
          </p:cNvPr>
          <p:cNvSpPr>
            <a:spLocks xmlns:a="http://schemas.openxmlformats.org/drawingml/2006/main" noGrp="1"/>
          </p:cNvSpPr>
          <p:nvPr/>
        </p:nvSpPr>
        <p:spPr>
          <a:xfrm xmlns:a="http://schemas.openxmlformats.org/drawingml/2006/main">
            <a:off x="8429625" y="2857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0">
                <a:solidFill>
                  <a:srgbClr val="202A35"/>
                </a:solidFill>
                <a:latin typeface="Arial"/>
                <a:ea typeface="Arial"/>
                <a:cs typeface="Arial"/>
              </a:defRPr>
            </a:pPr>
            <a:r>
              <a:rPr sz="1350" b="0">
                <a:solidFill>
                  <a:srgbClr val="202A35"/>
                </a:solidFill>
                <a:latin typeface="Arial"/>
                <a:ea typeface="Arial"/>
                <a:cs typeface="Arial"/>
              </a:rPr>
              <a:t>Đánh giá holdout</a:t>
            </a:r>
          </a:p>
        </p:txBody>
      </p:sp>
      <p:sp>
        <p:nvSpPr>
          <p:cNvPr id="19" name="">
            <a:extLst xmlns:a="http://schemas.openxmlformats.org/drawingml/2006/main">
              <a:ext uri="{FF2B5EF4-FFF2-40B4-BE49-F238E27FC236}">
                <a16:creationId xmlns:a16="http://schemas.microsoft.com/office/drawing/2014/main" id="{AE219B29-FE2F-4BFC-92A8-60E75992F467}"/>
              </a:ext>
            </a:extLst>
          </p:cNvPr>
          <p:cNvSpPr>
            <a:spLocks xmlns:a="http://schemas.openxmlformats.org/drawingml/2006/main" noGrp="1"/>
          </p:cNvSpPr>
          <p:nvPr/>
        </p:nvSpPr>
        <p:spPr>
          <a:xfrm xmlns:a="http://schemas.openxmlformats.org/drawingml/2006/main">
            <a:off x="904875" y="3943350"/>
            <a:ext cx="21431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D7E0E8"/>
            </a:solidFill>
          </a:ln>
        </p:spPr>
      </p:sp>
      <p:sp>
        <p:nvSpPr>
          <p:cNvPr id="20" name="">
            <a:extLst xmlns:a="http://schemas.openxmlformats.org/drawingml/2006/main">
              <a:ext uri="{FF2B5EF4-FFF2-40B4-BE49-F238E27FC236}">
                <a16:creationId xmlns:a16="http://schemas.microsoft.com/office/drawing/2014/main" id="{B1CA8C1B-6BB1-4EFC-B369-6888A654C027}"/>
              </a:ext>
            </a:extLst>
          </p:cNvPr>
          <p:cNvSpPr>
            <a:spLocks xmlns:a="http://schemas.openxmlformats.org/drawingml/2006/main" noGrp="1"/>
          </p:cNvSpPr>
          <p:nvPr/>
        </p:nvSpPr>
        <p:spPr>
          <a:xfrm xmlns:a="http://schemas.openxmlformats.org/drawingml/2006/main">
            <a:off x="981075" y="3990975"/>
            <a:ext cx="1990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Luôn dự đoán âm</a:t>
            </a:r>
          </a:p>
        </p:txBody>
      </p:sp>
      <p:sp>
        <p:nvSpPr>
          <p:cNvPr id="21" name="">
            <a:extLst xmlns:a="http://schemas.openxmlformats.org/drawingml/2006/main">
              <a:ext uri="{FF2B5EF4-FFF2-40B4-BE49-F238E27FC236}">
                <a16:creationId xmlns:a16="http://schemas.microsoft.com/office/drawing/2014/main" id="{42AB62D4-C691-4743-8011-B4BC4CB34ADE}"/>
              </a:ext>
            </a:extLst>
          </p:cNvPr>
          <p:cNvSpPr>
            <a:spLocks xmlns:a="http://schemas.openxmlformats.org/drawingml/2006/main" noGrp="1"/>
          </p:cNvSpPr>
          <p:nvPr/>
        </p:nvSpPr>
        <p:spPr>
          <a:xfrm xmlns:a="http://schemas.openxmlformats.org/drawingml/2006/main">
            <a:off x="3762375" y="3943350"/>
            <a:ext cx="21431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D7E0E8"/>
            </a:solidFill>
          </a:ln>
        </p:spPr>
      </p:sp>
      <p:sp>
        <p:nvSpPr>
          <p:cNvPr id="22" name="">
            <a:extLst xmlns:a="http://schemas.openxmlformats.org/drawingml/2006/main">
              <a:ext uri="{FF2B5EF4-FFF2-40B4-BE49-F238E27FC236}">
                <a16:creationId xmlns:a16="http://schemas.microsoft.com/office/drawing/2014/main" id="{CF920A41-807E-4812-99FD-7157E5CA99A5}"/>
              </a:ext>
            </a:extLst>
          </p:cNvPr>
          <p:cNvSpPr>
            <a:spLocks xmlns:a="http://schemas.openxmlformats.org/drawingml/2006/main" noGrp="1"/>
          </p:cNvSpPr>
          <p:nvPr/>
        </p:nvSpPr>
        <p:spPr>
          <a:xfrm xmlns:a="http://schemas.openxmlformats.org/drawingml/2006/main">
            <a:off x="3838575" y="3990975"/>
            <a:ext cx="1990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202A35"/>
                </a:solidFill>
                <a:latin typeface="Arial"/>
                <a:ea typeface="Arial"/>
                <a:cs typeface="Arial"/>
              </a:defRPr>
            </a:pPr>
            <a:r>
              <a:rPr sz="1425" b="1">
                <a:solidFill>
                  <a:srgbClr val="202A35"/>
                </a:solidFill>
                <a:latin typeface="Arial"/>
                <a:ea typeface="Arial"/>
                <a:cs typeface="Arial"/>
              </a:rPr>
              <a:t>Quy tắc 3 tín hiệu</a:t>
            </a:r>
          </a:p>
        </p:txBody>
      </p:sp>
      <p:sp>
        <p:nvSpPr>
          <p:cNvPr id="23" name="">
            <a:extLst xmlns:a="http://schemas.openxmlformats.org/drawingml/2006/main">
              <a:ext uri="{FF2B5EF4-FFF2-40B4-BE49-F238E27FC236}">
                <a16:creationId xmlns:a16="http://schemas.microsoft.com/office/drawing/2014/main" id="{C2E1086A-9176-4D28-9B8E-B30DA499833B}"/>
              </a:ext>
            </a:extLst>
          </p:cNvPr>
          <p:cNvSpPr>
            <a:spLocks xmlns:a="http://schemas.openxmlformats.org/drawingml/2006/main" noGrp="1"/>
          </p:cNvSpPr>
          <p:nvPr/>
        </p:nvSpPr>
        <p:spPr>
          <a:xfrm xmlns:a="http://schemas.openxmlformats.org/drawingml/2006/main">
            <a:off x="6619875" y="3943350"/>
            <a:ext cx="22383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D7E0E8"/>
            </a:solidFill>
          </a:ln>
        </p:spPr>
      </p:sp>
      <p:sp>
        <p:nvSpPr>
          <p:cNvPr id="24" name="">
            <a:extLst xmlns:a="http://schemas.openxmlformats.org/drawingml/2006/main">
              <a:ext uri="{FF2B5EF4-FFF2-40B4-BE49-F238E27FC236}">
                <a16:creationId xmlns:a16="http://schemas.microsoft.com/office/drawing/2014/main" id="{F38A2DE4-0F21-4BF3-98FE-3C67051F568E}"/>
              </a:ext>
            </a:extLst>
          </p:cNvPr>
          <p:cNvSpPr>
            <a:spLocks xmlns:a="http://schemas.openxmlformats.org/drawingml/2006/main" noGrp="1"/>
          </p:cNvSpPr>
          <p:nvPr/>
        </p:nvSpPr>
        <p:spPr>
          <a:xfrm xmlns:a="http://schemas.openxmlformats.org/drawingml/2006/main">
            <a:off x="6696075" y="3990975"/>
            <a:ext cx="2085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350" b="1">
                <a:solidFill>
                  <a:srgbClr val="202A35"/>
                </a:solidFill>
                <a:latin typeface="Arial"/>
                <a:ea typeface="Arial"/>
                <a:cs typeface="Arial"/>
              </a:defRPr>
            </a:pPr>
            <a:r>
              <a:rPr sz="1350" b="1">
                <a:solidFill>
                  <a:srgbClr val="202A35"/>
                </a:solidFill>
                <a:latin typeface="Arial"/>
                <a:ea typeface="Arial"/>
                <a:cs typeface="Arial"/>
              </a:rPr>
              <a:t>XGBoost seeds 42, 52, 62</a:t>
            </a:r>
          </a:p>
        </p:txBody>
      </p:sp>
      <p:sp>
        <p:nvSpPr>
          <p:cNvPr id="25" name="">
            <a:extLst xmlns:a="http://schemas.openxmlformats.org/drawingml/2006/main">
              <a:ext uri="{FF2B5EF4-FFF2-40B4-BE49-F238E27FC236}">
                <a16:creationId xmlns:a16="http://schemas.microsoft.com/office/drawing/2014/main" id="{CCDFE950-3EF3-4C88-BBFB-0089ECEB3C05}"/>
              </a:ext>
            </a:extLst>
          </p:cNvPr>
          <p:cNvSpPr>
            <a:spLocks xmlns:a="http://schemas.openxmlformats.org/drawingml/2006/main" noGrp="1"/>
          </p:cNvSpPr>
          <p:nvPr/>
        </p:nvSpPr>
        <p:spPr>
          <a:xfrm xmlns:a="http://schemas.openxmlformats.org/drawingml/2006/main">
            <a:off x="876300" y="50482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575" b="1">
                <a:solidFill>
                  <a:srgbClr val="14365D"/>
                </a:solidFill>
                <a:latin typeface="Arial"/>
                <a:ea typeface="Arial"/>
                <a:cs typeface="Arial"/>
              </a:defRPr>
            </a:pPr>
            <a:r>
              <a:rPr sz="1575" b="1">
                <a:solidFill>
                  <a:srgbClr val="14365D"/>
                </a:solidFill>
                <a:latin typeface="Arial"/>
                <a:ea typeface="Arial"/>
                <a:cs typeface="Arial"/>
              </a:rPr>
              <a:t>Metric chính: F2 trên validation; hòa chọn alert rate thấp hơn, rồi threshold cao hơn.</a:t>
            </a:r>
          </a:p>
        </p:txBody>
      </p:sp>
      <p:sp>
        <p:nvSpPr>
          <p:cNvPr id="26" name="">
            <a:extLst xmlns:a="http://schemas.openxmlformats.org/drawingml/2006/main">
              <a:ext uri="{FF2B5EF4-FFF2-40B4-BE49-F238E27FC236}">
                <a16:creationId xmlns:a16="http://schemas.microsoft.com/office/drawing/2014/main" id="{A400D755-5BDE-491D-BD45-91F8D967622C}"/>
              </a:ext>
            </a:extLst>
          </p:cNvPr>
          <p:cNvSpPr>
            <a:spLocks xmlns:a="http://schemas.openxmlformats.org/drawingml/2006/main" noGrp="1"/>
          </p:cNvSpPr>
          <p:nvPr/>
        </p:nvSpPr>
        <p:spPr>
          <a:xfrm xmlns:a="http://schemas.openxmlformats.org/drawingml/2006/main">
            <a:off x="876300" y="55626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1">
                <a:solidFill>
                  <a:srgbClr val="C84646"/>
                </a:solidFill>
                <a:latin typeface="Arial"/>
                <a:ea typeface="Arial"/>
                <a:cs typeface="Arial"/>
              </a:defRPr>
            </a:pPr>
            <a:r>
              <a:rPr sz="1425" b="1">
                <a:solidFill>
                  <a:srgbClr val="C84646"/>
                </a:solidFill>
                <a:latin typeface="Arial"/>
                <a:ea typeface="Arial"/>
                <a:cs typeface="Arial"/>
              </a:rPr>
              <a:t>Test không dùng chọn ngưỡng. Ba seed dùng chung split, chỉ đo độ nhạy huấn luyện.</a:t>
            </a:r>
          </a:p>
        </p:txBody>
      </p:sp>
    </p:spTree>
    <p:extLst>
      <p:ext uri="{BB962C8B-B14F-4D97-AF65-F5344CB8AC3E}">
        <p14:creationId xmlns:p14="http://schemas.microsoft.com/office/powerpoint/2010/main" val="14894581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A2AA80-1CEA-4549-A8FD-551AAC289E4E}"/>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2D7E79-5158-4BE1-8C70-66D8E85FB3F1}"/>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KẾT QUẢ TEST HOLDOUT</a:t>
            </a:r>
          </a:p>
        </p:txBody>
      </p:sp>
      <p:sp>
        <p:nvSpPr>
          <p:cNvPr id="3" name="">
            <a:extLst xmlns:a="http://schemas.openxmlformats.org/drawingml/2006/main">
              <a:ext uri="{FF2B5EF4-FFF2-40B4-BE49-F238E27FC236}">
                <a16:creationId xmlns:a16="http://schemas.microsoft.com/office/drawing/2014/main" id="{0C3BFB3F-442A-4960-A6E4-6CCF7BAA82D9}"/>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XGBoost tăng khả năng xếp hạng, nhưng vẫn có cảnh báo sai</a:t>
            </a:r>
          </a:p>
        </p:txBody>
      </p:sp>
      <p:sp>
        <p:nvSpPr>
          <p:cNvPr id="4" name="">
            <a:extLst xmlns:a="http://schemas.openxmlformats.org/drawingml/2006/main">
              <a:ext uri="{FF2B5EF4-FFF2-40B4-BE49-F238E27FC236}">
                <a16:creationId xmlns:a16="http://schemas.microsoft.com/office/drawing/2014/main" id="{A924EC09-0B49-4FE6-80DD-F8B119A9B861}"/>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60AE6C-A3A8-4853-ABBA-CD74B762C04E}"/>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BCCD6D3E-C75E-4A10-B7D1-9D5E4ED792AA}"/>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11</a:t>
            </a:r>
          </a:p>
        </p:txBody>
      </p:sp>
      <p:graphicFrame>
        <p:nvGraphicFramePr>
          <p:cNvPr id="17" name=""/>
          <p:cNvGraphicFramePr/>
          <p:nvPr/>
        </p:nvGraphicFramePr>
        <p:xfrm>
          <a:off xmlns:a="http://schemas.openxmlformats.org/drawingml/2006/main" x="742950" y="1762125"/>
          <a:ext xmlns:a="http://schemas.openxmlformats.org/drawingml/2006/main" cx="10668000" cy="2686050"/>
        </p:xfrm>
        <a:graphic xmlns:a="http://schemas.openxmlformats.org/drawingml/2006/main">
          <a:graphicData uri="http://schemas.openxmlformats.org/drawingml/2006/table">
            <a:tbl>
              <a:tblPr firstRow="1" bandRow="1"/>
              <a:tblGrid>
                <a:gridCol w="2667000"/>
                <a:gridCol w="1333500"/>
                <a:gridCol w="1571625"/>
                <a:gridCol w="1381125"/>
                <a:gridCol w="1381125"/>
                <a:gridCol w="2333625"/>
              </a:tblGrid>
              <a:tr h="671513">
                <a:tc>
                  <a:txBody>
                    <a:bodyPr>
                      <a:normAutofit/>
                    </a:bodyPr>
                    <a:lstStyle/>
                    <a:p>
                      <a:pPr algn="ctr"/>
                      <a:r>
                        <a:rPr sz="1500" b="1">
                          <a:solidFill>
                            <a:srgbClr val="FFFFFF"/>
                          </a:solidFill>
                          <a:latin typeface="Arial"/>
                          <a:ea typeface="Arial"/>
                          <a:cs typeface="Arial"/>
                        </a:rPr>
                        <a:t>Phương án</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AP</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Precision</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Recall</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F2</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Alert rate</a:t>
                      </a:r>
                    </a:p>
                  </a:txBody>
                  <a:tcPr marL="91440" marR="91440" marT="45720" marB="45720" anchor="ctr">
                    <a:solidFill>
                      <a:srgbClr val="14365D"/>
                    </a:solidFill>
                  </a:tcPr>
                </a:tc>
              </a:tr>
              <a:tr h="671513">
                <a:tc>
                  <a:txBody>
                    <a:bodyPr>
                      <a:normAutofit/>
                    </a:bodyPr>
                    <a:lstStyle/>
                    <a:p>
                      <a:pPr algn="ctr"/>
                      <a:r>
                        <a:rPr sz="1500" b="0">
                          <a:solidFill>
                            <a:srgbClr val="202A35"/>
                          </a:solidFill>
                          <a:latin typeface="Arial"/>
                          <a:ea typeface="Arial"/>
                          <a:cs typeface="Arial"/>
                        </a:rPr>
                        <a:t>Luôn dự đoán âm</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0.018</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0.0%</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0.0%</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0.000</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0.00%</a:t>
                      </a:r>
                    </a:p>
                  </a:txBody>
                  <a:tcPr marL="91440" marR="91440" marT="45720" marB="45720" anchor="ctr">
                    <a:solidFill>
                      <a:srgbClr val="FFFFFF"/>
                    </a:solidFill>
                  </a:tcPr>
                </a:tc>
              </a:tr>
              <a:tr h="671513">
                <a:tc>
                  <a:txBody>
                    <a:bodyPr>
                      <a:normAutofit/>
                    </a:bodyPr>
                    <a:lstStyle/>
                    <a:p>
                      <a:pPr algn="ctr"/>
                      <a:r>
                        <a:rPr sz="1500" b="0">
                          <a:solidFill>
                            <a:srgbClr val="202A35"/>
                          </a:solidFill>
                          <a:latin typeface="Arial"/>
                          <a:ea typeface="Arial"/>
                          <a:cs typeface="Arial"/>
                        </a:rPr>
                        <a:t>Quy tắc đơn giản</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0.232</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11.3%</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84.4%</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0.369</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13.42%</a:t>
                      </a:r>
                    </a:p>
                  </a:txBody>
                  <a:tcPr marL="91440" marR="91440" marT="45720" marB="45720" anchor="ctr">
                    <a:solidFill>
                      <a:srgbClr val="EAF1F8"/>
                    </a:solidFill>
                  </a:tcPr>
                </a:tc>
              </a:tr>
              <a:tr h="671513">
                <a:tc>
                  <a:txBody>
                    <a:bodyPr>
                      <a:normAutofit/>
                    </a:bodyPr>
                    <a:lstStyle/>
                    <a:p>
                      <a:pPr algn="ctr"/>
                      <a:r>
                        <a:rPr sz="1500" b="0">
                          <a:solidFill>
                            <a:srgbClr val="202A35"/>
                          </a:solidFill>
                          <a:latin typeface="Arial"/>
                          <a:ea typeface="Arial"/>
                          <a:cs typeface="Arial"/>
                        </a:rPr>
                        <a:t>XGBoost seed 42</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0.551</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34.8%</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72.2%</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0.594</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3.74%</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69F879F-25D4-44D6-AB2E-651C33EB3A7C}"/>
              </a:ext>
            </a:extLst>
          </p:cNvPr>
          <p:cNvSpPr>
            <a:spLocks xmlns:a="http://schemas.openxmlformats.org/drawingml/2006/main" noGrp="1"/>
          </p:cNvSpPr>
          <p:nvPr/>
        </p:nvSpPr>
        <p:spPr>
          <a:xfrm xmlns:a="http://schemas.openxmlformats.org/drawingml/2006/main">
            <a:off x="857250" y="48577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650" b="1">
                <a:solidFill>
                  <a:srgbClr val="14365D"/>
                </a:solidFill>
                <a:latin typeface="Arial"/>
                <a:ea typeface="Arial"/>
                <a:cs typeface="Arial"/>
              </a:defRPr>
            </a:pPr>
            <a:r>
              <a:rPr sz="1650" b="1">
                <a:solidFill>
                  <a:srgbClr val="14365D"/>
                </a:solidFill>
                <a:latin typeface="Arial"/>
                <a:ea typeface="Arial"/>
                <a:cs typeface="Arial"/>
              </a:rPr>
              <a:t>XGBoost seed 42: ROC-AUC 0.983  •  FPR 2.48%</a:t>
            </a:r>
          </a:p>
        </p:txBody>
      </p:sp>
      <p:sp>
        <p:nvSpPr>
          <p:cNvPr id="9" name="">
            <a:extLst xmlns:a="http://schemas.openxmlformats.org/drawingml/2006/main">
              <a:ext uri="{FF2B5EF4-FFF2-40B4-BE49-F238E27FC236}">
                <a16:creationId xmlns:a16="http://schemas.microsoft.com/office/drawing/2014/main" id="{780728D1-BEF4-4A3B-94DE-BF7D42E5DD97}"/>
              </a:ext>
            </a:extLst>
          </p:cNvPr>
          <p:cNvSpPr>
            <a:spLocks xmlns:a="http://schemas.openxmlformats.org/drawingml/2006/main" noGrp="1"/>
          </p:cNvSpPr>
          <p:nvPr/>
        </p:nvSpPr>
        <p:spPr>
          <a:xfrm xmlns:a="http://schemas.openxmlformats.org/drawingml/2006/main">
            <a:off x="809625" y="5429250"/>
            <a:ext cx="10620375" cy="609600"/>
          </a:xfrm>
          <a:prstGeom xmlns:a="http://schemas.openxmlformats.org/drawingml/2006/main" prst="roundRect">
            <a:avLst>
              <a:gd name="adj" fmla="val 12500"/>
            </a:avLst>
          </a:prstGeom>
          <a:solidFill xmlns:a="http://schemas.openxmlformats.org/drawingml/2006/main">
            <a:srgbClr val="FFF4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2F7B7DC-8F63-469E-A518-271001EC04CD}"/>
              </a:ext>
            </a:extLst>
          </p:cNvPr>
          <p:cNvSpPr>
            <a:spLocks xmlns:a="http://schemas.openxmlformats.org/drawingml/2006/main" noGrp="1"/>
          </p:cNvSpPr>
          <p:nvPr/>
        </p:nvSpPr>
        <p:spPr>
          <a:xfrm xmlns:a="http://schemas.openxmlformats.org/drawingml/2006/main">
            <a:off x="1000125" y="55149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350" b="1">
                <a:solidFill>
                  <a:srgbClr val="202A35"/>
                </a:solidFill>
                <a:latin typeface="Arial"/>
                <a:ea typeface="Arial"/>
                <a:cs typeface="Arial"/>
              </a:defRPr>
            </a:pPr>
            <a:r>
              <a:rPr sz="1350" b="1">
                <a:solidFill>
                  <a:srgbClr val="202A35"/>
                </a:solidFill>
                <a:latin typeface="Arial"/>
                <a:ea typeface="Arial"/>
                <a:cs typeface="Arial"/>
              </a:rPr>
              <a:t>So sánh trên nhãn tổng hợp; rule và XGBoost chọn ngưỡng F2 trên validation. Không khẳng định thắng theo mọi mục tiêu.</a:t>
            </a:r>
          </a:p>
        </p:txBody>
      </p:sp>
    </p:spTree>
    <p:extLst>
      <p:ext uri="{BB962C8B-B14F-4D97-AF65-F5344CB8AC3E}">
        <p14:creationId xmlns:p14="http://schemas.microsoft.com/office/powerpoint/2010/main" val="14020983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54B78E-9FC1-4CEE-90B9-1C347A042488}"/>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F7CECD-AE33-4138-A136-4F6ED03C9406}"/>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ĐÁNH GIÁ MÔ HÌNH</a:t>
            </a:r>
          </a:p>
        </p:txBody>
      </p:sp>
      <p:sp>
        <p:nvSpPr>
          <p:cNvPr id="3" name="">
            <a:extLst xmlns:a="http://schemas.openxmlformats.org/drawingml/2006/main">
              <a:ext uri="{FF2B5EF4-FFF2-40B4-BE49-F238E27FC236}">
                <a16:creationId xmlns:a16="http://schemas.microsoft.com/office/drawing/2014/main" id="{0613C534-F5FF-4976-897D-AB98F9950396}"/>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Precision–Recall cho thấy độ chính xác giảm khi mở rộng thu hồi</a:t>
            </a:r>
          </a:p>
        </p:txBody>
      </p:sp>
      <p:sp>
        <p:nvSpPr>
          <p:cNvPr id="4" name="">
            <a:extLst xmlns:a="http://schemas.openxmlformats.org/drawingml/2006/main">
              <a:ext uri="{FF2B5EF4-FFF2-40B4-BE49-F238E27FC236}">
                <a16:creationId xmlns:a16="http://schemas.microsoft.com/office/drawing/2014/main" id="{1C555F75-87BF-47E1-876E-23A42ED76F38}"/>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A33591-B4AC-4CC9-980C-0BE0983A4D68}"/>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AE99740C-3621-42F7-BA96-3A976C9772AD}"/>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12</a:t>
            </a:r>
          </a:p>
        </p:txBody>
      </p:sp>
      <p:graphicFrame>
        <p:nvGraphicFramePr>
          <p:cNvPr id="18" name="Chart"/>
          <p:cNvGraphicFramePr/>
          <p:nvPr/>
        </p:nvGraphicFramePr>
        <p:xfrm>
          <a:off xmlns:a="http://schemas.openxmlformats.org/drawingml/2006/main" x="904875" y="1619250"/>
          <a:ext xmlns:a="http://schemas.openxmlformats.org/drawingml/2006/main" cx="7953375" cy="4000500"/>
        </p:xfrm>
        <a:graphic xmlns:a="http://schemas.openxmlformats.org/drawingml/2006/main">
          <a:graphicData uri="http://schemas.openxmlformats.org/drawingml/2006/chart">
            <c:chart xmlns:r="http://schemas.openxmlformats.org/officeDocument/2006/relationships" xmlns:c="http://schemas.openxmlformats.org/drawingml/2006/chart" r:id="R074ddabe1bd445e1"/>
          </a:graphicData>
        </a:graphic>
      </p:graphicFrame>
      <p:sp>
        <p:nvSpPr>
          <p:cNvPr id="8" name="">
            <a:extLst xmlns:a="http://schemas.openxmlformats.org/drawingml/2006/main">
              <a:ext uri="{FF2B5EF4-FFF2-40B4-BE49-F238E27FC236}">
                <a16:creationId xmlns:a16="http://schemas.microsoft.com/office/drawing/2014/main" id="{AB2A1360-7B9E-4E82-807C-7976609ECF3B}"/>
              </a:ext>
            </a:extLst>
          </p:cNvPr>
          <p:cNvSpPr>
            <a:spLocks xmlns:a="http://schemas.openxmlformats.org/drawingml/2006/main" noGrp="1"/>
          </p:cNvSpPr>
          <p:nvPr/>
        </p:nvSpPr>
        <p:spPr>
          <a:xfrm xmlns:a="http://schemas.openxmlformats.org/drawingml/2006/main">
            <a:off x="9239250" y="20764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2400" b="1">
                <a:solidFill>
                  <a:srgbClr val="14365D"/>
                </a:solidFill>
                <a:latin typeface="Arial"/>
                <a:ea typeface="Arial"/>
                <a:cs typeface="Arial"/>
              </a:defRPr>
            </a:pPr>
            <a:r>
              <a:rPr sz="2400" b="1">
                <a:solidFill>
                  <a:srgbClr val="14365D"/>
                </a:solidFill>
                <a:latin typeface="Arial"/>
                <a:ea typeface="Arial"/>
                <a:cs typeface="Arial"/>
              </a:rPr>
              <a:t>AP = 0.551</a:t>
            </a:r>
          </a:p>
        </p:txBody>
      </p:sp>
      <p:sp>
        <p:nvSpPr>
          <p:cNvPr id="9" name="">
            <a:extLst xmlns:a="http://schemas.openxmlformats.org/drawingml/2006/main">
              <a:ext uri="{FF2B5EF4-FFF2-40B4-BE49-F238E27FC236}">
                <a16:creationId xmlns:a16="http://schemas.microsoft.com/office/drawing/2014/main" id="{F078CFA9-A911-4BE6-8930-CCA56B3EC319}"/>
              </a:ext>
            </a:extLst>
          </p:cNvPr>
          <p:cNvSpPr>
            <a:spLocks xmlns:a="http://schemas.openxmlformats.org/drawingml/2006/main" noGrp="1"/>
          </p:cNvSpPr>
          <p:nvPr/>
        </p:nvSpPr>
        <p:spPr>
          <a:xfrm xmlns:a="http://schemas.openxmlformats.org/drawingml/2006/main">
            <a:off x="9239250" y="2905125"/>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800" b="0">
                <a:solidFill>
                  <a:srgbClr val="65717D"/>
                </a:solidFill>
                <a:latin typeface="Arial"/>
                <a:ea typeface="Arial"/>
                <a:cs typeface="Arial"/>
              </a:defRPr>
            </a:pPr>
            <a:r>
              <a:rPr sz="1800" b="0">
                <a:solidFill>
                  <a:srgbClr val="65717D"/>
                </a:solidFill>
                <a:latin typeface="Arial"/>
                <a:ea typeface="Arial"/>
                <a:cs typeface="Arial"/>
              </a:rPr>
              <a:t>Nhãn dương</a:t>
            </a:r>
          </a:p>
          <a:p xmlns:a="http://schemas.openxmlformats.org/drawingml/2006/main">
            <a:pPr algn="ctr">
              <a:lnSpc>
                <a:spcPct val="105000"/>
              </a:lnSpc>
              <a:buNone/>
              <a:defRPr sz="1800" b="0">
                <a:solidFill>
                  <a:srgbClr val="65717D"/>
                </a:solidFill>
                <a:latin typeface="Arial"/>
                <a:ea typeface="Arial"/>
                <a:cs typeface="Arial"/>
              </a:defRPr>
            </a:pPr>
            <a:r>
              <a:rPr sz="1800" b="0">
                <a:solidFill>
                  <a:srgbClr val="65717D"/>
                </a:solidFill>
                <a:latin typeface="Arial"/>
                <a:ea typeface="Arial"/>
                <a:cs typeface="Arial"/>
              </a:rPr>
              <a:t>1.8%</a:t>
            </a:r>
          </a:p>
        </p:txBody>
      </p:sp>
      <p:sp>
        <p:nvSpPr>
          <p:cNvPr id="10" name="">
            <a:extLst xmlns:a="http://schemas.openxmlformats.org/drawingml/2006/main">
              <a:ext uri="{FF2B5EF4-FFF2-40B4-BE49-F238E27FC236}">
                <a16:creationId xmlns:a16="http://schemas.microsoft.com/office/drawing/2014/main" id="{DBB4903B-3ED8-4690-9AEE-53B32E3E3D22}"/>
              </a:ext>
            </a:extLst>
          </p:cNvPr>
          <p:cNvSpPr>
            <a:spLocks xmlns:a="http://schemas.openxmlformats.org/drawingml/2006/main" noGrp="1"/>
          </p:cNvSpPr>
          <p:nvPr/>
        </p:nvSpPr>
        <p:spPr>
          <a:xfrm xmlns:a="http://schemas.openxmlformats.org/drawingml/2006/main">
            <a:off x="9191625" y="400050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650" b="0">
                <a:solidFill>
                  <a:srgbClr val="202A35"/>
                </a:solidFill>
                <a:latin typeface="Arial"/>
                <a:ea typeface="Arial"/>
                <a:cs typeface="Arial"/>
              </a:defRPr>
            </a:pPr>
            <a:r>
              <a:rPr sz="1650" b="0">
                <a:solidFill>
                  <a:srgbClr val="202A35"/>
                </a:solidFill>
                <a:latin typeface="Arial"/>
                <a:ea typeface="Arial"/>
                <a:cs typeface="Arial"/>
              </a:rPr>
              <a:t>PR/AP đi cùng ROC-AUC</a:t>
            </a:r>
          </a:p>
          <a:p xmlns:a="http://schemas.openxmlformats.org/drawingml/2006/main">
            <a:pPr algn="ctr">
              <a:lnSpc>
                <a:spcPct val="105000"/>
              </a:lnSpc>
              <a:buNone/>
              <a:defRPr sz="1650" b="0">
                <a:solidFill>
                  <a:srgbClr val="202A35"/>
                </a:solidFill>
                <a:latin typeface="Arial"/>
                <a:ea typeface="Arial"/>
                <a:cs typeface="Arial"/>
              </a:defRPr>
            </a:pPr>
            <a:r>
              <a:rPr sz="1650" b="0">
                <a:solidFill>
                  <a:srgbClr val="202A35"/>
                </a:solidFill>
                <a:latin typeface="Arial"/>
                <a:ea typeface="Arial"/>
                <a:cs typeface="Arial"/>
              </a:rPr>
              <a:t>trong dữ liệu lệch lớp.</a:t>
            </a:r>
          </a:p>
        </p:txBody>
      </p:sp>
      <p:sp>
        <p:nvSpPr>
          <p:cNvPr id="11" name="">
            <a:extLst xmlns:a="http://schemas.openxmlformats.org/drawingml/2006/main">
              <a:ext uri="{FF2B5EF4-FFF2-40B4-BE49-F238E27FC236}">
                <a16:creationId xmlns:a16="http://schemas.microsoft.com/office/drawing/2014/main" id="{48BFEC6B-1A76-4E5F-812C-B2F8F0A468EA}"/>
              </a:ext>
            </a:extLst>
          </p:cNvPr>
          <p:cNvSpPr>
            <a:spLocks xmlns:a="http://schemas.openxmlformats.org/drawingml/2006/main" noGrp="1"/>
          </p:cNvSpPr>
          <p:nvPr/>
        </p:nvSpPr>
        <p:spPr>
          <a:xfrm xmlns:a="http://schemas.openxmlformats.org/drawingml/2006/main">
            <a:off x="933450" y="5857875"/>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350" b="0">
                <a:solidFill>
                  <a:srgbClr val="65717D"/>
                </a:solidFill>
                <a:latin typeface="Arial"/>
                <a:ea typeface="Arial"/>
                <a:cs typeface="Arial"/>
              </a:defRPr>
            </a:pPr>
            <a:r>
              <a:rPr sz="1350" b="0">
                <a:solidFill>
                  <a:srgbClr val="65717D"/>
                </a:solidFill>
                <a:latin typeface="Arial"/>
                <a:ea typeface="Arial"/>
                <a:cs typeface="Arial"/>
              </a:rPr>
              <a:t>AP không được gọi là diện tích hình thang của PR curve.</a:t>
            </a:r>
          </a:p>
        </p:txBody>
      </p:sp>
    </p:spTree>
    <p:extLst>
      <p:ext uri="{BB962C8B-B14F-4D97-AF65-F5344CB8AC3E}">
        <p14:creationId xmlns:p14="http://schemas.microsoft.com/office/powerpoint/2010/main" val="610196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CC8C7C-EB56-4406-B695-1AE644EEA9DF}"/>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6AE693-5A31-4850-8C9B-28EA14F921ED}"/>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ĐỌC KẾT QUẢ</a:t>
            </a:r>
          </a:p>
        </p:txBody>
      </p:sp>
      <p:sp>
        <p:nvSpPr>
          <p:cNvPr id="3" name="">
            <a:extLst xmlns:a="http://schemas.openxmlformats.org/drawingml/2006/main">
              <a:ext uri="{FF2B5EF4-FFF2-40B4-BE49-F238E27FC236}">
                <a16:creationId xmlns:a16="http://schemas.microsoft.com/office/drawing/2014/main" id="{139D0DC5-0F96-426F-B9B9-2DD94D542C01}"/>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187 cảnh báo trên test, trong đó 122 là false positive</a:t>
            </a:r>
          </a:p>
        </p:txBody>
      </p:sp>
      <p:sp>
        <p:nvSpPr>
          <p:cNvPr id="4" name="">
            <a:extLst xmlns:a="http://schemas.openxmlformats.org/drawingml/2006/main">
              <a:ext uri="{FF2B5EF4-FFF2-40B4-BE49-F238E27FC236}">
                <a16:creationId xmlns:a16="http://schemas.microsoft.com/office/drawing/2014/main" id="{4DDC6B66-727B-4A9D-9BE7-9854C1AEAEB3}"/>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662DC8-E121-42C2-9ACB-DE0F60D968AE}"/>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2D2F8DEF-C069-4FEF-B43A-7A7D74C4D4C8}"/>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13</a:t>
            </a:r>
          </a:p>
        </p:txBody>
      </p:sp>
      <p:graphicFrame>
        <p:nvGraphicFramePr>
          <p:cNvPr id="20" name=""/>
          <p:cNvGraphicFramePr/>
          <p:nvPr/>
        </p:nvGraphicFramePr>
        <p:xfrm>
          <a:off xmlns:a="http://schemas.openxmlformats.org/drawingml/2006/main" x="857250" y="1714500"/>
          <a:ext xmlns:a="http://schemas.openxmlformats.org/drawingml/2006/main" cx="6953250" cy="2400300"/>
        </p:xfrm>
        <a:graphic xmlns:a="http://schemas.openxmlformats.org/drawingml/2006/main">
          <a:graphicData uri="http://schemas.openxmlformats.org/drawingml/2006/table">
            <a:tbl>
              <a:tblPr firstRow="1" bandRow="1"/>
              <a:tblGrid>
                <a:gridCol w="2667000"/>
                <a:gridCol w="2143125"/>
                <a:gridCol w="2143125"/>
              </a:tblGrid>
              <a:tr h="800100">
                <a:tc>
                  <a:txBody>
                    <a:bodyPr>
                      <a:normAutofit/>
                    </a:bodyPr>
                    <a:lstStyle/>
                    <a:p>
                      <a:pPr algn="ctr"/>
                      <a:r>
                        <a:rPr sz="1725" b="1">
                          <a:solidFill>
                            <a:srgbClr val="FFFFFF"/>
                          </a:solidFill>
                          <a:latin typeface="Arial"/>
                          <a:ea typeface="Arial"/>
                          <a:cs typeface="Arial"/>
                        </a:rPr>
                        <a:t>Nhãn thật / dự đoán</a:t>
                      </a:r>
                    </a:p>
                  </a:txBody>
                  <a:tcPr marL="91440" marR="91440" marT="45720" marB="45720" anchor="ctr">
                    <a:solidFill>
                      <a:srgbClr val="14365D"/>
                    </a:solidFill>
                  </a:tcPr>
                </a:tc>
                <a:tc>
                  <a:txBody>
                    <a:bodyPr>
                      <a:normAutofit/>
                    </a:bodyPr>
                    <a:lstStyle/>
                    <a:p>
                      <a:pPr algn="ctr"/>
                      <a:r>
                        <a:rPr sz="1725" b="1">
                          <a:solidFill>
                            <a:srgbClr val="FFFFFF"/>
                          </a:solidFill>
                          <a:latin typeface="Arial"/>
                          <a:ea typeface="Arial"/>
                          <a:cs typeface="Arial"/>
                        </a:rPr>
                        <a:t>Dự đoán bình thường</a:t>
                      </a:r>
                    </a:p>
                  </a:txBody>
                  <a:tcPr marL="91440" marR="91440" marT="45720" marB="45720" anchor="ctr">
                    <a:solidFill>
                      <a:srgbClr val="14365D"/>
                    </a:solidFill>
                  </a:tcPr>
                </a:tc>
                <a:tc>
                  <a:txBody>
                    <a:bodyPr>
                      <a:normAutofit/>
                    </a:bodyPr>
                    <a:lstStyle/>
                    <a:p>
                      <a:pPr algn="ctr"/>
                      <a:r>
                        <a:rPr sz="1725" b="1">
                          <a:solidFill>
                            <a:srgbClr val="FFFFFF"/>
                          </a:solidFill>
                          <a:latin typeface="Arial"/>
                          <a:ea typeface="Arial"/>
                          <a:cs typeface="Arial"/>
                        </a:rPr>
                        <a:t>Dự đoán cảnh báo</a:t>
                      </a:r>
                    </a:p>
                  </a:txBody>
                  <a:tcPr marL="91440" marR="91440" marT="45720" marB="45720" anchor="ctr">
                    <a:solidFill>
                      <a:srgbClr val="14365D"/>
                    </a:solidFill>
                  </a:tcPr>
                </a:tc>
              </a:tr>
              <a:tr h="800100">
                <a:tc>
                  <a:txBody>
                    <a:bodyPr>
                      <a:normAutofit/>
                    </a:bodyPr>
                    <a:lstStyle/>
                    <a:p>
                      <a:pPr algn="ctr"/>
                      <a:r>
                        <a:rPr sz="1725" b="0">
                          <a:solidFill>
                            <a:srgbClr val="202A35"/>
                          </a:solidFill>
                          <a:latin typeface="Arial"/>
                          <a:ea typeface="Arial"/>
                          <a:cs typeface="Arial"/>
                        </a:rPr>
                        <a:t>Thật bình thường</a:t>
                      </a:r>
                    </a:p>
                  </a:txBody>
                  <a:tcPr marL="91440" marR="91440" marT="45720" marB="45720" anchor="ctr">
                    <a:solidFill>
                      <a:srgbClr val="FFFFFF"/>
                    </a:solidFill>
                  </a:tcPr>
                </a:tc>
                <a:tc>
                  <a:txBody>
                    <a:bodyPr>
                      <a:normAutofit/>
                    </a:bodyPr>
                    <a:lstStyle/>
                    <a:p>
                      <a:pPr algn="ctr"/>
                      <a:r>
                        <a:rPr sz="1725" b="0">
                          <a:solidFill>
                            <a:srgbClr val="202A35"/>
                          </a:solidFill>
                          <a:latin typeface="Arial"/>
                          <a:ea typeface="Arial"/>
                          <a:cs typeface="Arial"/>
                        </a:rPr>
                        <a:t>4788</a:t>
                      </a:r>
                    </a:p>
                  </a:txBody>
                  <a:tcPr marL="91440" marR="91440" marT="45720" marB="45720" anchor="ctr">
                    <a:solidFill>
                      <a:srgbClr val="FFFFFF"/>
                    </a:solidFill>
                  </a:tcPr>
                </a:tc>
                <a:tc>
                  <a:txBody>
                    <a:bodyPr>
                      <a:normAutofit/>
                    </a:bodyPr>
                    <a:lstStyle/>
                    <a:p>
                      <a:pPr algn="ctr"/>
                      <a:r>
                        <a:rPr sz="1725" b="0">
                          <a:solidFill>
                            <a:srgbClr val="202A35"/>
                          </a:solidFill>
                          <a:latin typeface="Arial"/>
                          <a:ea typeface="Arial"/>
                          <a:cs typeface="Arial"/>
                        </a:rPr>
                        <a:t>122</a:t>
                      </a:r>
                    </a:p>
                  </a:txBody>
                  <a:tcPr marL="91440" marR="91440" marT="45720" marB="45720" anchor="ctr">
                    <a:solidFill>
                      <a:srgbClr val="FFFFFF"/>
                    </a:solidFill>
                  </a:tcPr>
                </a:tc>
              </a:tr>
              <a:tr h="800100">
                <a:tc>
                  <a:txBody>
                    <a:bodyPr>
                      <a:normAutofit/>
                    </a:bodyPr>
                    <a:lstStyle/>
                    <a:p>
                      <a:pPr algn="ctr"/>
                      <a:r>
                        <a:rPr sz="1725" b="0">
                          <a:solidFill>
                            <a:srgbClr val="202A35"/>
                          </a:solidFill>
                          <a:latin typeface="Arial"/>
                          <a:ea typeface="Arial"/>
                          <a:cs typeface="Arial"/>
                        </a:rPr>
                        <a:t>Thật dương tổng hợp</a:t>
                      </a:r>
                    </a:p>
                  </a:txBody>
                  <a:tcPr marL="91440" marR="91440" marT="45720" marB="45720" anchor="ctr">
                    <a:solidFill>
                      <a:srgbClr val="EAF1F8"/>
                    </a:solidFill>
                  </a:tcPr>
                </a:tc>
                <a:tc>
                  <a:txBody>
                    <a:bodyPr>
                      <a:normAutofit/>
                    </a:bodyPr>
                    <a:lstStyle/>
                    <a:p>
                      <a:pPr algn="ctr"/>
                      <a:r>
                        <a:rPr sz="1725" b="0">
                          <a:solidFill>
                            <a:srgbClr val="202A35"/>
                          </a:solidFill>
                          <a:latin typeface="Arial"/>
                          <a:ea typeface="Arial"/>
                          <a:cs typeface="Arial"/>
                        </a:rPr>
                        <a:t>25</a:t>
                      </a:r>
                    </a:p>
                  </a:txBody>
                  <a:tcPr marL="91440" marR="91440" marT="45720" marB="45720" anchor="ctr">
                    <a:solidFill>
                      <a:srgbClr val="EAF1F8"/>
                    </a:solidFill>
                  </a:tcPr>
                </a:tc>
                <a:tc>
                  <a:txBody>
                    <a:bodyPr>
                      <a:normAutofit/>
                    </a:bodyPr>
                    <a:lstStyle/>
                    <a:p>
                      <a:pPr algn="ctr"/>
                      <a:r>
                        <a:rPr sz="1725" b="0">
                          <a:solidFill>
                            <a:srgbClr val="202A35"/>
                          </a:solidFill>
                          <a:latin typeface="Arial"/>
                          <a:ea typeface="Arial"/>
                          <a:cs typeface="Arial"/>
                        </a:rPr>
                        <a:t>65</a:t>
                      </a:r>
                    </a:p>
                  </a:txBody>
                  <a:tcPr marL="91440" marR="91440" marT="45720" marB="45720" anchor="ctr">
                    <a:solidFill>
                      <a:srgbClr val="EAF1F8"/>
                    </a:solidFill>
                  </a:tcPr>
                </a:tc>
              </a:tr>
            </a:tbl>
          </a:graphicData>
        </a:graphic>
      </p:graphicFrame>
      <p:sp>
        <p:nvSpPr>
          <p:cNvPr id="8" name="">
            <a:extLst xmlns:a="http://schemas.openxmlformats.org/drawingml/2006/main">
              <a:ext uri="{FF2B5EF4-FFF2-40B4-BE49-F238E27FC236}">
                <a16:creationId xmlns:a16="http://schemas.microsoft.com/office/drawing/2014/main" id="{BFD2C59D-A4F8-45CC-976A-D2DDDCA90D35}"/>
              </a:ext>
            </a:extLst>
          </p:cNvPr>
          <p:cNvSpPr>
            <a:spLocks xmlns:a="http://schemas.openxmlformats.org/drawingml/2006/main" noGrp="1"/>
          </p:cNvSpPr>
          <p:nvPr/>
        </p:nvSpPr>
        <p:spPr>
          <a:xfrm xmlns:a="http://schemas.openxmlformats.org/drawingml/2006/main">
            <a:off x="8191500" y="1809750"/>
            <a:ext cx="3048000" cy="2381250"/>
          </a:xfrm>
          <a:prstGeom xmlns:a="http://schemas.openxmlformats.org/drawingml/2006/main" prst="roundRect">
            <a:avLst>
              <a:gd name="adj" fmla="val 3200"/>
            </a:avLst>
          </a:prstGeom>
          <a:solidFill xmlns:a="http://schemas.openxmlformats.org/drawingml/2006/main">
            <a:srgbClr val="FDEE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F2D785-ED6B-4B8D-B8B6-89B5C071850C}"/>
              </a:ext>
            </a:extLst>
          </p:cNvPr>
          <p:cNvSpPr>
            <a:spLocks xmlns:a="http://schemas.openxmlformats.org/drawingml/2006/main" noGrp="1"/>
          </p:cNvSpPr>
          <p:nvPr/>
        </p:nvSpPr>
        <p:spPr>
          <a:xfrm xmlns:a="http://schemas.openxmlformats.org/drawingml/2006/main">
            <a:off x="8458200" y="20383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3750" b="1">
                <a:solidFill>
                  <a:srgbClr val="C84646"/>
                </a:solidFill>
                <a:latin typeface="Arial"/>
                <a:ea typeface="Arial"/>
                <a:cs typeface="Arial"/>
              </a:defRPr>
            </a:pPr>
            <a:r>
              <a:rPr sz="3750" b="1">
                <a:solidFill>
                  <a:srgbClr val="C84646"/>
                </a:solidFill>
                <a:latin typeface="Arial"/>
                <a:ea typeface="Arial"/>
                <a:cs typeface="Arial"/>
              </a:rPr>
              <a:t>122</a:t>
            </a:r>
          </a:p>
        </p:txBody>
      </p:sp>
      <p:sp>
        <p:nvSpPr>
          <p:cNvPr id="10" name="">
            <a:extLst xmlns:a="http://schemas.openxmlformats.org/drawingml/2006/main">
              <a:ext uri="{FF2B5EF4-FFF2-40B4-BE49-F238E27FC236}">
                <a16:creationId xmlns:a16="http://schemas.microsoft.com/office/drawing/2014/main" id="{6FC5CE3D-2F5D-4FAD-B5C7-BD099AE82E45}"/>
              </a:ext>
            </a:extLst>
          </p:cNvPr>
          <p:cNvSpPr>
            <a:spLocks xmlns:a="http://schemas.openxmlformats.org/drawingml/2006/main" noGrp="1"/>
          </p:cNvSpPr>
          <p:nvPr/>
        </p:nvSpPr>
        <p:spPr>
          <a:xfrm xmlns:a="http://schemas.openxmlformats.org/drawingml/2006/main">
            <a:off x="8458200" y="27241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800" b="1">
                <a:solidFill>
                  <a:srgbClr val="202A35"/>
                </a:solidFill>
                <a:latin typeface="Arial"/>
                <a:ea typeface="Arial"/>
                <a:cs typeface="Arial"/>
              </a:defRPr>
            </a:pPr>
            <a:r>
              <a:rPr sz="1800" b="1">
                <a:solidFill>
                  <a:srgbClr val="202A35"/>
                </a:solidFill>
                <a:latin typeface="Arial"/>
                <a:ea typeface="Arial"/>
                <a:cs typeface="Arial"/>
              </a:rPr>
              <a:t>cảnh báo sai</a:t>
            </a:r>
          </a:p>
          <a:p xmlns:a="http://schemas.openxmlformats.org/drawingml/2006/main">
            <a:pPr algn="ctr">
              <a:lnSpc>
                <a:spcPct val="105000"/>
              </a:lnSpc>
              <a:buNone/>
              <a:defRPr sz="1800" b="1">
                <a:solidFill>
                  <a:srgbClr val="202A35"/>
                </a:solidFill>
                <a:latin typeface="Arial"/>
                <a:ea typeface="Arial"/>
                <a:cs typeface="Arial"/>
              </a:defRPr>
            </a:pPr>
            <a:r>
              <a:rPr sz="1800" b="1">
                <a:solidFill>
                  <a:srgbClr val="202A35"/>
                </a:solidFill>
                <a:latin typeface="Arial"/>
                <a:ea typeface="Arial"/>
                <a:cs typeface="Arial"/>
              </a:rPr>
              <a:t>theo nhãn tổng hợp</a:t>
            </a:r>
          </a:p>
        </p:txBody>
      </p:sp>
      <p:sp>
        <p:nvSpPr>
          <p:cNvPr id="11" name="">
            <a:extLst xmlns:a="http://schemas.openxmlformats.org/drawingml/2006/main">
              <a:ext uri="{FF2B5EF4-FFF2-40B4-BE49-F238E27FC236}">
                <a16:creationId xmlns:a16="http://schemas.microsoft.com/office/drawing/2014/main" id="{897AF3D9-1396-435A-A88A-3DAB777D3C89}"/>
              </a:ext>
            </a:extLst>
          </p:cNvPr>
          <p:cNvSpPr>
            <a:spLocks xmlns:a="http://schemas.openxmlformats.org/drawingml/2006/main" noGrp="1"/>
          </p:cNvSpPr>
          <p:nvPr/>
        </p:nvSpPr>
        <p:spPr>
          <a:xfrm xmlns:a="http://schemas.openxmlformats.org/drawingml/2006/main">
            <a:off x="8382000" y="44958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00" b="1">
                <a:solidFill>
                  <a:srgbClr val="C84646"/>
                </a:solidFill>
                <a:latin typeface="Arial"/>
                <a:ea typeface="Arial"/>
                <a:cs typeface="Arial"/>
              </a:defRPr>
            </a:pPr>
            <a:r>
              <a:rPr sz="1500" b="1">
                <a:solidFill>
                  <a:srgbClr val="C84646"/>
                </a:solidFill>
                <a:latin typeface="Arial"/>
                <a:ea typeface="Arial"/>
                <a:cs typeface="Arial"/>
              </a:rPr>
              <a:t>Không phải “122 vụ gian lận bị chặn”.</a:t>
            </a:r>
          </a:p>
        </p:txBody>
      </p:sp>
      <p:sp>
        <p:nvSpPr>
          <p:cNvPr id="12" name="">
            <a:extLst xmlns:a="http://schemas.openxmlformats.org/drawingml/2006/main">
              <a:ext uri="{FF2B5EF4-FFF2-40B4-BE49-F238E27FC236}">
                <a16:creationId xmlns:a16="http://schemas.microsoft.com/office/drawing/2014/main" id="{355802F6-AB11-4383-A997-7002050AC99D}"/>
              </a:ext>
            </a:extLst>
          </p:cNvPr>
          <p:cNvSpPr>
            <a:spLocks xmlns:a="http://schemas.openxmlformats.org/drawingml/2006/main" noGrp="1"/>
          </p:cNvSpPr>
          <p:nvPr/>
        </p:nvSpPr>
        <p:spPr>
          <a:xfrm xmlns:a="http://schemas.openxmlformats.org/drawingml/2006/main">
            <a:off x="876300" y="5286375"/>
            <a:ext cx="714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650" b="1">
                <a:solidFill>
                  <a:srgbClr val="14365D"/>
                </a:solidFill>
                <a:latin typeface="Arial"/>
                <a:ea typeface="Arial"/>
                <a:cs typeface="Arial"/>
              </a:defRPr>
            </a:pPr>
            <a:r>
              <a:rPr sz="1650" b="1">
                <a:solidFill>
                  <a:srgbClr val="14365D"/>
                </a:solidFill>
                <a:latin typeface="Arial"/>
                <a:ea typeface="Arial"/>
                <a:cs typeface="Arial"/>
              </a:rPr>
              <a:t>90 nhãn dương trong 5.000 dòng test</a:t>
            </a:r>
          </a:p>
        </p:txBody>
      </p:sp>
      <p:sp>
        <p:nvSpPr>
          <p:cNvPr id="13" name="">
            <a:extLst xmlns:a="http://schemas.openxmlformats.org/drawingml/2006/main">
              <a:ext uri="{FF2B5EF4-FFF2-40B4-BE49-F238E27FC236}">
                <a16:creationId xmlns:a16="http://schemas.microsoft.com/office/drawing/2014/main" id="{F5757CFC-7477-4D1C-86A0-897728CD7859}"/>
              </a:ext>
            </a:extLst>
          </p:cNvPr>
          <p:cNvSpPr>
            <a:spLocks xmlns:a="http://schemas.openxmlformats.org/drawingml/2006/main" noGrp="1"/>
          </p:cNvSpPr>
          <p:nvPr/>
        </p:nvSpPr>
        <p:spPr>
          <a:xfrm xmlns:a="http://schemas.openxmlformats.org/drawingml/2006/main">
            <a:off x="876300" y="57150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500" b="0">
                <a:solidFill>
                  <a:srgbClr val="65717D"/>
                </a:solidFill>
                <a:latin typeface="Arial"/>
                <a:ea typeface="Arial"/>
                <a:cs typeface="Arial"/>
              </a:defRPr>
            </a:pPr>
            <a:r>
              <a:rPr sz="1500" b="0">
                <a:solidFill>
                  <a:srgbClr val="65717D"/>
                </a:solidFill>
                <a:latin typeface="Arial"/>
                <a:ea typeface="Arial"/>
                <a:cs typeface="Arial"/>
              </a:rPr>
              <a:t>Tải cảnh báo và quyết định can thiệp cần đánh giá cùng năng lực chuyên viên.</a:t>
            </a:r>
          </a:p>
        </p:txBody>
      </p:sp>
    </p:spTree>
    <p:extLst>
      <p:ext uri="{BB962C8B-B14F-4D97-AF65-F5344CB8AC3E}">
        <p14:creationId xmlns:p14="http://schemas.microsoft.com/office/powerpoint/2010/main" val="10223200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F5039A-82BB-48A4-9AE6-D721B0D4CFF9}"/>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6E02AD-7944-4EC2-A4DF-6B83A0E8B1D0}"/>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ĐỘ NHẠY VÀ HIỆU NĂNG KỸ THUẬT</a:t>
            </a:r>
          </a:p>
        </p:txBody>
      </p:sp>
      <p:sp>
        <p:nvSpPr>
          <p:cNvPr id="3" name="">
            <a:extLst xmlns:a="http://schemas.openxmlformats.org/drawingml/2006/main">
              <a:ext uri="{FF2B5EF4-FFF2-40B4-BE49-F238E27FC236}">
                <a16:creationId xmlns:a16="http://schemas.microsoft.com/office/drawing/2014/main" id="{E27B440D-604D-4E84-B363-A700BCAD3F2C}"/>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Kết quả ổn định giữa seed; latency chỉ là inference local</a:t>
            </a:r>
          </a:p>
        </p:txBody>
      </p:sp>
      <p:sp>
        <p:nvSpPr>
          <p:cNvPr id="4" name="">
            <a:extLst xmlns:a="http://schemas.openxmlformats.org/drawingml/2006/main">
              <a:ext uri="{FF2B5EF4-FFF2-40B4-BE49-F238E27FC236}">
                <a16:creationId xmlns:a16="http://schemas.microsoft.com/office/drawing/2014/main" id="{614C568D-E81C-48AD-9948-70301AC68C34}"/>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419226-65E0-4773-8C5D-9429AE3EBB85}"/>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DFD49AC9-E925-49A9-A42B-4CEE2E838722}"/>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14</a:t>
            </a:r>
          </a:p>
        </p:txBody>
      </p:sp>
      <p:graphicFrame>
        <p:nvGraphicFramePr>
          <p:cNvPr id="22" name=""/>
          <p:cNvGraphicFramePr/>
          <p:nvPr/>
        </p:nvGraphicFramePr>
        <p:xfrm>
          <a:off xmlns:a="http://schemas.openxmlformats.org/drawingml/2006/main" x="714375" y="1600200"/>
          <a:ext xmlns:a="http://schemas.openxmlformats.org/drawingml/2006/main" cx="6858000" cy="2381250"/>
        </p:xfrm>
        <a:graphic xmlns:a="http://schemas.openxmlformats.org/drawingml/2006/main">
          <a:graphicData uri="http://schemas.openxmlformats.org/drawingml/2006/table">
            <a:tbl>
              <a:tblPr firstRow="1" bandRow="1"/>
              <a:tblGrid>
                <a:gridCol w="1238250"/>
                <a:gridCol w="1714500"/>
                <a:gridCol w="1333500"/>
                <a:gridCol w="1333500"/>
                <a:gridCol w="1238250"/>
              </a:tblGrid>
              <a:tr h="595313">
                <a:tc>
                  <a:txBody>
                    <a:bodyPr>
                      <a:normAutofit/>
                    </a:bodyPr>
                    <a:lstStyle/>
                    <a:p>
                      <a:pPr algn="ctr"/>
                      <a:r>
                        <a:rPr sz="1500" b="1">
                          <a:solidFill>
                            <a:srgbClr val="FFFFFF"/>
                          </a:solidFill>
                          <a:latin typeface="Arial"/>
                          <a:ea typeface="Arial"/>
                          <a:cs typeface="Arial"/>
                        </a:rPr>
                        <a:t>Seed</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Threshold val</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Precision</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Recall</a:t>
                      </a:r>
                    </a:p>
                  </a:txBody>
                  <a:tcPr marL="91440" marR="91440" marT="45720" marB="45720" anchor="ctr">
                    <a:solidFill>
                      <a:srgbClr val="14365D"/>
                    </a:solidFill>
                  </a:tcPr>
                </a:tc>
                <a:tc>
                  <a:txBody>
                    <a:bodyPr>
                      <a:normAutofit/>
                    </a:bodyPr>
                    <a:lstStyle/>
                    <a:p>
                      <a:pPr algn="ctr"/>
                      <a:r>
                        <a:rPr sz="1500" b="1">
                          <a:solidFill>
                            <a:srgbClr val="FFFFFF"/>
                          </a:solidFill>
                          <a:latin typeface="Arial"/>
                          <a:ea typeface="Arial"/>
                          <a:cs typeface="Arial"/>
                        </a:rPr>
                        <a:t>F2</a:t>
                      </a:r>
                    </a:p>
                  </a:txBody>
                  <a:tcPr marL="91440" marR="91440" marT="45720" marB="45720" anchor="ctr">
                    <a:solidFill>
                      <a:srgbClr val="14365D"/>
                    </a:solidFill>
                  </a:tcPr>
                </a:tc>
              </a:tr>
              <a:tr h="595313">
                <a:tc>
                  <a:txBody>
                    <a:bodyPr>
                      <a:normAutofit/>
                    </a:bodyPr>
                    <a:lstStyle/>
                    <a:p>
                      <a:pPr algn="ctr"/>
                      <a:r>
                        <a:rPr sz="1500" b="0">
                          <a:solidFill>
                            <a:srgbClr val="202A35"/>
                          </a:solidFill>
                          <a:latin typeface="Arial"/>
                          <a:ea typeface="Arial"/>
                          <a:cs typeface="Arial"/>
                        </a:rPr>
                        <a:t>42</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0.637</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34.8%</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72.2%</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0.594</a:t>
                      </a:r>
                    </a:p>
                  </a:txBody>
                  <a:tcPr marL="91440" marR="91440" marT="45720" marB="45720" anchor="ctr">
                    <a:solidFill>
                      <a:srgbClr val="FFFFFF"/>
                    </a:solidFill>
                  </a:tcPr>
                </a:tc>
              </a:tr>
              <a:tr h="595313">
                <a:tc>
                  <a:txBody>
                    <a:bodyPr>
                      <a:normAutofit/>
                    </a:bodyPr>
                    <a:lstStyle/>
                    <a:p>
                      <a:pPr algn="ctr"/>
                      <a:r>
                        <a:rPr sz="1500" b="0">
                          <a:solidFill>
                            <a:srgbClr val="202A35"/>
                          </a:solidFill>
                          <a:latin typeface="Arial"/>
                          <a:ea typeface="Arial"/>
                          <a:cs typeface="Arial"/>
                        </a:rPr>
                        <a:t>52</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0.725</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38.7%</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72.2%</a:t>
                      </a:r>
                    </a:p>
                  </a:txBody>
                  <a:tcPr marL="91440" marR="91440" marT="45720" marB="45720" anchor="ctr">
                    <a:solidFill>
                      <a:srgbClr val="EAF1F8"/>
                    </a:solidFill>
                  </a:tcPr>
                </a:tc>
                <a:tc>
                  <a:txBody>
                    <a:bodyPr>
                      <a:normAutofit/>
                    </a:bodyPr>
                    <a:lstStyle/>
                    <a:p>
                      <a:pPr algn="ctr"/>
                      <a:r>
                        <a:rPr sz="1500" b="0">
                          <a:solidFill>
                            <a:srgbClr val="202A35"/>
                          </a:solidFill>
                          <a:latin typeface="Arial"/>
                          <a:ea typeface="Arial"/>
                          <a:cs typeface="Arial"/>
                        </a:rPr>
                        <a:t>0.616</a:t>
                      </a:r>
                    </a:p>
                  </a:txBody>
                  <a:tcPr marL="91440" marR="91440" marT="45720" marB="45720" anchor="ctr">
                    <a:solidFill>
                      <a:srgbClr val="EAF1F8"/>
                    </a:solidFill>
                  </a:tcPr>
                </a:tc>
              </a:tr>
              <a:tr h="595313">
                <a:tc>
                  <a:txBody>
                    <a:bodyPr>
                      <a:normAutofit/>
                    </a:bodyPr>
                    <a:lstStyle/>
                    <a:p>
                      <a:pPr algn="ctr"/>
                      <a:r>
                        <a:rPr sz="1500" b="0">
                          <a:solidFill>
                            <a:srgbClr val="202A35"/>
                          </a:solidFill>
                          <a:latin typeface="Arial"/>
                          <a:ea typeface="Arial"/>
                          <a:cs typeface="Arial"/>
                        </a:rPr>
                        <a:t>62</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0.667</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36.4%</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75.6%</a:t>
                      </a:r>
                    </a:p>
                  </a:txBody>
                  <a:tcPr marL="91440" marR="91440" marT="45720" marB="45720" anchor="ctr">
                    <a:solidFill>
                      <a:srgbClr val="FFFFFF"/>
                    </a:solidFill>
                  </a:tcPr>
                </a:tc>
                <a:tc>
                  <a:txBody>
                    <a:bodyPr>
                      <a:normAutofit/>
                    </a:bodyPr>
                    <a:lstStyle/>
                    <a:p>
                      <a:pPr algn="ctr"/>
                      <a:r>
                        <a:rPr sz="1500" b="0">
                          <a:solidFill>
                            <a:srgbClr val="202A35"/>
                          </a:solidFill>
                          <a:latin typeface="Arial"/>
                          <a:ea typeface="Arial"/>
                          <a:cs typeface="Arial"/>
                        </a:rPr>
                        <a:t>0.622</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E9BCBB5-D0B3-43A4-94DF-BA8D34EAB9DC}"/>
              </a:ext>
            </a:extLst>
          </p:cNvPr>
          <p:cNvSpPr>
            <a:spLocks xmlns:a="http://schemas.openxmlformats.org/drawingml/2006/main" noGrp="1"/>
          </p:cNvSpPr>
          <p:nvPr/>
        </p:nvSpPr>
        <p:spPr>
          <a:xfrm xmlns:a="http://schemas.openxmlformats.org/drawingml/2006/main">
            <a:off x="8020050" y="1600200"/>
            <a:ext cx="3143250" cy="2381250"/>
          </a:xfrm>
          <a:prstGeom xmlns:a="http://schemas.openxmlformats.org/drawingml/2006/main" prst="roundRect">
            <a:avLst>
              <a:gd name="adj" fmla="val 3200"/>
            </a:avLst>
          </a:prstGeom>
          <a:solidFill xmlns:a="http://schemas.openxmlformats.org/drawingml/2006/main">
            <a:srgbClr val="EAF1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35EB12-3301-4D34-8B9C-E0E21DA47172}"/>
              </a:ext>
            </a:extLst>
          </p:cNvPr>
          <p:cNvSpPr>
            <a:spLocks xmlns:a="http://schemas.openxmlformats.org/drawingml/2006/main" noGrp="1"/>
          </p:cNvSpPr>
          <p:nvPr/>
        </p:nvSpPr>
        <p:spPr>
          <a:xfrm xmlns:a="http://schemas.openxmlformats.org/drawingml/2006/main">
            <a:off x="828675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275" b="1">
                <a:solidFill>
                  <a:srgbClr val="65717D"/>
                </a:solidFill>
                <a:latin typeface="Arial"/>
                <a:ea typeface="Arial"/>
                <a:cs typeface="Arial"/>
              </a:defRPr>
            </a:pPr>
            <a:r>
              <a:rPr sz="1275" b="1">
                <a:solidFill>
                  <a:srgbClr val="65717D"/>
                </a:solidFill>
                <a:latin typeface="Arial"/>
                <a:ea typeface="Arial"/>
                <a:cs typeface="Arial"/>
              </a:rPr>
              <a:t>ROC-AUC</a:t>
            </a:r>
          </a:p>
        </p:txBody>
      </p:sp>
      <p:sp>
        <p:nvSpPr>
          <p:cNvPr id="10" name="">
            <a:extLst xmlns:a="http://schemas.openxmlformats.org/drawingml/2006/main">
              <a:ext uri="{FF2B5EF4-FFF2-40B4-BE49-F238E27FC236}">
                <a16:creationId xmlns:a16="http://schemas.microsoft.com/office/drawing/2014/main" id="{CAA1DC97-C558-4608-9E24-7EF0A8B44986}"/>
              </a:ext>
            </a:extLst>
          </p:cNvPr>
          <p:cNvSpPr>
            <a:spLocks xmlns:a="http://schemas.openxmlformats.org/drawingml/2006/main" noGrp="1"/>
          </p:cNvSpPr>
          <p:nvPr/>
        </p:nvSpPr>
        <p:spPr>
          <a:xfrm xmlns:a="http://schemas.openxmlformats.org/drawingml/2006/main">
            <a:off x="8229600" y="2076450"/>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650" b="1">
                <a:solidFill>
                  <a:srgbClr val="14365D"/>
                </a:solidFill>
                <a:latin typeface="Arial"/>
                <a:ea typeface="Arial"/>
                <a:cs typeface="Arial"/>
              </a:defRPr>
            </a:pPr>
            <a:r>
              <a:rPr sz="1650" b="1">
                <a:solidFill>
                  <a:srgbClr val="14365D"/>
                </a:solidFill>
                <a:latin typeface="Arial"/>
                <a:ea typeface="Arial"/>
                <a:cs typeface="Arial"/>
              </a:rPr>
              <a:t>0.9825 ± 0.0004</a:t>
            </a:r>
          </a:p>
        </p:txBody>
      </p:sp>
      <p:sp>
        <p:nvSpPr>
          <p:cNvPr id="11" name="">
            <a:extLst xmlns:a="http://schemas.openxmlformats.org/drawingml/2006/main">
              <a:ext uri="{FF2B5EF4-FFF2-40B4-BE49-F238E27FC236}">
                <a16:creationId xmlns:a16="http://schemas.microsoft.com/office/drawing/2014/main" id="{5E56FACF-D3FA-4C06-AAFA-8F5F05D4F6E4}"/>
              </a:ext>
            </a:extLst>
          </p:cNvPr>
          <p:cNvSpPr>
            <a:spLocks xmlns:a="http://schemas.openxmlformats.org/drawingml/2006/main" noGrp="1"/>
          </p:cNvSpPr>
          <p:nvPr/>
        </p:nvSpPr>
        <p:spPr>
          <a:xfrm xmlns:a="http://schemas.openxmlformats.org/drawingml/2006/main">
            <a:off x="8286750" y="26384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275" b="1">
                <a:solidFill>
                  <a:srgbClr val="65717D"/>
                </a:solidFill>
                <a:latin typeface="Arial"/>
                <a:ea typeface="Arial"/>
                <a:cs typeface="Arial"/>
              </a:defRPr>
            </a:pPr>
            <a:r>
              <a:rPr sz="1275" b="1">
                <a:solidFill>
                  <a:srgbClr val="65717D"/>
                </a:solidFill>
                <a:latin typeface="Arial"/>
                <a:ea typeface="Arial"/>
                <a:cs typeface="Arial"/>
              </a:rPr>
              <a:t>AP</a:t>
            </a:r>
          </a:p>
        </p:txBody>
      </p:sp>
      <p:sp>
        <p:nvSpPr>
          <p:cNvPr id="12" name="">
            <a:extLst xmlns:a="http://schemas.openxmlformats.org/drawingml/2006/main">
              <a:ext uri="{FF2B5EF4-FFF2-40B4-BE49-F238E27FC236}">
                <a16:creationId xmlns:a16="http://schemas.microsoft.com/office/drawing/2014/main" id="{1288D087-0386-42D4-9B3E-51F6FF24C722}"/>
              </a:ext>
            </a:extLst>
          </p:cNvPr>
          <p:cNvSpPr>
            <a:spLocks xmlns:a="http://schemas.openxmlformats.org/drawingml/2006/main" noGrp="1"/>
          </p:cNvSpPr>
          <p:nvPr/>
        </p:nvSpPr>
        <p:spPr>
          <a:xfrm xmlns:a="http://schemas.openxmlformats.org/drawingml/2006/main">
            <a:off x="8229600" y="2943225"/>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650" b="1">
                <a:solidFill>
                  <a:srgbClr val="14365D"/>
                </a:solidFill>
                <a:latin typeface="Arial"/>
                <a:ea typeface="Arial"/>
                <a:cs typeface="Arial"/>
              </a:defRPr>
            </a:pPr>
            <a:r>
              <a:rPr sz="1650" b="1">
                <a:solidFill>
                  <a:srgbClr val="14365D"/>
                </a:solidFill>
                <a:latin typeface="Arial"/>
                <a:ea typeface="Arial"/>
                <a:cs typeface="Arial"/>
              </a:rPr>
              <a:t>0.5429 ± 0.0075</a:t>
            </a:r>
          </a:p>
        </p:txBody>
      </p:sp>
      <p:sp>
        <p:nvSpPr>
          <p:cNvPr id="13" name="">
            <a:extLst xmlns:a="http://schemas.openxmlformats.org/drawingml/2006/main">
              <a:ext uri="{FF2B5EF4-FFF2-40B4-BE49-F238E27FC236}">
                <a16:creationId xmlns:a16="http://schemas.microsoft.com/office/drawing/2014/main" id="{706161D3-68B1-4B44-BC72-79A2A9CB013F}"/>
              </a:ext>
            </a:extLst>
          </p:cNvPr>
          <p:cNvSpPr>
            <a:spLocks xmlns:a="http://schemas.openxmlformats.org/drawingml/2006/main" noGrp="1"/>
          </p:cNvSpPr>
          <p:nvPr/>
        </p:nvSpPr>
        <p:spPr>
          <a:xfrm xmlns:a="http://schemas.openxmlformats.org/drawingml/2006/main">
            <a:off x="781050" y="4533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650" b="1">
                <a:solidFill>
                  <a:srgbClr val="3E6B97"/>
                </a:solidFill>
                <a:latin typeface="Arial"/>
                <a:ea typeface="Arial"/>
                <a:cs typeface="Arial"/>
              </a:defRPr>
            </a:pPr>
            <a:r>
              <a:rPr sz="1650" b="1">
                <a:solidFill>
                  <a:srgbClr val="3E6B97"/>
                </a:solidFill>
                <a:latin typeface="Arial"/>
                <a:ea typeface="Arial"/>
                <a:cs typeface="Arial"/>
              </a:rPr>
              <a:t>Latency seed 42: median 0.353 ms; P95 0.362 ms</a:t>
            </a:r>
          </a:p>
        </p:txBody>
      </p:sp>
      <p:sp>
        <p:nvSpPr>
          <p:cNvPr id="14" name="">
            <a:extLst xmlns:a="http://schemas.openxmlformats.org/drawingml/2006/main">
              <a:ext uri="{FF2B5EF4-FFF2-40B4-BE49-F238E27FC236}">
                <a16:creationId xmlns:a16="http://schemas.microsoft.com/office/drawing/2014/main" id="{45D8E63B-12A6-452C-B441-072365BBE760}"/>
              </a:ext>
            </a:extLst>
          </p:cNvPr>
          <p:cNvSpPr>
            <a:spLocks xmlns:a="http://schemas.openxmlformats.org/drawingml/2006/main" noGrp="1"/>
          </p:cNvSpPr>
          <p:nvPr/>
        </p:nvSpPr>
        <p:spPr>
          <a:xfrm xmlns:a="http://schemas.openxmlformats.org/drawingml/2006/main">
            <a:off x="781050" y="5048250"/>
            <a:ext cx="10525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0">
                <a:solidFill>
                  <a:srgbClr val="202A35"/>
                </a:solidFill>
                <a:latin typeface="Arial"/>
                <a:ea typeface="Arial"/>
                <a:cs typeface="Arial"/>
              </a:defRPr>
            </a:pPr>
            <a:r>
              <a:rPr sz="1425" b="0">
                <a:solidFill>
                  <a:srgbClr val="202A35"/>
                </a:solidFill>
                <a:latin typeface="Arial"/>
                <a:ea typeface="Arial"/>
                <a:cs typeface="Arial"/>
              </a:rPr>
              <a:t>30 warm-up + 250 predict_proba một dòng trên macOS ARM64. Không gồm mạng, feature retrieval hay giao dịch; không phải SLA.</a:t>
            </a:r>
          </a:p>
        </p:txBody>
      </p:sp>
      <p:sp>
        <p:nvSpPr>
          <p:cNvPr id="15" name="">
            <a:extLst xmlns:a="http://schemas.openxmlformats.org/drawingml/2006/main">
              <a:ext uri="{FF2B5EF4-FFF2-40B4-BE49-F238E27FC236}">
                <a16:creationId xmlns:a16="http://schemas.microsoft.com/office/drawing/2014/main" id="{8266A996-8E8F-4FBD-A052-18A85B2F2069}"/>
              </a:ext>
            </a:extLst>
          </p:cNvPr>
          <p:cNvSpPr>
            <a:spLocks xmlns:a="http://schemas.openxmlformats.org/drawingml/2006/main" noGrp="1"/>
          </p:cNvSpPr>
          <p:nvPr/>
        </p:nvSpPr>
        <p:spPr>
          <a:xfrm xmlns:a="http://schemas.openxmlformats.org/drawingml/2006/main">
            <a:off x="781050" y="5905500"/>
            <a:ext cx="10525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1">
                <a:solidFill>
                  <a:srgbClr val="C84646"/>
                </a:solidFill>
                <a:latin typeface="Arial"/>
                <a:ea typeface="Arial"/>
                <a:cs typeface="Arial"/>
              </a:defRPr>
            </a:pPr>
            <a:r>
              <a:rPr sz="1425" b="1">
                <a:solidFill>
                  <a:srgbClr val="C84646"/>
                </a:solidFill>
                <a:latin typeface="Arial"/>
                <a:ea typeface="Arial"/>
                <a:cs typeface="Arial"/>
              </a:rPr>
              <a:t>Ba seed cùng split: mô tả độ nhạy estimator, không phải 3 mẫu độc lập.</a:t>
            </a:r>
          </a:p>
        </p:txBody>
      </p:sp>
    </p:spTree>
    <p:extLst>
      <p:ext uri="{BB962C8B-B14F-4D97-AF65-F5344CB8AC3E}">
        <p14:creationId xmlns:p14="http://schemas.microsoft.com/office/powerpoint/2010/main" val="10536314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43B965-E7C6-4148-9B2A-226A6FE6D0E8}"/>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4D2E11-E6AE-4F43-AF70-FB6A364309CA}"/>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ĐÁNH GIÁ NGHIỆP VỤ</a:t>
            </a:r>
          </a:p>
        </p:txBody>
      </p:sp>
      <p:sp>
        <p:nvSpPr>
          <p:cNvPr id="3" name="">
            <a:extLst xmlns:a="http://schemas.openxmlformats.org/drawingml/2006/main">
              <a:ext uri="{FF2B5EF4-FFF2-40B4-BE49-F238E27FC236}">
                <a16:creationId xmlns:a16="http://schemas.microsoft.com/office/drawing/2014/main" id="{2188185B-E64C-4F59-8CF6-98697653A1F5}"/>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Khả thi ở mức PoC; ROI chưa thể kết luận</a:t>
            </a:r>
          </a:p>
        </p:txBody>
      </p:sp>
      <p:sp>
        <p:nvSpPr>
          <p:cNvPr id="4" name="">
            <a:extLst xmlns:a="http://schemas.openxmlformats.org/drawingml/2006/main">
              <a:ext uri="{FF2B5EF4-FFF2-40B4-BE49-F238E27FC236}">
                <a16:creationId xmlns:a16="http://schemas.microsoft.com/office/drawing/2014/main" id="{D5C063F2-5BD5-4F06-A67B-000F1DC0895D}"/>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6946D4-5FA6-4939-ABF2-27FB25A4FED4}"/>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666FE71B-8CFF-4996-9CB5-4690647B9B85}"/>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EA7637D7-67D9-4CD3-B347-D51C8EFAA0EE}"/>
              </a:ext>
            </a:extLst>
          </p:cNvPr>
          <p:cNvSpPr>
            <a:spLocks xmlns:a="http://schemas.openxmlformats.org/drawingml/2006/main" noGrp="1"/>
          </p:cNvSpPr>
          <p:nvPr/>
        </p:nvSpPr>
        <p:spPr>
          <a:xfrm xmlns:a="http://schemas.openxmlformats.org/drawingml/2006/main">
            <a:off x="838200" y="15811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9206"/>
          </a:bodyPr>
          <a:lstStyle xmlns:a="http://schemas.openxmlformats.org/drawingml/2006/main"/>
          <a:p xmlns:a="http://schemas.openxmlformats.org/drawingml/2006/main">
            <a:pPr algn="l">
              <a:lnSpc>
                <a:spcPct val="105000"/>
              </a:lnSpc>
              <a:buNone/>
              <a:defRPr sz="1800" b="1">
                <a:solidFill>
                  <a:srgbClr val="3E6B97"/>
                </a:solidFill>
                <a:latin typeface="Arial"/>
                <a:ea typeface="Arial"/>
                <a:cs typeface="Arial"/>
              </a:defRPr>
            </a:pPr>
            <a:r>
              <a:rPr sz="1800" b="1">
                <a:solidFill>
                  <a:srgbClr val="3E6B97"/>
                </a:solidFill>
                <a:latin typeface="Arial"/>
                <a:ea typeface="Arial"/>
                <a:cs typeface="Arial"/>
              </a:rPr>
              <a:t>Lợi ích ròng kỳ vọng</a:t>
            </a:r>
          </a:p>
        </p:txBody>
      </p:sp>
      <p:sp>
        <p:nvSpPr>
          <p:cNvPr id="8" name="">
            <a:extLst xmlns:a="http://schemas.openxmlformats.org/drawingml/2006/main">
              <a:ext uri="{FF2B5EF4-FFF2-40B4-BE49-F238E27FC236}">
                <a16:creationId xmlns:a16="http://schemas.microsoft.com/office/drawing/2014/main" id="{2112B769-9B27-4262-B2C3-CB6A5FAE9336}"/>
              </a:ext>
            </a:extLst>
          </p:cNvPr>
          <p:cNvSpPr>
            <a:spLocks xmlns:a="http://schemas.openxmlformats.org/drawingml/2006/main" noGrp="1"/>
          </p:cNvSpPr>
          <p:nvPr/>
        </p:nvSpPr>
        <p:spPr>
          <a:xfrm xmlns:a="http://schemas.openxmlformats.org/drawingml/2006/main">
            <a:off x="895350" y="2085975"/>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12000"/>
              </a:lnSpc>
              <a:buNone/>
              <a:defRPr sz="2025" b="1">
                <a:solidFill>
                  <a:srgbClr val="14365D"/>
                </a:solidFill>
                <a:latin typeface="Arial"/>
                <a:ea typeface="Arial"/>
                <a:cs typeface="Arial"/>
              </a:defRPr>
            </a:pPr>
            <a:r>
              <a:rPr sz="2025" b="1">
                <a:solidFill>
                  <a:srgbClr val="14365D"/>
                </a:solidFill>
                <a:latin typeface="Arial"/>
                <a:ea typeface="Arial"/>
                <a:cs typeface="Arial"/>
              </a:rPr>
              <a:t>Tổn thất đã xác minh tránh được</a:t>
            </a:r>
          </a:p>
          <a:p xmlns:a="http://schemas.openxmlformats.org/drawingml/2006/main">
            <a:pPr algn="l">
              <a:lnSpc>
                <a:spcPct val="112000"/>
              </a:lnSpc>
              <a:buNone/>
              <a:defRPr sz="2025" b="1">
                <a:solidFill>
                  <a:srgbClr val="14365D"/>
                </a:solidFill>
                <a:latin typeface="Arial"/>
                <a:ea typeface="Arial"/>
                <a:cs typeface="Arial"/>
              </a:defRPr>
            </a:pPr>
            <a:r>
              <a:rPr sz="2025" b="1">
                <a:solidFill>
                  <a:srgbClr val="14365D"/>
                </a:solidFill>
                <a:latin typeface="Arial"/>
                <a:ea typeface="Arial"/>
                <a:cs typeface="Arial"/>
              </a:rPr>
              <a:t>− hạ tầng và vận hành</a:t>
            </a:r>
          </a:p>
          <a:p xmlns:a="http://schemas.openxmlformats.org/drawingml/2006/main">
            <a:pPr algn="l">
              <a:lnSpc>
                <a:spcPct val="112000"/>
              </a:lnSpc>
              <a:buNone/>
              <a:defRPr sz="2025" b="1">
                <a:solidFill>
                  <a:srgbClr val="14365D"/>
                </a:solidFill>
                <a:latin typeface="Arial"/>
                <a:ea typeface="Arial"/>
                <a:cs typeface="Arial"/>
              </a:defRPr>
            </a:pPr>
            <a:r>
              <a:rPr sz="2025" b="1">
                <a:solidFill>
                  <a:srgbClr val="14365D"/>
                </a:solidFill>
                <a:latin typeface="Arial"/>
                <a:ea typeface="Arial"/>
                <a:cs typeface="Arial"/>
              </a:rPr>
              <a:t>− chi phí xử lý cảnh báo</a:t>
            </a:r>
          </a:p>
          <a:p xmlns:a="http://schemas.openxmlformats.org/drawingml/2006/main">
            <a:pPr algn="l">
              <a:lnSpc>
                <a:spcPct val="112000"/>
              </a:lnSpc>
              <a:buNone/>
              <a:defRPr sz="2025" b="1">
                <a:solidFill>
                  <a:srgbClr val="14365D"/>
                </a:solidFill>
                <a:latin typeface="Arial"/>
                <a:ea typeface="Arial"/>
                <a:cs typeface="Arial"/>
              </a:defRPr>
            </a:pPr>
            <a:r>
              <a:rPr sz="2025" b="1">
                <a:solidFill>
                  <a:srgbClr val="14365D"/>
                </a:solidFill>
                <a:latin typeface="Arial"/>
                <a:ea typeface="Arial"/>
                <a:cs typeface="Arial"/>
              </a:rPr>
              <a:t>− tác động gián đoạn khách hàng</a:t>
            </a:r>
          </a:p>
        </p:txBody>
      </p:sp>
      <p:sp>
        <p:nvSpPr>
          <p:cNvPr id="9" name="">
            <a:extLst xmlns:a="http://schemas.openxmlformats.org/drawingml/2006/main">
              <a:ext uri="{FF2B5EF4-FFF2-40B4-BE49-F238E27FC236}">
                <a16:creationId xmlns:a16="http://schemas.microsoft.com/office/drawing/2014/main" id="{529D2DB4-48D6-487A-97ED-4C740B336470}"/>
              </a:ext>
            </a:extLst>
          </p:cNvPr>
          <p:cNvSpPr>
            <a:spLocks xmlns:a="http://schemas.openxmlformats.org/drawingml/2006/main" noGrp="1"/>
          </p:cNvSpPr>
          <p:nvPr/>
        </p:nvSpPr>
        <p:spPr>
          <a:xfrm xmlns:a="http://schemas.openxmlformats.org/drawingml/2006/main">
            <a:off x="6334125" y="1600200"/>
            <a:ext cx="5000625" cy="2238375"/>
          </a:xfrm>
          <a:prstGeom xmlns:a="http://schemas.openxmlformats.org/drawingml/2006/main" prst="roundRect">
            <a:avLst>
              <a:gd name="adj" fmla="val 3404"/>
            </a:avLst>
          </a:prstGeom>
          <a:solidFill xmlns:a="http://schemas.openxmlformats.org/drawingml/2006/main">
            <a:srgbClr val="FFF4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CA2CAD4-C303-490E-9554-B1FA71BD8C95}"/>
              </a:ext>
            </a:extLst>
          </p:cNvPr>
          <p:cNvSpPr>
            <a:spLocks xmlns:a="http://schemas.openxmlformats.org/drawingml/2006/main" noGrp="1"/>
          </p:cNvSpPr>
          <p:nvPr/>
        </p:nvSpPr>
        <p:spPr>
          <a:xfrm xmlns:a="http://schemas.openxmlformats.org/drawingml/2006/main">
            <a:off x="6610350" y="1781175"/>
            <a:ext cx="433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650" b="1">
                <a:solidFill>
                  <a:srgbClr val="D49122"/>
                </a:solidFill>
                <a:latin typeface="Arial"/>
                <a:ea typeface="Arial"/>
                <a:cs typeface="Arial"/>
              </a:defRPr>
            </a:pPr>
            <a:r>
              <a:rPr sz="1650" b="1">
                <a:solidFill>
                  <a:srgbClr val="D49122"/>
                </a:solidFill>
                <a:latin typeface="Arial"/>
                <a:ea typeface="Arial"/>
                <a:cs typeface="Arial"/>
              </a:rPr>
              <a:t>Cần dữ liệu trước khi tính</a:t>
            </a:r>
          </a:p>
        </p:txBody>
      </p:sp>
      <p:sp>
        <p:nvSpPr>
          <p:cNvPr id="11" name="">
            <a:extLst xmlns:a="http://schemas.openxmlformats.org/drawingml/2006/main">
              <a:ext uri="{FF2B5EF4-FFF2-40B4-BE49-F238E27FC236}">
                <a16:creationId xmlns:a16="http://schemas.microsoft.com/office/drawing/2014/main" id="{F4FF3D28-2657-4A8A-B007-E51CDB77841F}"/>
              </a:ext>
            </a:extLst>
          </p:cNvPr>
          <p:cNvSpPr>
            <a:spLocks xmlns:a="http://schemas.openxmlformats.org/drawingml/2006/main" noGrp="1"/>
          </p:cNvSpPr>
          <p:nvPr/>
        </p:nvSpPr>
        <p:spPr>
          <a:xfrm xmlns:a="http://schemas.openxmlformats.org/drawingml/2006/main">
            <a:off x="6477000" y="2181225"/>
            <a:ext cx="45243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100000"/>
          </a:bodyPr>
          <a:lstStyle xmlns:a="http://schemas.openxmlformats.org/drawingml/2006/main"/>
          <a:p xmlns:a="http://schemas.openxmlformats.org/drawingml/2006/main">
            <a:pPr marL="254000" indent="-114300">
              <a:lnSpc>
                <a:spcPct val="110000"/>
              </a:lnSpc>
              <a:spcAft>
                <a:spcPts val="1000"/>
              </a:spcAft>
              <a:buNone/>
              <a:defRPr sz="1350">
                <a:solidFill>
                  <a:srgbClr val="202A35"/>
                </a:solidFill>
                <a:latin typeface="Arial"/>
                <a:ea typeface="Arial"/>
                <a:cs typeface="Arial"/>
              </a:defRPr>
            </a:pPr>
            <a:r>
              <a:rPr sz="1350">
                <a:solidFill>
                  <a:srgbClr val="202A35"/>
                </a:solidFill>
                <a:latin typeface="Arial"/>
                <a:ea typeface="Arial"/>
                <a:cs typeface="Arial"/>
              </a:rPr>
              <a:t>Tổn thất và kết quả điều tra</a:t>
            </a:r>
          </a:p>
          <a:p xmlns:a="http://schemas.openxmlformats.org/drawingml/2006/main">
            <a:pPr marL="254000" indent="-114300">
              <a:lnSpc>
                <a:spcPct val="110000"/>
              </a:lnSpc>
              <a:spcAft>
                <a:spcPts val="1000"/>
              </a:spcAft>
              <a:buNone/>
              <a:defRPr sz="1350">
                <a:solidFill>
                  <a:srgbClr val="202A35"/>
                </a:solidFill>
                <a:latin typeface="Arial"/>
                <a:ea typeface="Arial"/>
                <a:cs typeface="Arial"/>
              </a:defRPr>
            </a:pPr>
            <a:r>
              <a:rPr sz="1350">
                <a:solidFill>
                  <a:srgbClr val="202A35"/>
                </a:solidFill>
                <a:latin typeface="Arial"/>
                <a:ea typeface="Arial"/>
                <a:cs typeface="Arial"/>
              </a:rPr>
              <a:t>Thời gian xử lý / năng lực chuyên viên</a:t>
            </a:r>
          </a:p>
          <a:p xmlns:a="http://schemas.openxmlformats.org/drawingml/2006/main">
            <a:pPr marL="254000" indent="-114300">
              <a:lnSpc>
                <a:spcPct val="110000"/>
              </a:lnSpc>
              <a:spcAft>
                <a:spcPts val="1000"/>
              </a:spcAft>
              <a:buNone/>
              <a:defRPr sz="1350">
                <a:solidFill>
                  <a:srgbClr val="202A35"/>
                </a:solidFill>
                <a:latin typeface="Arial"/>
                <a:ea typeface="Arial"/>
                <a:cs typeface="Arial"/>
              </a:defRPr>
            </a:pPr>
            <a:r>
              <a:rPr sz="1350">
                <a:solidFill>
                  <a:srgbClr val="202A35"/>
                </a:solidFill>
                <a:latin typeface="Arial"/>
                <a:ea typeface="Arial"/>
                <a:cs typeface="Arial"/>
              </a:rPr>
              <a:t>False positive và khiếu nại</a:t>
            </a:r>
          </a:p>
          <a:p xmlns:a="http://schemas.openxmlformats.org/drawingml/2006/main">
            <a:pPr marL="254000" indent="-114300">
              <a:lnSpc>
                <a:spcPct val="110000"/>
              </a:lnSpc>
              <a:spcAft>
                <a:spcPts val="1000"/>
              </a:spcAft>
              <a:buNone/>
              <a:defRPr sz="1350">
                <a:solidFill>
                  <a:srgbClr val="202A35"/>
                </a:solidFill>
                <a:latin typeface="Arial"/>
                <a:ea typeface="Arial"/>
                <a:cs typeface="Arial"/>
              </a:defRPr>
            </a:pPr>
            <a:r>
              <a:rPr sz="1350">
                <a:solidFill>
                  <a:srgbClr val="202A35"/>
                </a:solidFill>
                <a:latin typeface="Arial"/>
                <a:ea typeface="Arial"/>
                <a:cs typeface="Arial"/>
              </a:rPr>
              <a:t>Chi phí hạ tầng, giám sát, dự phòng</a:t>
            </a:r>
          </a:p>
        </p:txBody>
      </p:sp>
      <p:sp>
        <p:nvSpPr>
          <p:cNvPr id="12" name="">
            <a:extLst xmlns:a="http://schemas.openxmlformats.org/drawingml/2006/main">
              <a:ext uri="{FF2B5EF4-FFF2-40B4-BE49-F238E27FC236}">
                <a16:creationId xmlns:a16="http://schemas.microsoft.com/office/drawing/2014/main" id="{3FA64078-48A0-4349-9EAB-5350E6237FF4}"/>
              </a:ext>
            </a:extLst>
          </p:cNvPr>
          <p:cNvSpPr>
            <a:spLocks xmlns:a="http://schemas.openxmlformats.org/drawingml/2006/main" noGrp="1"/>
          </p:cNvSpPr>
          <p:nvPr/>
        </p:nvSpPr>
        <p:spPr>
          <a:xfrm xmlns:a="http://schemas.openxmlformats.org/drawingml/2006/main">
            <a:off x="857250" y="38957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275" b="1">
                <a:solidFill>
                  <a:srgbClr val="3E6B97"/>
                </a:solidFill>
                <a:latin typeface="Arial"/>
                <a:ea typeface="Arial"/>
                <a:cs typeface="Arial"/>
              </a:defRPr>
            </a:pPr>
            <a:r>
              <a:rPr sz="1275" b="1">
                <a:solidFill>
                  <a:srgbClr val="3E6B97"/>
                </a:solidFill>
                <a:latin typeface="Arial"/>
                <a:ea typeface="Arial"/>
                <a:cs typeface="Arial"/>
              </a:rPr>
              <a:t>Định vị đổi mới: đề xuất cải tiến quy trình hỗ trợ quyết định; chưa triển khai tại tổ chức.</a:t>
            </a:r>
          </a:p>
        </p:txBody>
      </p:sp>
      <p:sp>
        <p:nvSpPr>
          <p:cNvPr id="13" name="">
            <a:extLst xmlns:a="http://schemas.openxmlformats.org/drawingml/2006/main">
              <a:ext uri="{FF2B5EF4-FFF2-40B4-BE49-F238E27FC236}">
                <a16:creationId xmlns:a16="http://schemas.microsoft.com/office/drawing/2014/main" id="{48016757-2B39-4DD9-9D61-489C721B9E53}"/>
              </a:ext>
            </a:extLst>
          </p:cNvPr>
          <p:cNvSpPr>
            <a:spLocks xmlns:a="http://schemas.openxmlformats.org/drawingml/2006/main" noGrp="1"/>
          </p:cNvSpPr>
          <p:nvPr/>
        </p:nvSpPr>
        <p:spPr>
          <a:xfrm xmlns:a="http://schemas.openxmlformats.org/drawingml/2006/main">
            <a:off x="857250" y="4267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650" b="1">
                <a:solidFill>
                  <a:srgbClr val="3E6B97"/>
                </a:solidFill>
                <a:latin typeface="Arial"/>
                <a:ea typeface="Arial"/>
                <a:cs typeface="Arial"/>
              </a:defRPr>
            </a:pPr>
            <a:r>
              <a:rPr sz="1650" b="1">
                <a:solidFill>
                  <a:srgbClr val="3E6B97"/>
                </a:solidFill>
                <a:latin typeface="Arial"/>
                <a:ea typeface="Arial"/>
                <a:cs typeface="Arial"/>
              </a:rPr>
              <a:t>Rủi ro cần quản trị</a:t>
            </a:r>
          </a:p>
        </p:txBody>
      </p:sp>
      <p:sp>
        <p:nvSpPr>
          <p:cNvPr id="14" name="">
            <a:extLst xmlns:a="http://schemas.openxmlformats.org/drawingml/2006/main">
              <a:ext uri="{FF2B5EF4-FFF2-40B4-BE49-F238E27FC236}">
                <a16:creationId xmlns:a16="http://schemas.microsoft.com/office/drawing/2014/main" id="{2F78EFEC-48BE-41C9-9DEC-B9FDFF61CB64}"/>
              </a:ext>
            </a:extLst>
          </p:cNvPr>
          <p:cNvSpPr>
            <a:spLocks xmlns:a="http://schemas.openxmlformats.org/drawingml/2006/main" noGrp="1"/>
          </p:cNvSpPr>
          <p:nvPr/>
        </p:nvSpPr>
        <p:spPr>
          <a:xfrm xmlns:a="http://schemas.openxmlformats.org/drawingml/2006/main">
            <a:off x="828675" y="4676775"/>
            <a:ext cx="1038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14300" tIns="76200" rIns="95250" bIns="76200">
            <a:normAutofit fontScale="66288"/>
          </a:bodyPr>
          <a:lstStyle xmlns:a="http://schemas.openxmlformats.org/drawingml/2006/main"/>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Nhãn tổng hợp tạo kết quả lạc quan</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Drift, nhãn đến trễ, score chưa calibration</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Feature đa kênh không đồng nhất</a:t>
            </a:r>
          </a:p>
          <a:p xmlns:a="http://schemas.openxmlformats.org/drawingml/2006/main">
            <a:pPr marL="254000" indent="-114300">
              <a:lnSpc>
                <a:spcPct val="110000"/>
              </a:lnSpc>
              <a:spcAft>
                <a:spcPts val="1000"/>
              </a:spcAft>
              <a:buNone/>
              <a:defRPr sz="1500">
                <a:solidFill>
                  <a:srgbClr val="202A35"/>
                </a:solidFill>
                <a:latin typeface="Arial"/>
                <a:ea typeface="Arial"/>
                <a:cs typeface="Arial"/>
              </a:defRPr>
            </a:pPr>
            <a:r>
              <a:rPr sz="1500">
                <a:solidFill>
                  <a:srgbClr val="202A35"/>
                </a:solidFill>
                <a:latin typeface="Arial"/>
                <a:ea typeface="Arial"/>
                <a:cs typeface="Arial"/>
              </a:rPr>
              <a:t>Bảo mật, quyền dữ liệu, audit production</a:t>
            </a:r>
          </a:p>
        </p:txBody>
      </p:sp>
      <p:sp>
        <p:nvSpPr>
          <p:cNvPr id="15" name="">
            <a:extLst xmlns:a="http://schemas.openxmlformats.org/drawingml/2006/main">
              <a:ext uri="{FF2B5EF4-FFF2-40B4-BE49-F238E27FC236}">
                <a16:creationId xmlns:a16="http://schemas.microsoft.com/office/drawing/2014/main" id="{78F45EE9-1C33-4474-A369-FBF30CBBF0FB}"/>
              </a:ext>
            </a:extLst>
          </p:cNvPr>
          <p:cNvSpPr>
            <a:spLocks xmlns:a="http://schemas.openxmlformats.org/drawingml/2006/main" noGrp="1"/>
          </p:cNvSpPr>
          <p:nvPr/>
        </p:nvSpPr>
        <p:spPr>
          <a:xfrm xmlns:a="http://schemas.openxmlformats.org/drawingml/2006/main">
            <a:off x="857250" y="60198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500" b="1">
                <a:solidFill>
                  <a:srgbClr val="C84646"/>
                </a:solidFill>
                <a:latin typeface="Arial"/>
                <a:ea typeface="Arial"/>
                <a:cs typeface="Arial"/>
              </a:defRPr>
            </a:pPr>
            <a:r>
              <a:rPr sz="1500" b="1">
                <a:solidFill>
                  <a:srgbClr val="C84646"/>
                </a:solidFill>
                <a:latin typeface="Arial"/>
                <a:ea typeface="Arial"/>
                <a:cs typeface="Arial"/>
              </a:rPr>
              <a:t>Không lấy tổng tiền cảnh báo làm tiền tiết kiệm.</a:t>
            </a:r>
          </a:p>
        </p:txBody>
      </p:sp>
    </p:spTree>
    <p:extLst>
      <p:ext uri="{BB962C8B-B14F-4D97-AF65-F5344CB8AC3E}">
        <p14:creationId xmlns:p14="http://schemas.microsoft.com/office/powerpoint/2010/main" val="5710183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03B1C0A-62AE-4426-A615-29BC388ACFFF}"/>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9148DF-4B14-4F3D-A3A0-C845AE1599EB}"/>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DEMO</a:t>
            </a:r>
          </a:p>
        </p:txBody>
      </p:sp>
      <p:sp>
        <p:nvSpPr>
          <p:cNvPr id="3" name="">
            <a:extLst xmlns:a="http://schemas.openxmlformats.org/drawingml/2006/main">
              <a:ext uri="{FF2B5EF4-FFF2-40B4-BE49-F238E27FC236}">
                <a16:creationId xmlns:a16="http://schemas.microsoft.com/office/drawing/2014/main" id="{61853928-17A0-4E43-BA73-75E4E8E5E680}"/>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TreeSHAP giải thích đầu ra mô hình, không xác định nguyên nhân</a:t>
            </a:r>
          </a:p>
        </p:txBody>
      </p:sp>
      <p:sp>
        <p:nvSpPr>
          <p:cNvPr id="4" name="">
            <a:extLst xmlns:a="http://schemas.openxmlformats.org/drawingml/2006/main">
              <a:ext uri="{FF2B5EF4-FFF2-40B4-BE49-F238E27FC236}">
                <a16:creationId xmlns:a16="http://schemas.microsoft.com/office/drawing/2014/main" id="{DF4A25CE-6510-4C73-91DB-51B6312AC519}"/>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42BD9C-FA71-46F3-AA5A-83C4CB71AC65}"/>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4CC88DE0-AD3C-4F4A-99C7-FEF8A489AE7B}"/>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FA285199-77DF-49B1-9EF2-8216ABDE191A}"/>
              </a:ext>
            </a:extLst>
          </p:cNvPr>
          <p:cNvSpPr>
            <a:spLocks xmlns:a="http://schemas.openxmlformats.org/drawingml/2006/main" noGrp="1"/>
          </p:cNvSpPr>
          <p:nvPr/>
        </p:nvSpPr>
        <p:spPr>
          <a:xfrm xmlns:a="http://schemas.openxmlformats.org/drawingml/2006/main">
            <a:off x="952500" y="1524000"/>
            <a:ext cx="590550" cy="514350"/>
          </a:xfrm>
          <a:prstGeom xmlns:a="http://schemas.openxmlformats.org/drawingml/2006/main" prst="roundRect">
            <a:avLst>
              <a:gd name="adj" fmla="val 14815"/>
            </a:avLst>
          </a:prstGeom>
          <a:solidFill xmlns:a="http://schemas.openxmlformats.org/drawingml/2006/main">
            <a:srgbClr val="EAF1F8"/>
          </a:solidFill>
          <a:ln xmlns:a="http://schemas.openxmlformats.org/drawingml/2006/main" w="9525">
            <a:solidFill>
              <a:srgbClr val="D7E0E8"/>
            </a:solidFill>
          </a:ln>
        </p:spPr>
      </p:sp>
      <p:sp>
        <p:nvSpPr>
          <p:cNvPr id="8" name="">
            <a:extLst xmlns:a="http://schemas.openxmlformats.org/drawingml/2006/main">
              <a:ext uri="{FF2B5EF4-FFF2-40B4-BE49-F238E27FC236}">
                <a16:creationId xmlns:a16="http://schemas.microsoft.com/office/drawing/2014/main" id="{A4CA92E9-D9B3-42C4-A164-F1ABD3EBC36C}"/>
              </a:ext>
            </a:extLst>
          </p:cNvPr>
          <p:cNvSpPr>
            <a:spLocks xmlns:a="http://schemas.openxmlformats.org/drawingml/2006/main" noGrp="1"/>
          </p:cNvSpPr>
          <p:nvPr/>
        </p:nvSpPr>
        <p:spPr>
          <a:xfrm xmlns:a="http://schemas.openxmlformats.org/drawingml/2006/main">
            <a:off x="981075" y="1590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3E6B97"/>
                </a:solidFill>
                <a:latin typeface="Arial"/>
                <a:ea typeface="Arial"/>
                <a:cs typeface="Arial"/>
              </a:defRPr>
            </a:pPr>
            <a:r>
              <a:rPr sz="1425" b="1">
                <a:solidFill>
                  <a:srgbClr val="3E6B97"/>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C291FE4E-9694-42CB-B9F9-9D22D6F37801}"/>
              </a:ext>
            </a:extLst>
          </p:cNvPr>
          <p:cNvSpPr>
            <a:spLocks xmlns:a="http://schemas.openxmlformats.org/drawingml/2006/main" noGrp="1"/>
          </p:cNvSpPr>
          <p:nvPr/>
        </p:nvSpPr>
        <p:spPr>
          <a:xfrm xmlns:a="http://schemas.openxmlformats.org/drawingml/2006/main">
            <a:off x="1828800" y="1571625"/>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800" b="0">
                <a:solidFill>
                  <a:srgbClr val="202A35"/>
                </a:solidFill>
                <a:latin typeface="Arial"/>
                <a:ea typeface="Arial"/>
                <a:cs typeface="Arial"/>
              </a:defRPr>
            </a:pPr>
            <a:r>
              <a:rPr sz="1800" b="0">
                <a:solidFill>
                  <a:srgbClr val="202A35"/>
                </a:solidFill>
                <a:latin typeface="Arial"/>
                <a:ea typeface="Arial"/>
                <a:cs typeface="Arial"/>
              </a:rPr>
              <a:t>Nhập 8 đặc trưng</a:t>
            </a:r>
          </a:p>
        </p:txBody>
      </p:sp>
      <p:sp>
        <p:nvSpPr>
          <p:cNvPr id="10" name="">
            <a:extLst xmlns:a="http://schemas.openxmlformats.org/drawingml/2006/main">
              <a:ext uri="{FF2B5EF4-FFF2-40B4-BE49-F238E27FC236}">
                <a16:creationId xmlns:a16="http://schemas.microsoft.com/office/drawing/2014/main" id="{52AD4315-91D0-40F9-B520-D2015BA156F0}"/>
              </a:ext>
            </a:extLst>
          </p:cNvPr>
          <p:cNvSpPr>
            <a:spLocks xmlns:a="http://schemas.openxmlformats.org/drawingml/2006/main" noGrp="1"/>
          </p:cNvSpPr>
          <p:nvPr/>
        </p:nvSpPr>
        <p:spPr>
          <a:xfrm xmlns:a="http://schemas.openxmlformats.org/drawingml/2006/main">
            <a:off x="1238250" y="2047875"/>
            <a:ext cx="19050" cy="295275"/>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85450D-40BC-42ED-B0F8-C23AA53D6DF5}"/>
              </a:ext>
            </a:extLst>
          </p:cNvPr>
          <p:cNvSpPr>
            <a:spLocks xmlns:a="http://schemas.openxmlformats.org/drawingml/2006/main" noGrp="1"/>
          </p:cNvSpPr>
          <p:nvPr/>
        </p:nvSpPr>
        <p:spPr>
          <a:xfrm xmlns:a="http://schemas.openxmlformats.org/drawingml/2006/main">
            <a:off x="952500" y="2362200"/>
            <a:ext cx="590550" cy="514350"/>
          </a:xfrm>
          <a:prstGeom xmlns:a="http://schemas.openxmlformats.org/drawingml/2006/main" prst="roundRect">
            <a:avLst>
              <a:gd name="adj" fmla="val 14815"/>
            </a:avLst>
          </a:prstGeom>
          <a:solidFill xmlns:a="http://schemas.openxmlformats.org/drawingml/2006/main">
            <a:srgbClr val="EAF1F8"/>
          </a:solidFill>
          <a:ln xmlns:a="http://schemas.openxmlformats.org/drawingml/2006/main" w="9525">
            <a:solidFill>
              <a:srgbClr val="D7E0E8"/>
            </a:solidFill>
          </a:ln>
        </p:spPr>
      </p:sp>
      <p:sp>
        <p:nvSpPr>
          <p:cNvPr id="12" name="">
            <a:extLst xmlns:a="http://schemas.openxmlformats.org/drawingml/2006/main">
              <a:ext uri="{FF2B5EF4-FFF2-40B4-BE49-F238E27FC236}">
                <a16:creationId xmlns:a16="http://schemas.microsoft.com/office/drawing/2014/main" id="{BD52E0C2-B484-41D0-ADFF-E1C5776C63C6}"/>
              </a:ext>
            </a:extLst>
          </p:cNvPr>
          <p:cNvSpPr>
            <a:spLocks xmlns:a="http://schemas.openxmlformats.org/drawingml/2006/main" noGrp="1"/>
          </p:cNvSpPr>
          <p:nvPr/>
        </p:nvSpPr>
        <p:spPr>
          <a:xfrm xmlns:a="http://schemas.openxmlformats.org/drawingml/2006/main">
            <a:off x="981075" y="242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3E6B97"/>
                </a:solidFill>
                <a:latin typeface="Arial"/>
                <a:ea typeface="Arial"/>
                <a:cs typeface="Arial"/>
              </a:defRPr>
            </a:pPr>
            <a:r>
              <a:rPr sz="1425" b="1">
                <a:solidFill>
                  <a:srgbClr val="3E6B97"/>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26882FA8-2C64-45BA-A11F-3B8BC0759DF4}"/>
              </a:ext>
            </a:extLst>
          </p:cNvPr>
          <p:cNvSpPr>
            <a:spLocks xmlns:a="http://schemas.openxmlformats.org/drawingml/2006/main" noGrp="1"/>
          </p:cNvSpPr>
          <p:nvPr/>
        </p:nvSpPr>
        <p:spPr>
          <a:xfrm xmlns:a="http://schemas.openxmlformats.org/drawingml/2006/main">
            <a:off x="1828800" y="2409825"/>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800" b="0">
                <a:solidFill>
                  <a:srgbClr val="202A35"/>
                </a:solidFill>
                <a:latin typeface="Arial"/>
                <a:ea typeface="Arial"/>
                <a:cs typeface="Arial"/>
              </a:defRPr>
            </a:pPr>
            <a:r>
              <a:rPr sz="1800" b="0">
                <a:solidFill>
                  <a:srgbClr val="202A35"/>
                </a:solidFill>
                <a:latin typeface="Arial"/>
                <a:ea typeface="Arial"/>
                <a:cs typeface="Arial"/>
              </a:rPr>
              <a:t>Xác minh input &amp; artifact</a:t>
            </a:r>
          </a:p>
        </p:txBody>
      </p:sp>
      <p:sp>
        <p:nvSpPr>
          <p:cNvPr id="14" name="">
            <a:extLst xmlns:a="http://schemas.openxmlformats.org/drawingml/2006/main">
              <a:ext uri="{FF2B5EF4-FFF2-40B4-BE49-F238E27FC236}">
                <a16:creationId xmlns:a16="http://schemas.microsoft.com/office/drawing/2014/main" id="{7811C855-F94D-40CD-8A9C-3EA6BE6699D6}"/>
              </a:ext>
            </a:extLst>
          </p:cNvPr>
          <p:cNvSpPr>
            <a:spLocks xmlns:a="http://schemas.openxmlformats.org/drawingml/2006/main" noGrp="1"/>
          </p:cNvSpPr>
          <p:nvPr/>
        </p:nvSpPr>
        <p:spPr>
          <a:xfrm xmlns:a="http://schemas.openxmlformats.org/drawingml/2006/main">
            <a:off x="1238250" y="2886075"/>
            <a:ext cx="19050" cy="295275"/>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01528C-EF46-480F-B308-9ECDAD636364}"/>
              </a:ext>
            </a:extLst>
          </p:cNvPr>
          <p:cNvSpPr>
            <a:spLocks xmlns:a="http://schemas.openxmlformats.org/drawingml/2006/main" noGrp="1"/>
          </p:cNvSpPr>
          <p:nvPr/>
        </p:nvSpPr>
        <p:spPr>
          <a:xfrm xmlns:a="http://schemas.openxmlformats.org/drawingml/2006/main">
            <a:off x="952500" y="3200400"/>
            <a:ext cx="590550" cy="514350"/>
          </a:xfrm>
          <a:prstGeom xmlns:a="http://schemas.openxmlformats.org/drawingml/2006/main" prst="roundRect">
            <a:avLst>
              <a:gd name="adj" fmla="val 14815"/>
            </a:avLst>
          </a:prstGeom>
          <a:solidFill xmlns:a="http://schemas.openxmlformats.org/drawingml/2006/main">
            <a:srgbClr val="EAF1F8"/>
          </a:solidFill>
          <a:ln xmlns:a="http://schemas.openxmlformats.org/drawingml/2006/main" w="9525">
            <a:solidFill>
              <a:srgbClr val="D7E0E8"/>
            </a:solidFill>
          </a:ln>
        </p:spPr>
      </p:sp>
      <p:sp>
        <p:nvSpPr>
          <p:cNvPr id="16" name="">
            <a:extLst xmlns:a="http://schemas.openxmlformats.org/drawingml/2006/main">
              <a:ext uri="{FF2B5EF4-FFF2-40B4-BE49-F238E27FC236}">
                <a16:creationId xmlns:a16="http://schemas.microsoft.com/office/drawing/2014/main" id="{EA27B744-E110-4D65-82C6-6524564647B3}"/>
              </a:ext>
            </a:extLst>
          </p:cNvPr>
          <p:cNvSpPr>
            <a:spLocks xmlns:a="http://schemas.openxmlformats.org/drawingml/2006/main" noGrp="1"/>
          </p:cNvSpPr>
          <p:nvPr/>
        </p:nvSpPr>
        <p:spPr>
          <a:xfrm xmlns:a="http://schemas.openxmlformats.org/drawingml/2006/main">
            <a:off x="981075" y="32670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3E6B97"/>
                </a:solidFill>
                <a:latin typeface="Arial"/>
                <a:ea typeface="Arial"/>
                <a:cs typeface="Arial"/>
              </a:defRPr>
            </a:pPr>
            <a:r>
              <a:rPr sz="1425" b="1">
                <a:solidFill>
                  <a:srgbClr val="3E6B97"/>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3ABCCD94-A9D9-4BF6-893E-9CE4CDFE9E9F}"/>
              </a:ext>
            </a:extLst>
          </p:cNvPr>
          <p:cNvSpPr>
            <a:spLocks xmlns:a="http://schemas.openxmlformats.org/drawingml/2006/main" noGrp="1"/>
          </p:cNvSpPr>
          <p:nvPr/>
        </p:nvSpPr>
        <p:spPr>
          <a:xfrm xmlns:a="http://schemas.openxmlformats.org/drawingml/2006/main">
            <a:off x="1828800" y="3248025"/>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800" b="0">
                <a:solidFill>
                  <a:srgbClr val="202A35"/>
                </a:solidFill>
                <a:latin typeface="Arial"/>
                <a:ea typeface="Arial"/>
                <a:cs typeface="Arial"/>
              </a:defRPr>
            </a:pPr>
            <a:r>
              <a:rPr sz="1800" b="0">
                <a:solidFill>
                  <a:srgbClr val="202A35"/>
                </a:solidFill>
                <a:latin typeface="Arial"/>
                <a:ea typeface="Arial"/>
                <a:cs typeface="Arial"/>
              </a:rPr>
              <a:t>Score + ngưỡng demo</a:t>
            </a:r>
          </a:p>
        </p:txBody>
      </p:sp>
      <p:sp>
        <p:nvSpPr>
          <p:cNvPr id="18" name="">
            <a:extLst xmlns:a="http://schemas.openxmlformats.org/drawingml/2006/main">
              <a:ext uri="{FF2B5EF4-FFF2-40B4-BE49-F238E27FC236}">
                <a16:creationId xmlns:a16="http://schemas.microsoft.com/office/drawing/2014/main" id="{C161D791-6BE4-46C4-8A2B-08A035BAB0F6}"/>
              </a:ext>
            </a:extLst>
          </p:cNvPr>
          <p:cNvSpPr>
            <a:spLocks xmlns:a="http://schemas.openxmlformats.org/drawingml/2006/main" noGrp="1"/>
          </p:cNvSpPr>
          <p:nvPr/>
        </p:nvSpPr>
        <p:spPr>
          <a:xfrm xmlns:a="http://schemas.openxmlformats.org/drawingml/2006/main">
            <a:off x="1238250" y="3724275"/>
            <a:ext cx="19050" cy="295275"/>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0542BEF-B264-4168-B30E-0D5655772152}"/>
              </a:ext>
            </a:extLst>
          </p:cNvPr>
          <p:cNvSpPr>
            <a:spLocks xmlns:a="http://schemas.openxmlformats.org/drawingml/2006/main" noGrp="1"/>
          </p:cNvSpPr>
          <p:nvPr/>
        </p:nvSpPr>
        <p:spPr>
          <a:xfrm xmlns:a="http://schemas.openxmlformats.org/drawingml/2006/main">
            <a:off x="952500" y="4038600"/>
            <a:ext cx="590550" cy="514350"/>
          </a:xfrm>
          <a:prstGeom xmlns:a="http://schemas.openxmlformats.org/drawingml/2006/main" prst="roundRect">
            <a:avLst>
              <a:gd name="adj" fmla="val 14815"/>
            </a:avLst>
          </a:prstGeom>
          <a:solidFill xmlns:a="http://schemas.openxmlformats.org/drawingml/2006/main">
            <a:srgbClr val="FFF4DE"/>
          </a:solidFill>
          <a:ln xmlns:a="http://schemas.openxmlformats.org/drawingml/2006/main" w="9525">
            <a:solidFill>
              <a:srgbClr val="D7E0E8"/>
            </a:solidFill>
          </a:ln>
        </p:spPr>
      </p:sp>
      <p:sp>
        <p:nvSpPr>
          <p:cNvPr id="20" name="">
            <a:extLst xmlns:a="http://schemas.openxmlformats.org/drawingml/2006/main">
              <a:ext uri="{FF2B5EF4-FFF2-40B4-BE49-F238E27FC236}">
                <a16:creationId xmlns:a16="http://schemas.microsoft.com/office/drawing/2014/main" id="{ADA5971A-63C0-4B98-A5FB-67B229488391}"/>
              </a:ext>
            </a:extLst>
          </p:cNvPr>
          <p:cNvSpPr>
            <a:spLocks xmlns:a="http://schemas.openxmlformats.org/drawingml/2006/main" noGrp="1"/>
          </p:cNvSpPr>
          <p:nvPr/>
        </p:nvSpPr>
        <p:spPr>
          <a:xfrm xmlns:a="http://schemas.openxmlformats.org/drawingml/2006/main">
            <a:off x="981075" y="41052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D49122"/>
                </a:solidFill>
                <a:latin typeface="Arial"/>
                <a:ea typeface="Arial"/>
                <a:cs typeface="Arial"/>
              </a:defRPr>
            </a:pPr>
            <a:r>
              <a:rPr sz="1425" b="1">
                <a:solidFill>
                  <a:srgbClr val="D49122"/>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319A5FBF-B56C-49E6-9E8C-47C3FDDCCBF6}"/>
              </a:ext>
            </a:extLst>
          </p:cNvPr>
          <p:cNvSpPr>
            <a:spLocks xmlns:a="http://schemas.openxmlformats.org/drawingml/2006/main" noGrp="1"/>
          </p:cNvSpPr>
          <p:nvPr/>
        </p:nvSpPr>
        <p:spPr>
          <a:xfrm xmlns:a="http://schemas.openxmlformats.org/drawingml/2006/main">
            <a:off x="1828800" y="4086225"/>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800" b="1">
                <a:solidFill>
                  <a:srgbClr val="202A35"/>
                </a:solidFill>
                <a:latin typeface="Arial"/>
                <a:ea typeface="Arial"/>
                <a:cs typeface="Arial"/>
              </a:defRPr>
            </a:pPr>
            <a:r>
              <a:rPr sz="1800" b="1">
                <a:solidFill>
                  <a:srgbClr val="202A35"/>
                </a:solidFill>
                <a:latin typeface="Arial"/>
                <a:ea typeface="Arial"/>
                <a:cs typeface="Arial"/>
              </a:rPr>
              <a:t>TreeSHAP raw margin</a:t>
            </a:r>
          </a:p>
        </p:txBody>
      </p:sp>
      <p:sp>
        <p:nvSpPr>
          <p:cNvPr id="22" name="">
            <a:extLst xmlns:a="http://schemas.openxmlformats.org/drawingml/2006/main">
              <a:ext uri="{FF2B5EF4-FFF2-40B4-BE49-F238E27FC236}">
                <a16:creationId xmlns:a16="http://schemas.microsoft.com/office/drawing/2014/main" id="{32721225-CF04-47FD-ACA3-F68DC2607430}"/>
              </a:ext>
            </a:extLst>
          </p:cNvPr>
          <p:cNvSpPr>
            <a:spLocks xmlns:a="http://schemas.openxmlformats.org/drawingml/2006/main" noGrp="1"/>
          </p:cNvSpPr>
          <p:nvPr/>
        </p:nvSpPr>
        <p:spPr>
          <a:xfrm xmlns:a="http://schemas.openxmlformats.org/drawingml/2006/main">
            <a:off x="1238250" y="4562475"/>
            <a:ext cx="19050" cy="295275"/>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B31E69D-CCB5-4B84-BA7E-121060B7217E}"/>
              </a:ext>
            </a:extLst>
          </p:cNvPr>
          <p:cNvSpPr>
            <a:spLocks xmlns:a="http://schemas.openxmlformats.org/drawingml/2006/main" noGrp="1"/>
          </p:cNvSpPr>
          <p:nvPr/>
        </p:nvSpPr>
        <p:spPr>
          <a:xfrm xmlns:a="http://schemas.openxmlformats.org/drawingml/2006/main">
            <a:off x="952500" y="4876800"/>
            <a:ext cx="590550" cy="514350"/>
          </a:xfrm>
          <a:prstGeom xmlns:a="http://schemas.openxmlformats.org/drawingml/2006/main" prst="roundRect">
            <a:avLst>
              <a:gd name="adj" fmla="val 14815"/>
            </a:avLst>
          </a:prstGeom>
          <a:solidFill xmlns:a="http://schemas.openxmlformats.org/drawingml/2006/main">
            <a:srgbClr val="EAF1F8"/>
          </a:solidFill>
          <a:ln xmlns:a="http://schemas.openxmlformats.org/drawingml/2006/main" w="9525">
            <a:solidFill>
              <a:srgbClr val="D7E0E8"/>
            </a:solidFill>
          </a:ln>
        </p:spPr>
      </p:sp>
      <p:sp>
        <p:nvSpPr>
          <p:cNvPr id="24" name="">
            <a:extLst xmlns:a="http://schemas.openxmlformats.org/drawingml/2006/main">
              <a:ext uri="{FF2B5EF4-FFF2-40B4-BE49-F238E27FC236}">
                <a16:creationId xmlns:a16="http://schemas.microsoft.com/office/drawing/2014/main" id="{711A2CB6-1765-410C-9764-5D5F5BCD8B8B}"/>
              </a:ext>
            </a:extLst>
          </p:cNvPr>
          <p:cNvSpPr>
            <a:spLocks xmlns:a="http://schemas.openxmlformats.org/drawingml/2006/main" noGrp="1"/>
          </p:cNvSpPr>
          <p:nvPr/>
        </p:nvSpPr>
        <p:spPr>
          <a:xfrm xmlns:a="http://schemas.openxmlformats.org/drawingml/2006/main">
            <a:off x="981075" y="49434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3E6B97"/>
                </a:solidFill>
                <a:latin typeface="Arial"/>
                <a:ea typeface="Arial"/>
                <a:cs typeface="Arial"/>
              </a:defRPr>
            </a:pPr>
            <a:r>
              <a:rPr sz="1425" b="1">
                <a:solidFill>
                  <a:srgbClr val="3E6B97"/>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8CAF68A2-2612-45B3-8704-C79A8D6C29C6}"/>
              </a:ext>
            </a:extLst>
          </p:cNvPr>
          <p:cNvSpPr>
            <a:spLocks xmlns:a="http://schemas.openxmlformats.org/drawingml/2006/main" noGrp="1"/>
          </p:cNvSpPr>
          <p:nvPr/>
        </p:nvSpPr>
        <p:spPr>
          <a:xfrm xmlns:a="http://schemas.openxmlformats.org/drawingml/2006/main">
            <a:off x="1828800" y="4924425"/>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800" b="0">
                <a:solidFill>
                  <a:srgbClr val="202A35"/>
                </a:solidFill>
                <a:latin typeface="Arial"/>
                <a:ea typeface="Arial"/>
                <a:cs typeface="Arial"/>
              </a:defRPr>
            </a:pPr>
            <a:r>
              <a:rPr sz="1800" b="0">
                <a:solidFill>
                  <a:srgbClr val="202A35"/>
                </a:solidFill>
                <a:latin typeface="Arial"/>
                <a:ea typeface="Arial"/>
                <a:cs typeface="Arial"/>
              </a:rPr>
              <a:t>Lưu trong session / CSV</a:t>
            </a:r>
          </a:p>
        </p:txBody>
      </p:sp>
      <p:sp>
        <p:nvSpPr>
          <p:cNvPr id="26" name="">
            <a:extLst xmlns:a="http://schemas.openxmlformats.org/drawingml/2006/main">
              <a:ext uri="{FF2B5EF4-FFF2-40B4-BE49-F238E27FC236}">
                <a16:creationId xmlns:a16="http://schemas.microsoft.com/office/drawing/2014/main" id="{89FC8578-7DF5-43D9-9800-B74DEDB6F65F}"/>
              </a:ext>
            </a:extLst>
          </p:cNvPr>
          <p:cNvSpPr>
            <a:spLocks xmlns:a="http://schemas.openxmlformats.org/drawingml/2006/main" noGrp="1"/>
          </p:cNvSpPr>
          <p:nvPr/>
        </p:nvSpPr>
        <p:spPr>
          <a:xfrm xmlns:a="http://schemas.openxmlformats.org/drawingml/2006/main">
            <a:off x="7048500" y="1743075"/>
            <a:ext cx="4238625" cy="2809875"/>
          </a:xfrm>
          <a:prstGeom xmlns:a="http://schemas.openxmlformats.org/drawingml/2006/main" prst="roundRect">
            <a:avLst>
              <a:gd name="adj" fmla="val 2712"/>
            </a:avLst>
          </a:prstGeom>
          <a:solidFill xmlns:a="http://schemas.openxmlformats.org/drawingml/2006/main">
            <a:srgbClr val="EAF1F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94A264F-1136-4B91-ABC4-8E871CA18157}"/>
              </a:ext>
            </a:extLst>
          </p:cNvPr>
          <p:cNvSpPr>
            <a:spLocks xmlns:a="http://schemas.openxmlformats.org/drawingml/2006/main" noGrp="1"/>
          </p:cNvSpPr>
          <p:nvPr/>
        </p:nvSpPr>
        <p:spPr>
          <a:xfrm xmlns:a="http://schemas.openxmlformats.org/drawingml/2006/main">
            <a:off x="7353300" y="197167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8889"/>
          </a:bodyPr>
          <a:lstStyle xmlns:a="http://schemas.openxmlformats.org/drawingml/2006/main"/>
          <a:p xmlns:a="http://schemas.openxmlformats.org/drawingml/2006/main">
            <a:pPr algn="l">
              <a:lnSpc>
                <a:spcPct val="105000"/>
              </a:lnSpc>
              <a:buNone/>
              <a:defRPr sz="1875" b="1">
                <a:solidFill>
                  <a:srgbClr val="14365D"/>
                </a:solidFill>
                <a:latin typeface="Arial"/>
                <a:ea typeface="Arial"/>
                <a:cs typeface="Arial"/>
              </a:defRPr>
            </a:pPr>
            <a:r>
              <a:rPr sz="1875" b="1">
                <a:solidFill>
                  <a:srgbClr val="14365D"/>
                </a:solidFill>
                <a:latin typeface="Arial"/>
                <a:ea typeface="Arial"/>
                <a:cs typeface="Arial"/>
              </a:rPr>
              <a:t>Raw margin</a:t>
            </a:r>
          </a:p>
        </p:txBody>
      </p:sp>
      <p:sp>
        <p:nvSpPr>
          <p:cNvPr id="28" name="">
            <a:extLst xmlns:a="http://schemas.openxmlformats.org/drawingml/2006/main">
              <a:ext uri="{FF2B5EF4-FFF2-40B4-BE49-F238E27FC236}">
                <a16:creationId xmlns:a16="http://schemas.microsoft.com/office/drawing/2014/main" id="{49945B27-DA99-4525-9C88-4E1955FF39AF}"/>
              </a:ext>
            </a:extLst>
          </p:cNvPr>
          <p:cNvSpPr>
            <a:spLocks xmlns:a="http://schemas.openxmlformats.org/drawingml/2006/main" noGrp="1"/>
          </p:cNvSpPr>
          <p:nvPr/>
        </p:nvSpPr>
        <p:spPr>
          <a:xfrm xmlns:a="http://schemas.openxmlformats.org/drawingml/2006/main">
            <a:off x="7353300" y="2495550"/>
            <a:ext cx="3571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15000"/>
              </a:lnSpc>
              <a:buNone/>
              <a:defRPr sz="1725" b="0">
                <a:solidFill>
                  <a:srgbClr val="202A35"/>
                </a:solidFill>
                <a:latin typeface="Arial"/>
                <a:ea typeface="Arial"/>
                <a:cs typeface="Arial"/>
              </a:defRPr>
            </a:pPr>
            <a:r>
              <a:rPr sz="1725" b="0">
                <a:solidFill>
                  <a:srgbClr val="202A35"/>
                </a:solidFill>
                <a:latin typeface="Arial"/>
                <a:ea typeface="Arial"/>
                <a:cs typeface="Arial"/>
              </a:rPr>
              <a:t>Σ feature contributions + bias</a:t>
            </a:r>
          </a:p>
          <a:p xmlns:a="http://schemas.openxmlformats.org/drawingml/2006/main">
            <a:pPr algn="l">
              <a:lnSpc>
                <a:spcPct val="115000"/>
              </a:lnSpc>
              <a:buNone/>
              <a:defRPr sz="1725" b="0">
                <a:solidFill>
                  <a:srgbClr val="202A35"/>
                </a:solidFill>
                <a:latin typeface="Arial"/>
                <a:ea typeface="Arial"/>
                <a:cs typeface="Arial"/>
              </a:defRPr>
            </a:pPr>
            <a:r>
              <a:rPr sz="1725" b="0">
                <a:solidFill>
                  <a:srgbClr val="202A35"/>
                </a:solidFill>
                <a:latin typeface="Arial"/>
                <a:ea typeface="Arial"/>
                <a:cs typeface="Arial"/>
              </a:rPr>
              <a:t>= model raw margin</a:t>
            </a:r>
          </a:p>
          <a:p xmlns:a="http://schemas.openxmlformats.org/drawingml/2006/main">
            <a:r>
              <a:t/>
            </a:r>
          </a:p>
          <a:p xmlns:a="http://schemas.openxmlformats.org/drawingml/2006/main">
            <a:pPr algn="l">
              <a:lnSpc>
                <a:spcPct val="115000"/>
              </a:lnSpc>
              <a:buNone/>
              <a:defRPr sz="1725" b="0">
                <a:solidFill>
                  <a:srgbClr val="202A35"/>
                </a:solidFill>
                <a:latin typeface="Arial"/>
                <a:ea typeface="Arial"/>
                <a:cs typeface="Arial"/>
              </a:defRPr>
            </a:pPr>
            <a:r>
              <a:rPr sz="1725" b="0">
                <a:solidFill>
                  <a:srgbClr val="202A35"/>
                </a:solidFill>
                <a:latin typeface="Arial"/>
                <a:ea typeface="Arial"/>
                <a:cs typeface="Arial"/>
              </a:rPr>
              <a:t>Logistic(raw margin) = model score</a:t>
            </a:r>
          </a:p>
        </p:txBody>
      </p:sp>
      <p:sp>
        <p:nvSpPr>
          <p:cNvPr id="29" name="">
            <a:extLst xmlns:a="http://schemas.openxmlformats.org/drawingml/2006/main">
              <a:ext uri="{FF2B5EF4-FFF2-40B4-BE49-F238E27FC236}">
                <a16:creationId xmlns:a16="http://schemas.microsoft.com/office/drawing/2014/main" id="{B5110C73-CDE4-4952-9D12-B3B99012EFC1}"/>
              </a:ext>
            </a:extLst>
          </p:cNvPr>
          <p:cNvSpPr>
            <a:spLocks xmlns:a="http://schemas.openxmlformats.org/drawingml/2006/main" noGrp="1"/>
          </p:cNvSpPr>
          <p:nvPr/>
        </p:nvSpPr>
        <p:spPr>
          <a:xfrm xmlns:a="http://schemas.openxmlformats.org/drawingml/2006/main">
            <a:off x="7353300" y="3905250"/>
            <a:ext cx="357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275" b="1">
                <a:solidFill>
                  <a:srgbClr val="C84646"/>
                </a:solidFill>
                <a:latin typeface="Arial"/>
                <a:ea typeface="Arial"/>
                <a:cs typeface="Arial"/>
              </a:defRPr>
            </a:pPr>
            <a:r>
              <a:rPr sz="1275" b="1">
                <a:solidFill>
                  <a:srgbClr val="C84646"/>
                </a:solidFill>
                <a:latin typeface="Arial"/>
                <a:ea typeface="Arial"/>
                <a:cs typeface="Arial"/>
              </a:rPr>
              <a:t>Không chứng minh quan hệ nhân quả</a:t>
            </a:r>
          </a:p>
          <a:p xmlns:a="http://schemas.openxmlformats.org/drawingml/2006/main">
            <a:pPr algn="l">
              <a:lnSpc>
                <a:spcPct val="105000"/>
              </a:lnSpc>
              <a:buNone/>
              <a:defRPr sz="1275" b="1">
                <a:solidFill>
                  <a:srgbClr val="C84646"/>
                </a:solidFill>
                <a:latin typeface="Arial"/>
                <a:ea typeface="Arial"/>
                <a:cs typeface="Arial"/>
              </a:defRPr>
            </a:pPr>
            <a:r>
              <a:rPr sz="1275" b="1">
                <a:solidFill>
                  <a:srgbClr val="C84646"/>
                </a:solidFill>
                <a:latin typeface="Arial"/>
                <a:ea typeface="Arial"/>
                <a:cs typeface="Arial"/>
              </a:rPr>
              <a:t>hoặc giao dịch gian lận đã xảy ra.</a:t>
            </a:r>
          </a:p>
        </p:txBody>
      </p:sp>
      <p:sp>
        <p:nvSpPr>
          <p:cNvPr id="30" name="">
            <a:extLst xmlns:a="http://schemas.openxmlformats.org/drawingml/2006/main">
              <a:ext uri="{FF2B5EF4-FFF2-40B4-BE49-F238E27FC236}">
                <a16:creationId xmlns:a16="http://schemas.microsoft.com/office/drawing/2014/main" id="{7CCA97D0-4C9F-4FB3-ADEE-010C8591B967}"/>
              </a:ext>
            </a:extLst>
          </p:cNvPr>
          <p:cNvSpPr>
            <a:spLocks xmlns:a="http://schemas.openxmlformats.org/drawingml/2006/main" noGrp="1"/>
          </p:cNvSpPr>
          <p:nvPr/>
        </p:nvSpPr>
        <p:spPr>
          <a:xfrm xmlns:a="http://schemas.openxmlformats.org/drawingml/2006/main">
            <a:off x="914400" y="5924550"/>
            <a:ext cx="1033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500" b="1">
                <a:solidFill>
                  <a:srgbClr val="2B7A62"/>
                </a:solidFill>
                <a:latin typeface="Arial"/>
                <a:ea typeface="Arial"/>
                <a:cs typeface="Arial"/>
              </a:defRPr>
            </a:pPr>
            <a:r>
              <a:rPr sz="1500" b="1">
                <a:solidFill>
                  <a:srgbClr val="2B7A62"/>
                </a:solidFill>
                <a:latin typeface="Arial"/>
                <a:ea typeface="Arial"/>
                <a:cs typeface="Arial"/>
              </a:rPr>
              <a:t>Demo không dùng dữ liệu nhận dạng thật.</a:t>
            </a:r>
          </a:p>
        </p:txBody>
      </p:sp>
    </p:spTree>
    <p:extLst>
      <p:ext uri="{BB962C8B-B14F-4D97-AF65-F5344CB8AC3E}">
        <p14:creationId xmlns:p14="http://schemas.microsoft.com/office/powerpoint/2010/main" val="13955801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CBD43B1-BE3B-418C-9B40-5D5C3B35605C}"/>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ADB227-84EC-43AB-80B2-280680FA15D1}"/>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CHUYỂN SANG SẢN PHẨM</a:t>
            </a:r>
          </a:p>
        </p:txBody>
      </p:sp>
      <p:sp>
        <p:nvSpPr>
          <p:cNvPr id="3" name="">
            <a:extLst xmlns:a="http://schemas.openxmlformats.org/drawingml/2006/main">
              <a:ext uri="{FF2B5EF4-FFF2-40B4-BE49-F238E27FC236}">
                <a16:creationId xmlns:a16="http://schemas.microsoft.com/office/drawing/2014/main" id="{BB58121A-0945-4E40-8B2A-AD839F4DCC9B}"/>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Demo trực tiếp: từ tín hiệu đầu vào đến gợi ý kiểm tra</a:t>
            </a:r>
          </a:p>
        </p:txBody>
      </p:sp>
      <p:sp>
        <p:nvSpPr>
          <p:cNvPr id="4" name="">
            <a:extLst xmlns:a="http://schemas.openxmlformats.org/drawingml/2006/main">
              <a:ext uri="{FF2B5EF4-FFF2-40B4-BE49-F238E27FC236}">
                <a16:creationId xmlns:a16="http://schemas.microsoft.com/office/drawing/2014/main" id="{AA74AB5C-BF4C-4D5B-8CF0-FF8905D3A97E}"/>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656B14-98AC-43E7-A237-DBBA05BF828D}"/>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1B55EF6A-9A86-4EE0-BE6A-F308872EB960}"/>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17</a:t>
            </a:r>
          </a:p>
        </p:txBody>
      </p:sp>
      <p:sp>
        <p:nvSpPr>
          <p:cNvPr id="7" name="">
            <a:extLst xmlns:a="http://schemas.openxmlformats.org/drawingml/2006/main">
              <a:ext uri="{FF2B5EF4-FFF2-40B4-BE49-F238E27FC236}">
                <a16:creationId xmlns:a16="http://schemas.microsoft.com/office/drawing/2014/main" id="{D1ACC28E-B325-4AD3-9985-E9A4E34CE2C0}"/>
              </a:ext>
            </a:extLst>
          </p:cNvPr>
          <p:cNvSpPr>
            <a:spLocks xmlns:a="http://schemas.openxmlformats.org/drawingml/2006/main" noGrp="1"/>
          </p:cNvSpPr>
          <p:nvPr/>
        </p:nvSpPr>
        <p:spPr>
          <a:xfrm xmlns:a="http://schemas.openxmlformats.org/drawingml/2006/main">
            <a:off x="762000" y="1809750"/>
            <a:ext cx="2238375" cy="1009650"/>
          </a:xfrm>
          <a:prstGeom xmlns:a="http://schemas.openxmlformats.org/drawingml/2006/main" prst="roundRect">
            <a:avLst>
              <a:gd name="adj" fmla="val 7547"/>
            </a:avLst>
          </a:prstGeom>
          <a:solidFill xmlns:a="http://schemas.openxmlformats.org/drawingml/2006/main">
            <a:srgbClr val="EAF1F8"/>
          </a:solidFill>
          <a:ln xmlns:a="http://schemas.openxmlformats.org/drawingml/2006/main" w="19050">
            <a:solidFill>
              <a:srgbClr val="3E6B97"/>
            </a:solidFill>
          </a:ln>
        </p:spPr>
      </p:sp>
      <p:sp>
        <p:nvSpPr>
          <p:cNvPr id="8" name="">
            <a:extLst xmlns:a="http://schemas.openxmlformats.org/drawingml/2006/main">
              <a:ext uri="{FF2B5EF4-FFF2-40B4-BE49-F238E27FC236}">
                <a16:creationId xmlns:a16="http://schemas.microsoft.com/office/drawing/2014/main" id="{5AD816AC-229F-42C7-A4D7-4A947E96374B}"/>
              </a:ext>
            </a:extLst>
          </p:cNvPr>
          <p:cNvSpPr>
            <a:spLocks xmlns:a="http://schemas.openxmlformats.org/drawingml/2006/main" noGrp="1"/>
          </p:cNvSpPr>
          <p:nvPr/>
        </p:nvSpPr>
        <p:spPr>
          <a:xfrm xmlns:a="http://schemas.openxmlformats.org/drawingml/2006/main">
            <a:off x="838200" y="1857375"/>
            <a:ext cx="2085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01</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Nhập giao dịch</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tổng hợp</a:t>
            </a:r>
          </a:p>
        </p:txBody>
      </p:sp>
      <p:sp>
        <p:nvSpPr>
          <p:cNvPr id="9" name="">
            <a:extLst xmlns:a="http://schemas.openxmlformats.org/drawingml/2006/main">
              <a:ext uri="{FF2B5EF4-FFF2-40B4-BE49-F238E27FC236}">
                <a16:creationId xmlns:a16="http://schemas.microsoft.com/office/drawing/2014/main" id="{BDB6796F-2E8A-4447-BB93-90C381DAF93E}"/>
              </a:ext>
            </a:extLst>
          </p:cNvPr>
          <p:cNvSpPr>
            <a:spLocks xmlns:a="http://schemas.openxmlformats.org/drawingml/2006/main" noGrp="1"/>
          </p:cNvSpPr>
          <p:nvPr/>
        </p:nvSpPr>
        <p:spPr>
          <a:xfrm xmlns:a="http://schemas.openxmlformats.org/drawingml/2006/main">
            <a:off x="3038475" y="2209800"/>
            <a:ext cx="390525" cy="190500"/>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3F84BEE-C821-47B5-98E1-BF2F61555187}"/>
              </a:ext>
            </a:extLst>
          </p:cNvPr>
          <p:cNvSpPr>
            <a:spLocks xmlns:a="http://schemas.openxmlformats.org/drawingml/2006/main" noGrp="1"/>
          </p:cNvSpPr>
          <p:nvPr/>
        </p:nvSpPr>
        <p:spPr>
          <a:xfrm xmlns:a="http://schemas.openxmlformats.org/drawingml/2006/main">
            <a:off x="3486150" y="1809750"/>
            <a:ext cx="2238375" cy="1009650"/>
          </a:xfrm>
          <a:prstGeom xmlns:a="http://schemas.openxmlformats.org/drawingml/2006/main" prst="roundRect">
            <a:avLst>
              <a:gd name="adj" fmla="val 7547"/>
            </a:avLst>
          </a:prstGeom>
          <a:solidFill xmlns:a="http://schemas.openxmlformats.org/drawingml/2006/main">
            <a:srgbClr val="EAF1F8"/>
          </a:solidFill>
          <a:ln xmlns:a="http://schemas.openxmlformats.org/drawingml/2006/main" w="19050">
            <a:solidFill>
              <a:srgbClr val="3E6B97"/>
            </a:solidFill>
          </a:ln>
        </p:spPr>
      </p:sp>
      <p:sp>
        <p:nvSpPr>
          <p:cNvPr id="11" name="">
            <a:extLst xmlns:a="http://schemas.openxmlformats.org/drawingml/2006/main">
              <a:ext uri="{FF2B5EF4-FFF2-40B4-BE49-F238E27FC236}">
                <a16:creationId xmlns:a16="http://schemas.microsoft.com/office/drawing/2014/main" id="{08AE1B0B-BA7B-4B45-ACFD-1CCA0BB9A2F9}"/>
              </a:ext>
            </a:extLst>
          </p:cNvPr>
          <p:cNvSpPr>
            <a:spLocks xmlns:a="http://schemas.openxmlformats.org/drawingml/2006/main" noGrp="1"/>
          </p:cNvSpPr>
          <p:nvPr/>
        </p:nvSpPr>
        <p:spPr>
          <a:xfrm xmlns:a="http://schemas.openxmlformats.org/drawingml/2006/main">
            <a:off x="3562350" y="1857375"/>
            <a:ext cx="2085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02</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Kiểm tra input</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 model/run ID</a:t>
            </a:r>
          </a:p>
        </p:txBody>
      </p:sp>
      <p:sp>
        <p:nvSpPr>
          <p:cNvPr id="12" name="">
            <a:extLst xmlns:a="http://schemas.openxmlformats.org/drawingml/2006/main">
              <a:ext uri="{FF2B5EF4-FFF2-40B4-BE49-F238E27FC236}">
                <a16:creationId xmlns:a16="http://schemas.microsoft.com/office/drawing/2014/main" id="{F5F640CE-6824-498C-8963-C20902EAE07C}"/>
              </a:ext>
            </a:extLst>
          </p:cNvPr>
          <p:cNvSpPr>
            <a:spLocks xmlns:a="http://schemas.openxmlformats.org/drawingml/2006/main" noGrp="1"/>
          </p:cNvSpPr>
          <p:nvPr/>
        </p:nvSpPr>
        <p:spPr>
          <a:xfrm xmlns:a="http://schemas.openxmlformats.org/drawingml/2006/main">
            <a:off x="5762625" y="2209800"/>
            <a:ext cx="390525" cy="190500"/>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FF34C3-3B1E-4B96-953E-CC8DB73A8B84}"/>
              </a:ext>
            </a:extLst>
          </p:cNvPr>
          <p:cNvSpPr>
            <a:spLocks xmlns:a="http://schemas.openxmlformats.org/drawingml/2006/main" noGrp="1"/>
          </p:cNvSpPr>
          <p:nvPr/>
        </p:nvSpPr>
        <p:spPr>
          <a:xfrm xmlns:a="http://schemas.openxmlformats.org/drawingml/2006/main">
            <a:off x="6210300" y="1809750"/>
            <a:ext cx="2238375" cy="1009650"/>
          </a:xfrm>
          <a:prstGeom xmlns:a="http://schemas.openxmlformats.org/drawingml/2006/main" prst="roundRect">
            <a:avLst>
              <a:gd name="adj" fmla="val 7547"/>
            </a:avLst>
          </a:prstGeom>
          <a:solidFill xmlns:a="http://schemas.openxmlformats.org/drawingml/2006/main">
            <a:srgbClr val="FFF4DE"/>
          </a:solidFill>
          <a:ln xmlns:a="http://schemas.openxmlformats.org/drawingml/2006/main" w="19050">
            <a:solidFill>
              <a:srgbClr val="D49122"/>
            </a:solidFill>
          </a:ln>
        </p:spPr>
      </p:sp>
      <p:sp>
        <p:nvSpPr>
          <p:cNvPr id="14" name="">
            <a:extLst xmlns:a="http://schemas.openxmlformats.org/drawingml/2006/main">
              <a:ext uri="{FF2B5EF4-FFF2-40B4-BE49-F238E27FC236}">
                <a16:creationId xmlns:a16="http://schemas.microsoft.com/office/drawing/2014/main" id="{7F0A4EDE-AC18-4D35-BE11-ABB8345FF8DB}"/>
              </a:ext>
            </a:extLst>
          </p:cNvPr>
          <p:cNvSpPr>
            <a:spLocks xmlns:a="http://schemas.openxmlformats.org/drawingml/2006/main" noGrp="1"/>
          </p:cNvSpPr>
          <p:nvPr/>
        </p:nvSpPr>
        <p:spPr>
          <a:xfrm xmlns:a="http://schemas.openxmlformats.org/drawingml/2006/main">
            <a:off x="6286500" y="1857375"/>
            <a:ext cx="2085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03</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Xem score</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 vùng gợi ý</a:t>
            </a:r>
          </a:p>
        </p:txBody>
      </p:sp>
      <p:sp>
        <p:nvSpPr>
          <p:cNvPr id="15" name="">
            <a:extLst xmlns:a="http://schemas.openxmlformats.org/drawingml/2006/main">
              <a:ext uri="{FF2B5EF4-FFF2-40B4-BE49-F238E27FC236}">
                <a16:creationId xmlns:a16="http://schemas.microsoft.com/office/drawing/2014/main" id="{31ED310F-BA0D-4699-905C-390777CD59C8}"/>
              </a:ext>
            </a:extLst>
          </p:cNvPr>
          <p:cNvSpPr>
            <a:spLocks xmlns:a="http://schemas.openxmlformats.org/drawingml/2006/main" noGrp="1"/>
          </p:cNvSpPr>
          <p:nvPr/>
        </p:nvSpPr>
        <p:spPr>
          <a:xfrm xmlns:a="http://schemas.openxmlformats.org/drawingml/2006/main">
            <a:off x="8486775" y="2209800"/>
            <a:ext cx="390525" cy="190500"/>
          </a:xfrm>
          <a:prstGeom xmlns:a="http://schemas.openxmlformats.org/drawingml/2006/main" prst="rightArrow">
            <a:avLst/>
          </a:prstGeom>
          <a:solidFill xmlns:a="http://schemas.openxmlformats.org/drawingml/2006/main">
            <a:srgbClr val="3E6B9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AE397B0-8915-4B11-9D1D-A1E1B046840D}"/>
              </a:ext>
            </a:extLst>
          </p:cNvPr>
          <p:cNvSpPr>
            <a:spLocks xmlns:a="http://schemas.openxmlformats.org/drawingml/2006/main" noGrp="1"/>
          </p:cNvSpPr>
          <p:nvPr/>
        </p:nvSpPr>
        <p:spPr>
          <a:xfrm xmlns:a="http://schemas.openxmlformats.org/drawingml/2006/main">
            <a:off x="8934450" y="1809750"/>
            <a:ext cx="2238375" cy="1009650"/>
          </a:xfrm>
          <a:prstGeom xmlns:a="http://schemas.openxmlformats.org/drawingml/2006/main" prst="roundRect">
            <a:avLst>
              <a:gd name="adj" fmla="val 7547"/>
            </a:avLst>
          </a:prstGeom>
          <a:solidFill xmlns:a="http://schemas.openxmlformats.org/drawingml/2006/main">
            <a:srgbClr val="EAF1F8"/>
          </a:solidFill>
          <a:ln xmlns:a="http://schemas.openxmlformats.org/drawingml/2006/main" w="19050">
            <a:solidFill>
              <a:srgbClr val="3E6B97"/>
            </a:solidFill>
          </a:ln>
        </p:spPr>
      </p:sp>
      <p:sp>
        <p:nvSpPr>
          <p:cNvPr id="17" name="">
            <a:extLst xmlns:a="http://schemas.openxmlformats.org/drawingml/2006/main">
              <a:ext uri="{FF2B5EF4-FFF2-40B4-BE49-F238E27FC236}">
                <a16:creationId xmlns:a16="http://schemas.microsoft.com/office/drawing/2014/main" id="{4FDDE87E-86A8-4BAA-B86D-E01C528C2435}"/>
              </a:ext>
            </a:extLst>
          </p:cNvPr>
          <p:cNvSpPr>
            <a:spLocks xmlns:a="http://schemas.openxmlformats.org/drawingml/2006/main" noGrp="1"/>
          </p:cNvSpPr>
          <p:nvPr/>
        </p:nvSpPr>
        <p:spPr>
          <a:xfrm xmlns:a="http://schemas.openxmlformats.org/drawingml/2006/main">
            <a:off x="9010650" y="1857375"/>
            <a:ext cx="2085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04</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TreeSHAP</a:t>
            </a:r>
          </a:p>
          <a:p xmlns:a="http://schemas.openxmlformats.org/drawingml/2006/main">
            <a:pPr algn="ctr">
              <a:lnSpc>
                <a:spcPct val="105000"/>
              </a:lnSpc>
              <a:buNone/>
              <a:defRPr sz="1575" b="1">
                <a:solidFill>
                  <a:srgbClr val="202A35"/>
                </a:solidFill>
                <a:latin typeface="Arial"/>
                <a:ea typeface="Arial"/>
                <a:cs typeface="Arial"/>
              </a:defRPr>
            </a:pPr>
            <a:r>
              <a:rPr sz="1575" b="1">
                <a:solidFill>
                  <a:srgbClr val="202A35"/>
                </a:solidFill>
                <a:latin typeface="Arial"/>
                <a:ea typeface="Arial"/>
                <a:cs typeface="Arial"/>
              </a:rPr>
              <a:t>+ lịch sử/CSV</a:t>
            </a:r>
          </a:p>
        </p:txBody>
      </p:sp>
      <p:sp>
        <p:nvSpPr>
          <p:cNvPr id="18" name="">
            <a:extLst xmlns:a="http://schemas.openxmlformats.org/drawingml/2006/main">
              <a:ext uri="{FF2B5EF4-FFF2-40B4-BE49-F238E27FC236}">
                <a16:creationId xmlns:a16="http://schemas.microsoft.com/office/drawing/2014/main" id="{F83B13F5-0859-4329-AF13-00BE6E4216C4}"/>
              </a:ext>
            </a:extLst>
          </p:cNvPr>
          <p:cNvSpPr>
            <a:spLocks xmlns:a="http://schemas.openxmlformats.org/drawingml/2006/main" noGrp="1"/>
          </p:cNvSpPr>
          <p:nvPr/>
        </p:nvSpPr>
        <p:spPr>
          <a:xfrm xmlns:a="http://schemas.openxmlformats.org/drawingml/2006/main">
            <a:off x="857250" y="347662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0188"/>
          </a:bodyPr>
          <a:lstStyle xmlns:a="http://schemas.openxmlformats.org/drawingml/2006/main"/>
          <a:p xmlns:a="http://schemas.openxmlformats.org/drawingml/2006/main">
            <a:pPr algn="l">
              <a:lnSpc>
                <a:spcPct val="105000"/>
              </a:lnSpc>
              <a:buNone/>
              <a:defRPr sz="1650" b="1">
                <a:solidFill>
                  <a:srgbClr val="2B7A62"/>
                </a:solidFill>
                <a:latin typeface="Arial"/>
                <a:ea typeface="Arial"/>
                <a:cs typeface="Arial"/>
              </a:defRPr>
            </a:pPr>
            <a:r>
              <a:rPr sz="1650" b="1">
                <a:solidFill>
                  <a:srgbClr val="2B7A62"/>
                </a:solidFill>
                <a:latin typeface="Arial"/>
                <a:ea typeface="Arial"/>
                <a:cs typeface="Arial"/>
              </a:rPr>
              <a:t>Kịch bản rủi ro thấp</a:t>
            </a:r>
          </a:p>
        </p:txBody>
      </p:sp>
      <p:sp>
        <p:nvSpPr>
          <p:cNvPr id="19" name="">
            <a:extLst xmlns:a="http://schemas.openxmlformats.org/drawingml/2006/main">
              <a:ext uri="{FF2B5EF4-FFF2-40B4-BE49-F238E27FC236}">
                <a16:creationId xmlns:a16="http://schemas.microsoft.com/office/drawing/2014/main" id="{DFDFE584-1609-4DED-8D7D-AAE2A4B92D8D}"/>
              </a:ext>
            </a:extLst>
          </p:cNvPr>
          <p:cNvSpPr>
            <a:spLocks xmlns:a="http://schemas.openxmlformats.org/drawingml/2006/main" noGrp="1"/>
          </p:cNvSpPr>
          <p:nvPr/>
        </p:nvSpPr>
        <p:spPr>
          <a:xfrm xmlns:a="http://schemas.openxmlformats.org/drawingml/2006/main">
            <a:off x="857250" y="3848100"/>
            <a:ext cx="461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0">
                <a:solidFill>
                  <a:srgbClr val="202A35"/>
                </a:solidFill>
                <a:latin typeface="Arial"/>
                <a:ea typeface="Arial"/>
                <a:cs typeface="Arial"/>
              </a:defRPr>
            </a:pPr>
            <a:r>
              <a:rPr sz="1425" b="0">
                <a:solidFill>
                  <a:srgbClr val="202A35"/>
                </a:solidFill>
                <a:latin typeface="Arial"/>
                <a:ea typeface="Arial"/>
                <a:cs typeface="Arial"/>
              </a:rPr>
              <a:t>1.500.000 VND; giờ 14; thiết bị/vị trí bình thường; OTP sai 0; tần suất 1; người nhận cũ.</a:t>
            </a:r>
          </a:p>
        </p:txBody>
      </p:sp>
      <p:sp>
        <p:nvSpPr>
          <p:cNvPr id="20" name="">
            <a:extLst xmlns:a="http://schemas.openxmlformats.org/drawingml/2006/main">
              <a:ext uri="{FF2B5EF4-FFF2-40B4-BE49-F238E27FC236}">
                <a16:creationId xmlns:a16="http://schemas.microsoft.com/office/drawing/2014/main" id="{5EDD74ED-880E-4B65-B951-DB2EFBD5C7FE}"/>
              </a:ext>
            </a:extLst>
          </p:cNvPr>
          <p:cNvSpPr>
            <a:spLocks xmlns:a="http://schemas.openxmlformats.org/drawingml/2006/main" noGrp="1"/>
          </p:cNvSpPr>
          <p:nvPr/>
        </p:nvSpPr>
        <p:spPr>
          <a:xfrm xmlns:a="http://schemas.openxmlformats.org/drawingml/2006/main">
            <a:off x="5924550" y="3409950"/>
            <a:ext cx="19050" cy="12382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AFEF540-0B5A-47DB-981E-E3A8F12455C9}"/>
              </a:ext>
            </a:extLst>
          </p:cNvPr>
          <p:cNvSpPr>
            <a:spLocks xmlns:a="http://schemas.openxmlformats.org/drawingml/2006/main" noGrp="1"/>
          </p:cNvSpPr>
          <p:nvPr/>
        </p:nvSpPr>
        <p:spPr>
          <a:xfrm xmlns:a="http://schemas.openxmlformats.org/drawingml/2006/main">
            <a:off x="6334125" y="34766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0188"/>
          </a:bodyPr>
          <a:lstStyle xmlns:a="http://schemas.openxmlformats.org/drawingml/2006/main"/>
          <a:p xmlns:a="http://schemas.openxmlformats.org/drawingml/2006/main">
            <a:pPr algn="l">
              <a:lnSpc>
                <a:spcPct val="105000"/>
              </a:lnSpc>
              <a:buNone/>
              <a:defRPr sz="1650" b="1">
                <a:solidFill>
                  <a:srgbClr val="C84646"/>
                </a:solidFill>
                <a:latin typeface="Arial"/>
                <a:ea typeface="Arial"/>
                <a:cs typeface="Arial"/>
              </a:defRPr>
            </a:pPr>
            <a:r>
              <a:rPr sz="1650" b="1">
                <a:solidFill>
                  <a:srgbClr val="C84646"/>
                </a:solidFill>
                <a:latin typeface="Arial"/>
                <a:ea typeface="Arial"/>
                <a:cs typeface="Arial"/>
              </a:rPr>
              <a:t>Kịch bản nhiều tín hiệu</a:t>
            </a:r>
          </a:p>
        </p:txBody>
      </p:sp>
      <p:sp>
        <p:nvSpPr>
          <p:cNvPr id="22" name="">
            <a:extLst xmlns:a="http://schemas.openxmlformats.org/drawingml/2006/main">
              <a:ext uri="{FF2B5EF4-FFF2-40B4-BE49-F238E27FC236}">
                <a16:creationId xmlns:a16="http://schemas.microsoft.com/office/drawing/2014/main" id="{BC577D9C-16EA-4F7B-99DE-7F0A2AC53F29}"/>
              </a:ext>
            </a:extLst>
          </p:cNvPr>
          <p:cNvSpPr>
            <a:spLocks xmlns:a="http://schemas.openxmlformats.org/drawingml/2006/main" noGrp="1"/>
          </p:cNvSpPr>
          <p:nvPr/>
        </p:nvSpPr>
        <p:spPr>
          <a:xfrm xmlns:a="http://schemas.openxmlformats.org/drawingml/2006/main">
            <a:off x="6334125" y="3848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0">
                <a:solidFill>
                  <a:srgbClr val="202A35"/>
                </a:solidFill>
                <a:latin typeface="Arial"/>
                <a:ea typeface="Arial"/>
                <a:cs typeface="Arial"/>
              </a:defRPr>
            </a:pPr>
            <a:r>
              <a:rPr sz="1425" b="0">
                <a:solidFill>
                  <a:srgbClr val="202A35"/>
                </a:solidFill>
                <a:latin typeface="Arial"/>
                <a:ea typeface="Arial"/>
                <a:cs typeface="Arial"/>
              </a:rPr>
              <a:t>85.000.000 VND; giờ 2; thiết bị/vị trí mới; OTP sai 2; tần suất 6; người nhận mới.</a:t>
            </a:r>
          </a:p>
        </p:txBody>
      </p:sp>
      <p:sp>
        <p:nvSpPr>
          <p:cNvPr id="23" name="">
            <a:extLst xmlns:a="http://schemas.openxmlformats.org/drawingml/2006/main">
              <a:ext uri="{FF2B5EF4-FFF2-40B4-BE49-F238E27FC236}">
                <a16:creationId xmlns:a16="http://schemas.microsoft.com/office/drawing/2014/main" id="{A796457C-CD6B-44C3-8E80-E7696987F594}"/>
              </a:ext>
            </a:extLst>
          </p:cNvPr>
          <p:cNvSpPr>
            <a:spLocks xmlns:a="http://schemas.openxmlformats.org/drawingml/2006/main" noGrp="1"/>
          </p:cNvSpPr>
          <p:nvPr/>
        </p:nvSpPr>
        <p:spPr>
          <a:xfrm xmlns:a="http://schemas.openxmlformats.org/drawingml/2006/main">
            <a:off x="819150" y="5029200"/>
            <a:ext cx="10572750" cy="704850"/>
          </a:xfrm>
          <a:prstGeom xmlns:a="http://schemas.openxmlformats.org/drawingml/2006/main" prst="roundRect">
            <a:avLst>
              <a:gd name="adj" fmla="val 10811"/>
            </a:avLst>
          </a:prstGeom>
          <a:solidFill xmlns:a="http://schemas.openxmlformats.org/drawingml/2006/main">
            <a:srgbClr val="FDEE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F619B00-97E0-448A-8DFE-BF0624B23081}"/>
              </a:ext>
            </a:extLst>
          </p:cNvPr>
          <p:cNvSpPr>
            <a:spLocks xmlns:a="http://schemas.openxmlformats.org/drawingml/2006/main" noGrp="1"/>
          </p:cNvSpPr>
          <p:nvPr/>
        </p:nvSpPr>
        <p:spPr>
          <a:xfrm xmlns:a="http://schemas.openxmlformats.org/drawingml/2006/main">
            <a:off x="1000125" y="5162550"/>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5000"/>
              </a:lnSpc>
              <a:buNone/>
              <a:defRPr sz="1425" b="1">
                <a:solidFill>
                  <a:srgbClr val="C84646"/>
                </a:solidFill>
                <a:latin typeface="Arial"/>
                <a:ea typeface="Arial"/>
                <a:cs typeface="Arial"/>
              </a:defRPr>
            </a:pPr>
            <a:r>
              <a:rPr sz="1425" b="1">
                <a:solidFill>
                  <a:srgbClr val="C84646"/>
                </a:solidFill>
                <a:latin typeface="Arial"/>
                <a:ea typeface="Arial"/>
                <a:cs typeface="Arial"/>
              </a:rPr>
              <a:t>Dừng trình chiếu tại đây để chạy UI local 3–5 phút. Demo không kết nối MB và không gửi lệnh giữ/chặn.</a:t>
            </a:r>
          </a:p>
        </p:txBody>
      </p:sp>
      <p:sp>
        <p:nvSpPr>
          <p:cNvPr id="25" name="">
            <a:extLst xmlns:a="http://schemas.openxmlformats.org/drawingml/2006/main">
              <a:ext uri="{FF2B5EF4-FFF2-40B4-BE49-F238E27FC236}">
                <a16:creationId xmlns:a16="http://schemas.microsoft.com/office/drawing/2014/main" id="{EBEC3E00-755C-4F50-AF29-7D5272FCE024}"/>
              </a:ext>
            </a:extLst>
          </p:cNvPr>
          <p:cNvSpPr>
            <a:spLocks xmlns:a="http://schemas.openxmlformats.org/drawingml/2006/main" noGrp="1"/>
          </p:cNvSpPr>
          <p:nvPr/>
        </p:nvSpPr>
        <p:spPr>
          <a:xfrm xmlns:a="http://schemas.openxmlformats.org/drawingml/2006/main">
            <a:off x="857250" y="591502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0">
                <a:solidFill>
                  <a:srgbClr val="65717D"/>
                </a:solidFill>
                <a:latin typeface="Arial"/>
                <a:ea typeface="Arial"/>
                <a:cs typeface="Arial"/>
              </a:defRPr>
            </a:pPr>
            <a:r>
              <a:rPr sz="1425" b="0">
                <a:solidFill>
                  <a:srgbClr val="65717D"/>
                </a:solidFill>
                <a:latin typeface="Arial"/>
                <a:ea typeface="Arial"/>
                <a:cs typeface="Arial"/>
              </a:rPr>
              <a:t>Quan sát: đầu vào → score → hành động đề xuất → đóng góp TreeSHAP → history/run ID.</a:t>
            </a:r>
          </a:p>
        </p:txBody>
      </p:sp>
    </p:spTree>
    <p:extLst>
      <p:ext uri="{BB962C8B-B14F-4D97-AF65-F5344CB8AC3E}">
        <p14:creationId xmlns:p14="http://schemas.microsoft.com/office/powerpoint/2010/main" val="810597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AC358E1-D66E-4973-9BC7-FC7648DD85C2}"/>
              </a:ext>
            </a:extLst>
          </p:cNvPr>
          <p:cNvSpPr>
            <a:spLocks xmlns:a="http://schemas.openxmlformats.org/drawingml/2006/main" noGrp="1"/>
          </p:cNvSpPr>
          <p:nvPr/>
        </p:nvSpPr>
        <p:spPr>
          <a:xfrm xmlns:a="http://schemas.openxmlformats.org/drawingml/2006/main">
            <a:off x="0" y="0"/>
            <a:ext cx="142875" cy="6858000"/>
          </a:xfrm>
          <a:prstGeom xmlns:a="http://schemas.openxmlformats.org/drawingml/2006/main" prst="rect">
            <a:avLst/>
          </a:prstGeom>
          <a:solidFill xmlns:a="http://schemas.openxmlformats.org/drawingml/2006/main">
            <a:srgbClr val="14365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F86C82-9244-47C5-82D7-BE5C8FD040AC}"/>
              </a:ext>
            </a:extLst>
          </p:cNvPr>
          <p:cNvSpPr>
            <a:spLocks xmlns:a="http://schemas.openxmlformats.org/drawingml/2006/main" noGrp="1"/>
          </p:cNvSpPr>
          <p:nvPr/>
        </p:nvSpPr>
        <p:spPr>
          <a:xfrm xmlns:a="http://schemas.openxmlformats.org/drawingml/2006/main">
            <a:off x="552450" y="2095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5238"/>
          </a:bodyPr>
          <a:lstStyle xmlns:a="http://schemas.openxmlformats.org/drawingml/2006/main"/>
          <a:p xmlns:a="http://schemas.openxmlformats.org/drawingml/2006/main">
            <a:pPr algn="l">
              <a:lnSpc>
                <a:spcPct val="105000"/>
              </a:lnSpc>
              <a:buNone/>
              <a:defRPr sz="1125" b="1">
                <a:solidFill>
                  <a:srgbClr val="3E6B97"/>
                </a:solidFill>
                <a:latin typeface="Arial"/>
                <a:ea typeface="Arial"/>
                <a:cs typeface="Arial"/>
              </a:defRPr>
            </a:pPr>
            <a:r>
              <a:rPr sz="1125" b="1">
                <a:solidFill>
                  <a:srgbClr val="3E6B97"/>
                </a:solidFill>
                <a:latin typeface="Arial"/>
                <a:ea typeface="Arial"/>
                <a:cs typeface="Arial"/>
              </a:rPr>
              <a:t>KẾT LUẬN</a:t>
            </a:r>
          </a:p>
        </p:txBody>
      </p:sp>
      <p:sp>
        <p:nvSpPr>
          <p:cNvPr id="3" name="">
            <a:extLst xmlns:a="http://schemas.openxmlformats.org/drawingml/2006/main">
              <a:ext uri="{FF2B5EF4-FFF2-40B4-BE49-F238E27FC236}">
                <a16:creationId xmlns:a16="http://schemas.microsoft.com/office/drawing/2014/main" id="{D85E69D9-D100-4EDF-BA66-0045F91EF654}"/>
              </a:ext>
            </a:extLst>
          </p:cNvPr>
          <p:cNvSpPr>
            <a:spLocks xmlns:a="http://schemas.openxmlformats.org/drawingml/2006/main" noGrp="1"/>
          </p:cNvSpPr>
          <p:nvPr/>
        </p:nvSpPr>
        <p:spPr>
          <a:xfrm xmlns:a="http://schemas.openxmlformats.org/drawingml/2006/main">
            <a:off x="552450" y="4572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700" b="1">
                <a:solidFill>
                  <a:srgbClr val="14365D"/>
                </a:solidFill>
                <a:latin typeface="Arial"/>
                <a:ea typeface="Arial"/>
                <a:cs typeface="Arial"/>
              </a:defRPr>
            </a:pPr>
            <a:r>
              <a:rPr sz="2700" b="1">
                <a:solidFill>
                  <a:srgbClr val="14365D"/>
                </a:solidFill>
                <a:latin typeface="Arial"/>
                <a:ea typeface="Arial"/>
                <a:cs typeface="Arial"/>
              </a:rPr>
              <a:t>Kết luận: PoC kiểm chứng pipeline</a:t>
            </a:r>
          </a:p>
        </p:txBody>
      </p:sp>
      <p:sp>
        <p:nvSpPr>
          <p:cNvPr id="4" name="">
            <a:extLst xmlns:a="http://schemas.openxmlformats.org/drawingml/2006/main">
              <a:ext uri="{FF2B5EF4-FFF2-40B4-BE49-F238E27FC236}">
                <a16:creationId xmlns:a16="http://schemas.microsoft.com/office/drawing/2014/main" id="{E61CE863-1595-44D4-B9D9-A7B43DF919A8}"/>
              </a:ext>
            </a:extLst>
          </p:cNvPr>
          <p:cNvSpPr>
            <a:spLocks xmlns:a="http://schemas.openxmlformats.org/drawingml/2006/main" noGrp="1"/>
          </p:cNvSpPr>
          <p:nvPr/>
        </p:nvSpPr>
        <p:spPr>
          <a:xfrm xmlns:a="http://schemas.openxmlformats.org/drawingml/2006/main">
            <a:off x="552450" y="1104900"/>
            <a:ext cx="11049000" cy="19050"/>
          </a:xfrm>
          <a:prstGeom xmlns:a="http://schemas.openxmlformats.org/drawingml/2006/main" prst="rect">
            <a:avLst/>
          </a:prstGeom>
          <a:solidFill xmlns:a="http://schemas.openxmlformats.org/drawingml/2006/main">
            <a:srgbClr val="D7E0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D4F4C1-F8B2-4BA5-B8BA-D74F5B30A5A1}"/>
              </a:ext>
            </a:extLst>
          </p:cNvPr>
          <p:cNvSpPr>
            <a:spLocks xmlns:a="http://schemas.openxmlformats.org/drawingml/2006/main" noGrp="1"/>
          </p:cNvSpPr>
          <p:nvPr/>
        </p:nvSpPr>
        <p:spPr>
          <a:xfrm xmlns:a="http://schemas.openxmlformats.org/drawingml/2006/main">
            <a:off x="552450" y="64865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68027"/>
          </a:bodyPr>
          <a:lstStyle xmlns:a="http://schemas.openxmlformats.org/drawingml/2006/main"/>
          <a:p xmlns:a="http://schemas.openxmlformats.org/drawingml/2006/main">
            <a:pPr algn="l">
              <a:lnSpc>
                <a:spcPct val="105000"/>
              </a:lnSpc>
              <a:buNone/>
              <a:defRPr sz="1050" b="0">
                <a:solidFill>
                  <a:srgbClr val="65717D"/>
                </a:solidFill>
                <a:latin typeface="Arial"/>
                <a:ea typeface="Arial"/>
                <a:cs typeface="Arial"/>
              </a:defRPr>
            </a:pPr>
            <a:r>
              <a:rPr sz="1050" b="0">
                <a:solidFill>
                  <a:srgbClr val="65717D"/>
                </a:solidFill>
                <a:latin typeface="Arial"/>
                <a:ea typeface="Arial"/>
                <a:cs typeface="Arial"/>
              </a:rPr>
              <a:t>HVNH – CNM – PoC HỌC THUẬT</a:t>
            </a:r>
          </a:p>
        </p:txBody>
      </p:sp>
      <p:sp>
        <p:nvSpPr>
          <p:cNvPr id="6" name="">
            <a:extLst xmlns:a="http://schemas.openxmlformats.org/drawingml/2006/main">
              <a:ext uri="{FF2B5EF4-FFF2-40B4-BE49-F238E27FC236}">
                <a16:creationId xmlns:a16="http://schemas.microsoft.com/office/drawing/2014/main" id="{CB441441-3B58-4A04-B296-8C12E5199CAB}"/>
              </a:ext>
            </a:extLst>
          </p:cNvPr>
          <p:cNvSpPr>
            <a:spLocks xmlns:a="http://schemas.openxmlformats.org/drawingml/2006/main" noGrp="1"/>
          </p:cNvSpPr>
          <p:nvPr/>
        </p:nvSpPr>
        <p:spPr>
          <a:xfrm xmlns:a="http://schemas.openxmlformats.org/drawingml/2006/main">
            <a:off x="11049000" y="6467475"/>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74074"/>
          </a:bodyPr>
          <a:lstStyle xmlns:a="http://schemas.openxmlformats.org/drawingml/2006/main"/>
          <a:p xmlns:a="http://schemas.openxmlformats.org/drawingml/2006/main">
            <a:pPr algn="r">
              <a:lnSpc>
                <a:spcPct val="105000"/>
              </a:lnSpc>
              <a:buNone/>
              <a:defRPr sz="1125" b="0">
                <a:solidFill>
                  <a:srgbClr val="65717D"/>
                </a:solidFill>
                <a:latin typeface="Arial"/>
                <a:ea typeface="Arial"/>
                <a:cs typeface="Arial"/>
              </a:defRPr>
            </a:pPr>
            <a:r>
              <a:rPr sz="1125" b="0">
                <a:solidFill>
                  <a:srgbClr val="65717D"/>
                </a:solidFill>
                <a:latin typeface="Arial"/>
                <a:ea typeface="Arial"/>
                <a:cs typeface="Arial"/>
              </a:rPr>
              <a:t>18</a:t>
            </a:r>
          </a:p>
        </p:txBody>
      </p:sp>
      <p:sp>
        <p:nvSpPr>
          <p:cNvPr id="7" name="">
            <a:extLst xmlns:a="http://schemas.openxmlformats.org/drawingml/2006/main">
              <a:ext uri="{FF2B5EF4-FFF2-40B4-BE49-F238E27FC236}">
                <a16:creationId xmlns:a16="http://schemas.microsoft.com/office/drawing/2014/main" id="{D1150EFA-5C72-4629-AA2C-54EFC0CE6330}"/>
              </a:ext>
            </a:extLst>
          </p:cNvPr>
          <p:cNvSpPr>
            <a:spLocks xmlns:a="http://schemas.openxmlformats.org/drawingml/2006/main" noGrp="1"/>
          </p:cNvSpPr>
          <p:nvPr/>
        </p:nvSpPr>
        <p:spPr>
          <a:xfrm xmlns:a="http://schemas.openxmlformats.org/drawingml/2006/main">
            <a:off x="781050" y="14287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3795"/>
          </a:bodyPr>
          <a:lstStyle xmlns:a="http://schemas.openxmlformats.org/drawingml/2006/main"/>
          <a:p xmlns:a="http://schemas.openxmlformats.org/drawingml/2006/main">
            <a:pPr algn="l">
              <a:lnSpc>
                <a:spcPct val="105000"/>
              </a:lnSpc>
              <a:buNone/>
              <a:defRPr sz="1650" b="1">
                <a:solidFill>
                  <a:srgbClr val="3E6B97"/>
                </a:solidFill>
                <a:latin typeface="Arial"/>
                <a:ea typeface="Arial"/>
                <a:cs typeface="Arial"/>
              </a:defRPr>
            </a:pPr>
            <a:r>
              <a:rPr sz="1650" b="1">
                <a:solidFill>
                  <a:srgbClr val="3E6B97"/>
                </a:solidFill>
                <a:latin typeface="Arial"/>
                <a:ea typeface="Arial"/>
                <a:cs typeface="Arial"/>
              </a:rPr>
              <a:t>Câu trả lời nghiên cứu</a:t>
            </a:r>
          </a:p>
        </p:txBody>
      </p:sp>
      <p:sp>
        <p:nvSpPr>
          <p:cNvPr id="8" name="">
            <a:extLst xmlns:a="http://schemas.openxmlformats.org/drawingml/2006/main">
              <a:ext uri="{FF2B5EF4-FFF2-40B4-BE49-F238E27FC236}">
                <a16:creationId xmlns:a16="http://schemas.microsoft.com/office/drawing/2014/main" id="{CCD4BE98-E876-4680-A087-8324393619D4}"/>
              </a:ext>
            </a:extLst>
          </p:cNvPr>
          <p:cNvSpPr>
            <a:spLocks xmlns:a="http://schemas.openxmlformats.org/drawingml/2006/main" noGrp="1"/>
          </p:cNvSpPr>
          <p:nvPr/>
        </p:nvSpPr>
        <p:spPr>
          <a:xfrm xmlns:a="http://schemas.openxmlformats.org/drawingml/2006/main">
            <a:off x="781050" y="1809750"/>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0816"/>
          </a:bodyPr>
          <a:lstStyle xmlns:a="http://schemas.openxmlformats.org/drawingml/2006/main"/>
          <a:p xmlns:a="http://schemas.openxmlformats.org/drawingml/2006/main">
            <a:pPr algn="l">
              <a:lnSpc>
                <a:spcPct val="105000"/>
              </a:lnSpc>
              <a:buNone/>
              <a:defRPr sz="2100" b="1">
                <a:solidFill>
                  <a:srgbClr val="14365D"/>
                </a:solidFill>
                <a:latin typeface="Arial"/>
                <a:ea typeface="Arial"/>
                <a:cs typeface="Arial"/>
              </a:defRPr>
            </a:pPr>
            <a:r>
              <a:rPr sz="2100" b="1">
                <a:solidFill>
                  <a:srgbClr val="14365D"/>
                </a:solidFill>
                <a:latin typeface="Arial"/>
                <a:ea typeface="Arial"/>
                <a:cs typeface="Arial"/>
              </a:rPr>
              <a:t>Có thể xây dựng và tái lập pipeline trên dữ liệu tổng hợp; hiệu quả thực tế tại MB chưa được xác định.</a:t>
            </a:r>
          </a:p>
        </p:txBody>
      </p:sp>
      <p:sp>
        <p:nvSpPr>
          <p:cNvPr id="9" name="">
            <a:extLst xmlns:a="http://schemas.openxmlformats.org/drawingml/2006/main">
              <a:ext uri="{FF2B5EF4-FFF2-40B4-BE49-F238E27FC236}">
                <a16:creationId xmlns:a16="http://schemas.microsoft.com/office/drawing/2014/main" id="{25A99361-1419-4DFF-8FBB-F76C66DC19C3}"/>
              </a:ext>
            </a:extLst>
          </p:cNvPr>
          <p:cNvSpPr>
            <a:spLocks xmlns:a="http://schemas.openxmlformats.org/drawingml/2006/main" noGrp="1"/>
          </p:cNvSpPr>
          <p:nvPr/>
        </p:nvSpPr>
        <p:spPr>
          <a:xfrm xmlns:a="http://schemas.openxmlformats.org/drawingml/2006/main">
            <a:off x="781050" y="2647950"/>
            <a:ext cx="10620375" cy="876300"/>
          </a:xfrm>
          <a:prstGeom xmlns:a="http://schemas.openxmlformats.org/drawingml/2006/main" prst="roundRect">
            <a:avLst>
              <a:gd name="adj" fmla="val 8696"/>
            </a:avLst>
          </a:prstGeom>
          <a:solidFill xmlns:a="http://schemas.openxmlformats.org/drawingml/2006/main">
            <a:srgbClr val="EAF1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5B7566C-5950-41C1-8533-7233A4610622}"/>
              </a:ext>
            </a:extLst>
          </p:cNvPr>
          <p:cNvSpPr>
            <a:spLocks xmlns:a="http://schemas.openxmlformats.org/drawingml/2006/main" noGrp="1"/>
          </p:cNvSpPr>
          <p:nvPr/>
        </p:nvSpPr>
        <p:spPr>
          <a:xfrm xmlns:a="http://schemas.openxmlformats.org/drawingml/2006/main">
            <a:off x="981075" y="27622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8183"/>
          </a:bodyPr>
          <a:lstStyle xmlns:a="http://schemas.openxmlformats.org/drawingml/2006/main"/>
          <a:p xmlns:a="http://schemas.openxmlformats.org/drawingml/2006/main">
            <a:pPr algn="l">
              <a:lnSpc>
                <a:spcPct val="105000"/>
              </a:lnSpc>
              <a:buNone/>
              <a:defRPr sz="1350" b="1">
                <a:solidFill>
                  <a:srgbClr val="65717D"/>
                </a:solidFill>
                <a:latin typeface="Arial"/>
                <a:ea typeface="Arial"/>
                <a:cs typeface="Arial"/>
              </a:defRPr>
            </a:pPr>
            <a:r>
              <a:rPr sz="1350" b="1">
                <a:solidFill>
                  <a:srgbClr val="65717D"/>
                </a:solidFill>
                <a:latin typeface="Arial"/>
                <a:ea typeface="Arial"/>
                <a:cs typeface="Arial"/>
              </a:rPr>
              <a:t>XGBoost seed 42 trên holdout</a:t>
            </a:r>
          </a:p>
        </p:txBody>
      </p:sp>
      <p:sp>
        <p:nvSpPr>
          <p:cNvPr id="11" name="">
            <a:extLst xmlns:a="http://schemas.openxmlformats.org/drawingml/2006/main">
              <a:ext uri="{FF2B5EF4-FFF2-40B4-BE49-F238E27FC236}">
                <a16:creationId xmlns:a16="http://schemas.microsoft.com/office/drawing/2014/main" id="{AEE960A1-4295-4C1C-AEAF-F5FA642CD3F3}"/>
              </a:ext>
            </a:extLst>
          </p:cNvPr>
          <p:cNvSpPr>
            <a:spLocks xmlns:a="http://schemas.openxmlformats.org/drawingml/2006/main" noGrp="1"/>
          </p:cNvSpPr>
          <p:nvPr/>
        </p:nvSpPr>
        <p:spPr>
          <a:xfrm xmlns:a="http://schemas.openxmlformats.org/drawingml/2006/main">
            <a:off x="981075" y="307657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575" b="1">
                <a:solidFill>
                  <a:srgbClr val="14365D"/>
                </a:solidFill>
                <a:latin typeface="Arial"/>
                <a:ea typeface="Arial"/>
                <a:cs typeface="Arial"/>
              </a:defRPr>
            </a:pPr>
            <a:r>
              <a:rPr sz="1575" b="1">
                <a:solidFill>
                  <a:srgbClr val="14365D"/>
                </a:solidFill>
                <a:latin typeface="Arial"/>
                <a:ea typeface="Arial"/>
                <a:cs typeface="Arial"/>
              </a:rPr>
              <a:t>AP 0,551   •   Precision 34,8%   •   Recall 72,2%   •   Alert rate 3,74%   •   122 FP / 5.000</a:t>
            </a:r>
          </a:p>
        </p:txBody>
      </p:sp>
      <p:sp>
        <p:nvSpPr>
          <p:cNvPr id="12" name="">
            <a:extLst xmlns:a="http://schemas.openxmlformats.org/drawingml/2006/main">
              <a:ext uri="{FF2B5EF4-FFF2-40B4-BE49-F238E27FC236}">
                <a16:creationId xmlns:a16="http://schemas.microsoft.com/office/drawing/2014/main" id="{DA0273D7-F224-4025-9290-EC9B1CF2B30F}"/>
              </a:ext>
            </a:extLst>
          </p:cNvPr>
          <p:cNvSpPr>
            <a:spLocks xmlns:a="http://schemas.openxmlformats.org/drawingml/2006/main" noGrp="1"/>
          </p:cNvSpPr>
          <p:nvPr/>
        </p:nvSpPr>
        <p:spPr>
          <a:xfrm xmlns:a="http://schemas.openxmlformats.org/drawingml/2006/main">
            <a:off x="781050" y="3886200"/>
            <a:ext cx="4953000" cy="1257300"/>
          </a:xfrm>
          <a:prstGeom xmlns:a="http://schemas.openxmlformats.org/drawingml/2006/main" prst="roundRect">
            <a:avLst>
              <a:gd name="adj" fmla="val 6061"/>
            </a:avLst>
          </a:prstGeom>
          <a:solidFill xmlns:a="http://schemas.openxmlformats.org/drawingml/2006/main">
            <a:srgbClr val="FDEE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D26D56-B6C8-4D74-857A-90E70D2E465A}"/>
              </a:ext>
            </a:extLst>
          </p:cNvPr>
          <p:cNvSpPr>
            <a:spLocks xmlns:a="http://schemas.openxmlformats.org/drawingml/2006/main" noGrp="1"/>
          </p:cNvSpPr>
          <p:nvPr/>
        </p:nvSpPr>
        <p:spPr>
          <a:xfrm xmlns:a="http://schemas.openxmlformats.org/drawingml/2006/main">
            <a:off x="1000125" y="40386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3144"/>
          </a:bodyPr>
          <a:lstStyle xmlns:a="http://schemas.openxmlformats.org/drawingml/2006/main"/>
          <a:p xmlns:a="http://schemas.openxmlformats.org/drawingml/2006/main">
            <a:pPr algn="l">
              <a:lnSpc>
                <a:spcPct val="105000"/>
              </a:lnSpc>
              <a:buNone/>
              <a:defRPr sz="1575" b="1">
                <a:solidFill>
                  <a:srgbClr val="C84646"/>
                </a:solidFill>
                <a:latin typeface="Arial"/>
                <a:ea typeface="Arial"/>
                <a:cs typeface="Arial"/>
              </a:defRPr>
            </a:pPr>
            <a:r>
              <a:rPr sz="1575" b="1">
                <a:solidFill>
                  <a:srgbClr val="C84646"/>
                </a:solidFill>
                <a:latin typeface="Arial"/>
                <a:ea typeface="Arial"/>
                <a:cs typeface="Arial"/>
              </a:rPr>
              <a:t>Giới hạn</a:t>
            </a:r>
          </a:p>
        </p:txBody>
      </p:sp>
      <p:sp>
        <p:nvSpPr>
          <p:cNvPr id="14" name="">
            <a:extLst xmlns:a="http://schemas.openxmlformats.org/drawingml/2006/main">
              <a:ext uri="{FF2B5EF4-FFF2-40B4-BE49-F238E27FC236}">
                <a16:creationId xmlns:a16="http://schemas.microsoft.com/office/drawing/2014/main" id="{B2F7BB2D-F38C-4DC9-B68E-6E7CBE19E7B6}"/>
              </a:ext>
            </a:extLst>
          </p:cNvPr>
          <p:cNvSpPr>
            <a:spLocks xmlns:a="http://schemas.openxmlformats.org/drawingml/2006/main" noGrp="1"/>
          </p:cNvSpPr>
          <p:nvPr/>
        </p:nvSpPr>
        <p:spPr>
          <a:xfrm xmlns:a="http://schemas.openxmlformats.org/drawingml/2006/main">
            <a:off x="1000125" y="440055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0">
                <a:solidFill>
                  <a:srgbClr val="202A35"/>
                </a:solidFill>
                <a:latin typeface="Arial"/>
                <a:ea typeface="Arial"/>
                <a:cs typeface="Arial"/>
              </a:defRPr>
            </a:pPr>
            <a:r>
              <a:rPr sz="1425" b="0">
                <a:solidFill>
                  <a:srgbClr val="202A35"/>
                </a:solidFill>
                <a:latin typeface="Arial"/>
                <a:ea typeface="Arial"/>
                <a:cs typeface="Arial"/>
              </a:rPr>
              <a:t>Nhãn do nhóm sinh; không có dữ liệu MB. Không streaming, không quyết định giao dịch thật.</a:t>
            </a:r>
          </a:p>
        </p:txBody>
      </p:sp>
      <p:sp>
        <p:nvSpPr>
          <p:cNvPr id="15" name="">
            <a:extLst xmlns:a="http://schemas.openxmlformats.org/drawingml/2006/main">
              <a:ext uri="{FF2B5EF4-FFF2-40B4-BE49-F238E27FC236}">
                <a16:creationId xmlns:a16="http://schemas.microsoft.com/office/drawing/2014/main" id="{54895E07-3264-4BDA-9765-E5B05436F5F9}"/>
              </a:ext>
            </a:extLst>
          </p:cNvPr>
          <p:cNvSpPr>
            <a:spLocks xmlns:a="http://schemas.openxmlformats.org/drawingml/2006/main" noGrp="1"/>
          </p:cNvSpPr>
          <p:nvPr/>
        </p:nvSpPr>
        <p:spPr>
          <a:xfrm xmlns:a="http://schemas.openxmlformats.org/drawingml/2006/main">
            <a:off x="6000750" y="3886200"/>
            <a:ext cx="5400675" cy="1257300"/>
          </a:xfrm>
          <a:prstGeom xmlns:a="http://schemas.openxmlformats.org/drawingml/2006/main" prst="roundRect">
            <a:avLst>
              <a:gd name="adj" fmla="val 6061"/>
            </a:avLst>
          </a:prstGeom>
          <a:solidFill xmlns:a="http://schemas.openxmlformats.org/drawingml/2006/main">
            <a:srgbClr val="EAF5E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429BED-F20F-400F-9D10-366BCFC89EAC}"/>
              </a:ext>
            </a:extLst>
          </p:cNvPr>
          <p:cNvSpPr>
            <a:spLocks xmlns:a="http://schemas.openxmlformats.org/drawingml/2006/main" noGrp="1"/>
          </p:cNvSpPr>
          <p:nvPr/>
        </p:nvSpPr>
        <p:spPr>
          <a:xfrm xmlns:a="http://schemas.openxmlformats.org/drawingml/2006/main">
            <a:off x="6238875" y="40386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3144"/>
          </a:bodyPr>
          <a:lstStyle xmlns:a="http://schemas.openxmlformats.org/drawingml/2006/main"/>
          <a:p xmlns:a="http://schemas.openxmlformats.org/drawingml/2006/main">
            <a:pPr algn="l">
              <a:lnSpc>
                <a:spcPct val="105000"/>
              </a:lnSpc>
              <a:buNone/>
              <a:defRPr sz="1575" b="1">
                <a:solidFill>
                  <a:srgbClr val="2B7A62"/>
                </a:solidFill>
                <a:latin typeface="Arial"/>
                <a:ea typeface="Arial"/>
                <a:cs typeface="Arial"/>
              </a:defRPr>
            </a:pPr>
            <a:r>
              <a:rPr sz="1575" b="1">
                <a:solidFill>
                  <a:srgbClr val="2B7A62"/>
                </a:solidFill>
                <a:latin typeface="Arial"/>
                <a:ea typeface="Arial"/>
                <a:cs typeface="Arial"/>
              </a:rPr>
              <a:t>Bước tiếp theo</a:t>
            </a:r>
          </a:p>
        </p:txBody>
      </p:sp>
      <p:sp>
        <p:nvSpPr>
          <p:cNvPr id="17" name="">
            <a:extLst xmlns:a="http://schemas.openxmlformats.org/drawingml/2006/main">
              <a:ext uri="{FF2B5EF4-FFF2-40B4-BE49-F238E27FC236}">
                <a16:creationId xmlns:a16="http://schemas.microsoft.com/office/drawing/2014/main" id="{1CF58DC4-0DD9-4CCB-B433-79921D0D8694}"/>
              </a:ext>
            </a:extLst>
          </p:cNvPr>
          <p:cNvSpPr>
            <a:spLocks xmlns:a="http://schemas.openxmlformats.org/drawingml/2006/main" noGrp="1"/>
          </p:cNvSpPr>
          <p:nvPr/>
        </p:nvSpPr>
        <p:spPr>
          <a:xfrm xmlns:a="http://schemas.openxmlformats.org/drawingml/2006/main">
            <a:off x="6238875" y="440055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1425" b="0">
                <a:solidFill>
                  <a:srgbClr val="202A35"/>
                </a:solidFill>
                <a:latin typeface="Arial"/>
                <a:ea typeface="Arial"/>
                <a:cs typeface="Arial"/>
              </a:defRPr>
            </a:pPr>
            <a:r>
              <a:rPr sz="1425" b="0">
                <a:solidFill>
                  <a:srgbClr val="202A35"/>
                </a:solidFill>
                <a:latin typeface="Arial"/>
                <a:ea typeface="Arial"/>
                <a:cs typeface="Arial"/>
              </a:rPr>
              <a:t>Xác minh quy trình và quyền dữ liệu, đánh giá out-of-time, rồi shadow mode và pilot có giám sát.</a:t>
            </a:r>
          </a:p>
        </p:txBody>
      </p:sp>
      <p:sp>
        <p:nvSpPr>
          <p:cNvPr id="18" name="">
            <a:extLst xmlns:a="http://schemas.openxmlformats.org/drawingml/2006/main">
              <a:ext uri="{FF2B5EF4-FFF2-40B4-BE49-F238E27FC236}">
                <a16:creationId xmlns:a16="http://schemas.microsoft.com/office/drawing/2014/main" id="{0466CD55-6969-4BF9-A1A2-BE3090CB9702}"/>
              </a:ext>
            </a:extLst>
          </p:cNvPr>
          <p:cNvSpPr>
            <a:spLocks xmlns:a="http://schemas.openxmlformats.org/drawingml/2006/main" noGrp="1"/>
          </p:cNvSpPr>
          <p:nvPr/>
        </p:nvSpPr>
        <p:spPr>
          <a:xfrm xmlns:a="http://schemas.openxmlformats.org/drawingml/2006/main">
            <a:off x="781050" y="5686425"/>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5000"/>
              </a:lnSpc>
              <a:buNone/>
              <a:defRPr sz="2100" b="1">
                <a:solidFill>
                  <a:srgbClr val="14365D"/>
                </a:solidFill>
                <a:latin typeface="Arial"/>
                <a:ea typeface="Arial"/>
                <a:cs typeface="Arial"/>
              </a:defRPr>
            </a:pPr>
            <a:r>
              <a:rPr sz="2100" b="1">
                <a:solidFill>
                  <a:srgbClr val="14365D"/>
                </a:solidFill>
                <a:latin typeface="Arial"/>
                <a:ea typeface="Arial"/>
                <a:cs typeface="Arial"/>
              </a:rPr>
              <a:t>Cảm ơn — Hỏi đáp</a:t>
            </a:r>
          </a:p>
        </p:txBody>
      </p:sp>
    </p:spTree>
    <p:extLst>
      <p:ext uri="{BB962C8B-B14F-4D97-AF65-F5344CB8AC3E}">
        <p14:creationId xmlns:p14="http://schemas.microsoft.com/office/powerpoint/2010/main" val="829378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2026-09-17T06:56:32.1530000Z</dcterms:created>
  <dcterms:modified xsi:type="dcterms:W3CDTF">2026-09-17T06:56:32.1530000Z</dcterms:modified>
</coreProperties>
</file>