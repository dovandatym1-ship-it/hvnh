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package/2006/relationships/metadata/core-properties" Target="/docProps/core.xml" Id="R019e327c411e4d20" /><Relationship Type="http://schemas.openxmlformats.org/officeDocument/2006/relationships/extended-properties" Target="/docProps/app.xml" Id="R42fdb2f18d4d4e69" /><Relationship Type="http://schemas.openxmlformats.org/officeDocument/2006/relationships/officeDocument" Target="/ppt/presentation.xml" Id="R370c9120776941f4" /><Relationship Type="http://schemas.openxmlformats.org/officeDocument/2006/relationships/custom-properties" Target="/docProps/custom.xml" Id="Rc3bf243ccae84773"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fa83947308174782"/>
  </p:sldMasterIdLst>
  <p:notesMasterIdLst>
    <p:notesMasterId xmlns:r="http://schemas.openxmlformats.org/officeDocument/2006/relationships" r:id="R8d6d7fdaab744677"/>
  </p:notesMasterIdLst>
  <p:sldIdLst>
    <p:sldId xmlns:r="http://schemas.openxmlformats.org/officeDocument/2006/relationships" id="256" r:id="R933bc8a017174baa"/>
    <p:sldId xmlns:r="http://schemas.openxmlformats.org/officeDocument/2006/relationships" id="257" r:id="R1d90dc56b2394a74"/>
    <p:sldId xmlns:r="http://schemas.openxmlformats.org/officeDocument/2006/relationships" id="258" r:id="Ra7e01feb586e4c09"/>
    <p:sldId xmlns:r="http://schemas.openxmlformats.org/officeDocument/2006/relationships" id="259" r:id="Rbe5f0bf7b5f344b9"/>
    <p:sldId xmlns:r="http://schemas.openxmlformats.org/officeDocument/2006/relationships" id="260" r:id="R1108275248134f96"/>
    <p:sldId xmlns:r="http://schemas.openxmlformats.org/officeDocument/2006/relationships" id="261" r:id="Re2badb4b9f844eff"/>
    <p:sldId xmlns:r="http://schemas.openxmlformats.org/officeDocument/2006/relationships" id="262" r:id="Rcd402eddcd684ddc"/>
    <p:sldId xmlns:r="http://schemas.openxmlformats.org/officeDocument/2006/relationships" id="263" r:id="Rb0767292cce04f34"/>
    <p:sldId xmlns:r="http://schemas.openxmlformats.org/officeDocument/2006/relationships" id="264" r:id="R0781caf5056d43eb"/>
    <p:sldId xmlns:r="http://schemas.openxmlformats.org/officeDocument/2006/relationships" id="265" r:id="Rbeeeef75dd4449af"/>
    <p:sldId xmlns:r="http://schemas.openxmlformats.org/officeDocument/2006/relationships" id="266" r:id="Rc596f9185f644984"/>
    <p:sldId xmlns:r="http://schemas.openxmlformats.org/officeDocument/2006/relationships" id="267" r:id="Recdea478222446fd"/>
    <p:sldId xmlns:r="http://schemas.openxmlformats.org/officeDocument/2006/relationships" id="268" r:id="R36791e2a26b84f70"/>
    <p:sldId xmlns:r="http://schemas.openxmlformats.org/officeDocument/2006/relationships" id="269" r:id="R8b456b5b481d41c3"/>
    <p:sldId xmlns:r="http://schemas.openxmlformats.org/officeDocument/2006/relationships" id="270" r:id="R14a6da3677604bbc"/>
    <p:sldId xmlns:r="http://schemas.openxmlformats.org/officeDocument/2006/relationships" id="271" r:id="Rbb24bf09bf9f49b2"/>
    <p:sldId xmlns:r="http://schemas.openxmlformats.org/officeDocument/2006/relationships" id="272" r:id="R5412fb3c83b042f8"/>
    <p:sldId xmlns:r="http://schemas.openxmlformats.org/officeDocument/2006/relationships" id="273" r:id="R6d6bd3c1f7954f3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a26c9914b94c36" /><Relationship Type="http://schemas.openxmlformats.org/officeDocument/2006/relationships/slideMaster" Target="/ppt/slideMasters/slideMaster1.xml" Id="Rfa83947308174782" /><Relationship Type="http://schemas.openxmlformats.org/officeDocument/2006/relationships/notesMaster" Target="/ppt/notesMasters/notesMaster1.xml" Id="R8d6d7fdaab744677" /><Relationship Type="http://schemas.openxmlformats.org/officeDocument/2006/relationships/presProps" Target="/ppt/presProps.xml" Id="R7e0ed92dbf6e4217" /><Relationship Type="http://schemas.openxmlformats.org/officeDocument/2006/relationships/tableStyles" Target="/ppt/tableStyles.xml" Id="R7f64794598ec4c78" /><Relationship Type="http://schemas.openxmlformats.org/officeDocument/2006/relationships/slide" Target="/ppt/slides/slide1.xml" Id="R933bc8a017174baa" /><Relationship Type="http://schemas.openxmlformats.org/officeDocument/2006/relationships/slide" Target="/ppt/slides/slide2.xml" Id="R1d90dc56b2394a74" /><Relationship Type="http://schemas.openxmlformats.org/officeDocument/2006/relationships/slide" Target="/ppt/slides/slide3.xml" Id="Ra7e01feb586e4c09" /><Relationship Type="http://schemas.openxmlformats.org/officeDocument/2006/relationships/slide" Target="/ppt/slides/slide4.xml" Id="Rbe5f0bf7b5f344b9" /><Relationship Type="http://schemas.openxmlformats.org/officeDocument/2006/relationships/slide" Target="/ppt/slides/slide5.xml" Id="R1108275248134f96" /><Relationship Type="http://schemas.openxmlformats.org/officeDocument/2006/relationships/slide" Target="/ppt/slides/slide6.xml" Id="Re2badb4b9f844eff" /><Relationship Type="http://schemas.openxmlformats.org/officeDocument/2006/relationships/slide" Target="/ppt/slides/slide7.xml" Id="Rcd402eddcd684ddc" /><Relationship Type="http://schemas.openxmlformats.org/officeDocument/2006/relationships/slide" Target="/ppt/slides/slide8.xml" Id="Rb0767292cce04f34" /><Relationship Type="http://schemas.openxmlformats.org/officeDocument/2006/relationships/slide" Target="/ppt/slides/slide9.xml" Id="R0781caf5056d43eb" /><Relationship Type="http://schemas.openxmlformats.org/officeDocument/2006/relationships/slide" Target="/ppt/slides/slide10.xml" Id="Rbeeeef75dd4449af" /><Relationship Type="http://schemas.openxmlformats.org/officeDocument/2006/relationships/slide" Target="/ppt/slides/slide11.xml" Id="Rc596f9185f644984" /><Relationship Type="http://schemas.openxmlformats.org/officeDocument/2006/relationships/slide" Target="/ppt/slides/slide12.xml" Id="Recdea478222446fd" /><Relationship Type="http://schemas.openxmlformats.org/officeDocument/2006/relationships/slide" Target="/ppt/slides/slide13.xml" Id="R36791e2a26b84f70" /><Relationship Type="http://schemas.openxmlformats.org/officeDocument/2006/relationships/slide" Target="/ppt/slides/slide14.xml" Id="R8b456b5b481d41c3" /><Relationship Type="http://schemas.openxmlformats.org/officeDocument/2006/relationships/slide" Target="/ppt/slides/slide15.xml" Id="R14a6da3677604bbc" /><Relationship Type="http://schemas.openxmlformats.org/officeDocument/2006/relationships/slide" Target="/ppt/slides/slide16.xml" Id="Rbb24bf09bf9f49b2" /><Relationship Type="http://schemas.openxmlformats.org/officeDocument/2006/relationships/slide" Target="/ppt/slides/slide17.xml" Id="R5412fb3c83b042f8" /><Relationship Type="http://schemas.openxmlformats.org/officeDocument/2006/relationships/slide" Target="/ppt/slides/slide18.xml" Id="R6d6bd3c1f7954f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bbbd1b1e034c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814ab75aaa4327" /><Relationship Type="http://schemas.openxmlformats.org/officeDocument/2006/relationships/notesMaster" Target="/ppt/notesMasters/notesMaster1.xml" Id="R32840d8e75104a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72c15d52574b14" /><Relationship Type="http://schemas.openxmlformats.org/officeDocument/2006/relationships/notesMaster" Target="/ppt/notesMasters/notesMaster1.xml" Id="R5f7d7e2741d14c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dd89e0ab684c0c" /><Relationship Type="http://schemas.openxmlformats.org/officeDocument/2006/relationships/notesMaster" Target="/ppt/notesMasters/notesMaster1.xml" Id="R79916e013ceb4a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e9f9a6d70e4a31" /><Relationship Type="http://schemas.openxmlformats.org/officeDocument/2006/relationships/notesMaster" Target="/ppt/notesMasters/notesMaster1.xml" Id="Rcf88d26d61da4a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a2e841cea4dc5" /><Relationship Type="http://schemas.openxmlformats.org/officeDocument/2006/relationships/notesMaster" Target="/ppt/notesMasters/notesMaster1.xml" Id="R2c3b57605f7444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4c5f2c124c46a6" /><Relationship Type="http://schemas.openxmlformats.org/officeDocument/2006/relationships/notesMaster" Target="/ppt/notesMasters/notesMaster1.xml" Id="R53883aad7d754f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d430835b6c4007" /><Relationship Type="http://schemas.openxmlformats.org/officeDocument/2006/relationships/notesMaster" Target="/ppt/notesMasters/notesMaster1.xml" Id="Reb0347acf7b84f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12e5f288f43e2" /><Relationship Type="http://schemas.openxmlformats.org/officeDocument/2006/relationships/notesMaster" Target="/ppt/notesMasters/notesMaster1.xml" Id="R4ac597a15d3b4b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ee34fdf49c49ac" /><Relationship Type="http://schemas.openxmlformats.org/officeDocument/2006/relationships/notesMaster" Target="/ppt/notesMasters/notesMaster1.xml" Id="R6ca5d45c041547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49641e8bbb4e79" /><Relationship Type="http://schemas.openxmlformats.org/officeDocument/2006/relationships/notesMaster" Target="/ppt/notesMasters/notesMaster1.xml" Id="R5c454cb527624d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578ce644b34513" /><Relationship Type="http://schemas.openxmlformats.org/officeDocument/2006/relationships/notesMaster" Target="/ppt/notesMasters/notesMaster1.xml" Id="Rac4cc3cda4644c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218aaf74854ded" /><Relationship Type="http://schemas.openxmlformats.org/officeDocument/2006/relationships/notesMaster" Target="/ppt/notesMasters/notesMaster1.xml" Id="R0a21768c78024f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0781dfa50b4192" /><Relationship Type="http://schemas.openxmlformats.org/officeDocument/2006/relationships/notesMaster" Target="/ppt/notesMasters/notesMaster1.xml" Id="R77f3373433674b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36dd46b9c74f85" /><Relationship Type="http://schemas.openxmlformats.org/officeDocument/2006/relationships/notesMaster" Target="/ppt/notesMasters/notesMaster1.xml" Id="Rbb6a02a1c5ac4d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57f2efab6846c9" /><Relationship Type="http://schemas.openxmlformats.org/officeDocument/2006/relationships/notesMaster" Target="/ppt/notesMasters/notesMaster1.xml" Id="R7e1673c203e442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927c3a831243e9" /><Relationship Type="http://schemas.openxmlformats.org/officeDocument/2006/relationships/notesMaster" Target="/ppt/notesMasters/notesMaster1.xml" Id="R05f4b3029a244c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78f8f7c24b473e" /><Relationship Type="http://schemas.openxmlformats.org/officeDocument/2006/relationships/notesMaster" Target="/ppt/notesMasters/notesMaster1.xml" Id="R4b3262f29e3148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a8191b17b94655" /><Relationship Type="http://schemas.openxmlformats.org/officeDocument/2006/relationships/notesMaster" Target="/ppt/notesMasters/notesMaster1.xml" Id="R0c6131f5e72e4a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đây là PoC học thuật trên dữ liệu tổng hợp, MB chỉ là bối cảnh nghiên cứu. Giới thiệu câu hỏi nghiên cứu; không tuyên bố đây là hệ thống MB.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success criteria. Thành công không gắn với phải đạt một con số precision/recall kỳ vọng. Nhóm kiểm chứng code path và trade-off trên một bộ dữ liệu mô phỏng. Chuyển: nêu bối cảnh công khai và khoảng trống nghiên cứu.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S02 và S01 chỉ dùng làm bối cảnh ngành. Đây là báo cáo người dùng và tín hiệu cảnh báo công khai, không phải số liệu giao dịch hay quy trình nội bộ MB. Chuyển: so sánh với nghiên cứu liên quan để làm rõ khoảng trống.</a:t>
            </a:r>
          </a:p>
          <a:p xmlns:a="http://schemas.openxmlformats.org/drawingml/2006/main">
            <a:r>
              <a:t/>
            </a:r>
          </a:p>
          <a:p xmlns:a="http://schemas.openxmlformats.org/drawingml/2006/main">
            <a:r>
              <a:t>Nguồn/ghi chú: S02 https://english.mst.gov.vn/over-220000-reports-of-online-fraud-received-in-vietnams-banking-sector-197241030085335181.htm</a:t>
            </a:r>
          </a:p>
          <a:p xmlns:a="http://schemas.openxmlformats.org/drawingml/2006/main">
            <a:r>
              <a:t>S01 https://www.sbv.gov.vn/vi/web/sbv_portal/w/sbv592485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ba nguồn như bài học có phạm vi, không gọi nghiên cứu mô phỏng là triển khai thành công tại MB. Dal Pozzolo et al. bàn về mất cân bằng, drift và nhãn; PaySim là simulator; ECB/EBA nêu kiểm soát xác thực mạnh và payer manipulation trong phạm vi EEA. Chuyển: dùng bài học để xác định stakeholder và As-Is tham chiếu trước khi thiết kế To-Be.</a:t>
            </a:r>
          </a:p>
          <a:p xmlns:a="http://schemas.openxmlformats.org/drawingml/2006/main">
            <a:r>
              <a:t/>
            </a:r>
          </a:p>
          <a:p xmlns:a="http://schemas.openxmlformats.org/drawingml/2006/main">
            <a:r>
              <a:t>Nguồn/ghi chú: Dal Pozzolo et al. (2014): https://doi.org/10.1016/j.eswa.2014.02.026</a:t>
            </a:r>
          </a:p>
          <a:p xmlns:a="http://schemas.openxmlformats.org/drawingml/2006/main">
            <a:r>
              <a:t>Dal Pozzolo et al. (2018): https://doi.org/10.1109/TNNLS.2017.2736643</a:t>
            </a:r>
          </a:p>
          <a:p xmlns:a="http://schemas.openxmlformats.org/drawingml/2006/main">
            <a:r>
              <a:t>PaySim (2016): https://www.msc-les.org/proceedings/emss/2016/EMSS2016_249.pdf</a:t>
            </a:r>
          </a:p>
          <a:p xmlns:a="http://schemas.openxmlformats.org/drawingml/2006/main">
            <a:r>
              <a:t>ECB/EBA (2025): https://www.ecb.europa.eu/press/pr/date/2025/html/ecb.pr251215~e133d9d683.et.html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stakeholder matrix là đề xuất phân tích, không phải sơ đồ tổ chức MB. Không đồng nhất SOC an ninh mạng với bộ phận chống gian lận. Chuyển: minh họa quy trình tham chiếu trước khi đề xuất quy trình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 minh họa một luồng tham chiếu với mandatory controls và xử lý ngoại lệ. Trước khi mô tả MB cần phỏng vấn/chứng cứ quy trình. Sau khi nêu quy trình hiện tại giả định, chuyển sang To-Be đề xuất.</a:t>
            </a:r>
          </a:p>
          <a:p xmlns:a="http://schemas.openxmlformats.org/drawingml/2006/main">
            <a:r>
              <a:t/>
            </a:r>
          </a:p>
          <a:p xmlns:a="http://schemas.openxmlformats.org/drawingml/2006/main">
            <a:r>
              <a:t>Nguồn/ghi chú: Object Management Group (2010), BPMN 2.0. https://www.omg.org/spec/BPMN/2.0/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To-Be là đề xuất. Rủi ro cao dẫn tới chuyên viên xem xét, không phải kết luận gian lận. Vùng thấp không bỏ qua kiểm soát bắt buộc. Chuyển: sau quy trình, trình bày thành phần kỹ thuật hỗ trợ luồng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được giới thiệu trong bài báo Chen và Guestrin tại KDD 2016. Đề tài áp dụng thuật toán, không tuyên bố phát minh thuật toán mới. Chuyển: làm rõ dữ liệu/nhãn mà mô hình nhận.</a:t>
            </a:r>
          </a:p>
          <a:p xmlns:a="http://schemas.openxmlformats.org/drawingml/2006/main">
            <a:r>
              <a:t/>
            </a:r>
          </a:p>
          <a:p xmlns:a="http://schemas.openxmlformats.org/drawingml/2006/main">
            <a:r>
              <a:t>Nguồn/ghi chú: Chen, T., &amp; Guestrin, C. (2016). XGBoost. https://doi.org/10.1145/2939672.2939785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phỏng như PaySim hỗ trợ thử nghiệm khi dữ liệu thật khó chia sẻ, nhưng kết luận phải giới hạn trong simulator. Nhãn tổng hợp là một lựa chọn nghiên cứu riêng. Chuyển: chuyển từ bài học nghiên cứu sang stakeholder và quy trình tham chiếu.</a:t>
            </a:r>
          </a:p>
          <a:p xmlns:a="http://schemas.openxmlformats.org/drawingml/2006/main">
            <a:r>
              <a:t/>
            </a:r>
          </a:p>
          <a:p xmlns:a="http://schemas.openxmlformats.org/drawingml/2006/main">
            <a:r>
              <a:t>Nguồn/ghi chú: Lopez-Rojas et al. (2016), PaySim. https://www.msc-les.org/proceedings/emss/2016/EMSS2016_249.pdf</a:t>
            </a:r>
          </a:p>
          <a:p xmlns:a="http://schemas.openxmlformats.org/drawingml/2006/main">
            <a:r>
              <a:t>Kennedy et al. (2024). https://doi.org/10.1186/s40537-024-00897-7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F2 là lựa chọn đánh giá nghiên cứu, không phải chính sách business. Việc chọn ngưỡng trên validation và giữ test làm holdout theo hướng dẫn scikit-learn về threshold tuning. Chuyển: xem kết quả sau khi ngưỡng đã khóa trên validation.</a:t>
            </a:r>
          </a:p>
          <a:p xmlns:a="http://schemas.openxmlformats.org/drawingml/2006/main">
            <a:r>
              <a:t/>
            </a:r>
          </a:p>
          <a:p xmlns:a="http://schemas.openxmlformats.org/drawingml/2006/main">
            <a:r>
              <a:t>Nguồn/ghi chú: scikit-learn, Tuning the decision threshold: https://scikit-learn.org/stable/modules/classification_threshold.html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chỉ số lấy từ metrics.json, test n=5000, có 90 nhãn dương. XGBoost seed42 có TP65, FP122, FN25, TN4788. Không dùng “gian lận bị chặn”. Chuyển: PR curve cho thấy trade-off trên nhiều ngưỡng.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Đường PR được tạo từ score test seed42; chart downsampled để dễ đọc, AP tính bằng average_precision_score trên toàn bộ test. Davis &amp; Goadrich mô tả quan hệ giữa PR và ROC; tài liệu scikit-learn định nghĩa AP. Chuyển: xem lỗi cụ thể tại ngưỡng seed 42.</a:t>
            </a:r>
          </a:p>
          <a:p xmlns:a="http://schemas.openxmlformats.org/drawingml/2006/main">
            <a:r>
              <a:t/>
            </a:r>
          </a:p>
          <a:p xmlns:a="http://schemas.openxmlformats.org/drawingml/2006/main">
            <a:r>
              <a:t>Nguồn/ghi chú: Davis &amp; Goadrich (2006): https://doi.org/10.1145/1143844.1143874</a:t>
            </a:r>
          </a:p>
          <a:p xmlns:a="http://schemas.openxmlformats.org/drawingml/2006/main">
            <a:r>
              <a:t>scikit-learn Precision-Recall: https://scikit-learn.org/stable/auto_examples/model_selection/plot_precision_recall.html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Hàng của confusion matrix là nhãn thật, cột là dự đoán; c=[TN=4788, FP=122, FN=25, TP=65]. Cảnh báo sai được xác định so với nhãn generator, không phải kết luận điều tra. Chuyển: kiểm tra độ nhạy theo seed và độ trễ.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seeds cùng train/validation/test. Trung bình và sample SD là độ nhạy huấn luyện. Latency từ metrics.json; ghi đúng phương pháp, không nói “real-time under 100ms”. Chuyển: đánh giá tính khả thi và rủi ro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có dữ liệu chi phí/hành vi MB nên không đưa ROI. NIST AI RMF là tham chiếu quản trị; Oslo Manual giúp phân biệt đề xuất quy trình với đổi mới đã triển khai. Chuyển: xem cách giao diện giải thích score trong demo.</a:t>
            </a:r>
          </a:p>
          <a:p xmlns:a="http://schemas.openxmlformats.org/drawingml/2006/main">
            <a:r>
              <a:t/>
            </a:r>
          </a:p>
          <a:p xmlns:a="http://schemas.openxmlformats.org/drawingml/2006/main">
            <a:r>
              <a:t>Nguồn/ghi chú: Tabassi (2023), NIST AI RMF 1.0: https://doi.org/10.6028/NIST.AI.100-1</a:t>
            </a:r>
          </a:p>
          <a:p xmlns:a="http://schemas.openxmlformats.org/drawingml/2006/main">
            <a:r>
              <a:t>OECD/Eurostat (2018), Oslo Manual: https://doi.org/10.1787/9789264304604-en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pred_contribs cung cấp feature contributions dạng TreeSHAP cho cây. Giải thích model là local attribution, không phải nguyên nhân. Chuyển: dừng phần trình chiếu và mở demo local.</a:t>
            </a:r>
          </a:p>
          <a:p xmlns:a="http://schemas.openxmlformats.org/drawingml/2006/main">
            <a:r>
              <a:t/>
            </a:r>
          </a:p>
          <a:p xmlns:a="http://schemas.openxmlformats.org/drawingml/2006/main">
            <a:r>
              <a:t>Nguồn/ghi chú: XGBoost Prediction API: https://xgboost.readthedocs.io/en/latest/prediction.html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mượt từ kết quả học thuật sang demo. Tạm dừng trình chiếu, mở Streamlit local. Chạy kịch bản ít tín hiệu (tần suất 1, người nhận cũ) và nhiều tín hiệu (tần suất 6, người nhận mới); quan sát score, gợi ý, TreeSHAP, history. Không nhập dữ liệu thật. Sau demo quay lại slide 18 để kết luận và hỏi đáp.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kết luận sau demo live. Trả lời câu hỏi nghiên cứu trong đúng phạm vi: pipeline chạy trên dữ liệu tổng hợp. Nhấn mạnh số liệu là holdout giả lập, 122 FP theo nhãn generator chứ không phải sự vụ thực tế. Kết thúc bằng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3ac08d85a443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80ec9a7dc84388" /><Relationship Type="http://schemas.openxmlformats.org/officeDocument/2006/relationships/slideLayout" Target="/ppt/slideLayouts/slideLayout1.xml" Id="R8112e0a41d90485c"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12e0a41d9048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2905a46eb94c55" /><Relationship Type="http://schemas.openxmlformats.org/officeDocument/2006/relationships/notesSlide" Target="/ppt/notesSlides/notesSlide1.xml" Id="R7cd5d138b0de43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a45bcc9e8d48f0" /><Relationship Type="http://schemas.openxmlformats.org/officeDocument/2006/relationships/notesSlide" Target="/ppt/notesSlides/notesSlide2.xml" Id="Rdc17cff0319f4d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3be2fa40d84c66" /><Relationship Type="http://schemas.openxmlformats.org/officeDocument/2006/relationships/notesSlide" Target="/ppt/notesSlides/notesSlide3.xml" Id="Rcabc1abb9ff34f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ee609e2d3c4ce2" /><Relationship Type="http://schemas.openxmlformats.org/officeDocument/2006/relationships/notesSlide" Target="/ppt/notesSlides/notesSlide4.xml" Id="R21a4404778924b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b8429208494bdd" /><Relationship Type="http://schemas.openxmlformats.org/officeDocument/2006/relationships/notesSlide" Target="/ppt/notesSlides/notesSlide5.xml" Id="R86907d3f126a4b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6d90b5e85b4c32" /><Relationship Type="http://schemas.openxmlformats.org/officeDocument/2006/relationships/notesSlide" Target="/ppt/notesSlides/notesSlide6.xml" Id="R6fe87486fbda4f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d78d1dce0b4563" /><Relationship Type="http://schemas.openxmlformats.org/officeDocument/2006/relationships/notesSlide" Target="/ppt/notesSlides/notesSlide7.xml" Id="R964d06938504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6dacd74db6452b" /><Relationship Type="http://schemas.openxmlformats.org/officeDocument/2006/relationships/notesSlide" Target="/ppt/notesSlides/notesSlide8.xml" Id="R2518c05247f34b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04ef1751b24690" /><Relationship Type="http://schemas.openxmlformats.org/officeDocument/2006/relationships/notesSlide" Target="/ppt/notesSlides/notesSlide9.xml" Id="R0231069a9f554d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15305a6b3c4149" /><Relationship Type="http://schemas.openxmlformats.org/officeDocument/2006/relationships/notesSlide" Target="/ppt/notesSlides/notesSlide10.xml" Id="Rc88578a84c4945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f18bf8991e446a" /><Relationship Type="http://schemas.openxmlformats.org/officeDocument/2006/relationships/notesSlide" Target="/ppt/notesSlides/notesSlide11.xml" Id="Reeaa4b3d23674e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916ae14e8e474d" /><Relationship Type="http://schemas.openxmlformats.org/officeDocument/2006/relationships/chart" Target="/ppt/slides/charts/chart1.xml" Id="R9d52beb534c24aea" /><Relationship Type="http://schemas.openxmlformats.org/officeDocument/2006/relationships/notesSlide" Target="/ppt/notesSlides/notesSlide12.xml" Id="R06c03ad394da4c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384cffe7204551" /><Relationship Type="http://schemas.openxmlformats.org/officeDocument/2006/relationships/notesSlide" Target="/ppt/notesSlides/notesSlide13.xml" Id="R7a99fe2af37e49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c75c54f4154152" /><Relationship Type="http://schemas.openxmlformats.org/officeDocument/2006/relationships/notesSlide" Target="/ppt/notesSlides/notesSlide14.xml" Id="Rf145efd3e56a4b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6a17e0cb1a418a" /><Relationship Type="http://schemas.openxmlformats.org/officeDocument/2006/relationships/notesSlide" Target="/ppt/notesSlides/notesSlide15.xml" Id="R116fb4ef9eb241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f21df2570d4893" /><Relationship Type="http://schemas.openxmlformats.org/officeDocument/2006/relationships/notesSlide" Target="/ppt/notesSlides/notesSlide16.xml" Id="R3a878877b74a47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e5b534ce784081" /><Relationship Type="http://schemas.openxmlformats.org/officeDocument/2006/relationships/notesSlide" Target="/ppt/notesSlides/notesSlide17.xml" Id="Rba42609eb51540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0e2aaef5524560" /><Relationship Type="http://schemas.openxmlformats.org/officeDocument/2006/relationships/notesSlide" Target="/ppt/notesSlides/notesSlide18.xml" Id="R1134c54a31674df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282A75"/>
                </a:solidFill>
                <a:latin typeface="Open Sans"/>
                <a:ea typeface="Open Sans"/>
                <a:cs typeface="Open Sans"/>
              </a:rPr>
              <a:t>PR curve • XGBoost seed 42 • test</a:t>
            </a:r>
          </a:p>
        </c:rich>
      </c:tx>
      <c:overlay val="0"/>
      <c:txPr>
        <a:bodyPr xmlns:a="http://schemas.openxmlformats.org/drawingml/2006/main" anchorCtr="1"/>
        <a:lstStyle xmlns:a="http://schemas.openxmlformats.org/drawingml/2006/main"/>
        <a:p xmlns:a="http://schemas.openxmlformats.org/drawingml/2006/main">
          <a:pPr>
            <a:defRPr sz="1500" b="1">
              <a:solidFill>
                <a:srgbClr val="282A75"/>
              </a:solidFill>
              <a:latin typeface="Open Sans"/>
              <a:ea typeface="Open Sans"/>
              <a:cs typeface="Open Sans"/>
            </a:defRPr>
          </a:pPr>
        </a:p>
      </c:txPr>
    </c:title>
    <c:plotArea>
      <c:lineChart>
        <c:grouping val="standard"/>
        <c:varyColors val="0"/>
        <c:ser>
          <c:idx val="0"/>
          <c:order val="0"/>
          <c:tx>
            <c:v>Precision</c:v>
          </c:tx>
          <c:spPr>
            <a:ln xmlns:a="http://schemas.openxmlformats.org/drawingml/2006/main" w="28575">
              <a:solidFill>
                <a:srgbClr val="4F81BD"/>
              </a:solidFill>
            </a:ln>
          </c:spPr>
          <c:marker>
            <c:symbol val="circle"/>
            <c:size val="5"/>
            <c:spPr>
              <a:solidFill xmlns:a="http://schemas.openxmlformats.org/drawingml/2006/main">
                <a:srgbClr val="4F81BD"/>
              </a:solidFill>
            </c:spPr>
          </c:marker>
          <c:cat>
            <c:strLit>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strLit>
          </c:cat>
          <c:val>
            <c:numLit>
              <c:formatCode>0%</c:formatCode>
              <c:ptCount val="21"/>
              <c:pt idx="0">
                <c:v>1</c:v>
              </c:pt>
              <c:pt idx="1">
                <c:v>1</c:v>
              </c:pt>
              <c:pt idx="2">
                <c:v>0.9</c:v>
              </c:pt>
              <c:pt idx="3">
                <c:v>0.8235294117647058</c:v>
              </c:pt>
              <c:pt idx="4">
                <c:v>0.8181818181818182</c:v>
              </c:pt>
              <c:pt idx="5">
                <c:v>0.8214285714285714</c:v>
              </c:pt>
              <c:pt idx="6">
                <c:v>0.7941176470588235</c:v>
              </c:pt>
              <c:pt idx="7">
                <c:v>0.6888888888888889</c:v>
              </c:pt>
              <c:pt idx="8">
                <c:v>0.5901639344262295</c:v>
              </c:pt>
              <c:pt idx="9">
                <c:v>0.5189873417721519</c:v>
              </c:pt>
              <c:pt idx="10">
                <c:v>0.4787234042553192</c:v>
              </c:pt>
              <c:pt idx="11">
                <c:v>0.4424778761061947</c:v>
              </c:pt>
              <c:pt idx="12">
                <c:v>0.43902439024390244</c:v>
              </c:pt>
              <c:pt idx="13">
                <c:v>0.4097222222222222</c:v>
              </c:pt>
              <c:pt idx="14">
                <c:v>0.38181818181818183</c:v>
              </c:pt>
              <c:pt idx="15">
                <c:v>0.3383084577114428</c:v>
              </c:pt>
              <c:pt idx="16">
                <c:v>0.3333333333333333</c:v>
              </c:pt>
              <c:pt idx="17">
                <c:v>0.33189655172413796</c:v>
              </c:pt>
              <c:pt idx="18">
                <c:v>0.2892857142857143</c:v>
              </c:pt>
              <c:pt idx="19">
                <c:v>0.24495677233429394</c:v>
              </c:pt>
              <c:pt idx="20">
                <c:v>0.1388888888888889</c:v>
              </c:pt>
            </c:numLit>
          </c:val>
          <c:smooth val="0"/>
        </c:ser>
        <c:dLbls>
          <c:txPr>
            <a:bodyPr xmlns:a="http://schemas.openxmlformats.org/drawingml/2006/main" anchorCtr="1"/>
            <a:lstStyle xmlns:a="http://schemas.openxmlformats.org/drawingml/2006/main"/>
            <a:p xmlns:a="http://schemas.openxmlformats.org/drawingml/2006/main">
              <a:pPr>
                <a:defRPr>
                  <a:latin typeface="Open Sans"/>
                  <a:ea typeface="Open Sans"/>
                  <a:cs typeface="Ope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Open Sans"/>
                    <a:ea typeface="Open Sans"/>
                    <a:cs typeface="Open Sans"/>
                  </a:rPr>
                  <a:t>Recall</a:t>
                </a:r>
              </a:p>
            </c:rich>
          </c:tx>
          <c:overlay val="0"/>
          <c:txPr>
            <a:bodyPr xmlns:a="http://schemas.openxmlformats.org/drawingml/2006/main" anchorCtr="1"/>
            <a:lstStyle xmlns:a="http://schemas.openxmlformats.org/drawingml/2006/main"/>
            <a:p xmlns:a="http://schemas.openxmlformats.org/drawingml/2006/main">
              <a:pPr>
                <a:defRPr>
                  <a:latin typeface="Open Sans"/>
                  <a:ea typeface="Open Sans"/>
                  <a:cs typeface="Open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Open Sans"/>
                <a:ea typeface="Open Sans"/>
                <a:cs typeface="Open Sans"/>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Open Sans"/>
                    <a:ea typeface="Open Sans"/>
                    <a:cs typeface="Open Sans"/>
                  </a:rPr>
                  <a:t>Precision</a:t>
                </a:r>
              </a:p>
            </c:rich>
          </c:tx>
          <c:overlay val="0"/>
          <c:txPr>
            <a:bodyPr xmlns:a="http://schemas.openxmlformats.org/drawingml/2006/main" anchorCtr="1"/>
            <a:lstStyle xmlns:a="http://schemas.openxmlformats.org/drawingml/2006/main"/>
            <a:p xmlns:a="http://schemas.openxmlformats.org/drawingml/2006/main">
              <a:pPr>
                <a:defRPr>
                  <a:latin typeface="Open Sans"/>
                  <a:ea typeface="Open Sans"/>
                  <a:cs typeface="Open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Open Sans"/>
                <a:ea typeface="Open Sans"/>
                <a:cs typeface="Open Sans"/>
              </a:defRPr>
            </a:pPr>
          </a:p>
        </c:txPr>
        <c:crossAx val="48650112"/>
        <c:crossBetween val="between"/>
      </c:valAx>
      <c:spPr>
        <a:solidFill xmlns:a="http://schemas.openxmlformats.org/drawingml/2006/main">
          <a:srgbClr val="FBFBFC"/>
        </a:solidFill>
      </c:spPr>
    </c:plotArea>
    <c:plotVisOnly val="1"/>
  </c:chart>
  <c:spPr>
    <a:solidFill xmlns:a="http://schemas.openxmlformats.org/drawingml/2006/main">
      <a:srgbClr val="FBFBFC"/>
    </a:solidFill>
  </c:spPr>
</c:chartSpace>
</file>

<file path=ppt/slides/slide1.xml><?xml version="1.0" encoding="utf-8"?>
<p:sld xmlns:a="http://schemas.openxmlformats.org/drawingml/2006/main" xmlns:a16="http://schemas.microsoft.com/office/drawing/2014/main" xmlns:p14="http://schemas.microsoft.com/office/powerpoint/2010/main" xmlns:p="http://schemas.openxmlformats.org/presentationml/2006/main">
  <p:cSld name="Trang bìa">
    <p:bg>
      <p:bgPr>
        <a:solidFill xmlns:a="http://schemas.openxmlformats.org/drawingml/2006/main">
          <a:srgbClr val="FB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6F7D86-B3D5-49F1-8498-3DE31C0EE948}"/>
              </a:ext>
            </a:extLst>
          </p:cNvPr>
          <p:cNvSpPr>
            <a:spLocks xmlns:a="http://schemas.openxmlformats.org/drawingml/2006/main" noGrp="1"/>
          </p:cNvSpPr>
          <p:nvPr/>
        </p:nvSpPr>
        <p:spPr>
          <a:xfrm xmlns:a="http://schemas.openxmlformats.org/drawingml/2006/main">
            <a:off x="928688" y="4572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282A75"/>
                </a:solidFill>
                <a:latin typeface="Montserrat Bold"/>
                <a:ea typeface="Montserrat Bold"/>
                <a:cs typeface="Montserrat Bold"/>
              </a:defRPr>
            </a:pPr>
            <a:r>
              <a:rPr sz="1650" b="1">
                <a:solidFill>
                  <a:srgbClr val="282A75"/>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29BE5F4F-33F3-4BE2-8571-1AF894756FD9}"/>
              </a:ext>
            </a:extLst>
          </p:cNvPr>
          <p:cNvSpPr>
            <a:spLocks xmlns:a="http://schemas.openxmlformats.org/drawingml/2006/main" noGrp="1"/>
          </p:cNvSpPr>
          <p:nvPr/>
        </p:nvSpPr>
        <p:spPr>
          <a:xfrm xmlns:a="http://schemas.openxmlformats.org/drawingml/2006/main">
            <a:off x="928688" y="928688"/>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900" b="0">
                <a:solidFill>
                  <a:srgbClr val="667085"/>
                </a:solidFill>
                <a:latin typeface="Open Sans"/>
                <a:ea typeface="Open Sans"/>
                <a:cs typeface="Open Sans"/>
              </a:defRPr>
            </a:pPr>
            <a:r>
              <a:rPr sz="900" b="0">
                <a:solidFill>
                  <a:srgbClr val="667085"/>
                </a:solidFill>
                <a:latin typeface="Open Sans"/>
                <a:ea typeface="Open Sans"/>
                <a:cs typeface="Open Sans"/>
              </a:rPr>
              <a:t>BANKING ACADEMY OF VIETNAM</a:t>
            </a:r>
          </a:p>
        </p:txBody>
      </p:sp>
      <p:sp>
        <p:nvSpPr>
          <p:cNvPr id="3" name="">
            <a:extLst xmlns:a="http://schemas.openxmlformats.org/drawingml/2006/main">
              <a:ext uri="{FF2B5EF4-FFF2-40B4-BE49-F238E27FC236}">
                <a16:creationId xmlns:a16="http://schemas.microsoft.com/office/drawing/2014/main" id="{78129244-6325-4BB4-A92C-1C6551B08694}"/>
              </a:ext>
            </a:extLst>
          </p:cNvPr>
          <p:cNvSpPr>
            <a:spLocks xmlns:a="http://schemas.openxmlformats.org/drawingml/2006/main" noGrp="1"/>
          </p:cNvSpPr>
          <p:nvPr/>
        </p:nvSpPr>
        <p:spPr>
          <a:xfrm xmlns:a="http://schemas.openxmlformats.org/drawingml/2006/main">
            <a:off x="0" y="2428875"/>
            <a:ext cx="18288000" cy="6000750"/>
          </a:xfrm>
          <a:prstGeom xmlns:a="http://schemas.openxmlformats.org/drawingml/2006/main" prst="rect">
            <a:avLst/>
          </a:prstGeom>
          <a:solidFill xmlns:a="http://schemas.openxmlformats.org/drawingml/2006/main">
            <a:srgbClr val="282A7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1BBB7D-40D8-42DD-A6C2-CB33851D477F}"/>
              </a:ext>
            </a:extLst>
          </p:cNvPr>
          <p:cNvSpPr>
            <a:spLocks xmlns:a="http://schemas.openxmlformats.org/drawingml/2006/main" noGrp="1"/>
          </p:cNvSpPr>
          <p:nvPr/>
        </p:nvSpPr>
        <p:spPr>
          <a:xfrm xmlns:a="http://schemas.openxmlformats.org/drawingml/2006/main">
            <a:off x="0" y="2428875"/>
            <a:ext cx="18288000" cy="100013"/>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060FE5-C117-4884-B6FA-2DCF4A3BCEDF}"/>
              </a:ext>
            </a:extLst>
          </p:cNvPr>
          <p:cNvSpPr>
            <a:spLocks xmlns:a="http://schemas.openxmlformats.org/drawingml/2006/main" noGrp="1"/>
          </p:cNvSpPr>
          <p:nvPr/>
        </p:nvSpPr>
        <p:spPr>
          <a:xfrm xmlns:a="http://schemas.openxmlformats.org/drawingml/2006/main">
            <a:off x="1143000" y="2928938"/>
            <a:ext cx="1600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1">
                <a:solidFill>
                  <a:srgbClr val="4BACC6"/>
                </a:solidFill>
                <a:latin typeface="Montserrat Bold"/>
                <a:ea typeface="Montserrat Bold"/>
                <a:cs typeface="Montserrat Bold"/>
              </a:defRPr>
            </a:pPr>
            <a:r>
              <a:rPr sz="1350" b="1">
                <a:solidFill>
                  <a:srgbClr val="4BACC6"/>
                </a:solidFill>
                <a:latin typeface="Montserrat Bold"/>
                <a:ea typeface="Montserrat Bold"/>
                <a:cs typeface="Montserrat Bold"/>
              </a:rPr>
              <a:t>BÀI TẬP LỚN • CNM – MIS01</a:t>
            </a:r>
          </a:p>
        </p:txBody>
      </p:sp>
      <p:sp>
        <p:nvSpPr>
          <p:cNvPr id="6" name="">
            <a:extLst xmlns:a="http://schemas.openxmlformats.org/drawingml/2006/main">
              <a:ext uri="{FF2B5EF4-FFF2-40B4-BE49-F238E27FC236}">
                <a16:creationId xmlns:a16="http://schemas.microsoft.com/office/drawing/2014/main" id="{D61EAB69-EAE9-40B1-91A4-183C87E5FB71}"/>
              </a:ext>
            </a:extLst>
          </p:cNvPr>
          <p:cNvSpPr>
            <a:spLocks xmlns:a="http://schemas.openxmlformats.org/drawingml/2006/main" noGrp="1"/>
          </p:cNvSpPr>
          <p:nvPr/>
        </p:nvSpPr>
        <p:spPr>
          <a:xfrm xmlns:a="http://schemas.openxmlformats.org/drawingml/2006/main">
            <a:off x="1285875" y="3714750"/>
            <a:ext cx="15716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0000"/>
              </a:lnSpc>
              <a:buNone/>
              <a:defRPr sz="3750" b="1">
                <a:solidFill>
                  <a:srgbClr val="FAA61A"/>
                </a:solidFill>
                <a:latin typeface="Montserrat Bold"/>
                <a:ea typeface="Montserrat Bold"/>
                <a:cs typeface="Montserrat Bold"/>
              </a:defRPr>
            </a:pPr>
            <a:r>
              <a:rPr sz="3750" b="1">
                <a:solidFill>
                  <a:srgbClr val="FAA61A"/>
                </a:solidFill>
                <a:latin typeface="Montserrat Bold"/>
                <a:ea typeface="Montserrat Bold"/>
                <a:cs typeface="Montserrat Bold"/>
              </a:rPr>
              <a:t>Ứng dụng học máy hỗ trợ phát hiện</a:t>
            </a:r>
          </a:p>
          <a:p xmlns:a="http://schemas.openxmlformats.org/drawingml/2006/main">
            <a:pPr algn="ctr">
              <a:lnSpc>
                <a:spcPct val="100000"/>
              </a:lnSpc>
              <a:buNone/>
              <a:defRPr sz="3750" b="1">
                <a:solidFill>
                  <a:srgbClr val="FAA61A"/>
                </a:solidFill>
                <a:latin typeface="Montserrat Bold"/>
                <a:ea typeface="Montserrat Bold"/>
                <a:cs typeface="Montserrat Bold"/>
              </a:defRPr>
            </a:pPr>
            <a:r>
              <a:rPr sz="3750" b="1">
                <a:solidFill>
                  <a:srgbClr val="FAA61A"/>
                </a:solidFill>
                <a:latin typeface="Montserrat Bold"/>
                <a:ea typeface="Montserrat Bold"/>
                <a:cs typeface="Montserrat Bold"/>
              </a:rPr>
              <a:t>giao dịch nghi ngờ gian lận</a:t>
            </a:r>
          </a:p>
        </p:txBody>
      </p:sp>
      <p:sp>
        <p:nvSpPr>
          <p:cNvPr id="7" name="">
            <a:extLst xmlns:a="http://schemas.openxmlformats.org/drawingml/2006/main">
              <a:ext uri="{FF2B5EF4-FFF2-40B4-BE49-F238E27FC236}">
                <a16:creationId xmlns:a16="http://schemas.microsoft.com/office/drawing/2014/main" id="{B73BD190-E656-471E-81EF-AE62B0A7A8A3}"/>
              </a:ext>
            </a:extLst>
          </p:cNvPr>
          <p:cNvSpPr>
            <a:spLocks xmlns:a="http://schemas.openxmlformats.org/drawingml/2006/main" noGrp="1"/>
          </p:cNvSpPr>
          <p:nvPr/>
        </p:nvSpPr>
        <p:spPr>
          <a:xfrm xmlns:a="http://schemas.openxmlformats.org/drawingml/2006/main">
            <a:off x="1571625" y="5829300"/>
            <a:ext cx="1514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875" b="0">
                <a:solidFill>
                  <a:srgbClr val="FBFBFC"/>
                </a:solidFill>
                <a:latin typeface="Open Sans"/>
                <a:ea typeface="Open Sans"/>
                <a:cs typeface="Open Sans"/>
              </a:defRPr>
            </a:pPr>
            <a:r>
              <a:rPr sz="1875" b="0">
                <a:solidFill>
                  <a:srgbClr val="FBFBFC"/>
                </a:solidFill>
                <a:latin typeface="Open Sans"/>
                <a:ea typeface="Open Sans"/>
                <a:cs typeface="Open Sans"/>
              </a:rPr>
              <a:t>Xây dựng và đánh giá PoC trên dữ liệu tổng hợp</a:t>
            </a:r>
          </a:p>
          <a:p xmlns:a="http://schemas.openxmlformats.org/drawingml/2006/main">
            <a:pPr algn="ctr">
              <a:lnSpc>
                <a:spcPct val="105000"/>
              </a:lnSpc>
              <a:buNone/>
              <a:defRPr sz="1875" b="0">
                <a:solidFill>
                  <a:srgbClr val="FBFBFC"/>
                </a:solidFill>
                <a:latin typeface="Open Sans"/>
                <a:ea typeface="Open Sans"/>
                <a:cs typeface="Open Sans"/>
              </a:defRPr>
            </a:pPr>
            <a:r>
              <a:rPr sz="1875" b="0">
                <a:solidFill>
                  <a:srgbClr val="FBFBFC"/>
                </a:solidFill>
                <a:latin typeface="Open Sans"/>
                <a:ea typeface="Open Sans"/>
                <a:cs typeface="Open Sans"/>
              </a:rPr>
              <a:t>trong bối cảnh nghiên cứu MB</a:t>
            </a:r>
          </a:p>
        </p:txBody>
      </p:sp>
      <p:sp>
        <p:nvSpPr>
          <p:cNvPr id="8" name="">
            <a:extLst xmlns:a="http://schemas.openxmlformats.org/drawingml/2006/main">
              <a:ext uri="{FF2B5EF4-FFF2-40B4-BE49-F238E27FC236}">
                <a16:creationId xmlns:a16="http://schemas.microsoft.com/office/drawing/2014/main" id="{41B3E1BB-B571-4156-AA7E-2055066100EB}"/>
              </a:ext>
            </a:extLst>
          </p:cNvPr>
          <p:cNvSpPr>
            <a:spLocks xmlns:a="http://schemas.openxmlformats.org/drawingml/2006/main" noGrp="1"/>
          </p:cNvSpPr>
          <p:nvPr/>
        </p:nvSpPr>
        <p:spPr>
          <a:xfrm xmlns:a="http://schemas.openxmlformats.org/drawingml/2006/main">
            <a:off x="2071688" y="6972300"/>
            <a:ext cx="14144625" cy="28575"/>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B041B1-9455-466F-B521-2FDCF02A45B2}"/>
              </a:ext>
            </a:extLst>
          </p:cNvPr>
          <p:cNvSpPr>
            <a:spLocks xmlns:a="http://schemas.openxmlformats.org/drawingml/2006/main" noGrp="1"/>
          </p:cNvSpPr>
          <p:nvPr/>
        </p:nvSpPr>
        <p:spPr>
          <a:xfrm xmlns:a="http://schemas.openxmlformats.org/drawingml/2006/main">
            <a:off x="1571625" y="7215188"/>
            <a:ext cx="1514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FBFBFC"/>
                </a:solidFill>
                <a:latin typeface="Open Sans"/>
                <a:ea typeface="Open Sans"/>
                <a:cs typeface="Open Sans"/>
              </a:defRPr>
            </a:pPr>
            <a:r>
              <a:rPr sz="1350" b="0">
                <a:solidFill>
                  <a:srgbClr val="FBFBFC"/>
                </a:solidFill>
                <a:latin typeface="Open Sans"/>
                <a:ea typeface="Open Sans"/>
                <a:cs typeface="Open Sans"/>
              </a:rPr>
              <a:t>Giảng viên: [Bổ sung]   Nhóm: [Bổ sung]   Lớp: [Bổ sung]</a:t>
            </a:r>
          </a:p>
        </p:txBody>
      </p:sp>
      <p:sp>
        <p:nvSpPr>
          <p:cNvPr id="10" name="">
            <a:extLst xmlns:a="http://schemas.openxmlformats.org/drawingml/2006/main">
              <a:ext uri="{FF2B5EF4-FFF2-40B4-BE49-F238E27FC236}">
                <a16:creationId xmlns:a16="http://schemas.microsoft.com/office/drawing/2014/main" id="{A3186532-CF72-4BE6-ABEA-FF588BB17194}"/>
              </a:ext>
            </a:extLst>
          </p:cNvPr>
          <p:cNvSpPr>
            <a:spLocks xmlns:a="http://schemas.openxmlformats.org/drawingml/2006/main" noGrp="1"/>
          </p:cNvSpPr>
          <p:nvPr/>
        </p:nvSpPr>
        <p:spPr>
          <a:xfrm xmlns:a="http://schemas.openxmlformats.org/drawingml/2006/main">
            <a:off x="857250" y="8686800"/>
            <a:ext cx="1657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00" b="1">
                <a:solidFill>
                  <a:srgbClr val="C0504D"/>
                </a:solidFill>
                <a:latin typeface="Open Sans"/>
                <a:ea typeface="Open Sans"/>
                <a:cs typeface="Open Sans"/>
              </a:defRPr>
            </a:pPr>
            <a:r>
              <a:rPr sz="1200" b="1">
                <a:solidFill>
                  <a:srgbClr val="C0504D"/>
                </a:solidFill>
                <a:latin typeface="Open Sans"/>
                <a:ea typeface="Open Sans"/>
                <a:cs typeface="Open Sans"/>
              </a:rPr>
              <a:t>Dữ liệu tổng hợp • Không kết nối ngân hàng • Không chặn giao dịch thật</a:t>
            </a:r>
          </a:p>
        </p:txBody>
      </p:sp>
      <p:sp>
        <p:nvSpPr>
          <p:cNvPr id="11" name="">
            <a:extLst xmlns:a="http://schemas.openxmlformats.org/drawingml/2006/main">
              <a:ext uri="{FF2B5EF4-FFF2-40B4-BE49-F238E27FC236}">
                <a16:creationId xmlns:a16="http://schemas.microsoft.com/office/drawing/2014/main" id="{622213B5-C1EE-4324-B6F4-67B751EC7DE4}"/>
              </a:ext>
            </a:extLst>
          </p:cNvPr>
          <p:cNvSpPr>
            <a:spLocks xmlns:a="http://schemas.openxmlformats.org/drawingml/2006/main" noGrp="1"/>
          </p:cNvSpPr>
          <p:nvPr/>
        </p:nvSpPr>
        <p:spPr>
          <a:xfrm xmlns:a="http://schemas.openxmlformats.org/drawingml/2006/main">
            <a:off x="857250" y="9515475"/>
            <a:ext cx="16573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050" b="0">
                <a:solidFill>
                  <a:srgbClr val="667085"/>
                </a:solidFill>
                <a:latin typeface="Open Sans"/>
                <a:ea typeface="Open Sans"/>
                <a:cs typeface="Open Sans"/>
              </a:defRPr>
            </a:pPr>
            <a:r>
              <a:rPr sz="1050" b="0">
                <a:solidFill>
                  <a:srgbClr val="667085"/>
                </a:solidFill>
                <a:latin typeface="Open Sans"/>
                <a:ea typeface="Open Sans"/>
                <a:cs typeface="Open Sans"/>
              </a:rPr>
              <a:t>HÀ NỘI – 2026</a:t>
            </a:r>
          </a:p>
        </p:txBody>
      </p:sp>
    </p:spTree>
    <p:extLst>
      <p:ext uri="{BB962C8B-B14F-4D97-AF65-F5344CB8AC3E}">
        <p14:creationId xmlns:p14="http://schemas.microsoft.com/office/powerpoint/2010/main" val="176654256"/>
      </p:ext>
    </p:extLst>
  </p:cSld>
</p:sld>
</file>

<file path=ppt/slides/slide2.xml><?xml version="1.0" encoding="utf-8"?>
<p:sld xmlns:a="http://schemas.openxmlformats.org/drawingml/2006/main" xmlns:a16="http://schemas.microsoft.com/office/drawing/2014/main" xmlns:p14="http://schemas.microsoft.com/office/powerpoint/2010/main" xmlns:p="http://schemas.openxmlformats.org/presentationml/2006/main">
  <p:cSld name="Câu hỏi nghiên cứu và phạm vi">
    <p:bg>
      <p:bgPr>
        <a:solidFill xmlns:a="http://schemas.openxmlformats.org/drawingml/2006/main">
          <a:srgbClr val="282A7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46D9D23-6A9F-443C-8BE2-8AFB26D94BE6}"/>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23C673EA-2C40-4690-9F46-82BAB1C7A956}"/>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E25D0852-C1ED-48A7-9CDC-573C05565443}"/>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499575-DD34-4D67-8E2D-EC1C015FB91C}"/>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MỤC TIÊU</a:t>
            </a:r>
          </a:p>
        </p:txBody>
      </p:sp>
      <p:sp>
        <p:nvSpPr>
          <p:cNvPr id="5" name="">
            <a:extLst xmlns:a="http://schemas.openxmlformats.org/drawingml/2006/main">
              <a:ext uri="{FF2B5EF4-FFF2-40B4-BE49-F238E27FC236}">
                <a16:creationId xmlns:a16="http://schemas.microsoft.com/office/drawing/2014/main" id="{5B8D5366-30AE-4613-94AC-832C1AB47323}"/>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Câu hỏi nghiên cứu và tiêu chí thành công</a:t>
            </a:r>
          </a:p>
        </p:txBody>
      </p:sp>
      <p:sp>
        <p:nvSpPr>
          <p:cNvPr id="6" name="">
            <a:extLst xmlns:a="http://schemas.openxmlformats.org/drawingml/2006/main">
              <a:ext uri="{FF2B5EF4-FFF2-40B4-BE49-F238E27FC236}">
                <a16:creationId xmlns:a16="http://schemas.microsoft.com/office/drawing/2014/main" id="{EC74A990-97A1-4208-AFC5-BC39F3CCDB09}"/>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9A3944-4755-4F2A-A132-3DC9A2C15596}"/>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830FA256-EA54-4A4B-9158-AEC2348D8D51}"/>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63AB952D-57DF-4372-AD4F-2880068BCE24}"/>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2</a:t>
            </a:r>
          </a:p>
        </p:txBody>
      </p:sp>
      <p:sp>
        <p:nvSpPr>
          <p:cNvPr id="10" name="">
            <a:extLst xmlns:a="http://schemas.openxmlformats.org/drawingml/2006/main">
              <a:ext uri="{FF2B5EF4-FFF2-40B4-BE49-F238E27FC236}">
                <a16:creationId xmlns:a16="http://schemas.microsoft.com/office/drawing/2014/main" id="{3F063317-5DCC-42F1-AAD7-46962ACCF73C}"/>
              </a:ext>
            </a:extLst>
          </p:cNvPr>
          <p:cNvSpPr>
            <a:spLocks xmlns:a="http://schemas.openxmlformats.org/drawingml/2006/main" noGrp="1"/>
          </p:cNvSpPr>
          <p:nvPr/>
        </p:nvSpPr>
        <p:spPr>
          <a:xfrm xmlns:a="http://schemas.openxmlformats.org/drawingml/2006/main">
            <a:off x="1114425" y="2143125"/>
            <a:ext cx="37147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00" b="1">
                <a:solidFill>
                  <a:srgbClr val="4F81BD"/>
                </a:solidFill>
                <a:latin typeface="Open Sans"/>
                <a:ea typeface="Open Sans"/>
                <a:cs typeface="Open Sans"/>
              </a:defRPr>
            </a:pPr>
            <a:r>
              <a:rPr sz="1500" b="1">
                <a:solidFill>
                  <a:srgbClr val="4F81BD"/>
                </a:solidFill>
                <a:latin typeface="Open Sans"/>
                <a:ea typeface="Open Sans"/>
                <a:cs typeface="Open Sans"/>
              </a:rPr>
              <a:t>Câu hỏi</a:t>
            </a:r>
          </a:p>
        </p:txBody>
      </p:sp>
      <p:sp>
        <p:nvSpPr>
          <p:cNvPr id="11" name="">
            <a:extLst xmlns:a="http://schemas.openxmlformats.org/drawingml/2006/main">
              <a:ext uri="{FF2B5EF4-FFF2-40B4-BE49-F238E27FC236}">
                <a16:creationId xmlns:a16="http://schemas.microsoft.com/office/drawing/2014/main" id="{428FE63F-A8D4-44AF-942B-1DB28B4742E6}"/>
              </a:ext>
            </a:extLst>
          </p:cNvPr>
          <p:cNvSpPr>
            <a:spLocks xmlns:a="http://schemas.openxmlformats.org/drawingml/2006/main" noGrp="1"/>
          </p:cNvSpPr>
          <p:nvPr/>
        </p:nvSpPr>
        <p:spPr>
          <a:xfrm xmlns:a="http://schemas.openxmlformats.org/drawingml/2006/main">
            <a:off x="1114425" y="2743200"/>
            <a:ext cx="15001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400" b="1">
                <a:solidFill>
                  <a:srgbClr val="282A75"/>
                </a:solidFill>
                <a:latin typeface="Open Sans"/>
                <a:ea typeface="Open Sans"/>
                <a:cs typeface="Open Sans"/>
              </a:defRPr>
            </a:pPr>
            <a:r>
              <a:rPr sz="2400" b="1">
                <a:solidFill>
                  <a:srgbClr val="282A75"/>
                </a:solidFill>
                <a:latin typeface="Open Sans"/>
                <a:ea typeface="Open Sans"/>
                <a:cs typeface="Open Sans"/>
              </a:rPr>
              <a:t>PoC học máy có thể xếp hạng giao dịch tổng hợp để ưu tiên kiểm tra như thế nào so với baseline đơn giản?</a:t>
            </a:r>
          </a:p>
        </p:txBody>
      </p:sp>
      <p:sp>
        <p:nvSpPr>
          <p:cNvPr id="12" name="">
            <a:extLst xmlns:a="http://schemas.openxmlformats.org/drawingml/2006/main">
              <a:ext uri="{FF2B5EF4-FFF2-40B4-BE49-F238E27FC236}">
                <a16:creationId xmlns:a16="http://schemas.microsoft.com/office/drawing/2014/main" id="{C6137E60-2741-4CC1-91A6-6367B4330858}"/>
              </a:ext>
            </a:extLst>
          </p:cNvPr>
          <p:cNvSpPr>
            <a:spLocks xmlns:a="http://schemas.openxmlformats.org/drawingml/2006/main" noGrp="1"/>
          </p:cNvSpPr>
          <p:nvPr/>
        </p:nvSpPr>
        <p:spPr>
          <a:xfrm xmlns:a="http://schemas.openxmlformats.org/drawingml/2006/main">
            <a:off x="1114425" y="4514850"/>
            <a:ext cx="7429500" cy="3429000"/>
          </a:xfrm>
          <a:prstGeom xmlns:a="http://schemas.openxmlformats.org/drawingml/2006/main" prst="roundRect">
            <a:avLst>
              <a:gd name="adj" fmla="val 2222"/>
            </a:avLst>
          </a:prstGeom>
          <a:solidFill xmlns:a="http://schemas.openxmlformats.org/drawingml/2006/main">
            <a:srgbClr val="F1F3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090108-1E03-4169-9B7F-576396B21530}"/>
              </a:ext>
            </a:extLst>
          </p:cNvPr>
          <p:cNvSpPr>
            <a:spLocks xmlns:a="http://schemas.openxmlformats.org/drawingml/2006/main" noGrp="1"/>
          </p:cNvSpPr>
          <p:nvPr/>
        </p:nvSpPr>
        <p:spPr>
          <a:xfrm xmlns:a="http://schemas.openxmlformats.org/drawingml/2006/main">
            <a:off x="1457325" y="4772025"/>
            <a:ext cx="642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4F81BD"/>
                </a:solidFill>
                <a:latin typeface="Open Sans"/>
                <a:ea typeface="Open Sans"/>
                <a:cs typeface="Open Sans"/>
              </a:defRPr>
            </a:pPr>
            <a:r>
              <a:rPr sz="1650" b="1">
                <a:solidFill>
                  <a:srgbClr val="4F81BD"/>
                </a:solidFill>
                <a:latin typeface="Open Sans"/>
                <a:ea typeface="Open Sans"/>
                <a:cs typeface="Open Sans"/>
              </a:rPr>
              <a:t>Trong phạm vi</a:t>
            </a:r>
          </a:p>
        </p:txBody>
      </p:sp>
      <p:sp>
        <p:nvSpPr>
          <p:cNvPr id="14" name="">
            <a:extLst xmlns:a="http://schemas.openxmlformats.org/drawingml/2006/main">
              <a:ext uri="{FF2B5EF4-FFF2-40B4-BE49-F238E27FC236}">
                <a16:creationId xmlns:a16="http://schemas.microsoft.com/office/drawing/2014/main" id="{7535AB7A-8472-4C6F-973D-0D294FEADCAE}"/>
              </a:ext>
            </a:extLst>
          </p:cNvPr>
          <p:cNvSpPr>
            <a:spLocks xmlns:a="http://schemas.openxmlformats.org/drawingml/2006/main" noGrp="1"/>
          </p:cNvSpPr>
          <p:nvPr/>
        </p:nvSpPr>
        <p:spPr>
          <a:xfrm xmlns:a="http://schemas.openxmlformats.org/drawingml/2006/main">
            <a:off x="1371600" y="5314950"/>
            <a:ext cx="6786563"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25.000 giao dịch tổng hợp</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XGBoost, rule baseline và baseline luôn âm</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Threshold chọn trên validation</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Điểm số gợi ý, không thực thi giao dịch</a:t>
            </a:r>
          </a:p>
        </p:txBody>
      </p:sp>
      <p:sp>
        <p:nvSpPr>
          <p:cNvPr id="15" name="">
            <a:extLst xmlns:a="http://schemas.openxmlformats.org/drawingml/2006/main">
              <a:ext uri="{FF2B5EF4-FFF2-40B4-BE49-F238E27FC236}">
                <a16:creationId xmlns:a16="http://schemas.microsoft.com/office/drawing/2014/main" id="{F44D3B38-1E29-4BF4-8589-77947C4FCA99}"/>
              </a:ext>
            </a:extLst>
          </p:cNvPr>
          <p:cNvSpPr>
            <a:spLocks xmlns:a="http://schemas.openxmlformats.org/drawingml/2006/main" noGrp="1"/>
          </p:cNvSpPr>
          <p:nvPr/>
        </p:nvSpPr>
        <p:spPr>
          <a:xfrm xmlns:a="http://schemas.openxmlformats.org/drawingml/2006/main">
            <a:off x="9144000" y="4514850"/>
            <a:ext cx="8072438" cy="3429000"/>
          </a:xfrm>
          <a:prstGeom xmlns:a="http://schemas.openxmlformats.org/drawingml/2006/main" prst="roundRect">
            <a:avLst>
              <a:gd name="adj" fmla="val 2222"/>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F1CD0C-2C0C-4AE9-80A2-562C809B09D0}"/>
              </a:ext>
            </a:extLst>
          </p:cNvPr>
          <p:cNvSpPr>
            <a:spLocks xmlns:a="http://schemas.openxmlformats.org/drawingml/2006/main" noGrp="1"/>
          </p:cNvSpPr>
          <p:nvPr/>
        </p:nvSpPr>
        <p:spPr>
          <a:xfrm xmlns:a="http://schemas.openxmlformats.org/drawingml/2006/main">
            <a:off x="9515475" y="4772025"/>
            <a:ext cx="671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FAA61A"/>
                </a:solidFill>
                <a:latin typeface="Open Sans"/>
                <a:ea typeface="Open Sans"/>
                <a:cs typeface="Open Sans"/>
              </a:defRPr>
            </a:pPr>
            <a:r>
              <a:rPr sz="1650" b="1">
                <a:solidFill>
                  <a:srgbClr val="FAA61A"/>
                </a:solidFill>
                <a:latin typeface="Open Sans"/>
                <a:ea typeface="Open Sans"/>
                <a:cs typeface="Open Sans"/>
              </a:rPr>
              <a:t>Không kết luận</a:t>
            </a:r>
          </a:p>
        </p:txBody>
      </p:sp>
      <p:sp>
        <p:nvSpPr>
          <p:cNvPr id="17" name="">
            <a:extLst xmlns:a="http://schemas.openxmlformats.org/drawingml/2006/main">
              <a:ext uri="{FF2B5EF4-FFF2-40B4-BE49-F238E27FC236}">
                <a16:creationId xmlns:a16="http://schemas.microsoft.com/office/drawing/2014/main" id="{C9066FB8-0F47-4869-860C-4E74E0BAD5E9}"/>
              </a:ext>
            </a:extLst>
          </p:cNvPr>
          <p:cNvSpPr>
            <a:spLocks xmlns:a="http://schemas.openxmlformats.org/drawingml/2006/main" noGrp="1"/>
          </p:cNvSpPr>
          <p:nvPr/>
        </p:nvSpPr>
        <p:spPr>
          <a:xfrm xmlns:a="http://schemas.openxmlformats.org/drawingml/2006/main">
            <a:off x="9344025" y="5314950"/>
            <a:ext cx="7429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Không có dữ liệu nội bộ MB</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Không đo hiệu quả nghiệp vụ thật</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Không tích hợp Kafka/Core Banking</a:t>
            </a:r>
          </a:p>
          <a:p xmlns:a="http://schemas.openxmlformats.org/drawingml/2006/main">
            <a:pPr marL="254000" indent="-114300">
              <a:lnSpc>
                <a:spcPct val="110000"/>
              </a:lnSpc>
              <a:spcAft>
                <a:spcPts val="1000"/>
              </a:spcAft>
              <a:buNone/>
              <a:defRPr sz="1575">
                <a:solidFill>
                  <a:srgbClr val="1C334E"/>
                </a:solidFill>
                <a:latin typeface="Open Sans"/>
                <a:ea typeface="Open Sans"/>
                <a:cs typeface="Open Sans"/>
              </a:defRPr>
            </a:pPr>
            <a:r>
              <a:rPr sz="1575">
                <a:solidFill>
                  <a:srgbClr val="1C334E"/>
                </a:solidFill>
                <a:latin typeface="Open Sans"/>
                <a:ea typeface="Open Sans"/>
                <a:cs typeface="Open Sans"/>
              </a:rPr>
              <a:t>Không tự động giữ hoặc chặn tiền</a:t>
            </a:r>
          </a:p>
        </p:txBody>
      </p:sp>
      <p:sp>
        <p:nvSpPr>
          <p:cNvPr id="18" name="">
            <a:extLst xmlns:a="http://schemas.openxmlformats.org/drawingml/2006/main">
              <a:ext uri="{FF2B5EF4-FFF2-40B4-BE49-F238E27FC236}">
                <a16:creationId xmlns:a16="http://schemas.microsoft.com/office/drawing/2014/main" id="{F41599E0-4ED2-4B0F-919F-B6E649C2555C}"/>
              </a:ext>
            </a:extLst>
          </p:cNvPr>
          <p:cNvSpPr>
            <a:spLocks xmlns:a="http://schemas.openxmlformats.org/drawingml/2006/main" noGrp="1"/>
          </p:cNvSpPr>
          <p:nvPr/>
        </p:nvSpPr>
        <p:spPr>
          <a:xfrm xmlns:a="http://schemas.openxmlformats.org/drawingml/2006/main">
            <a:off x="1114425" y="8458200"/>
            <a:ext cx="1571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9BBB59"/>
                </a:solidFill>
                <a:latin typeface="Open Sans"/>
                <a:ea typeface="Open Sans"/>
                <a:cs typeface="Open Sans"/>
              </a:defRPr>
            </a:pPr>
            <a:r>
              <a:rPr sz="1575" b="1">
                <a:solidFill>
                  <a:srgbClr val="9BBB59"/>
                </a:solidFill>
                <a:latin typeface="Open Sans"/>
                <a:ea typeface="Open Sans"/>
                <a:cs typeface="Open Sans"/>
              </a:rPr>
              <a:t>Thành công = pipeline tái lập + đánh giá đúng protocol + giới hạn công bố rõ</a:t>
            </a:r>
          </a:p>
        </p:txBody>
      </p:sp>
      <p:sp>
        <p:nvSpPr>
          <p:cNvPr id="19" name="">
            <a:extLst xmlns:a="http://schemas.openxmlformats.org/drawingml/2006/main">
              <a:ext uri="{FF2B5EF4-FFF2-40B4-BE49-F238E27FC236}">
                <a16:creationId xmlns:a16="http://schemas.microsoft.com/office/drawing/2014/main" id="{398DA84B-2E0D-4BEE-B01E-D211D5969ADC}"/>
              </a:ext>
            </a:extLst>
          </p:cNvPr>
          <p:cNvSpPr>
            <a:spLocks xmlns:a="http://schemas.openxmlformats.org/drawingml/2006/main" noGrp="1"/>
          </p:cNvSpPr>
          <p:nvPr/>
        </p:nvSpPr>
        <p:spPr>
          <a:xfrm xmlns:a="http://schemas.openxmlformats.org/drawingml/2006/main">
            <a:off x="1114425" y="9029700"/>
            <a:ext cx="1571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0">
                <a:solidFill>
                  <a:srgbClr val="667085"/>
                </a:solidFill>
                <a:latin typeface="Open Sans"/>
                <a:ea typeface="Open Sans"/>
                <a:cs typeface="Open Sans"/>
              </a:defRPr>
            </a:pPr>
            <a:r>
              <a:rPr sz="1275" b="0">
                <a:solidFill>
                  <a:srgbClr val="667085"/>
                </a:solidFill>
                <a:latin typeface="Open Sans"/>
                <a:ea typeface="Open Sans"/>
                <a:cs typeface="Open Sans"/>
              </a:rPr>
              <a:t>Lộ trình: bối cảnh → nghiên cứu → nghiệp vụ → giải pháp → thực nghiệm → demo → kết luận</a:t>
            </a:r>
          </a:p>
        </p:txBody>
      </p:sp>
    </p:spTree>
    <p:extLst>
      <p:ext uri="{BB962C8B-B14F-4D97-AF65-F5344CB8AC3E}">
        <p14:creationId xmlns:p14="http://schemas.microsoft.com/office/powerpoint/2010/main" val="203016576"/>
      </p:ext>
    </p:extLst>
  </p:cSld>
</p:sld>
</file>

<file path=ppt/slides/slide3.xml><?xml version="1.0" encoding="utf-8"?>
<p:sld xmlns:a="http://schemas.openxmlformats.org/drawingml/2006/main" xmlns:a16="http://schemas.microsoft.com/office/drawing/2014/main" xmlns:p14="http://schemas.microsoft.com/office/powerpoint/2010/main" xmlns:p="http://schemas.openxmlformats.org/presentationml/2006/main">
  <p:cSld name="Bối cảnh và khoảng trống">
    <p:bg>
      <p:bgPr>
        <a:solidFill xmlns:a="http://schemas.openxmlformats.org/drawingml/2006/main">
          <a:srgbClr val="282A7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B804B16-BB24-4A39-8245-C7D1EFB6ACAA}"/>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72A848DC-837F-4081-AE22-933319C0BCF9}"/>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F5A61113-BFD8-4ACB-A8D8-5C7C85DCB572}"/>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8B46E6-8EC4-4BD4-AD93-6978B96E1C9D}"/>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NHU CẦU NGHIÊN CỨU</a:t>
            </a:r>
          </a:p>
        </p:txBody>
      </p:sp>
      <p:sp>
        <p:nvSpPr>
          <p:cNvPr id="5" name="">
            <a:extLst xmlns:a="http://schemas.openxmlformats.org/drawingml/2006/main">
              <a:ext uri="{FF2B5EF4-FFF2-40B4-BE49-F238E27FC236}">
                <a16:creationId xmlns:a16="http://schemas.microsoft.com/office/drawing/2014/main" id="{33FF1CFB-4E97-4B8E-8BF1-B7ABFCA1925E}"/>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Bối cảnh và khoảng trống nghiên cứu</a:t>
            </a:r>
          </a:p>
        </p:txBody>
      </p:sp>
      <p:sp>
        <p:nvSpPr>
          <p:cNvPr id="6" name="">
            <a:extLst xmlns:a="http://schemas.openxmlformats.org/drawingml/2006/main">
              <a:ext uri="{FF2B5EF4-FFF2-40B4-BE49-F238E27FC236}">
                <a16:creationId xmlns:a16="http://schemas.microsoft.com/office/drawing/2014/main" id="{6D37BBA9-CFBF-4A5D-AC12-0EC7A31273D7}"/>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CA9DA5-CB51-4C35-872A-335451889770}"/>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301EE03F-30B8-4C99-86D7-87A9581B37C9}"/>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F301472F-937A-48F2-92D7-37FDF6D25984}"/>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3</a:t>
            </a:r>
          </a:p>
        </p:txBody>
      </p:sp>
      <p:sp>
        <p:nvSpPr>
          <p:cNvPr id="10" name="">
            <a:extLst xmlns:a="http://schemas.openxmlformats.org/drawingml/2006/main">
              <a:ext uri="{FF2B5EF4-FFF2-40B4-BE49-F238E27FC236}">
                <a16:creationId xmlns:a16="http://schemas.microsoft.com/office/drawing/2014/main" id="{F8DEEB0A-CF88-4A66-8E0E-B6A291C96093}"/>
              </a:ext>
            </a:extLst>
          </p:cNvPr>
          <p:cNvSpPr>
            <a:spLocks xmlns:a="http://schemas.openxmlformats.org/drawingml/2006/main" noGrp="1"/>
          </p:cNvSpPr>
          <p:nvPr/>
        </p:nvSpPr>
        <p:spPr>
          <a:xfrm xmlns:a="http://schemas.openxmlformats.org/drawingml/2006/main">
            <a:off x="1257300" y="2428875"/>
            <a:ext cx="642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4650" b="1">
                <a:solidFill>
                  <a:srgbClr val="282A75"/>
                </a:solidFill>
                <a:latin typeface="Open Sans"/>
                <a:ea typeface="Open Sans"/>
                <a:cs typeface="Open Sans"/>
              </a:defRPr>
            </a:pPr>
            <a:r>
              <a:rPr sz="4650" b="1">
                <a:solidFill>
                  <a:srgbClr val="282A75"/>
                </a:solidFill>
                <a:latin typeface="Open Sans"/>
                <a:ea typeface="Open Sans"/>
                <a:cs typeface="Open Sans"/>
              </a:rPr>
              <a:t>&gt;220.000</a:t>
            </a:r>
          </a:p>
        </p:txBody>
      </p:sp>
      <p:sp>
        <p:nvSpPr>
          <p:cNvPr id="11" name="">
            <a:extLst xmlns:a="http://schemas.openxmlformats.org/drawingml/2006/main">
              <a:ext uri="{FF2B5EF4-FFF2-40B4-BE49-F238E27FC236}">
                <a16:creationId xmlns:a16="http://schemas.microsoft.com/office/drawing/2014/main" id="{451EB09E-F175-453C-98ED-93FE5A94D424}"/>
              </a:ext>
            </a:extLst>
          </p:cNvPr>
          <p:cNvSpPr>
            <a:spLocks xmlns:a="http://schemas.openxmlformats.org/drawingml/2006/main" noGrp="1"/>
          </p:cNvSpPr>
          <p:nvPr/>
        </p:nvSpPr>
        <p:spPr>
          <a:xfrm xmlns:a="http://schemas.openxmlformats.org/drawingml/2006/main">
            <a:off x="1285875" y="3857625"/>
            <a:ext cx="714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025" b="1">
                <a:solidFill>
                  <a:srgbClr val="1C334E"/>
                </a:solidFill>
                <a:latin typeface="Open Sans"/>
                <a:ea typeface="Open Sans"/>
                <a:cs typeface="Open Sans"/>
              </a:defRPr>
            </a:pPr>
            <a:r>
              <a:rPr sz="2025" b="1">
                <a:solidFill>
                  <a:srgbClr val="1C334E"/>
                </a:solidFill>
                <a:latin typeface="Open Sans"/>
                <a:ea typeface="Open Sans"/>
                <a:cs typeface="Open Sans"/>
              </a:rPr>
              <a:t>báo cáo lừa đảo trực tuyến trong 10 tháng đầu năm 2024</a:t>
            </a:r>
          </a:p>
        </p:txBody>
      </p:sp>
      <p:sp>
        <p:nvSpPr>
          <p:cNvPr id="12" name="">
            <a:extLst xmlns:a="http://schemas.openxmlformats.org/drawingml/2006/main">
              <a:ext uri="{FF2B5EF4-FFF2-40B4-BE49-F238E27FC236}">
                <a16:creationId xmlns:a16="http://schemas.microsoft.com/office/drawing/2014/main" id="{134AFF65-04AF-4686-8A7E-5690DE7BE506}"/>
              </a:ext>
            </a:extLst>
          </p:cNvPr>
          <p:cNvSpPr>
            <a:spLocks xmlns:a="http://schemas.openxmlformats.org/drawingml/2006/main" noGrp="1"/>
          </p:cNvSpPr>
          <p:nvPr/>
        </p:nvSpPr>
        <p:spPr>
          <a:xfrm xmlns:a="http://schemas.openxmlformats.org/drawingml/2006/main">
            <a:off x="9144000" y="2357438"/>
            <a:ext cx="28575" cy="5572125"/>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90B6754-8D46-4F73-9F46-3C24E29B257A}"/>
              </a:ext>
            </a:extLst>
          </p:cNvPr>
          <p:cNvSpPr>
            <a:spLocks xmlns:a="http://schemas.openxmlformats.org/drawingml/2006/main" noGrp="1"/>
          </p:cNvSpPr>
          <p:nvPr/>
        </p:nvSpPr>
        <p:spPr>
          <a:xfrm xmlns:a="http://schemas.openxmlformats.org/drawingml/2006/main">
            <a:off x="9858375" y="2500313"/>
            <a:ext cx="7215188" cy="500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650">
                <a:solidFill>
                  <a:srgbClr val="1C334E"/>
                </a:solidFill>
                <a:latin typeface="Open Sans"/>
                <a:ea typeface="Open Sans"/>
                <a:cs typeface="Open Sans"/>
              </a:defRPr>
            </a:pPr>
            <a:r>
              <a:rPr sz="1650">
                <a:solidFill>
                  <a:srgbClr val="1C334E"/>
                </a:solidFill>
                <a:latin typeface="Open Sans"/>
                <a:ea typeface="Open Sans"/>
                <a:cs typeface="Open Sans"/>
              </a:rPr>
              <a:t>Báo cáo người dùng, không phải giao dịch gian lận đã xác nhận</a:t>
            </a:r>
          </a:p>
          <a:p xmlns:a="http://schemas.openxmlformats.org/drawingml/2006/main">
            <a:pPr marL="254000" indent="-114300">
              <a:lnSpc>
                <a:spcPct val="110000"/>
              </a:lnSpc>
              <a:spcAft>
                <a:spcPts val="1000"/>
              </a:spcAft>
              <a:buNone/>
              <a:defRPr sz="1650">
                <a:solidFill>
                  <a:srgbClr val="1C334E"/>
                </a:solidFill>
                <a:latin typeface="Open Sans"/>
                <a:ea typeface="Open Sans"/>
                <a:cs typeface="Open Sans"/>
              </a:defRPr>
            </a:pPr>
            <a:r>
              <a:rPr sz="1650">
                <a:solidFill>
                  <a:srgbClr val="1C334E"/>
                </a:solidFill>
                <a:latin typeface="Open Sans"/>
                <a:ea typeface="Open Sans"/>
                <a:cs typeface="Open Sans"/>
              </a:rPr>
              <a:t>Số liệu cấp quốc gia, không riêng MB</a:t>
            </a:r>
          </a:p>
          <a:p xmlns:a="http://schemas.openxmlformats.org/drawingml/2006/main">
            <a:pPr marL="254000" indent="-114300">
              <a:lnSpc>
                <a:spcPct val="110000"/>
              </a:lnSpc>
              <a:spcAft>
                <a:spcPts val="1000"/>
              </a:spcAft>
              <a:buNone/>
              <a:defRPr sz="1650">
                <a:solidFill>
                  <a:srgbClr val="1C334E"/>
                </a:solidFill>
                <a:latin typeface="Open Sans"/>
                <a:ea typeface="Open Sans"/>
                <a:cs typeface="Open Sans"/>
              </a:defRPr>
            </a:pPr>
            <a:r>
              <a:rPr sz="1650">
                <a:solidFill>
                  <a:srgbClr val="1C334E"/>
                </a:solidFill>
                <a:latin typeface="Open Sans"/>
                <a:ea typeface="Open Sans"/>
                <a:cs typeface="Open Sans"/>
              </a:rPr>
              <a:t>Nguồn NHNN đề cập nhóm tín hiệu như thời gian, vị trí, tần suất, số tiền và đăng nhập sai</a:t>
            </a:r>
          </a:p>
          <a:p xmlns:a="http://schemas.openxmlformats.org/drawingml/2006/main">
            <a:pPr marL="254000" indent="-114300">
              <a:lnSpc>
                <a:spcPct val="110000"/>
              </a:lnSpc>
              <a:spcAft>
                <a:spcPts val="1000"/>
              </a:spcAft>
              <a:buNone/>
              <a:defRPr sz="1650">
                <a:solidFill>
                  <a:srgbClr val="1C334E"/>
                </a:solidFill>
                <a:latin typeface="Open Sans"/>
                <a:ea typeface="Open Sans"/>
                <a:cs typeface="Open Sans"/>
              </a:defRPr>
            </a:pPr>
            <a:r>
              <a:rPr sz="1650">
                <a:solidFill>
                  <a:srgbClr val="1C334E"/>
                </a:solidFill>
                <a:latin typeface="Open Sans"/>
                <a:ea typeface="Open Sans"/>
                <a:cs typeface="Open Sans"/>
              </a:rPr>
              <a:t>Dữ liệu PoC không lấy từ các nguồn này</a:t>
            </a:r>
          </a:p>
        </p:txBody>
      </p:sp>
      <p:sp>
        <p:nvSpPr>
          <p:cNvPr id="14" name="">
            <a:extLst xmlns:a="http://schemas.openxmlformats.org/drawingml/2006/main">
              <a:ext uri="{FF2B5EF4-FFF2-40B4-BE49-F238E27FC236}">
                <a16:creationId xmlns:a16="http://schemas.microsoft.com/office/drawing/2014/main" id="{6A27A8FF-3093-46FF-9F9C-E5D2FC478A4F}"/>
              </a:ext>
            </a:extLst>
          </p:cNvPr>
          <p:cNvSpPr>
            <a:spLocks xmlns:a="http://schemas.openxmlformats.org/drawingml/2006/main" noGrp="1"/>
          </p:cNvSpPr>
          <p:nvPr/>
        </p:nvSpPr>
        <p:spPr>
          <a:xfrm xmlns:a="http://schemas.openxmlformats.org/drawingml/2006/main">
            <a:off x="1285875" y="8115300"/>
            <a:ext cx="15716250" cy="885825"/>
          </a:xfrm>
          <a:prstGeom xmlns:a="http://schemas.openxmlformats.org/drawingml/2006/main" prst="roundRect">
            <a:avLst>
              <a:gd name="adj" fmla="val 8602"/>
            </a:avLst>
          </a:prstGeom>
          <a:solidFill xmlns:a="http://schemas.openxmlformats.org/drawingml/2006/main">
            <a:srgbClr val="FCEB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5309B5-D0F3-4330-96AC-92032DF8469F}"/>
              </a:ext>
            </a:extLst>
          </p:cNvPr>
          <p:cNvSpPr>
            <a:spLocks xmlns:a="http://schemas.openxmlformats.org/drawingml/2006/main" noGrp="1"/>
          </p:cNvSpPr>
          <p:nvPr/>
        </p:nvSpPr>
        <p:spPr>
          <a:xfrm xmlns:a="http://schemas.openxmlformats.org/drawingml/2006/main">
            <a:off x="1543050" y="8272463"/>
            <a:ext cx="15144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C0504D"/>
                </a:solidFill>
                <a:latin typeface="Open Sans"/>
                <a:ea typeface="Open Sans"/>
                <a:cs typeface="Open Sans"/>
              </a:defRPr>
            </a:pPr>
            <a:r>
              <a:rPr sz="1575" b="1">
                <a:solidFill>
                  <a:srgbClr val="C0504D"/>
                </a:solidFill>
                <a:latin typeface="Open Sans"/>
                <a:ea typeface="Open Sans"/>
                <a:cs typeface="Open Sans"/>
              </a:rPr>
              <a:t>Không suy rộng số báo cáo thành tỷ lệ gian lận hay hiệu quả của mô hình tại MB.</a:t>
            </a:r>
          </a:p>
        </p:txBody>
      </p:sp>
      <p:sp>
        <p:nvSpPr>
          <p:cNvPr id="16" name="">
            <a:extLst xmlns:a="http://schemas.openxmlformats.org/drawingml/2006/main">
              <a:ext uri="{FF2B5EF4-FFF2-40B4-BE49-F238E27FC236}">
                <a16:creationId xmlns:a16="http://schemas.microsoft.com/office/drawing/2014/main" id="{EF6B03BA-03AD-4DBF-A6BB-8E4A584F8D85}"/>
              </a:ext>
            </a:extLst>
          </p:cNvPr>
          <p:cNvSpPr>
            <a:spLocks xmlns:a="http://schemas.openxmlformats.org/drawingml/2006/main" noGrp="1"/>
          </p:cNvSpPr>
          <p:nvPr/>
        </p:nvSpPr>
        <p:spPr>
          <a:xfrm xmlns:a="http://schemas.openxmlformats.org/drawingml/2006/main">
            <a:off x="1257300" y="9201150"/>
            <a:ext cx="1557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125" b="0">
                <a:solidFill>
                  <a:srgbClr val="667085"/>
                </a:solidFill>
                <a:latin typeface="Open Sans"/>
                <a:ea typeface="Open Sans"/>
                <a:cs typeface="Open Sans"/>
              </a:defRPr>
            </a:pPr>
            <a:r>
              <a:rPr sz="1125" b="0">
                <a:solidFill>
                  <a:srgbClr val="667085"/>
                </a:solidFill>
                <a:latin typeface="Open Sans"/>
                <a:ea typeface="Open Sans"/>
                <a:cs typeface="Open Sans"/>
              </a:rPr>
              <a:t>Nguồn: Bộ TT&amp;TT được dẫn lại trên cổng Bộ KH&amp;CN (2024); NHNN (n.d.)</a:t>
            </a:r>
          </a:p>
        </p:txBody>
      </p:sp>
    </p:spTree>
    <p:extLst>
      <p:ext uri="{BB962C8B-B14F-4D97-AF65-F5344CB8AC3E}">
        <p14:creationId xmlns:p14="http://schemas.microsoft.com/office/powerpoint/2010/main" val="1680521668"/>
      </p:ext>
    </p:extLst>
  </p:cSld>
</p:sld>
</file>

<file path=ppt/slides/slide4.xml><?xml version="1.0" encoding="utf-8"?>
<p:sld xmlns:a="http://schemas.openxmlformats.org/drawingml/2006/main" xmlns:a16="http://schemas.microsoft.com/office/drawing/2014/main" xmlns:p14="http://schemas.microsoft.com/office/powerpoint/2010/main" xmlns:p="http://schemas.openxmlformats.org/presentationml/2006/main">
  <p:cSld name="Nghiên cứu liên quan">
    <p:bg>
      <p:bgPr>
        <a:solidFill xmlns:a="http://schemas.openxmlformats.org/drawingml/2006/main">
          <a:srgbClr val="282A7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687F91-AAFA-476A-8CE7-5D1B371FC96F}"/>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8DDA8DD3-6AD1-481B-B2B9-C0BA538E5ED1}"/>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87F311FC-C7E8-4591-A5A9-7257C7563568}"/>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94946E-376D-46D0-8C61-8BE2DA759899}"/>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TỔNG QUAN NGHIÊN CỨU</a:t>
            </a:r>
          </a:p>
        </p:txBody>
      </p:sp>
      <p:sp>
        <p:nvSpPr>
          <p:cNvPr id="5" name="">
            <a:extLst xmlns:a="http://schemas.openxmlformats.org/drawingml/2006/main">
              <a:ext uri="{FF2B5EF4-FFF2-40B4-BE49-F238E27FC236}">
                <a16:creationId xmlns:a16="http://schemas.microsoft.com/office/drawing/2014/main" id="{D14EC1BB-6355-4370-90A3-2B3C68645165}"/>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Nghiên cứu liên quan và bài học áp dụng</a:t>
            </a:r>
          </a:p>
        </p:txBody>
      </p:sp>
      <p:sp>
        <p:nvSpPr>
          <p:cNvPr id="6" name="">
            <a:extLst xmlns:a="http://schemas.openxmlformats.org/drawingml/2006/main">
              <a:ext uri="{FF2B5EF4-FFF2-40B4-BE49-F238E27FC236}">
                <a16:creationId xmlns:a16="http://schemas.microsoft.com/office/drawing/2014/main" id="{4827C5EB-834B-4D6C-8584-CC12BCC4E887}"/>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5361A2-1063-4B26-8181-7D29D284A516}"/>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B8179ED4-E284-4650-95F3-5070B639E33B}"/>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F9DC3914-278B-4C31-B33A-0064A37E531D}"/>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4</a:t>
            </a:r>
          </a:p>
        </p:txBody>
      </p:sp>
      <p:graphicFrame>
        <p:nvGraphicFramePr>
          <p:cNvPr id="23" name=""/>
          <p:cNvGraphicFramePr/>
          <p:nvPr/>
        </p:nvGraphicFramePr>
        <p:xfrm>
          <a:off xmlns:a="http://schemas.openxmlformats.org/drawingml/2006/main" x="1085850" y="2243138"/>
          <a:ext xmlns:a="http://schemas.openxmlformats.org/drawingml/2006/main" cx="16116300" cy="4914900"/>
        </p:xfrm>
        <a:graphic xmlns:a="http://schemas.openxmlformats.org/drawingml/2006/main">
          <a:graphicData uri="http://schemas.openxmlformats.org/drawingml/2006/table">
            <a:tbl>
              <a:tblPr firstRow="1" bandRow="1"/>
              <a:tblGrid>
                <a:gridCol w="4071938"/>
                <a:gridCol w="6286500"/>
                <a:gridCol w="5757863"/>
              </a:tblGrid>
              <a:tr h="1228725">
                <a:tc>
                  <a:txBody>
                    <a:bodyPr>
                      <a:normAutofit/>
                    </a:bodyPr>
                    <a:lstStyle/>
                    <a:p>
                      <a:pPr algn="ctr"/>
                      <a:r>
                        <a:rPr sz="1350" b="1">
                          <a:solidFill>
                            <a:srgbClr val="FBFBFC"/>
                          </a:solidFill>
                          <a:latin typeface="Montserrat Bold"/>
                          <a:ea typeface="Montserrat Bold"/>
                          <a:cs typeface="Montserrat Bold"/>
                        </a:rPr>
                        <a:t>Nguồn / trường hợp</a:t>
                      </a:r>
                    </a:p>
                  </a:txBody>
                  <a:tcPr marL="91440" marR="91440" marT="45720" marB="45720" anchor="ctr">
                    <a:solidFill>
                      <a:srgbClr val="282A75"/>
                    </a:solidFill>
                  </a:tcPr>
                </a:tc>
                <a:tc>
                  <a:txBody>
                    <a:bodyPr>
                      <a:normAutofit/>
                    </a:bodyPr>
                    <a:lstStyle/>
                    <a:p>
                      <a:pPr algn="ctr"/>
                      <a:r>
                        <a:rPr sz="1350" b="1">
                          <a:solidFill>
                            <a:srgbClr val="FBFBFC"/>
                          </a:solidFill>
                          <a:latin typeface="Montserrat Bold"/>
                          <a:ea typeface="Montserrat Bold"/>
                          <a:cs typeface="Montserrat Bold"/>
                        </a:rPr>
                        <a:t>Bài học rút ra</a:t>
                      </a:r>
                    </a:p>
                  </a:txBody>
                  <a:tcPr marL="91440" marR="91440" marT="45720" marB="45720" anchor="ctr">
                    <a:solidFill>
                      <a:srgbClr val="282A75"/>
                    </a:solidFill>
                  </a:tcPr>
                </a:tc>
                <a:tc>
                  <a:txBody>
                    <a:bodyPr>
                      <a:normAutofit/>
                    </a:bodyPr>
                    <a:lstStyle/>
                    <a:p>
                      <a:pPr algn="ctr"/>
                      <a:r>
                        <a:rPr sz="1350" b="1">
                          <a:solidFill>
                            <a:srgbClr val="FBFBFC"/>
                          </a:solidFill>
                          <a:latin typeface="Montserrat Bold"/>
                          <a:ea typeface="Montserrat Bold"/>
                          <a:cs typeface="Montserrat Bold"/>
                        </a:rPr>
                        <a:t>Giới hạn khi áp dụng vào đề tài</a:t>
                      </a:r>
                    </a:p>
                  </a:txBody>
                  <a:tcPr marL="91440" marR="91440" marT="45720" marB="45720" anchor="ctr">
                    <a:solidFill>
                      <a:srgbClr val="282A75"/>
                    </a:solidFill>
                  </a:tcPr>
                </a:tc>
              </a:tr>
              <a:tr h="1228725">
                <a:tc>
                  <a:txBody>
                    <a:bodyPr>
                      <a:normAutofit/>
                    </a:bodyPr>
                    <a:lstStyle/>
                    <a:p>
                      <a:pPr algn="ctr"/>
                      <a:r>
                        <a:rPr sz="1350" b="0">
                          <a:solidFill>
                            <a:srgbClr val="1C334E"/>
                          </a:solidFill>
                          <a:latin typeface="Open Sans"/>
                          <a:ea typeface="Open Sans"/>
                          <a:cs typeface="Open Sans"/>
                        </a:rPr>
                        <a:t>Dal Pozzolo et al. (2014, 2018)</a:t>
                      </a:r>
                    </a:p>
                    <a:p>
                      <a:pPr algn="ctr"/>
                      <a:r>
                        <a:rPr sz="1350" b="0">
                          <a:solidFill>
                            <a:srgbClr val="1C334E"/>
                          </a:solidFill>
                          <a:latin typeface="Open Sans"/>
                          <a:ea typeface="Open Sans"/>
                          <a:cs typeface="Open Sans"/>
                        </a:rPr>
                        <a:t>Fraud detection từ dữ liệu giao dịch</a:t>
                      </a:r>
                    </a:p>
                  </a:txBody>
                  <a:tcPr marL="91440" marR="91440" marT="45720" marB="45720" anchor="ctr">
                    <a:solidFill>
                      <a:srgbClr val="FBFBFC"/>
                    </a:solidFill>
                  </a:tcPr>
                </a:tc>
                <a:tc>
                  <a:txBody>
                    <a:bodyPr>
                      <a:normAutofit/>
                    </a:bodyPr>
                    <a:lstStyle/>
                    <a:p>
                      <a:pPr algn="ctr"/>
                      <a:r>
                        <a:rPr sz="1350" b="0">
                          <a:solidFill>
                            <a:srgbClr val="1C334E"/>
                          </a:solidFill>
                          <a:latin typeface="Open Sans"/>
                          <a:ea typeface="Open Sans"/>
                          <a:cs typeface="Open Sans"/>
                        </a:rPr>
                        <a:t>Mất cân bằng, drift và nhãn xác nhận trễ cần được tính đến trong đánh giá.</a:t>
                      </a:r>
                    </a:p>
                  </a:txBody>
                  <a:tcPr marL="91440" marR="91440" marT="45720" marB="45720" anchor="ctr">
                    <a:solidFill>
                      <a:srgbClr val="FBFBFC"/>
                    </a:solidFill>
                  </a:tcPr>
                </a:tc>
                <a:tc>
                  <a:txBody>
                    <a:bodyPr>
                      <a:normAutofit/>
                    </a:bodyPr>
                    <a:lstStyle/>
                    <a:p>
                      <a:pPr algn="ctr"/>
                      <a:r>
                        <a:rPr sz="1350" b="0">
                          <a:solidFill>
                            <a:srgbClr val="1C334E"/>
                          </a:solidFill>
                          <a:latin typeface="Open Sans"/>
                          <a:ea typeface="Open Sans"/>
                          <a:cs typeface="Open Sans"/>
                        </a:rPr>
                        <a:t>Dữ liệu và tổ chức nghiên cứu khác MB; PoC chưa kiểm tra drift.</a:t>
                      </a:r>
                    </a:p>
                  </a:txBody>
                  <a:tcPr marL="91440" marR="91440" marT="45720" marB="45720" anchor="ctr">
                    <a:solidFill>
                      <a:srgbClr val="FBFBFC"/>
                    </a:solidFill>
                  </a:tcPr>
                </a:tc>
              </a:tr>
              <a:tr h="1228725">
                <a:tc>
                  <a:txBody>
                    <a:bodyPr>
                      <a:normAutofit/>
                    </a:bodyPr>
                    <a:lstStyle/>
                    <a:p>
                      <a:pPr algn="ctr"/>
                      <a:r>
                        <a:rPr sz="1350" b="0">
                          <a:solidFill>
                            <a:srgbClr val="1C334E"/>
                          </a:solidFill>
                          <a:latin typeface="Open Sans"/>
                          <a:ea typeface="Open Sans"/>
                          <a:cs typeface="Open Sans"/>
                        </a:rPr>
                        <a:t>PaySim (Lopez-Rojas et al., 2016)</a:t>
                      </a:r>
                    </a:p>
                    <a:p>
                      <a:pPr algn="ctr"/>
                      <a:r>
                        <a:rPr sz="1350" b="0">
                          <a:solidFill>
                            <a:srgbClr val="1C334E"/>
                          </a:solidFill>
                          <a:latin typeface="Open Sans"/>
                          <a:ea typeface="Open Sans"/>
                          <a:cs typeface="Open Sans"/>
                        </a:rPr>
                        <a:t>Mô phỏng mobile money</a:t>
                      </a:r>
                    </a:p>
                  </a:txBody>
                  <a:tcPr marL="91440" marR="91440" marT="45720" marB="45720" anchor="ctr">
                    <a:solidFill>
                      <a:srgbClr val="F1F3F8"/>
                    </a:solidFill>
                  </a:tcPr>
                </a:tc>
                <a:tc>
                  <a:txBody>
                    <a:bodyPr>
                      <a:normAutofit/>
                    </a:bodyPr>
                    <a:lstStyle/>
                    <a:p>
                      <a:pPr algn="ctr"/>
                      <a:r>
                        <a:rPr sz="1350" b="0">
                          <a:solidFill>
                            <a:srgbClr val="1C334E"/>
                          </a:solidFill>
                          <a:latin typeface="Open Sans"/>
                          <a:ea typeface="Open Sans"/>
                          <a:cs typeface="Open Sans"/>
                        </a:rPr>
                        <a:t>Simulator giúp thử nghiệm phương pháp khi dữ liệu tài chính thật khó chia sẻ.</a:t>
                      </a:r>
                    </a:p>
                  </a:txBody>
                  <a:tcPr marL="91440" marR="91440" marT="45720" marB="45720" anchor="ctr">
                    <a:solidFill>
                      <a:srgbClr val="F1F3F8"/>
                    </a:solidFill>
                  </a:tcPr>
                </a:tc>
                <a:tc>
                  <a:txBody>
                    <a:bodyPr>
                      <a:normAutofit/>
                    </a:bodyPr>
                    <a:lstStyle/>
                    <a:p>
                      <a:pPr algn="ctr"/>
                      <a:r>
                        <a:rPr sz="1350" b="0">
                          <a:solidFill>
                            <a:srgbClr val="1C334E"/>
                          </a:solidFill>
                          <a:latin typeface="Open Sans"/>
                          <a:ea typeface="Open Sans"/>
                          <a:cs typeface="Open Sans"/>
                        </a:rPr>
                        <a:t>Dữ liệu tổng hợp không thay thế luồng giao dịch/nhãn thật.</a:t>
                      </a:r>
                    </a:p>
                  </a:txBody>
                  <a:tcPr marL="91440" marR="91440" marT="45720" marB="45720" anchor="ctr">
                    <a:solidFill>
                      <a:srgbClr val="F1F3F8"/>
                    </a:solidFill>
                  </a:tcPr>
                </a:tc>
              </a:tr>
              <a:tr h="1228725">
                <a:tc>
                  <a:txBody>
                    <a:bodyPr>
                      <a:normAutofit/>
                    </a:bodyPr>
                    <a:lstStyle/>
                    <a:p>
                      <a:pPr algn="ctr"/>
                      <a:r>
                        <a:rPr sz="1350" b="0">
                          <a:solidFill>
                            <a:srgbClr val="1C334E"/>
                          </a:solidFill>
                          <a:latin typeface="Open Sans"/>
                          <a:ea typeface="Open Sans"/>
                          <a:cs typeface="Open Sans"/>
                        </a:rPr>
                        <a:t>ECB/EBA (2025)</a:t>
                      </a:r>
                    </a:p>
                    <a:p>
                      <a:pPr algn="ctr"/>
                      <a:r>
                        <a:rPr sz="1350" b="0">
                          <a:solidFill>
                            <a:srgbClr val="1C334E"/>
                          </a:solidFill>
                          <a:latin typeface="Open Sans"/>
                          <a:ea typeface="Open Sans"/>
                          <a:cs typeface="Open Sans"/>
                        </a:rPr>
                        <a:t>Báo cáo gian lận thanh toán EEA</a:t>
                      </a:r>
                    </a:p>
                  </a:txBody>
                  <a:tcPr marL="91440" marR="91440" marT="45720" marB="45720" anchor="ctr">
                    <a:solidFill>
                      <a:srgbClr val="FBFBFC"/>
                    </a:solidFill>
                  </a:tcPr>
                </a:tc>
                <a:tc>
                  <a:txBody>
                    <a:bodyPr>
                      <a:normAutofit/>
                    </a:bodyPr>
                    <a:lstStyle/>
                    <a:p>
                      <a:pPr algn="ctr"/>
                      <a:r>
                        <a:rPr sz="1350" b="0">
                          <a:solidFill>
                            <a:srgbClr val="1C334E"/>
                          </a:solidFill>
                          <a:latin typeface="Open Sans"/>
                          <a:ea typeface="Open Sans"/>
                          <a:cs typeface="Open Sans"/>
                        </a:rPr>
                        <a:t>Xác thực mạnh hữu ích với một số loại gian lận; thao túng người trả tiền vẫn là thách thức.</a:t>
                      </a:r>
                    </a:p>
                  </a:txBody>
                  <a:tcPr marL="91440" marR="91440" marT="45720" marB="45720" anchor="ctr">
                    <a:solidFill>
                      <a:srgbClr val="FBFBFC"/>
                    </a:solidFill>
                  </a:tcPr>
                </a:tc>
                <a:tc>
                  <a:txBody>
                    <a:bodyPr>
                      <a:normAutofit/>
                    </a:bodyPr>
                    <a:lstStyle/>
                    <a:p>
                      <a:pPr algn="ctr"/>
                      <a:r>
                        <a:rPr sz="1350" b="0">
                          <a:solidFill>
                            <a:srgbClr val="1C334E"/>
                          </a:solidFill>
                          <a:latin typeface="Open Sans"/>
                          <a:ea typeface="Open Sans"/>
                          <a:cs typeface="Open Sans"/>
                        </a:rPr>
                        <a:t>Phạm vi EEA, không suy rộng số liệu hay chính sách sang Việt Nam.</a:t>
                      </a:r>
                    </a:p>
                  </a:txBody>
                  <a:tcPr marL="91440" marR="91440" marT="45720" marB="45720" anchor="ctr">
                    <a:solidFill>
                      <a:srgbClr val="FBFBFC"/>
                    </a:solidFill>
                  </a:tcPr>
                </a:tc>
              </a:tr>
            </a:tbl>
          </a:graphicData>
        </a:graphic>
      </p:graphicFrame>
      <p:sp>
        <p:nvSpPr>
          <p:cNvPr id="11" name="">
            <a:extLst xmlns:a="http://schemas.openxmlformats.org/drawingml/2006/main">
              <a:ext uri="{FF2B5EF4-FFF2-40B4-BE49-F238E27FC236}">
                <a16:creationId xmlns:a16="http://schemas.microsoft.com/office/drawing/2014/main" id="{BC680F5F-BE41-4CE8-882B-715B2B611700}"/>
              </a:ext>
            </a:extLst>
          </p:cNvPr>
          <p:cNvSpPr>
            <a:spLocks xmlns:a="http://schemas.openxmlformats.org/drawingml/2006/main" noGrp="1"/>
          </p:cNvSpPr>
          <p:nvPr/>
        </p:nvSpPr>
        <p:spPr>
          <a:xfrm xmlns:a="http://schemas.openxmlformats.org/drawingml/2006/main">
            <a:off x="1171575" y="7672388"/>
            <a:ext cx="15930563" cy="942975"/>
          </a:xfrm>
          <a:prstGeom xmlns:a="http://schemas.openxmlformats.org/drawingml/2006/main" prst="roundRect">
            <a:avLst>
              <a:gd name="adj" fmla="val 8081"/>
            </a:avLst>
          </a:prstGeom>
          <a:solidFill xmlns:a="http://schemas.openxmlformats.org/drawingml/2006/main">
            <a:srgbClr val="FFF4D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9EE1B04-CBE6-4F9D-8219-3334169ABCA3}"/>
              </a:ext>
            </a:extLst>
          </p:cNvPr>
          <p:cNvSpPr>
            <a:spLocks xmlns:a="http://schemas.openxmlformats.org/drawingml/2006/main" noGrp="1"/>
          </p:cNvSpPr>
          <p:nvPr/>
        </p:nvSpPr>
        <p:spPr>
          <a:xfrm xmlns:a="http://schemas.openxmlformats.org/drawingml/2006/main">
            <a:off x="1443038" y="7829550"/>
            <a:ext cx="15359063"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00" b="1">
                <a:solidFill>
                  <a:srgbClr val="1C334E"/>
                </a:solidFill>
                <a:latin typeface="Open Sans"/>
                <a:ea typeface="Open Sans"/>
                <a:cs typeface="Open Sans"/>
              </a:defRPr>
            </a:pPr>
            <a:r>
              <a:rPr sz="1500" b="1">
                <a:solidFill>
                  <a:srgbClr val="1C334E"/>
                </a:solidFill>
                <a:latin typeface="Open Sans"/>
                <a:ea typeface="Open Sans"/>
                <a:cs typeface="Open Sans"/>
              </a:rPr>
              <a:t>Bài học: mô hình là một lớp hỗ trợ trong kiểm soát đa tầng; cần nhãn thật, dữ liệu theo thời gian và quy trình xử lý.</a:t>
            </a:r>
          </a:p>
        </p:txBody>
      </p:sp>
      <p:sp>
        <p:nvSpPr>
          <p:cNvPr id="13" name="">
            <a:extLst xmlns:a="http://schemas.openxmlformats.org/drawingml/2006/main">
              <a:ext uri="{FF2B5EF4-FFF2-40B4-BE49-F238E27FC236}">
                <a16:creationId xmlns:a16="http://schemas.microsoft.com/office/drawing/2014/main" id="{FFBFF878-ED7F-408A-912C-EF7ABA19A7B2}"/>
              </a:ext>
            </a:extLst>
          </p:cNvPr>
          <p:cNvSpPr>
            <a:spLocks xmlns:a="http://schemas.openxmlformats.org/drawingml/2006/main" noGrp="1"/>
          </p:cNvSpPr>
          <p:nvPr/>
        </p:nvSpPr>
        <p:spPr>
          <a:xfrm xmlns:a="http://schemas.openxmlformats.org/drawingml/2006/main">
            <a:off x="1171575" y="8901113"/>
            <a:ext cx="1585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125" b="0">
                <a:solidFill>
                  <a:srgbClr val="667085"/>
                </a:solidFill>
                <a:latin typeface="Open Sans"/>
                <a:ea typeface="Open Sans"/>
                <a:cs typeface="Open Sans"/>
              </a:defRPr>
            </a:pPr>
            <a:r>
              <a:rPr sz="1125" b="0">
                <a:solidFill>
                  <a:srgbClr val="667085"/>
                </a:solidFill>
                <a:latin typeface="Open Sans"/>
                <a:ea typeface="Open Sans"/>
                <a:cs typeface="Open Sans"/>
              </a:rPr>
              <a:t>Nguồn: Dal Pozzolo et al. (2014, 2018); Lopez-Rojas et al. (2016); ECB/EBA (2025)</a:t>
            </a:r>
          </a:p>
        </p:txBody>
      </p:sp>
    </p:spTree>
    <p:extLst>
      <p:ext uri="{BB962C8B-B14F-4D97-AF65-F5344CB8AC3E}">
        <p14:creationId xmlns:p14="http://schemas.microsoft.com/office/powerpoint/2010/main" val="601554327"/>
      </p:ext>
    </p:extLst>
  </p:cSld>
</p:sld>
</file>

<file path=ppt/slides/slide5.xml><?xml version="1.0" encoding="utf-8"?>
<p:sld xmlns:a="http://schemas.openxmlformats.org/drawingml/2006/main" xmlns:a16="http://schemas.microsoft.com/office/drawing/2014/main" xmlns:p14="http://schemas.microsoft.com/office/powerpoint/2010/main" xmlns:p="http://schemas.openxmlformats.org/presentationml/2006/main">
  <p:cSld name="Stakeholder và nhu cầu">
    <p:bg>
      <p:bgPr>
        <a:solidFill xmlns:a="http://schemas.openxmlformats.org/drawingml/2006/main">
          <a:srgbClr val="282A7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438EB3-FA62-4EE1-8D0F-A8D415427B7F}"/>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7DBD186A-6A77-44BD-B456-8848EC75B1EF}"/>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A9A93506-4625-4358-85B1-DBD03DB8F4C5}"/>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E08DE6-A3DF-45DE-B973-EBBD818D95C9}"/>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PHÂN TÍCH NGHIỆP VỤ</a:t>
            </a:r>
          </a:p>
        </p:txBody>
      </p:sp>
      <p:sp>
        <p:nvSpPr>
          <p:cNvPr id="5" name="">
            <a:extLst xmlns:a="http://schemas.openxmlformats.org/drawingml/2006/main">
              <a:ext uri="{FF2B5EF4-FFF2-40B4-BE49-F238E27FC236}">
                <a16:creationId xmlns:a16="http://schemas.microsoft.com/office/drawing/2014/main" id="{E268C5A2-BFA4-4ACD-BFD7-4BD099AD2B5F}"/>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Các bên liên quan và nhu cầu cần giải quyết</a:t>
            </a:r>
          </a:p>
        </p:txBody>
      </p:sp>
      <p:sp>
        <p:nvSpPr>
          <p:cNvPr id="6" name="">
            <a:extLst xmlns:a="http://schemas.openxmlformats.org/drawingml/2006/main">
              <a:ext uri="{FF2B5EF4-FFF2-40B4-BE49-F238E27FC236}">
                <a16:creationId xmlns:a16="http://schemas.microsoft.com/office/drawing/2014/main" id="{AA0BD63F-4377-413C-ADC5-7EA6DD82465D}"/>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7D451BC-1445-4CCF-ABCB-ABF4AE9D84F7}"/>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D6D533D6-2E37-4FDD-8F5E-0AC26B048769}"/>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BDED774D-57F3-4129-B1AC-32889F926456}"/>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5</a:t>
            </a:r>
          </a:p>
        </p:txBody>
      </p:sp>
      <p:graphicFrame>
        <p:nvGraphicFramePr>
          <p:cNvPr id="21" name=""/>
          <p:cNvGraphicFramePr/>
          <p:nvPr/>
        </p:nvGraphicFramePr>
        <p:xfrm>
          <a:off xmlns:a="http://schemas.openxmlformats.org/drawingml/2006/main" x="1071563" y="2243138"/>
          <a:ext xmlns:a="http://schemas.openxmlformats.org/drawingml/2006/main" cx="16144875" cy="6215063"/>
        </p:xfrm>
        <a:graphic xmlns:a="http://schemas.openxmlformats.org/drawingml/2006/main">
          <a:graphicData uri="http://schemas.openxmlformats.org/drawingml/2006/table">
            <a:tbl>
              <a:tblPr firstRow="1" bandRow="1"/>
              <a:tblGrid>
                <a:gridCol w="3071813"/>
                <a:gridCol w="6215063"/>
                <a:gridCol w="6858000"/>
              </a:tblGrid>
              <a:tr h="1035844">
                <a:tc>
                  <a:txBody>
                    <a:bodyPr>
                      <a:normAutofit/>
                    </a:bodyPr>
                    <a:lstStyle/>
                    <a:p>
                      <a:pPr algn="ctr"/>
                      <a:r>
                        <a:rPr sz="1425" b="1">
                          <a:solidFill>
                            <a:srgbClr val="FBFBFC"/>
                          </a:solidFill>
                          <a:latin typeface="Montserrat Bold"/>
                          <a:ea typeface="Montserrat Bold"/>
                          <a:cs typeface="Montserrat Bold"/>
                        </a:rPr>
                        <a:t>Vai trò</a:t>
                      </a:r>
                    </a:p>
                  </a:txBody>
                  <a:tcPr marL="91440" marR="91440" marT="45720" marB="45720" anchor="ctr">
                    <a:solidFill>
                      <a:srgbClr val="282A75"/>
                    </a:solidFill>
                  </a:tcPr>
                </a:tc>
                <a:tc>
                  <a:txBody>
                    <a:bodyPr>
                      <a:normAutofit/>
                    </a:bodyPr>
                    <a:lstStyle/>
                    <a:p>
                      <a:pPr algn="ctr"/>
                      <a:r>
                        <a:rPr sz="1425" b="1">
                          <a:solidFill>
                            <a:srgbClr val="FBFBFC"/>
                          </a:solidFill>
                          <a:latin typeface="Montserrat Bold"/>
                          <a:ea typeface="Montserrat Bold"/>
                          <a:cs typeface="Montserrat Bold"/>
                        </a:rPr>
                        <a:t>Câu hỏi nghiệp vụ</a:t>
                      </a:r>
                    </a:p>
                  </a:txBody>
                  <a:tcPr marL="91440" marR="91440" marT="45720" marB="45720" anchor="ctr">
                    <a:solidFill>
                      <a:srgbClr val="282A75"/>
                    </a:solidFill>
                  </a:tcPr>
                </a:tc>
                <a:tc>
                  <a:txBody>
                    <a:bodyPr>
                      <a:normAutofit/>
                    </a:bodyPr>
                    <a:lstStyle/>
                    <a:p>
                      <a:pPr algn="ctr"/>
                      <a:r>
                        <a:rPr sz="1425" b="1">
                          <a:solidFill>
                            <a:srgbClr val="FBFBFC"/>
                          </a:solidFill>
                          <a:latin typeface="Montserrat Bold"/>
                          <a:ea typeface="Montserrat Bold"/>
                          <a:cs typeface="Montserrat Bold"/>
                        </a:rPr>
                        <a:t>Nhu cầu của PoC</a:t>
                      </a:r>
                    </a:p>
                  </a:txBody>
                  <a:tcPr marL="91440" marR="91440" marT="45720" marB="45720" anchor="ctr">
                    <a:solidFill>
                      <a:srgbClr val="282A75"/>
                    </a:solidFill>
                  </a:tcPr>
                </a:tc>
              </a:tr>
              <a:tr h="1035844">
                <a:tc>
                  <a:txBody>
                    <a:bodyPr>
                      <a:normAutofit/>
                    </a:bodyPr>
                    <a:lstStyle/>
                    <a:p>
                      <a:pPr algn="ctr"/>
                      <a:r>
                        <a:rPr sz="1425" b="0">
                          <a:solidFill>
                            <a:srgbClr val="1C334E"/>
                          </a:solidFill>
                          <a:latin typeface="Open Sans"/>
                          <a:ea typeface="Open Sans"/>
                          <a:cs typeface="Open Sans"/>
                        </a:rPr>
                        <a:t>Chủ quy trình</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Khi nào cần xác thực/đưa người xem xét?</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Policy là giả định, cần chủ quy trình xác nhận</a:t>
                      </a:r>
                    </a:p>
                  </a:txBody>
                  <a:tcPr marL="91440" marR="91440" marT="45720" marB="45720" anchor="ctr">
                    <a:solidFill>
                      <a:srgbClr val="FBFBFC"/>
                    </a:solidFill>
                  </a:tcPr>
                </a:tc>
              </a:tr>
              <a:tr h="1035844">
                <a:tc>
                  <a:txBody>
                    <a:bodyPr>
                      <a:normAutofit/>
                    </a:bodyPr>
                    <a:lstStyle/>
                    <a:p>
                      <a:pPr algn="ctr"/>
                      <a:r>
                        <a:rPr sz="1425" b="0">
                          <a:solidFill>
                            <a:srgbClr val="1C334E"/>
                          </a:solidFill>
                          <a:latin typeface="Open Sans"/>
                          <a:ea typeface="Open Sans"/>
                          <a:cs typeface="Open Sans"/>
                        </a:rPr>
                        <a:t>Chuyên viên chống gian lận</a:t>
                      </a:r>
                    </a:p>
                  </a:txBody>
                  <a:tcPr marL="91440" marR="91440" marT="45720" marB="45720" anchor="ctr">
                    <a:solidFill>
                      <a:srgbClr val="F1F3F8"/>
                    </a:solidFill>
                  </a:tcPr>
                </a:tc>
                <a:tc>
                  <a:txBody>
                    <a:bodyPr>
                      <a:normAutofit/>
                    </a:bodyPr>
                    <a:lstStyle/>
                    <a:p>
                      <a:pPr algn="ctr"/>
                      <a:r>
                        <a:rPr sz="1425" b="0">
                          <a:solidFill>
                            <a:srgbClr val="1C334E"/>
                          </a:solidFill>
                          <a:latin typeface="Open Sans"/>
                          <a:ea typeface="Open Sans"/>
                          <a:cs typeface="Open Sans"/>
                        </a:rPr>
                        <a:t>Cảnh báo nào đáng xử lý trước?</a:t>
                      </a:r>
                    </a:p>
                  </a:txBody>
                  <a:tcPr marL="91440" marR="91440" marT="45720" marB="45720" anchor="ctr">
                    <a:solidFill>
                      <a:srgbClr val="F1F3F8"/>
                    </a:solidFill>
                  </a:tcPr>
                </a:tc>
                <a:tc>
                  <a:txBody>
                    <a:bodyPr>
                      <a:normAutofit/>
                    </a:bodyPr>
                    <a:lstStyle/>
                    <a:p>
                      <a:pPr algn="ctr"/>
                      <a:r>
                        <a:rPr sz="1425" b="0">
                          <a:solidFill>
                            <a:srgbClr val="1C334E"/>
                          </a:solidFill>
                          <a:latin typeface="Open Sans"/>
                          <a:ea typeface="Open Sans"/>
                          <a:cs typeface="Open Sans"/>
                        </a:rPr>
                        <a:t>Score, lý do mô hình, lịch sử</a:t>
                      </a:r>
                    </a:p>
                  </a:txBody>
                  <a:tcPr marL="91440" marR="91440" marT="45720" marB="45720" anchor="ctr">
                    <a:solidFill>
                      <a:srgbClr val="F1F3F8"/>
                    </a:solidFill>
                  </a:tcPr>
                </a:tc>
              </a:tr>
              <a:tr h="1035844">
                <a:tc>
                  <a:txBody>
                    <a:bodyPr>
                      <a:normAutofit/>
                    </a:bodyPr>
                    <a:lstStyle/>
                    <a:p>
                      <a:pPr algn="ctr"/>
                      <a:r>
                        <a:rPr sz="1425" b="0">
                          <a:solidFill>
                            <a:srgbClr val="1C334E"/>
                          </a:solidFill>
                          <a:latin typeface="Open Sans"/>
                          <a:ea typeface="Open Sans"/>
                          <a:cs typeface="Open Sans"/>
                        </a:rPr>
                        <a:t>Khách hàng</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Có bị gián đoạn nhầm không?</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Chưa tham gia PoC; phải đo trong pilot</a:t>
                      </a:r>
                    </a:p>
                  </a:txBody>
                  <a:tcPr marL="91440" marR="91440" marT="45720" marB="45720" anchor="ctr">
                    <a:solidFill>
                      <a:srgbClr val="FBFBFC"/>
                    </a:solidFill>
                  </a:tcPr>
                </a:tc>
              </a:tr>
              <a:tr h="1035844">
                <a:tc>
                  <a:txBody>
                    <a:bodyPr>
                      <a:normAutofit/>
                    </a:bodyPr>
                    <a:lstStyle/>
                    <a:p>
                      <a:pPr algn="ctr"/>
                      <a:r>
                        <a:rPr sz="1425" b="0">
                          <a:solidFill>
                            <a:srgbClr val="1C334E"/>
                          </a:solidFill>
                          <a:latin typeface="Open Sans"/>
                          <a:ea typeface="Open Sans"/>
                          <a:cs typeface="Open Sans"/>
                        </a:rPr>
                        <a:t>CNTT / mô hình</a:t>
                      </a:r>
                    </a:p>
                  </a:txBody>
                  <a:tcPr marL="91440" marR="91440" marT="45720" marB="45720" anchor="ctr">
                    <a:solidFill>
                      <a:srgbClr val="F1F3F8"/>
                    </a:solidFill>
                  </a:tcPr>
                </a:tc>
                <a:tc>
                  <a:txBody>
                    <a:bodyPr>
                      <a:normAutofit/>
                    </a:bodyPr>
                    <a:lstStyle/>
                    <a:p>
                      <a:pPr algn="ctr"/>
                      <a:r>
                        <a:rPr sz="1425" b="0">
                          <a:solidFill>
                            <a:srgbClr val="1C334E"/>
                          </a:solidFill>
                          <a:latin typeface="Open Sans"/>
                          <a:ea typeface="Open Sans"/>
                          <a:cs typeface="Open Sans"/>
                        </a:rPr>
                        <a:t>Có thể truy vết phiên bản và lỗi không?</a:t>
                      </a:r>
                    </a:p>
                  </a:txBody>
                  <a:tcPr marL="91440" marR="91440" marT="45720" marB="45720" anchor="ctr">
                    <a:solidFill>
                      <a:srgbClr val="F1F3F8"/>
                    </a:solidFill>
                  </a:tcPr>
                </a:tc>
                <a:tc>
                  <a:txBody>
                    <a:bodyPr>
                      <a:normAutofit/>
                    </a:bodyPr>
                    <a:lstStyle/>
                    <a:p>
                      <a:pPr algn="ctr"/>
                      <a:r>
                        <a:rPr sz="1425" b="0">
                          <a:solidFill>
                            <a:srgbClr val="1C334E"/>
                          </a:solidFill>
                          <a:latin typeface="Open Sans"/>
                          <a:ea typeface="Open Sans"/>
                          <a:cs typeface="Open Sans"/>
                        </a:rPr>
                        <a:t>Run ID, manifest, fail-closed</a:t>
                      </a:r>
                    </a:p>
                  </a:txBody>
                  <a:tcPr marL="91440" marR="91440" marT="45720" marB="45720" anchor="ctr">
                    <a:solidFill>
                      <a:srgbClr val="F1F3F8"/>
                    </a:solidFill>
                  </a:tcPr>
                </a:tc>
              </a:tr>
              <a:tr h="1035844">
                <a:tc>
                  <a:txBody>
                    <a:bodyPr>
                      <a:normAutofit/>
                    </a:bodyPr>
                    <a:lstStyle/>
                    <a:p>
                      <a:pPr algn="ctr"/>
                      <a:r>
                        <a:rPr sz="1425" b="0">
                          <a:solidFill>
                            <a:srgbClr val="1C334E"/>
                          </a:solidFill>
                          <a:latin typeface="Open Sans"/>
                          <a:ea typeface="Open Sans"/>
                          <a:cs typeface="Open Sans"/>
                        </a:rPr>
                        <a:t>ATTT / tuân thủ</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Dữ liệu và hành động có được phép?</a:t>
                      </a:r>
                    </a:p>
                  </a:txBody>
                  <a:tcPr marL="91440" marR="91440" marT="45720" marB="45720" anchor="ctr">
                    <a:solidFill>
                      <a:srgbClr val="FBFBFC"/>
                    </a:solidFill>
                  </a:tcPr>
                </a:tc>
                <a:tc>
                  <a:txBody>
                    <a:bodyPr>
                      <a:normAutofit/>
                    </a:bodyPr>
                    <a:lstStyle/>
                    <a:p>
                      <a:pPr algn="ctr"/>
                      <a:r>
                        <a:rPr sz="1425" b="0">
                          <a:solidFill>
                            <a:srgbClr val="1C334E"/>
                          </a:solidFill>
                          <a:latin typeface="Open Sans"/>
                          <a:ea typeface="Open Sans"/>
                          <a:cs typeface="Open Sans"/>
                        </a:rPr>
                        <a:t>Ngoài phạm vi, cần phê duyệt trước pilot</a:t>
                      </a:r>
                    </a:p>
                  </a:txBody>
                  <a:tcPr marL="91440" marR="91440" marT="45720" marB="45720" anchor="ctr">
                    <a:solidFill>
                      <a:srgbClr val="FBFBFC"/>
                    </a:solidFill>
                  </a:tcPr>
                </a:tc>
              </a:tr>
            </a:tbl>
          </a:graphicData>
        </a:graphic>
      </p:graphicFrame>
      <p:sp>
        <p:nvSpPr>
          <p:cNvPr id="11" name="">
            <a:extLst xmlns:a="http://schemas.openxmlformats.org/drawingml/2006/main">
              <a:ext uri="{FF2B5EF4-FFF2-40B4-BE49-F238E27FC236}">
                <a16:creationId xmlns:a16="http://schemas.microsoft.com/office/drawing/2014/main" id="{0EC01D18-9CE6-4E3E-BD18-4F9236A49236}"/>
              </a:ext>
            </a:extLst>
          </p:cNvPr>
          <p:cNvSpPr>
            <a:spLocks xmlns:a="http://schemas.openxmlformats.org/drawingml/2006/main" noGrp="1"/>
          </p:cNvSpPr>
          <p:nvPr/>
        </p:nvSpPr>
        <p:spPr>
          <a:xfrm xmlns:a="http://schemas.openxmlformats.org/drawingml/2006/main">
            <a:off x="1171575" y="8715375"/>
            <a:ext cx="15859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00" b="1">
                <a:solidFill>
                  <a:srgbClr val="C0504D"/>
                </a:solidFill>
                <a:latin typeface="Open Sans"/>
                <a:ea typeface="Open Sans"/>
                <a:cs typeface="Open Sans"/>
              </a:defRPr>
            </a:pPr>
            <a:r>
              <a:rPr sz="1500" b="1">
                <a:solidFill>
                  <a:srgbClr val="C0504D"/>
                </a:solidFill>
                <a:latin typeface="Open Sans"/>
                <a:ea typeface="Open Sans"/>
                <a:cs typeface="Open Sans"/>
              </a:rPr>
              <a:t>As-Is MB chưa được xác minh. Các vai trò là mô hình tham chiếu để đặt câu hỏi.</a:t>
            </a:r>
          </a:p>
        </p:txBody>
      </p:sp>
    </p:spTree>
    <p:extLst>
      <p:ext uri="{BB962C8B-B14F-4D97-AF65-F5344CB8AC3E}">
        <p14:creationId xmlns:p14="http://schemas.microsoft.com/office/powerpoint/2010/main" val="899071460"/>
      </p:ext>
    </p:extLst>
  </p:cSld>
</p:sld>
</file>

<file path=ppt/slides/slide6.xml><?xml version="1.0" encoding="utf-8"?>
<p:sld xmlns:a="http://schemas.openxmlformats.org/drawingml/2006/main" xmlns:a16="http://schemas.microsoft.com/office/drawing/2014/main" xmlns:p14="http://schemas.microsoft.com/office/powerpoint/2010/main" xmlns:p="http://schemas.openxmlformats.org/presentationml/2006/main">
  <p:cSld name="As-Is tham chiếu">
    <p:bg>
      <p:bgPr>
        <a:solidFill xmlns:a="http://schemas.openxmlformats.org/drawingml/2006/main">
          <a:srgbClr val="282A7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889B44F-4344-4FE6-ADAE-B32CD6E34633}"/>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70B38D2C-E715-47FC-9F66-B505523125B0}"/>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C0FFA7B4-3CF0-4D4D-A5E9-540C5790DAA7}"/>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5D5142-7E15-4A1E-A60A-998E22B38265}"/>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QUY TRÌNH HIỆN TẠI – GIẢ ĐỊNH</a:t>
            </a:r>
          </a:p>
        </p:txBody>
      </p:sp>
      <p:sp>
        <p:nvSpPr>
          <p:cNvPr id="5" name="">
            <a:extLst xmlns:a="http://schemas.openxmlformats.org/drawingml/2006/main">
              <a:ext uri="{FF2B5EF4-FFF2-40B4-BE49-F238E27FC236}">
                <a16:creationId xmlns:a16="http://schemas.microsoft.com/office/drawing/2014/main" id="{85D1EEF6-08C2-4E73-AF46-93B8CC84C721}"/>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As-Is tham chiếu: kiểm soát và xử lý ngoại lệ</a:t>
            </a:r>
          </a:p>
        </p:txBody>
      </p:sp>
      <p:sp>
        <p:nvSpPr>
          <p:cNvPr id="6" name="">
            <a:extLst xmlns:a="http://schemas.openxmlformats.org/drawingml/2006/main">
              <a:ext uri="{FF2B5EF4-FFF2-40B4-BE49-F238E27FC236}">
                <a16:creationId xmlns:a16="http://schemas.microsoft.com/office/drawing/2014/main" id="{6450871B-0D80-45C5-90DE-722F0CE6F179}"/>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0A21E7-BAA9-4970-82BA-92E660E72DDB}"/>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07A4B749-95F3-449D-9417-CCBC9639E4DB}"/>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2ED51949-EE24-4E5C-A240-09F707EDECF7}"/>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6</a:t>
            </a:r>
          </a:p>
        </p:txBody>
      </p:sp>
      <p:sp>
        <p:nvSpPr>
          <p:cNvPr id="10" name="">
            <a:extLst xmlns:a="http://schemas.openxmlformats.org/drawingml/2006/main">
              <a:ext uri="{FF2B5EF4-FFF2-40B4-BE49-F238E27FC236}">
                <a16:creationId xmlns:a16="http://schemas.microsoft.com/office/drawing/2014/main" id="{3A165A99-5821-4DA0-A047-2491B350967A}"/>
              </a:ext>
            </a:extLst>
          </p:cNvPr>
          <p:cNvSpPr>
            <a:spLocks xmlns:a="http://schemas.openxmlformats.org/drawingml/2006/main" noGrp="1"/>
          </p:cNvSpPr>
          <p:nvPr/>
        </p:nvSpPr>
        <p:spPr>
          <a:xfrm xmlns:a="http://schemas.openxmlformats.org/drawingml/2006/main">
            <a:off x="1143000" y="2286000"/>
            <a:ext cx="15930563" cy="6000750"/>
          </a:xfrm>
          <a:prstGeom xmlns:a="http://schemas.openxmlformats.org/drawingml/2006/main" prst="rect">
            <a:avLst/>
          </a:prstGeom>
          <a:solidFill xmlns:a="http://schemas.openxmlformats.org/drawingml/2006/main">
            <a:srgbClr val="FBFBFC"/>
          </a:solidFill>
          <a:ln xmlns:a="http://schemas.openxmlformats.org/drawingml/2006/main" w="19050">
            <a:solidFill>
              <a:srgbClr val="D7D9E8"/>
            </a:solidFill>
          </a:ln>
        </p:spPr>
      </p:sp>
      <p:sp>
        <p:nvSpPr>
          <p:cNvPr id="11" name="">
            <a:extLst xmlns:a="http://schemas.openxmlformats.org/drawingml/2006/main">
              <a:ext uri="{FF2B5EF4-FFF2-40B4-BE49-F238E27FC236}">
                <a16:creationId xmlns:a16="http://schemas.microsoft.com/office/drawing/2014/main" id="{92ED507F-3F9C-4531-9395-52C010DC7B78}"/>
              </a:ext>
            </a:extLst>
          </p:cNvPr>
          <p:cNvSpPr>
            <a:spLocks xmlns:a="http://schemas.openxmlformats.org/drawingml/2006/main" noGrp="1"/>
          </p:cNvSpPr>
          <p:nvPr/>
        </p:nvSpPr>
        <p:spPr>
          <a:xfrm xmlns:a="http://schemas.openxmlformats.org/drawingml/2006/main">
            <a:off x="1143000" y="2286000"/>
            <a:ext cx="15930563" cy="3000375"/>
          </a:xfrm>
          <a:prstGeom xmlns:a="http://schemas.openxmlformats.org/drawingml/2006/main" prst="rect">
            <a:avLst/>
          </a:prstGeom>
          <a:solidFill xmlns:a="http://schemas.openxmlformats.org/drawingml/2006/main">
            <a:srgbClr val="FBFCFD"/>
          </a:solidFill>
          <a:ln xmlns:a="http://schemas.openxmlformats.org/drawingml/2006/main" w="9525">
            <a:solidFill>
              <a:srgbClr val="D7D9E8"/>
            </a:solidFill>
          </a:ln>
        </p:spPr>
      </p:sp>
      <p:sp>
        <p:nvSpPr>
          <p:cNvPr id="12" name="">
            <a:extLst xmlns:a="http://schemas.openxmlformats.org/drawingml/2006/main">
              <a:ext uri="{FF2B5EF4-FFF2-40B4-BE49-F238E27FC236}">
                <a16:creationId xmlns:a16="http://schemas.microsoft.com/office/drawing/2014/main" id="{2C673670-D9A3-467E-BEA4-BBBDF9B64211}"/>
              </a:ext>
            </a:extLst>
          </p:cNvPr>
          <p:cNvSpPr>
            <a:spLocks xmlns:a="http://schemas.openxmlformats.org/drawingml/2006/main" noGrp="1"/>
          </p:cNvSpPr>
          <p:nvPr/>
        </p:nvSpPr>
        <p:spPr>
          <a:xfrm xmlns:a="http://schemas.openxmlformats.org/drawingml/2006/main">
            <a:off x="1143000" y="5286375"/>
            <a:ext cx="15930563" cy="3000375"/>
          </a:xfrm>
          <a:prstGeom xmlns:a="http://schemas.openxmlformats.org/drawingml/2006/main" prst="rect">
            <a:avLst/>
          </a:prstGeom>
          <a:solidFill xmlns:a="http://schemas.openxmlformats.org/drawingml/2006/main">
            <a:srgbClr val="F6F9FC"/>
          </a:solidFill>
          <a:ln xmlns:a="http://schemas.openxmlformats.org/drawingml/2006/main" w="9525">
            <a:solidFill>
              <a:srgbClr val="D7D9E8"/>
            </a:solidFill>
          </a:ln>
        </p:spPr>
      </p:sp>
      <p:sp>
        <p:nvSpPr>
          <p:cNvPr id="13" name="">
            <a:extLst xmlns:a="http://schemas.openxmlformats.org/drawingml/2006/main">
              <a:ext uri="{FF2B5EF4-FFF2-40B4-BE49-F238E27FC236}">
                <a16:creationId xmlns:a16="http://schemas.microsoft.com/office/drawing/2014/main" id="{02EED561-D988-4792-BB33-378BF7E9A18F}"/>
              </a:ext>
            </a:extLst>
          </p:cNvPr>
          <p:cNvSpPr>
            <a:spLocks xmlns:a="http://schemas.openxmlformats.org/drawingml/2006/main" noGrp="1"/>
          </p:cNvSpPr>
          <p:nvPr/>
        </p:nvSpPr>
        <p:spPr>
          <a:xfrm xmlns:a="http://schemas.openxmlformats.org/drawingml/2006/main">
            <a:off x="1314450" y="3357563"/>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1">
                <a:solidFill>
                  <a:srgbClr val="667085"/>
                </a:solidFill>
                <a:latin typeface="Open Sans"/>
                <a:ea typeface="Open Sans"/>
                <a:cs typeface="Open Sans"/>
              </a:defRPr>
            </a:pPr>
            <a:r>
              <a:rPr sz="1350" b="1">
                <a:solidFill>
                  <a:srgbClr val="667085"/>
                </a:solidFill>
                <a:latin typeface="Open Sans"/>
                <a:ea typeface="Open Sans"/>
                <a:cs typeface="Open Sans"/>
              </a:rPr>
              <a:t>Người gửi</a:t>
            </a:r>
          </a:p>
        </p:txBody>
      </p:sp>
      <p:sp>
        <p:nvSpPr>
          <p:cNvPr id="14" name="">
            <a:extLst xmlns:a="http://schemas.openxmlformats.org/drawingml/2006/main">
              <a:ext uri="{FF2B5EF4-FFF2-40B4-BE49-F238E27FC236}">
                <a16:creationId xmlns:a16="http://schemas.microsoft.com/office/drawing/2014/main" id="{6FB072ED-9573-435E-8CE7-93EF5793904B}"/>
              </a:ext>
            </a:extLst>
          </p:cNvPr>
          <p:cNvSpPr>
            <a:spLocks xmlns:a="http://schemas.openxmlformats.org/drawingml/2006/main" noGrp="1"/>
          </p:cNvSpPr>
          <p:nvPr/>
        </p:nvSpPr>
        <p:spPr>
          <a:xfrm xmlns:a="http://schemas.openxmlformats.org/drawingml/2006/main">
            <a:off x="1314450" y="6343650"/>
            <a:ext cx="2357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1">
                <a:solidFill>
                  <a:srgbClr val="667085"/>
                </a:solidFill>
                <a:latin typeface="Open Sans"/>
                <a:ea typeface="Open Sans"/>
                <a:cs typeface="Open Sans"/>
              </a:defRPr>
            </a:pPr>
            <a:r>
              <a:rPr sz="1350" b="1">
                <a:solidFill>
                  <a:srgbClr val="667085"/>
                </a:solidFill>
                <a:latin typeface="Open Sans"/>
                <a:ea typeface="Open Sans"/>
                <a:cs typeface="Open Sans"/>
              </a:rPr>
              <a:t>Hệ thống / vận hành</a:t>
            </a:r>
          </a:p>
        </p:txBody>
      </p:sp>
      <p:sp>
        <p:nvSpPr>
          <p:cNvPr id="15" name="">
            <a:extLst xmlns:a="http://schemas.openxmlformats.org/drawingml/2006/main">
              <a:ext uri="{FF2B5EF4-FFF2-40B4-BE49-F238E27FC236}">
                <a16:creationId xmlns:a16="http://schemas.microsoft.com/office/drawing/2014/main" id="{9A86B59D-5629-4BE3-A366-770401049CAA}"/>
              </a:ext>
            </a:extLst>
          </p:cNvPr>
          <p:cNvSpPr>
            <a:spLocks xmlns:a="http://schemas.openxmlformats.org/drawingml/2006/main" noGrp="1"/>
          </p:cNvSpPr>
          <p:nvPr/>
        </p:nvSpPr>
        <p:spPr>
          <a:xfrm xmlns:a="http://schemas.openxmlformats.org/drawingml/2006/main">
            <a:off x="4071938" y="3371850"/>
            <a:ext cx="714375" cy="714375"/>
          </a:xfrm>
          <a:prstGeom xmlns:a="http://schemas.openxmlformats.org/drawingml/2006/main" prst="ellipse">
            <a:avLst/>
          </a:prstGeom>
          <a:solidFill xmlns:a="http://schemas.openxmlformats.org/drawingml/2006/main">
            <a:srgbClr val="FBFBFC"/>
          </a:solidFill>
          <a:ln xmlns:a="http://schemas.openxmlformats.org/drawingml/2006/main" w="38100">
            <a:solidFill>
              <a:srgbClr val="9BBB59"/>
            </a:solidFill>
          </a:ln>
        </p:spPr>
      </p:sp>
      <p:sp>
        <p:nvSpPr>
          <p:cNvPr id="16" name="">
            <a:extLst xmlns:a="http://schemas.openxmlformats.org/drawingml/2006/main">
              <a:ext uri="{FF2B5EF4-FFF2-40B4-BE49-F238E27FC236}">
                <a16:creationId xmlns:a16="http://schemas.microsoft.com/office/drawing/2014/main" id="{9993DA4E-89D6-4455-AEDF-0363C54D0E56}"/>
              </a:ext>
            </a:extLst>
          </p:cNvPr>
          <p:cNvSpPr>
            <a:spLocks xmlns:a="http://schemas.openxmlformats.org/drawingml/2006/main" noGrp="1"/>
          </p:cNvSpPr>
          <p:nvPr/>
        </p:nvSpPr>
        <p:spPr>
          <a:xfrm xmlns:a="http://schemas.openxmlformats.org/drawingml/2006/main">
            <a:off x="5286375" y="3143250"/>
            <a:ext cx="2643188" cy="1214438"/>
          </a:xfrm>
          <a:prstGeom xmlns:a="http://schemas.openxmlformats.org/drawingml/2006/main" prst="roundRect">
            <a:avLst>
              <a:gd name="adj" fmla="val 6275"/>
            </a:avLst>
          </a:prstGeom>
          <a:solidFill xmlns:a="http://schemas.openxmlformats.org/drawingml/2006/main">
            <a:srgbClr val="F1F3F8"/>
          </a:solidFill>
          <a:ln xmlns:a="http://schemas.openxmlformats.org/drawingml/2006/main" w="19050">
            <a:solidFill>
              <a:srgbClr val="4F81BD"/>
            </a:solidFill>
          </a:ln>
        </p:spPr>
      </p:sp>
      <p:sp>
        <p:nvSpPr>
          <p:cNvPr id="17" name="">
            <a:extLst xmlns:a="http://schemas.openxmlformats.org/drawingml/2006/main">
              <a:ext uri="{FF2B5EF4-FFF2-40B4-BE49-F238E27FC236}">
                <a16:creationId xmlns:a16="http://schemas.microsoft.com/office/drawing/2014/main" id="{59FE82D8-2211-4E85-B567-20FFB00BAC1B}"/>
              </a:ext>
            </a:extLst>
          </p:cNvPr>
          <p:cNvSpPr>
            <a:spLocks xmlns:a="http://schemas.openxmlformats.org/drawingml/2006/main" noGrp="1"/>
          </p:cNvSpPr>
          <p:nvPr/>
        </p:nvSpPr>
        <p:spPr>
          <a:xfrm xmlns:a="http://schemas.openxmlformats.org/drawingml/2006/main">
            <a:off x="5400675" y="3214688"/>
            <a:ext cx="2414588"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Khởi tạo</a:t>
            </a:r>
          </a:p>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giao dịch</a:t>
            </a:r>
          </a:p>
        </p:txBody>
      </p:sp>
      <p:sp>
        <p:nvSpPr>
          <p:cNvPr id="18" name="">
            <a:extLst xmlns:a="http://schemas.openxmlformats.org/drawingml/2006/main">
              <a:ext uri="{FF2B5EF4-FFF2-40B4-BE49-F238E27FC236}">
                <a16:creationId xmlns:a16="http://schemas.microsoft.com/office/drawing/2014/main" id="{940C51DC-ED57-4999-A72F-CD11DCB1AA28}"/>
              </a:ext>
            </a:extLst>
          </p:cNvPr>
          <p:cNvSpPr>
            <a:spLocks xmlns:a="http://schemas.openxmlformats.org/drawingml/2006/main" noGrp="1"/>
          </p:cNvSpPr>
          <p:nvPr/>
        </p:nvSpPr>
        <p:spPr>
          <a:xfrm xmlns:a="http://schemas.openxmlformats.org/drawingml/2006/main">
            <a:off x="8858250" y="5972175"/>
            <a:ext cx="3286125" cy="1285875"/>
          </a:xfrm>
          <a:prstGeom xmlns:a="http://schemas.openxmlformats.org/drawingml/2006/main" prst="roundRect">
            <a:avLst>
              <a:gd name="adj" fmla="val 5926"/>
            </a:avLst>
          </a:prstGeom>
          <a:solidFill xmlns:a="http://schemas.openxmlformats.org/drawingml/2006/main">
            <a:srgbClr val="F1F3F8"/>
          </a:solidFill>
          <a:ln xmlns:a="http://schemas.openxmlformats.org/drawingml/2006/main" w="19050">
            <a:solidFill>
              <a:srgbClr val="4F81BD"/>
            </a:solidFill>
          </a:ln>
        </p:spPr>
      </p:sp>
      <p:sp>
        <p:nvSpPr>
          <p:cNvPr id="19" name="">
            <a:extLst xmlns:a="http://schemas.openxmlformats.org/drawingml/2006/main">
              <a:ext uri="{FF2B5EF4-FFF2-40B4-BE49-F238E27FC236}">
                <a16:creationId xmlns:a16="http://schemas.microsoft.com/office/drawing/2014/main" id="{E77CA7F7-B405-4C34-8DFB-7DE8AA618B28}"/>
              </a:ext>
            </a:extLst>
          </p:cNvPr>
          <p:cNvSpPr>
            <a:spLocks xmlns:a="http://schemas.openxmlformats.org/drawingml/2006/main" noGrp="1"/>
          </p:cNvSpPr>
          <p:nvPr/>
        </p:nvSpPr>
        <p:spPr>
          <a:xfrm xmlns:a="http://schemas.openxmlformats.org/drawingml/2006/main">
            <a:off x="8972550" y="6043613"/>
            <a:ext cx="3057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Kiểm soát bắt buộc</a:t>
            </a:r>
          </a:p>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 quy tắc hiện có</a:t>
            </a:r>
          </a:p>
        </p:txBody>
      </p:sp>
      <p:sp>
        <p:nvSpPr>
          <p:cNvPr id="20" name="">
            <a:extLst xmlns:a="http://schemas.openxmlformats.org/drawingml/2006/main">
              <a:ext uri="{FF2B5EF4-FFF2-40B4-BE49-F238E27FC236}">
                <a16:creationId xmlns:a16="http://schemas.microsoft.com/office/drawing/2014/main" id="{D74CF387-61AA-4610-84AD-710162E3C30A}"/>
              </a:ext>
            </a:extLst>
          </p:cNvPr>
          <p:cNvSpPr>
            <a:spLocks xmlns:a="http://schemas.openxmlformats.org/drawingml/2006/main" noGrp="1"/>
          </p:cNvSpPr>
          <p:nvPr/>
        </p:nvSpPr>
        <p:spPr>
          <a:xfrm xmlns:a="http://schemas.openxmlformats.org/drawingml/2006/main">
            <a:off x="13001625" y="6043613"/>
            <a:ext cx="1171575" cy="1171575"/>
          </a:xfrm>
          <a:prstGeom xmlns:a="http://schemas.openxmlformats.org/drawingml/2006/main" prst="diamond">
            <a:avLst/>
          </a:prstGeom>
          <a:solidFill xmlns:a="http://schemas.openxmlformats.org/drawingml/2006/main">
            <a:srgbClr val="FFF4DE"/>
          </a:solidFill>
          <a:ln xmlns:a="http://schemas.openxmlformats.org/drawingml/2006/main" w="19050">
            <a:solidFill>
              <a:srgbClr val="FAA61A"/>
            </a:solidFill>
          </a:ln>
        </p:spPr>
      </p:sp>
      <p:sp>
        <p:nvSpPr>
          <p:cNvPr id="21" name="">
            <a:extLst xmlns:a="http://schemas.openxmlformats.org/drawingml/2006/main">
              <a:ext uri="{FF2B5EF4-FFF2-40B4-BE49-F238E27FC236}">
                <a16:creationId xmlns:a16="http://schemas.microsoft.com/office/drawing/2014/main" id="{C58778E6-0A51-4549-92D8-D0BC03698476}"/>
              </a:ext>
            </a:extLst>
          </p:cNvPr>
          <p:cNvSpPr>
            <a:spLocks xmlns:a="http://schemas.openxmlformats.org/drawingml/2006/main" noGrp="1"/>
          </p:cNvSpPr>
          <p:nvPr/>
        </p:nvSpPr>
        <p:spPr>
          <a:xfrm xmlns:a="http://schemas.openxmlformats.org/drawingml/2006/main">
            <a:off x="13115925" y="6257925"/>
            <a:ext cx="9429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00" b="1">
                <a:solidFill>
                  <a:srgbClr val="1C334E"/>
                </a:solidFill>
                <a:latin typeface="Open Sans"/>
                <a:ea typeface="Open Sans"/>
                <a:cs typeface="Open Sans"/>
              </a:defRPr>
            </a:pPr>
            <a:r>
              <a:rPr sz="1200" b="1">
                <a:solidFill>
                  <a:srgbClr val="1C334E"/>
                </a:solidFill>
                <a:latin typeface="Open Sans"/>
                <a:ea typeface="Open Sans"/>
                <a:cs typeface="Open Sans"/>
              </a:rPr>
              <a:t>Đủ</a:t>
            </a:r>
          </a:p>
          <a:p xmlns:a="http://schemas.openxmlformats.org/drawingml/2006/main">
            <a:pPr algn="ctr">
              <a:lnSpc>
                <a:spcPct val="105000"/>
              </a:lnSpc>
              <a:buNone/>
              <a:defRPr sz="1200" b="1">
                <a:solidFill>
                  <a:srgbClr val="1C334E"/>
                </a:solidFill>
                <a:latin typeface="Open Sans"/>
                <a:ea typeface="Open Sans"/>
                <a:cs typeface="Open Sans"/>
              </a:defRPr>
            </a:pPr>
            <a:r>
              <a:rPr sz="1200" b="1">
                <a:solidFill>
                  <a:srgbClr val="1C334E"/>
                </a:solidFill>
                <a:latin typeface="Open Sans"/>
                <a:ea typeface="Open Sans"/>
                <a:cs typeface="Open Sans"/>
              </a:rPr>
              <a:t>điều kiện?</a:t>
            </a:r>
          </a:p>
        </p:txBody>
      </p:sp>
      <p:sp>
        <p:nvSpPr>
          <p:cNvPr id="22" name="">
            <a:extLst xmlns:a="http://schemas.openxmlformats.org/drawingml/2006/main">
              <a:ext uri="{FF2B5EF4-FFF2-40B4-BE49-F238E27FC236}">
                <a16:creationId xmlns:a16="http://schemas.microsoft.com/office/drawing/2014/main" id="{36AD2ADB-6604-4B13-8239-FF3BFB7D3EE7}"/>
              </a:ext>
            </a:extLst>
          </p:cNvPr>
          <p:cNvSpPr>
            <a:spLocks xmlns:a="http://schemas.openxmlformats.org/drawingml/2006/main" noGrp="1"/>
          </p:cNvSpPr>
          <p:nvPr/>
        </p:nvSpPr>
        <p:spPr>
          <a:xfrm xmlns:a="http://schemas.openxmlformats.org/drawingml/2006/main">
            <a:off x="15001875" y="5643563"/>
            <a:ext cx="1857375" cy="928688"/>
          </a:xfrm>
          <a:prstGeom xmlns:a="http://schemas.openxmlformats.org/drawingml/2006/main" prst="roundRect">
            <a:avLst>
              <a:gd name="adj" fmla="val 8205"/>
            </a:avLst>
          </a:prstGeom>
          <a:solidFill xmlns:a="http://schemas.openxmlformats.org/drawingml/2006/main">
            <a:srgbClr val="EFF5E8"/>
          </a:solidFill>
          <a:ln xmlns:a="http://schemas.openxmlformats.org/drawingml/2006/main" w="19050">
            <a:solidFill>
              <a:srgbClr val="9BBB59"/>
            </a:solidFill>
          </a:ln>
        </p:spPr>
      </p:sp>
      <p:sp>
        <p:nvSpPr>
          <p:cNvPr id="23" name="">
            <a:extLst xmlns:a="http://schemas.openxmlformats.org/drawingml/2006/main">
              <a:ext uri="{FF2B5EF4-FFF2-40B4-BE49-F238E27FC236}">
                <a16:creationId xmlns:a16="http://schemas.microsoft.com/office/drawing/2014/main" id="{744300EA-7D21-4431-B5E2-5BEFCF4E6DB0}"/>
              </a:ext>
            </a:extLst>
          </p:cNvPr>
          <p:cNvSpPr>
            <a:spLocks xmlns:a="http://schemas.openxmlformats.org/drawingml/2006/main" noGrp="1"/>
          </p:cNvSpPr>
          <p:nvPr/>
        </p:nvSpPr>
        <p:spPr>
          <a:xfrm xmlns:a="http://schemas.openxmlformats.org/drawingml/2006/main">
            <a:off x="15116175" y="5715000"/>
            <a:ext cx="162877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1">
                <a:solidFill>
                  <a:srgbClr val="1C334E"/>
                </a:solidFill>
                <a:latin typeface="Montserrat Bold"/>
                <a:ea typeface="Montserrat Bold"/>
                <a:cs typeface="Montserrat Bold"/>
              </a:defRPr>
            </a:pPr>
            <a:r>
              <a:rPr sz="1350" b="1">
                <a:solidFill>
                  <a:srgbClr val="1C334E"/>
                </a:solidFill>
                <a:latin typeface="Montserrat Bold"/>
                <a:ea typeface="Montserrat Bold"/>
                <a:cs typeface="Montserrat Bold"/>
              </a:rPr>
              <a:t>Tiếp tục</a:t>
            </a:r>
          </a:p>
          <a:p xmlns:a="http://schemas.openxmlformats.org/drawingml/2006/main">
            <a:pPr algn="ctr">
              <a:lnSpc>
                <a:spcPct val="105000"/>
              </a:lnSpc>
              <a:buNone/>
              <a:defRPr sz="1350" b="1">
                <a:solidFill>
                  <a:srgbClr val="1C334E"/>
                </a:solidFill>
                <a:latin typeface="Montserrat Bold"/>
                <a:ea typeface="Montserrat Bold"/>
                <a:cs typeface="Montserrat Bold"/>
              </a:defRPr>
            </a:pPr>
            <a:r>
              <a:rPr sz="1350" b="1">
                <a:solidFill>
                  <a:srgbClr val="1C334E"/>
                </a:solidFill>
                <a:latin typeface="Montserrat Bold"/>
                <a:ea typeface="Montserrat Bold"/>
                <a:cs typeface="Montserrat Bold"/>
              </a:rPr>
              <a:t>xử lý</a:t>
            </a:r>
          </a:p>
        </p:txBody>
      </p:sp>
      <p:sp>
        <p:nvSpPr>
          <p:cNvPr id="24" name="">
            <a:extLst xmlns:a="http://schemas.openxmlformats.org/drawingml/2006/main">
              <a:ext uri="{FF2B5EF4-FFF2-40B4-BE49-F238E27FC236}">
                <a16:creationId xmlns:a16="http://schemas.microsoft.com/office/drawing/2014/main" id="{0B296621-F272-4E07-8A94-B2F414AFCFA3}"/>
              </a:ext>
            </a:extLst>
          </p:cNvPr>
          <p:cNvSpPr>
            <a:spLocks xmlns:a="http://schemas.openxmlformats.org/drawingml/2006/main" noGrp="1"/>
          </p:cNvSpPr>
          <p:nvPr/>
        </p:nvSpPr>
        <p:spPr>
          <a:xfrm xmlns:a="http://schemas.openxmlformats.org/drawingml/2006/main">
            <a:off x="15001875" y="6858000"/>
            <a:ext cx="1857375" cy="928688"/>
          </a:xfrm>
          <a:prstGeom xmlns:a="http://schemas.openxmlformats.org/drawingml/2006/main" prst="roundRect">
            <a:avLst>
              <a:gd name="adj" fmla="val 8205"/>
            </a:avLst>
          </a:prstGeom>
          <a:solidFill xmlns:a="http://schemas.openxmlformats.org/drawingml/2006/main">
            <a:srgbClr val="FFF4DE"/>
          </a:solidFill>
          <a:ln xmlns:a="http://schemas.openxmlformats.org/drawingml/2006/main" w="19050">
            <a:solidFill>
              <a:srgbClr val="FAA61A"/>
            </a:solidFill>
          </a:ln>
        </p:spPr>
      </p:sp>
      <p:sp>
        <p:nvSpPr>
          <p:cNvPr id="25" name="">
            <a:extLst xmlns:a="http://schemas.openxmlformats.org/drawingml/2006/main">
              <a:ext uri="{FF2B5EF4-FFF2-40B4-BE49-F238E27FC236}">
                <a16:creationId xmlns:a16="http://schemas.microsoft.com/office/drawing/2014/main" id="{BCFC4B5B-FFA4-4986-88B3-A291CA825F83}"/>
              </a:ext>
            </a:extLst>
          </p:cNvPr>
          <p:cNvSpPr>
            <a:spLocks xmlns:a="http://schemas.openxmlformats.org/drawingml/2006/main" noGrp="1"/>
          </p:cNvSpPr>
          <p:nvPr/>
        </p:nvSpPr>
        <p:spPr>
          <a:xfrm xmlns:a="http://schemas.openxmlformats.org/drawingml/2006/main">
            <a:off x="15116175" y="6929438"/>
            <a:ext cx="162877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1">
                <a:solidFill>
                  <a:srgbClr val="1C334E"/>
                </a:solidFill>
                <a:latin typeface="Montserrat Bold"/>
                <a:ea typeface="Montserrat Bold"/>
                <a:cs typeface="Montserrat Bold"/>
              </a:defRPr>
            </a:pPr>
            <a:r>
              <a:rPr sz="1350" b="1">
                <a:solidFill>
                  <a:srgbClr val="1C334E"/>
                </a:solidFill>
                <a:latin typeface="Montserrat Bold"/>
                <a:ea typeface="Montserrat Bold"/>
                <a:cs typeface="Montserrat Bold"/>
              </a:rPr>
              <a:t>Rà soát</a:t>
            </a:r>
          </a:p>
          <a:p xmlns:a="http://schemas.openxmlformats.org/drawingml/2006/main">
            <a:pPr algn="ctr">
              <a:lnSpc>
                <a:spcPct val="105000"/>
              </a:lnSpc>
              <a:buNone/>
              <a:defRPr sz="1350" b="1">
                <a:solidFill>
                  <a:srgbClr val="1C334E"/>
                </a:solidFill>
                <a:latin typeface="Montserrat Bold"/>
                <a:ea typeface="Montserrat Bold"/>
                <a:cs typeface="Montserrat Bold"/>
              </a:defRPr>
            </a:pPr>
            <a:r>
              <a:rPr sz="1350" b="1">
                <a:solidFill>
                  <a:srgbClr val="1C334E"/>
                </a:solidFill>
                <a:latin typeface="Montserrat Bold"/>
                <a:ea typeface="Montserrat Bold"/>
                <a:cs typeface="Montserrat Bold"/>
              </a:rPr>
              <a:t>goại lệ</a:t>
            </a:r>
          </a:p>
        </p:txBody>
      </p:sp>
      <p:sp>
        <p:nvSpPr>
          <p:cNvPr id="26" name="">
            <a:extLst xmlns:a="http://schemas.openxmlformats.org/drawingml/2006/main">
              <a:ext uri="{FF2B5EF4-FFF2-40B4-BE49-F238E27FC236}">
                <a16:creationId xmlns:a16="http://schemas.microsoft.com/office/drawing/2014/main" id="{1E357782-021B-47C2-9AB5-2A2FF034D2D5}"/>
              </a:ext>
            </a:extLst>
          </p:cNvPr>
          <p:cNvSpPr>
            <a:spLocks xmlns:a="http://schemas.openxmlformats.org/drawingml/2006/main" noGrp="1"/>
          </p:cNvSpPr>
          <p:nvPr/>
        </p:nvSpPr>
        <p:spPr>
          <a:xfrm xmlns:a="http://schemas.openxmlformats.org/drawingml/2006/main">
            <a:off x="4829175" y="3614738"/>
            <a:ext cx="385763"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A907D9A-A409-4F52-897E-985F26F15305}"/>
              </a:ext>
            </a:extLst>
          </p:cNvPr>
          <p:cNvSpPr>
            <a:spLocks xmlns:a="http://schemas.openxmlformats.org/drawingml/2006/main" noGrp="1"/>
          </p:cNvSpPr>
          <p:nvPr/>
        </p:nvSpPr>
        <p:spPr>
          <a:xfrm xmlns:a="http://schemas.openxmlformats.org/drawingml/2006/main">
            <a:off x="7929563" y="3714750"/>
            <a:ext cx="414338"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9E74FCB-97F3-487E-9967-97A730509B64}"/>
              </a:ext>
            </a:extLst>
          </p:cNvPr>
          <p:cNvSpPr>
            <a:spLocks xmlns:a="http://schemas.openxmlformats.org/drawingml/2006/main" noGrp="1"/>
          </p:cNvSpPr>
          <p:nvPr/>
        </p:nvSpPr>
        <p:spPr>
          <a:xfrm xmlns:a="http://schemas.openxmlformats.org/drawingml/2006/main">
            <a:off x="8315325" y="3743325"/>
            <a:ext cx="57150" cy="2871788"/>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3865B5B-3D6E-4B94-9ED3-5D5AC3FB5CA2}"/>
              </a:ext>
            </a:extLst>
          </p:cNvPr>
          <p:cNvSpPr>
            <a:spLocks xmlns:a="http://schemas.openxmlformats.org/drawingml/2006/main" noGrp="1"/>
          </p:cNvSpPr>
          <p:nvPr/>
        </p:nvSpPr>
        <p:spPr>
          <a:xfrm xmlns:a="http://schemas.openxmlformats.org/drawingml/2006/main">
            <a:off x="8343900" y="6500813"/>
            <a:ext cx="457200"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9242A46-3AE0-480C-AB05-61F3313A6442}"/>
              </a:ext>
            </a:extLst>
          </p:cNvPr>
          <p:cNvSpPr>
            <a:spLocks xmlns:a="http://schemas.openxmlformats.org/drawingml/2006/main" noGrp="1"/>
          </p:cNvSpPr>
          <p:nvPr/>
        </p:nvSpPr>
        <p:spPr>
          <a:xfrm xmlns:a="http://schemas.openxmlformats.org/drawingml/2006/main">
            <a:off x="12215813" y="6500813"/>
            <a:ext cx="64293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C712F89-E23F-4780-B9B9-0A192D5C4707}"/>
              </a:ext>
            </a:extLst>
          </p:cNvPr>
          <p:cNvSpPr>
            <a:spLocks xmlns:a="http://schemas.openxmlformats.org/drawingml/2006/main" noGrp="1"/>
          </p:cNvSpPr>
          <p:nvPr/>
        </p:nvSpPr>
        <p:spPr>
          <a:xfrm xmlns:a="http://schemas.openxmlformats.org/drawingml/2006/main">
            <a:off x="14173200" y="6600825"/>
            <a:ext cx="371475"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7C98106-58C4-4E7B-9645-721266D17BD5}"/>
              </a:ext>
            </a:extLst>
          </p:cNvPr>
          <p:cNvSpPr>
            <a:spLocks xmlns:a="http://schemas.openxmlformats.org/drawingml/2006/main" noGrp="1"/>
          </p:cNvSpPr>
          <p:nvPr/>
        </p:nvSpPr>
        <p:spPr>
          <a:xfrm xmlns:a="http://schemas.openxmlformats.org/drawingml/2006/main">
            <a:off x="14516100" y="6100763"/>
            <a:ext cx="57150" cy="1214438"/>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0C87DC0-4488-43EE-B9BE-6B3009C606BA}"/>
              </a:ext>
            </a:extLst>
          </p:cNvPr>
          <p:cNvSpPr>
            <a:spLocks xmlns:a="http://schemas.openxmlformats.org/drawingml/2006/main" noGrp="1"/>
          </p:cNvSpPr>
          <p:nvPr/>
        </p:nvSpPr>
        <p:spPr>
          <a:xfrm xmlns:a="http://schemas.openxmlformats.org/drawingml/2006/main">
            <a:off x="14544675" y="6072188"/>
            <a:ext cx="385763"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06ACC03-DCA2-4AA5-8748-0D8DE2EB4D3D}"/>
              </a:ext>
            </a:extLst>
          </p:cNvPr>
          <p:cNvSpPr>
            <a:spLocks xmlns:a="http://schemas.openxmlformats.org/drawingml/2006/main" noGrp="1"/>
          </p:cNvSpPr>
          <p:nvPr/>
        </p:nvSpPr>
        <p:spPr>
          <a:xfrm xmlns:a="http://schemas.openxmlformats.org/drawingml/2006/main">
            <a:off x="14601825" y="6000750"/>
            <a:ext cx="400050"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683E0DB-D8C2-4D7B-99DE-D430FD35F74E}"/>
              </a:ext>
            </a:extLst>
          </p:cNvPr>
          <p:cNvSpPr>
            <a:spLocks xmlns:a="http://schemas.openxmlformats.org/drawingml/2006/main" noGrp="1"/>
          </p:cNvSpPr>
          <p:nvPr/>
        </p:nvSpPr>
        <p:spPr>
          <a:xfrm xmlns:a="http://schemas.openxmlformats.org/drawingml/2006/main">
            <a:off x="14544675" y="7286625"/>
            <a:ext cx="385763"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8C7DB10-1D44-41B2-9A24-EEDE28C5B16E}"/>
              </a:ext>
            </a:extLst>
          </p:cNvPr>
          <p:cNvSpPr>
            <a:spLocks xmlns:a="http://schemas.openxmlformats.org/drawingml/2006/main" noGrp="1"/>
          </p:cNvSpPr>
          <p:nvPr/>
        </p:nvSpPr>
        <p:spPr>
          <a:xfrm xmlns:a="http://schemas.openxmlformats.org/drawingml/2006/main">
            <a:off x="14601825" y="7215188"/>
            <a:ext cx="400050"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6D85F1C-3E53-4680-902F-EDAFF12C2EBF}"/>
              </a:ext>
            </a:extLst>
          </p:cNvPr>
          <p:cNvSpPr>
            <a:spLocks xmlns:a="http://schemas.openxmlformats.org/drawingml/2006/main" noGrp="1"/>
          </p:cNvSpPr>
          <p:nvPr/>
        </p:nvSpPr>
        <p:spPr>
          <a:xfrm xmlns:a="http://schemas.openxmlformats.org/drawingml/2006/main">
            <a:off x="14244638" y="5700713"/>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125" b="1">
                <a:solidFill>
                  <a:srgbClr val="667085"/>
                </a:solidFill>
                <a:latin typeface="Open Sans"/>
                <a:ea typeface="Open Sans"/>
                <a:cs typeface="Open Sans"/>
              </a:defRPr>
            </a:pPr>
            <a:r>
              <a:rPr sz="1125" b="1">
                <a:solidFill>
                  <a:srgbClr val="667085"/>
                </a:solidFill>
                <a:latin typeface="Open Sans"/>
                <a:ea typeface="Open Sans"/>
                <a:cs typeface="Open Sans"/>
              </a:rPr>
              <a:t>Đạt</a:t>
            </a:r>
          </a:p>
        </p:txBody>
      </p:sp>
      <p:sp>
        <p:nvSpPr>
          <p:cNvPr id="38" name="">
            <a:extLst xmlns:a="http://schemas.openxmlformats.org/drawingml/2006/main">
              <a:ext uri="{FF2B5EF4-FFF2-40B4-BE49-F238E27FC236}">
                <a16:creationId xmlns:a16="http://schemas.microsoft.com/office/drawing/2014/main" id="{63D4485E-7B20-4B00-A592-203711041252}"/>
              </a:ext>
            </a:extLst>
          </p:cNvPr>
          <p:cNvSpPr>
            <a:spLocks xmlns:a="http://schemas.openxmlformats.org/drawingml/2006/main" noGrp="1"/>
          </p:cNvSpPr>
          <p:nvPr/>
        </p:nvSpPr>
        <p:spPr>
          <a:xfrm xmlns:a="http://schemas.openxmlformats.org/drawingml/2006/main">
            <a:off x="14216063" y="7429500"/>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667085"/>
                </a:solidFill>
                <a:latin typeface="Open Sans"/>
                <a:ea typeface="Open Sans"/>
                <a:cs typeface="Open Sans"/>
              </a:defRPr>
            </a:pPr>
            <a:r>
              <a:rPr sz="1050" b="1">
                <a:solidFill>
                  <a:srgbClr val="667085"/>
                </a:solidFill>
                <a:latin typeface="Open Sans"/>
                <a:ea typeface="Open Sans"/>
                <a:cs typeface="Open Sans"/>
              </a:rPr>
              <a:t>Ngoại lệ</a:t>
            </a:r>
          </a:p>
        </p:txBody>
      </p:sp>
      <p:sp>
        <p:nvSpPr>
          <p:cNvPr id="39" name="">
            <a:extLst xmlns:a="http://schemas.openxmlformats.org/drawingml/2006/main">
              <a:ext uri="{FF2B5EF4-FFF2-40B4-BE49-F238E27FC236}">
                <a16:creationId xmlns:a16="http://schemas.microsoft.com/office/drawing/2014/main" id="{BA629158-36EE-4C41-B00A-3858A4A3FD4F}"/>
              </a:ext>
            </a:extLst>
          </p:cNvPr>
          <p:cNvSpPr>
            <a:spLocks xmlns:a="http://schemas.openxmlformats.org/drawingml/2006/main" noGrp="1"/>
          </p:cNvSpPr>
          <p:nvPr/>
        </p:nvSpPr>
        <p:spPr>
          <a:xfrm xmlns:a="http://schemas.openxmlformats.org/drawingml/2006/main">
            <a:off x="1143000" y="8601075"/>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C0504D"/>
                </a:solidFill>
                <a:latin typeface="Open Sans"/>
                <a:ea typeface="Open Sans"/>
                <a:cs typeface="Open Sans"/>
              </a:defRPr>
            </a:pPr>
            <a:r>
              <a:rPr sz="1575" b="1">
                <a:solidFill>
                  <a:srgbClr val="C0504D"/>
                </a:solidFill>
                <a:latin typeface="Open Sans"/>
                <a:ea typeface="Open Sans"/>
                <a:cs typeface="Open Sans"/>
              </a:rPr>
              <a:t>THAM CHIẾU, CHƯA XÁC MINH TẠI MB</a:t>
            </a:r>
          </a:p>
        </p:txBody>
      </p:sp>
      <p:sp>
        <p:nvSpPr>
          <p:cNvPr id="40" name="">
            <a:extLst xmlns:a="http://schemas.openxmlformats.org/drawingml/2006/main">
              <a:ext uri="{FF2B5EF4-FFF2-40B4-BE49-F238E27FC236}">
                <a16:creationId xmlns:a16="http://schemas.microsoft.com/office/drawing/2014/main" id="{FC293718-39AC-4448-852B-D8DB2C7F352D}"/>
              </a:ext>
            </a:extLst>
          </p:cNvPr>
          <p:cNvSpPr>
            <a:spLocks xmlns:a="http://schemas.openxmlformats.org/drawingml/2006/main" noGrp="1"/>
          </p:cNvSpPr>
          <p:nvPr/>
        </p:nvSpPr>
        <p:spPr>
          <a:xfrm xmlns:a="http://schemas.openxmlformats.org/drawingml/2006/main">
            <a:off x="1143000" y="9144000"/>
            <a:ext cx="1285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00" b="0">
                <a:solidFill>
                  <a:srgbClr val="667085"/>
                </a:solidFill>
                <a:latin typeface="Open Sans"/>
                <a:ea typeface="Open Sans"/>
                <a:cs typeface="Open Sans"/>
              </a:defRPr>
            </a:pPr>
            <a:r>
              <a:rPr sz="1200" b="0">
                <a:solidFill>
                  <a:srgbClr val="667085"/>
                </a:solidFill>
                <a:latin typeface="Open Sans"/>
                <a:ea typeface="Open Sans"/>
                <a:cs typeface="Open Sans"/>
              </a:rPr>
              <a:t>BPMN 2.0: sự kiện, tác vụ, gateway và luồng tuần tự</a:t>
            </a:r>
          </a:p>
        </p:txBody>
      </p:sp>
    </p:spTree>
    <p:extLst>
      <p:ext uri="{BB962C8B-B14F-4D97-AF65-F5344CB8AC3E}">
        <p14:creationId xmlns:p14="http://schemas.microsoft.com/office/powerpoint/2010/main" val="629442919"/>
      </p:ext>
    </p:extLst>
  </p:cSld>
</p:sld>
</file>

<file path=ppt/slides/slide7.xml><?xml version="1.0" encoding="utf-8"?>
<p:sld xmlns:a="http://schemas.openxmlformats.org/drawingml/2006/main" xmlns:a16="http://schemas.microsoft.com/office/drawing/2014/main" xmlns:p14="http://schemas.microsoft.com/office/powerpoint/2010/main" xmlns:p="http://schemas.openxmlformats.org/presentationml/2006/main">
  <p:cSld name="To-Be đề xuất">
    <p:bg>
      <p:bgPr>
        <a:solidFill xmlns:a="http://schemas.openxmlformats.org/drawingml/2006/main">
          <a:srgbClr val="282A75"/>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4A2830F6-48CB-4CD6-85C7-4082FC85553C}"/>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DE59958F-8E1B-44CC-A148-C53B4655F2FB}"/>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9D2E4741-1A03-4E5A-9A53-9957C0F31867}"/>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395D0E-4CCA-4357-9869-7385AC33EEF0}"/>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QUY TRÌNH ĐỀ XUẤT</a:t>
            </a:r>
          </a:p>
        </p:txBody>
      </p:sp>
      <p:sp>
        <p:nvSpPr>
          <p:cNvPr id="5" name="">
            <a:extLst xmlns:a="http://schemas.openxmlformats.org/drawingml/2006/main">
              <a:ext uri="{FF2B5EF4-FFF2-40B4-BE49-F238E27FC236}">
                <a16:creationId xmlns:a16="http://schemas.microsoft.com/office/drawing/2014/main" id="{5A9387E6-17A6-4063-8EB2-15D91BB3CF1A}"/>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To-Be: gợi ý kiểm tra có con người giám sát</a:t>
            </a:r>
          </a:p>
        </p:txBody>
      </p:sp>
      <p:sp>
        <p:nvSpPr>
          <p:cNvPr id="6" name="">
            <a:extLst xmlns:a="http://schemas.openxmlformats.org/drawingml/2006/main">
              <a:ext uri="{FF2B5EF4-FFF2-40B4-BE49-F238E27FC236}">
                <a16:creationId xmlns:a16="http://schemas.microsoft.com/office/drawing/2014/main" id="{DE0E374D-0849-44B7-BEA2-8554BE4758A6}"/>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09A596-4AA1-4654-9AD2-76A9944EBE72}"/>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5249EA79-98D7-4F12-9E75-86648F170FD5}"/>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83B29810-76B0-44C7-B77B-25448FC7C808}"/>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7</a:t>
            </a:r>
          </a:p>
        </p:txBody>
      </p:sp>
      <p:sp>
        <p:nvSpPr>
          <p:cNvPr id="10" name="">
            <a:extLst xmlns:a="http://schemas.openxmlformats.org/drawingml/2006/main">
              <a:ext uri="{FF2B5EF4-FFF2-40B4-BE49-F238E27FC236}">
                <a16:creationId xmlns:a16="http://schemas.microsoft.com/office/drawing/2014/main" id="{24769284-ACC3-4EF3-939A-D07115649F7F}"/>
              </a:ext>
            </a:extLst>
          </p:cNvPr>
          <p:cNvSpPr>
            <a:spLocks xmlns:a="http://schemas.openxmlformats.org/drawingml/2006/main" noGrp="1"/>
          </p:cNvSpPr>
          <p:nvPr/>
        </p:nvSpPr>
        <p:spPr>
          <a:xfrm xmlns:a="http://schemas.openxmlformats.org/drawingml/2006/main">
            <a:off x="1143000" y="2143125"/>
            <a:ext cx="15930563" cy="6357938"/>
          </a:xfrm>
          <a:prstGeom xmlns:a="http://schemas.openxmlformats.org/drawingml/2006/main" prst="rect">
            <a:avLst/>
          </a:prstGeom>
          <a:solidFill xmlns:a="http://schemas.openxmlformats.org/drawingml/2006/main">
            <a:srgbClr val="FBFBFC"/>
          </a:solidFill>
          <a:ln xmlns:a="http://schemas.openxmlformats.org/drawingml/2006/main" w="19050">
            <a:solidFill>
              <a:srgbClr val="D7D9E8"/>
            </a:solidFill>
          </a:ln>
        </p:spPr>
      </p:sp>
      <p:sp>
        <p:nvSpPr>
          <p:cNvPr id="11" name="">
            <a:extLst xmlns:a="http://schemas.openxmlformats.org/drawingml/2006/main">
              <a:ext uri="{FF2B5EF4-FFF2-40B4-BE49-F238E27FC236}">
                <a16:creationId xmlns:a16="http://schemas.microsoft.com/office/drawing/2014/main" id="{BE9528AB-6919-494C-9FD5-FF1D9A920FEC}"/>
              </a:ext>
            </a:extLst>
          </p:cNvPr>
          <p:cNvSpPr>
            <a:spLocks xmlns:a="http://schemas.openxmlformats.org/drawingml/2006/main" noGrp="1"/>
          </p:cNvSpPr>
          <p:nvPr/>
        </p:nvSpPr>
        <p:spPr>
          <a:xfrm xmlns:a="http://schemas.openxmlformats.org/drawingml/2006/main">
            <a:off x="1143000" y="2143125"/>
            <a:ext cx="15930563" cy="2000250"/>
          </a:xfrm>
          <a:prstGeom xmlns:a="http://schemas.openxmlformats.org/drawingml/2006/main" prst="rect">
            <a:avLst/>
          </a:prstGeom>
          <a:solidFill xmlns:a="http://schemas.openxmlformats.org/drawingml/2006/main">
            <a:srgbClr val="FBFCFD"/>
          </a:solidFill>
          <a:ln xmlns:a="http://schemas.openxmlformats.org/drawingml/2006/main" w="9525">
            <a:solidFill>
              <a:srgbClr val="D7D9E8"/>
            </a:solidFill>
          </a:ln>
        </p:spPr>
      </p:sp>
      <p:sp>
        <p:nvSpPr>
          <p:cNvPr id="12" name="">
            <a:extLst xmlns:a="http://schemas.openxmlformats.org/drawingml/2006/main">
              <a:ext uri="{FF2B5EF4-FFF2-40B4-BE49-F238E27FC236}">
                <a16:creationId xmlns:a16="http://schemas.microsoft.com/office/drawing/2014/main" id="{7D48FF1F-5A95-40E6-B362-590680D4A827}"/>
              </a:ext>
            </a:extLst>
          </p:cNvPr>
          <p:cNvSpPr>
            <a:spLocks xmlns:a="http://schemas.openxmlformats.org/drawingml/2006/main" noGrp="1"/>
          </p:cNvSpPr>
          <p:nvPr/>
        </p:nvSpPr>
        <p:spPr>
          <a:xfrm xmlns:a="http://schemas.openxmlformats.org/drawingml/2006/main">
            <a:off x="1143000" y="4143375"/>
            <a:ext cx="15930563" cy="2286000"/>
          </a:xfrm>
          <a:prstGeom xmlns:a="http://schemas.openxmlformats.org/drawingml/2006/main" prst="rect">
            <a:avLst/>
          </a:prstGeom>
          <a:solidFill xmlns:a="http://schemas.openxmlformats.org/drawingml/2006/main">
            <a:srgbClr val="F6F9FC"/>
          </a:solidFill>
          <a:ln xmlns:a="http://schemas.openxmlformats.org/drawingml/2006/main" w="9525">
            <a:solidFill>
              <a:srgbClr val="D7D9E8"/>
            </a:solidFill>
          </a:ln>
        </p:spPr>
      </p:sp>
      <p:sp>
        <p:nvSpPr>
          <p:cNvPr id="13" name="">
            <a:extLst xmlns:a="http://schemas.openxmlformats.org/drawingml/2006/main">
              <a:ext uri="{FF2B5EF4-FFF2-40B4-BE49-F238E27FC236}">
                <a16:creationId xmlns:a16="http://schemas.microsoft.com/office/drawing/2014/main" id="{2685D0FD-52F5-4322-B492-53A2BF0614B5}"/>
              </a:ext>
            </a:extLst>
          </p:cNvPr>
          <p:cNvSpPr>
            <a:spLocks xmlns:a="http://schemas.openxmlformats.org/drawingml/2006/main" noGrp="1"/>
          </p:cNvSpPr>
          <p:nvPr/>
        </p:nvSpPr>
        <p:spPr>
          <a:xfrm xmlns:a="http://schemas.openxmlformats.org/drawingml/2006/main">
            <a:off x="1143000" y="6429375"/>
            <a:ext cx="15930563" cy="2071688"/>
          </a:xfrm>
          <a:prstGeom xmlns:a="http://schemas.openxmlformats.org/drawingml/2006/main" prst="rect">
            <a:avLst/>
          </a:prstGeom>
          <a:solidFill xmlns:a="http://schemas.openxmlformats.org/drawingml/2006/main">
            <a:srgbClr val="FBFCFD"/>
          </a:solidFill>
          <a:ln xmlns:a="http://schemas.openxmlformats.org/drawingml/2006/main" w="9525">
            <a:solidFill>
              <a:srgbClr val="D7D9E8"/>
            </a:solidFill>
          </a:ln>
        </p:spPr>
      </p:sp>
      <p:sp>
        <p:nvSpPr>
          <p:cNvPr id="14" name="">
            <a:extLst xmlns:a="http://schemas.openxmlformats.org/drawingml/2006/main">
              <a:ext uri="{FF2B5EF4-FFF2-40B4-BE49-F238E27FC236}">
                <a16:creationId xmlns:a16="http://schemas.microsoft.com/office/drawing/2014/main" id="{C8E87348-0DE1-42BA-8AE8-C05F7D10B032}"/>
              </a:ext>
            </a:extLst>
          </p:cNvPr>
          <p:cNvSpPr>
            <a:spLocks xmlns:a="http://schemas.openxmlformats.org/drawingml/2006/main" noGrp="1"/>
          </p:cNvSpPr>
          <p:nvPr/>
        </p:nvSpPr>
        <p:spPr>
          <a:xfrm xmlns:a="http://schemas.openxmlformats.org/drawingml/2006/main">
            <a:off x="1285875" y="28860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1">
                <a:solidFill>
                  <a:srgbClr val="667085"/>
                </a:solidFill>
                <a:latin typeface="Open Sans"/>
                <a:ea typeface="Open Sans"/>
                <a:cs typeface="Open Sans"/>
              </a:defRPr>
            </a:pPr>
            <a:r>
              <a:rPr sz="1275" b="1">
                <a:solidFill>
                  <a:srgbClr val="667085"/>
                </a:solidFill>
                <a:latin typeface="Open Sans"/>
                <a:ea typeface="Open Sans"/>
                <a:cs typeface="Open Sans"/>
              </a:rPr>
              <a:t>Khách hàng / kênh</a:t>
            </a:r>
          </a:p>
        </p:txBody>
      </p:sp>
      <p:sp>
        <p:nvSpPr>
          <p:cNvPr id="15" name="">
            <a:extLst xmlns:a="http://schemas.openxmlformats.org/drawingml/2006/main">
              <a:ext uri="{FF2B5EF4-FFF2-40B4-BE49-F238E27FC236}">
                <a16:creationId xmlns:a16="http://schemas.microsoft.com/office/drawing/2014/main" id="{6AA75524-9897-4982-9399-3E1F188495D0}"/>
              </a:ext>
            </a:extLst>
          </p:cNvPr>
          <p:cNvSpPr>
            <a:spLocks xmlns:a="http://schemas.openxmlformats.org/drawingml/2006/main" noGrp="1"/>
          </p:cNvSpPr>
          <p:nvPr/>
        </p:nvSpPr>
        <p:spPr>
          <a:xfrm xmlns:a="http://schemas.openxmlformats.org/drawingml/2006/main">
            <a:off x="1285875" y="500062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1">
                <a:solidFill>
                  <a:srgbClr val="667085"/>
                </a:solidFill>
                <a:latin typeface="Open Sans"/>
                <a:ea typeface="Open Sans"/>
                <a:cs typeface="Open Sans"/>
              </a:defRPr>
            </a:pPr>
            <a:r>
              <a:rPr sz="1275" b="1">
                <a:solidFill>
                  <a:srgbClr val="667085"/>
                </a:solidFill>
                <a:latin typeface="Open Sans"/>
                <a:ea typeface="Open Sans"/>
                <a:cs typeface="Open Sans"/>
              </a:rPr>
              <a:t>Scoring + policy</a:t>
            </a:r>
          </a:p>
        </p:txBody>
      </p:sp>
      <p:sp>
        <p:nvSpPr>
          <p:cNvPr id="16" name="">
            <a:extLst xmlns:a="http://schemas.openxmlformats.org/drawingml/2006/main">
              <a:ext uri="{FF2B5EF4-FFF2-40B4-BE49-F238E27FC236}">
                <a16:creationId xmlns:a16="http://schemas.microsoft.com/office/drawing/2014/main" id="{D591A3FE-A8A6-469B-9309-436E4BDE3C37}"/>
              </a:ext>
            </a:extLst>
          </p:cNvPr>
          <p:cNvSpPr>
            <a:spLocks xmlns:a="http://schemas.openxmlformats.org/drawingml/2006/main" noGrp="1"/>
          </p:cNvSpPr>
          <p:nvPr/>
        </p:nvSpPr>
        <p:spPr>
          <a:xfrm xmlns:a="http://schemas.openxmlformats.org/drawingml/2006/main">
            <a:off x="1285875" y="7200900"/>
            <a:ext cx="207168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1">
                <a:solidFill>
                  <a:srgbClr val="667085"/>
                </a:solidFill>
                <a:latin typeface="Open Sans"/>
                <a:ea typeface="Open Sans"/>
                <a:cs typeface="Open Sans"/>
              </a:defRPr>
            </a:pPr>
            <a:r>
              <a:rPr sz="1275" b="1">
                <a:solidFill>
                  <a:srgbClr val="667085"/>
                </a:solidFill>
                <a:latin typeface="Open Sans"/>
                <a:ea typeface="Open Sans"/>
                <a:cs typeface="Open Sans"/>
              </a:rPr>
              <a:t>Chuyên viên</a:t>
            </a:r>
          </a:p>
        </p:txBody>
      </p:sp>
      <p:sp>
        <p:nvSpPr>
          <p:cNvPr id="17" name="">
            <a:extLst xmlns:a="http://schemas.openxmlformats.org/drawingml/2006/main">
              <a:ext uri="{FF2B5EF4-FFF2-40B4-BE49-F238E27FC236}">
                <a16:creationId xmlns:a16="http://schemas.microsoft.com/office/drawing/2014/main" id="{8FA73E12-9CEE-4320-81AB-430985E77A51}"/>
              </a:ext>
            </a:extLst>
          </p:cNvPr>
          <p:cNvSpPr>
            <a:spLocks xmlns:a="http://schemas.openxmlformats.org/drawingml/2006/main" noGrp="1"/>
          </p:cNvSpPr>
          <p:nvPr/>
        </p:nvSpPr>
        <p:spPr>
          <a:xfrm xmlns:a="http://schemas.openxmlformats.org/drawingml/2006/main">
            <a:off x="3929063" y="2814638"/>
            <a:ext cx="685800" cy="685800"/>
          </a:xfrm>
          <a:prstGeom xmlns:a="http://schemas.openxmlformats.org/drawingml/2006/main" prst="ellipse">
            <a:avLst/>
          </a:prstGeom>
          <a:solidFill xmlns:a="http://schemas.openxmlformats.org/drawingml/2006/main">
            <a:srgbClr val="FBFBFC"/>
          </a:solidFill>
          <a:ln xmlns:a="http://schemas.openxmlformats.org/drawingml/2006/main" w="38100">
            <a:solidFill>
              <a:srgbClr val="9BBB59"/>
            </a:solidFill>
          </a:ln>
        </p:spPr>
      </p:sp>
      <p:sp>
        <p:nvSpPr>
          <p:cNvPr id="18" name="">
            <a:extLst xmlns:a="http://schemas.openxmlformats.org/drawingml/2006/main">
              <a:ext uri="{FF2B5EF4-FFF2-40B4-BE49-F238E27FC236}">
                <a16:creationId xmlns:a16="http://schemas.microsoft.com/office/drawing/2014/main" id="{07A87F3B-4D12-4C35-BDFE-BCCE81D4E8E8}"/>
              </a:ext>
            </a:extLst>
          </p:cNvPr>
          <p:cNvSpPr>
            <a:spLocks xmlns:a="http://schemas.openxmlformats.org/drawingml/2006/main" noGrp="1"/>
          </p:cNvSpPr>
          <p:nvPr/>
        </p:nvSpPr>
        <p:spPr>
          <a:xfrm xmlns:a="http://schemas.openxmlformats.org/drawingml/2006/main">
            <a:off x="5000625" y="2571750"/>
            <a:ext cx="2357438" cy="1114425"/>
          </a:xfrm>
          <a:prstGeom xmlns:a="http://schemas.openxmlformats.org/drawingml/2006/main" prst="roundRect">
            <a:avLst>
              <a:gd name="adj" fmla="val 6838"/>
            </a:avLst>
          </a:prstGeom>
          <a:solidFill xmlns:a="http://schemas.openxmlformats.org/drawingml/2006/main">
            <a:srgbClr val="F1F3F8"/>
          </a:solidFill>
          <a:ln xmlns:a="http://schemas.openxmlformats.org/drawingml/2006/main" w="19050">
            <a:solidFill>
              <a:srgbClr val="4F81BD"/>
            </a:solidFill>
          </a:ln>
        </p:spPr>
      </p:sp>
      <p:sp>
        <p:nvSpPr>
          <p:cNvPr id="19" name="">
            <a:extLst xmlns:a="http://schemas.openxmlformats.org/drawingml/2006/main">
              <a:ext uri="{FF2B5EF4-FFF2-40B4-BE49-F238E27FC236}">
                <a16:creationId xmlns:a16="http://schemas.microsoft.com/office/drawing/2014/main" id="{36F729F3-B28E-44FA-AF79-616C76F11E27}"/>
              </a:ext>
            </a:extLst>
          </p:cNvPr>
          <p:cNvSpPr>
            <a:spLocks xmlns:a="http://schemas.openxmlformats.org/drawingml/2006/main" noGrp="1"/>
          </p:cNvSpPr>
          <p:nvPr/>
        </p:nvSpPr>
        <p:spPr>
          <a:xfrm xmlns:a="http://schemas.openxmlformats.org/drawingml/2006/main">
            <a:off x="5114925" y="2643188"/>
            <a:ext cx="2128838"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Gửi giao dịch</a:t>
            </a:r>
          </a:p>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 tín hiệu</a:t>
            </a:r>
          </a:p>
        </p:txBody>
      </p:sp>
      <p:sp>
        <p:nvSpPr>
          <p:cNvPr id="20" name="">
            <a:extLst xmlns:a="http://schemas.openxmlformats.org/drawingml/2006/main">
              <a:ext uri="{FF2B5EF4-FFF2-40B4-BE49-F238E27FC236}">
                <a16:creationId xmlns:a16="http://schemas.microsoft.com/office/drawing/2014/main" id="{84AA18D1-4E6C-4E1D-B6CC-467EC9C265E7}"/>
              </a:ext>
            </a:extLst>
          </p:cNvPr>
          <p:cNvSpPr>
            <a:spLocks xmlns:a="http://schemas.openxmlformats.org/drawingml/2006/main" noGrp="1"/>
          </p:cNvSpPr>
          <p:nvPr/>
        </p:nvSpPr>
        <p:spPr>
          <a:xfrm xmlns:a="http://schemas.openxmlformats.org/drawingml/2006/main">
            <a:off x="8072438" y="4672013"/>
            <a:ext cx="2357438" cy="1228725"/>
          </a:xfrm>
          <a:prstGeom xmlns:a="http://schemas.openxmlformats.org/drawingml/2006/main" prst="roundRect">
            <a:avLst>
              <a:gd name="adj" fmla="val 6202"/>
            </a:avLst>
          </a:prstGeom>
          <a:solidFill xmlns:a="http://schemas.openxmlformats.org/drawingml/2006/main">
            <a:srgbClr val="F1F3F8"/>
          </a:solidFill>
          <a:ln xmlns:a="http://schemas.openxmlformats.org/drawingml/2006/main" w="19050">
            <a:solidFill>
              <a:srgbClr val="4F81BD"/>
            </a:solidFill>
          </a:ln>
        </p:spPr>
      </p:sp>
      <p:sp>
        <p:nvSpPr>
          <p:cNvPr id="21" name="">
            <a:extLst xmlns:a="http://schemas.openxmlformats.org/drawingml/2006/main">
              <a:ext uri="{FF2B5EF4-FFF2-40B4-BE49-F238E27FC236}">
                <a16:creationId xmlns:a16="http://schemas.microsoft.com/office/drawing/2014/main" id="{615F67F0-8451-4039-82D9-2227F713DD4C}"/>
              </a:ext>
            </a:extLst>
          </p:cNvPr>
          <p:cNvSpPr>
            <a:spLocks xmlns:a="http://schemas.openxmlformats.org/drawingml/2006/main" noGrp="1"/>
          </p:cNvSpPr>
          <p:nvPr/>
        </p:nvSpPr>
        <p:spPr>
          <a:xfrm xmlns:a="http://schemas.openxmlformats.org/drawingml/2006/main">
            <a:off x="8186738" y="4743450"/>
            <a:ext cx="2128838"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Validate →</a:t>
            </a:r>
          </a:p>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scoring</a:t>
            </a:r>
          </a:p>
        </p:txBody>
      </p:sp>
      <p:sp>
        <p:nvSpPr>
          <p:cNvPr id="22" name="">
            <a:extLst xmlns:a="http://schemas.openxmlformats.org/drawingml/2006/main">
              <a:ext uri="{FF2B5EF4-FFF2-40B4-BE49-F238E27FC236}">
                <a16:creationId xmlns:a16="http://schemas.microsoft.com/office/drawing/2014/main" id="{B8DDC1B9-F223-4419-932D-16A5033BADF2}"/>
              </a:ext>
            </a:extLst>
          </p:cNvPr>
          <p:cNvSpPr>
            <a:spLocks xmlns:a="http://schemas.openxmlformats.org/drawingml/2006/main" noGrp="1"/>
          </p:cNvSpPr>
          <p:nvPr/>
        </p:nvSpPr>
        <p:spPr>
          <a:xfrm xmlns:a="http://schemas.openxmlformats.org/drawingml/2006/main">
            <a:off x="11001375" y="4714875"/>
            <a:ext cx="1057275" cy="1057275"/>
          </a:xfrm>
          <a:prstGeom xmlns:a="http://schemas.openxmlformats.org/drawingml/2006/main" prst="diamond">
            <a:avLst/>
          </a:prstGeom>
          <a:solidFill xmlns:a="http://schemas.openxmlformats.org/drawingml/2006/main">
            <a:srgbClr val="FFF4DE"/>
          </a:solidFill>
          <a:ln xmlns:a="http://schemas.openxmlformats.org/drawingml/2006/main" w="19050">
            <a:solidFill>
              <a:srgbClr val="FAA61A"/>
            </a:solidFill>
          </a:ln>
        </p:spPr>
      </p:sp>
      <p:sp>
        <p:nvSpPr>
          <p:cNvPr id="23" name="">
            <a:extLst xmlns:a="http://schemas.openxmlformats.org/drawingml/2006/main">
              <a:ext uri="{FF2B5EF4-FFF2-40B4-BE49-F238E27FC236}">
                <a16:creationId xmlns:a16="http://schemas.microsoft.com/office/drawing/2014/main" id="{761883EE-7FCB-4D0E-B49E-AC373A72D62D}"/>
              </a:ext>
            </a:extLst>
          </p:cNvPr>
          <p:cNvSpPr>
            <a:spLocks xmlns:a="http://schemas.openxmlformats.org/drawingml/2006/main" noGrp="1"/>
          </p:cNvSpPr>
          <p:nvPr/>
        </p:nvSpPr>
        <p:spPr>
          <a:xfrm xmlns:a="http://schemas.openxmlformats.org/drawingml/2006/main">
            <a:off x="11087100" y="4886325"/>
            <a:ext cx="885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00" b="1">
                <a:solidFill>
                  <a:srgbClr val="1C334E"/>
                </a:solidFill>
                <a:latin typeface="Open Sans"/>
                <a:ea typeface="Open Sans"/>
                <a:cs typeface="Open Sans"/>
              </a:defRPr>
            </a:pPr>
            <a:r>
              <a:rPr sz="1200" b="1">
                <a:solidFill>
                  <a:srgbClr val="1C334E"/>
                </a:solidFill>
                <a:latin typeface="Open Sans"/>
                <a:ea typeface="Open Sans"/>
                <a:cs typeface="Open Sans"/>
              </a:rPr>
              <a:t>Vùng</a:t>
            </a:r>
          </a:p>
          <a:p xmlns:a="http://schemas.openxmlformats.org/drawingml/2006/main">
            <a:pPr algn="ctr">
              <a:lnSpc>
                <a:spcPct val="105000"/>
              </a:lnSpc>
              <a:buNone/>
              <a:defRPr sz="1200" b="1">
                <a:solidFill>
                  <a:srgbClr val="1C334E"/>
                </a:solidFill>
                <a:latin typeface="Open Sans"/>
                <a:ea typeface="Open Sans"/>
                <a:cs typeface="Open Sans"/>
              </a:defRPr>
            </a:pPr>
            <a:r>
              <a:rPr sz="1200" b="1">
                <a:solidFill>
                  <a:srgbClr val="1C334E"/>
                </a:solidFill>
                <a:latin typeface="Open Sans"/>
                <a:ea typeface="Open Sans"/>
                <a:cs typeface="Open Sans"/>
              </a:rPr>
              <a:t>score?</a:t>
            </a:r>
          </a:p>
        </p:txBody>
      </p:sp>
      <p:sp>
        <p:nvSpPr>
          <p:cNvPr id="24" name="">
            <a:extLst xmlns:a="http://schemas.openxmlformats.org/drawingml/2006/main">
              <a:ext uri="{FF2B5EF4-FFF2-40B4-BE49-F238E27FC236}">
                <a16:creationId xmlns:a16="http://schemas.microsoft.com/office/drawing/2014/main" id="{ECF505F8-1DF9-48DE-80B0-04ED95D919C5}"/>
              </a:ext>
            </a:extLst>
          </p:cNvPr>
          <p:cNvSpPr>
            <a:spLocks xmlns:a="http://schemas.openxmlformats.org/drawingml/2006/main" noGrp="1"/>
          </p:cNvSpPr>
          <p:nvPr/>
        </p:nvSpPr>
        <p:spPr>
          <a:xfrm xmlns:a="http://schemas.openxmlformats.org/drawingml/2006/main">
            <a:off x="12573000" y="4329113"/>
            <a:ext cx="4000500" cy="785813"/>
          </a:xfrm>
          <a:prstGeom xmlns:a="http://schemas.openxmlformats.org/drawingml/2006/main" prst="roundRect">
            <a:avLst>
              <a:gd name="adj" fmla="val 9697"/>
            </a:avLst>
          </a:prstGeom>
          <a:solidFill xmlns:a="http://schemas.openxmlformats.org/drawingml/2006/main">
            <a:srgbClr val="EFF5E8"/>
          </a:solidFill>
          <a:ln xmlns:a="http://schemas.openxmlformats.org/drawingml/2006/main" w="19050">
            <a:solidFill>
              <a:srgbClr val="9BBB59"/>
            </a:solidFill>
          </a:ln>
        </p:spPr>
      </p:sp>
      <p:sp>
        <p:nvSpPr>
          <p:cNvPr id="25" name="">
            <a:extLst xmlns:a="http://schemas.openxmlformats.org/drawingml/2006/main">
              <a:ext uri="{FF2B5EF4-FFF2-40B4-BE49-F238E27FC236}">
                <a16:creationId xmlns:a16="http://schemas.microsoft.com/office/drawing/2014/main" id="{1095BCED-F8F1-440F-9A08-B3E5FEEBA90E}"/>
              </a:ext>
            </a:extLst>
          </p:cNvPr>
          <p:cNvSpPr>
            <a:spLocks xmlns:a="http://schemas.openxmlformats.org/drawingml/2006/main" noGrp="1"/>
          </p:cNvSpPr>
          <p:nvPr/>
        </p:nvSpPr>
        <p:spPr>
          <a:xfrm xmlns:a="http://schemas.openxmlformats.org/drawingml/2006/main">
            <a:off x="12687300" y="4400550"/>
            <a:ext cx="37719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75" b="1">
                <a:solidFill>
                  <a:srgbClr val="1C334E"/>
                </a:solidFill>
                <a:latin typeface="Montserrat Bold"/>
                <a:ea typeface="Montserrat Bold"/>
                <a:cs typeface="Montserrat Bold"/>
              </a:defRPr>
            </a:pPr>
            <a:r>
              <a:rPr sz="1275" b="1">
                <a:solidFill>
                  <a:srgbClr val="1C334E"/>
                </a:solidFill>
                <a:latin typeface="Montserrat Bold"/>
                <a:ea typeface="Montserrat Bold"/>
                <a:cs typeface="Montserrat Bold"/>
              </a:rPr>
              <a:t>Thấp: giữ mandatory</a:t>
            </a:r>
          </a:p>
          <a:p xmlns:a="http://schemas.openxmlformats.org/drawingml/2006/main">
            <a:pPr algn="ctr">
              <a:lnSpc>
                <a:spcPct val="105000"/>
              </a:lnSpc>
              <a:buNone/>
              <a:defRPr sz="1275" b="1">
                <a:solidFill>
                  <a:srgbClr val="1C334E"/>
                </a:solidFill>
                <a:latin typeface="Montserrat Bold"/>
                <a:ea typeface="Montserrat Bold"/>
                <a:cs typeface="Montserrat Bold"/>
              </a:defRPr>
            </a:pPr>
            <a:r>
              <a:rPr sz="1275" b="1">
                <a:solidFill>
                  <a:srgbClr val="1C334E"/>
                </a:solidFill>
                <a:latin typeface="Montserrat Bold"/>
                <a:ea typeface="Montserrat Bold"/>
                <a:cs typeface="Montserrat Bold"/>
              </a:rPr>
              <a:t>controls</a:t>
            </a:r>
          </a:p>
        </p:txBody>
      </p:sp>
      <p:sp>
        <p:nvSpPr>
          <p:cNvPr id="26" name="">
            <a:extLst xmlns:a="http://schemas.openxmlformats.org/drawingml/2006/main">
              <a:ext uri="{FF2B5EF4-FFF2-40B4-BE49-F238E27FC236}">
                <a16:creationId xmlns:a16="http://schemas.microsoft.com/office/drawing/2014/main" id="{E1084144-3BF8-4309-BB08-DB3D9718E810}"/>
              </a:ext>
            </a:extLst>
          </p:cNvPr>
          <p:cNvSpPr>
            <a:spLocks xmlns:a="http://schemas.openxmlformats.org/drawingml/2006/main" noGrp="1"/>
          </p:cNvSpPr>
          <p:nvPr/>
        </p:nvSpPr>
        <p:spPr>
          <a:xfrm xmlns:a="http://schemas.openxmlformats.org/drawingml/2006/main">
            <a:off x="12573000" y="5214938"/>
            <a:ext cx="4000500" cy="714375"/>
          </a:xfrm>
          <a:prstGeom xmlns:a="http://schemas.openxmlformats.org/drawingml/2006/main" prst="roundRect">
            <a:avLst>
              <a:gd name="adj" fmla="val 10667"/>
            </a:avLst>
          </a:prstGeom>
          <a:solidFill xmlns:a="http://schemas.openxmlformats.org/drawingml/2006/main">
            <a:srgbClr val="FFF4DE"/>
          </a:solidFill>
          <a:ln xmlns:a="http://schemas.openxmlformats.org/drawingml/2006/main" w="19050">
            <a:solidFill>
              <a:srgbClr val="FAA61A"/>
            </a:solidFill>
          </a:ln>
        </p:spPr>
      </p:sp>
      <p:sp>
        <p:nvSpPr>
          <p:cNvPr id="27" name="">
            <a:extLst xmlns:a="http://schemas.openxmlformats.org/drawingml/2006/main">
              <a:ext uri="{FF2B5EF4-FFF2-40B4-BE49-F238E27FC236}">
                <a16:creationId xmlns:a16="http://schemas.microsoft.com/office/drawing/2014/main" id="{1499DA19-7B8E-4E40-81A9-C52A39F31BAE}"/>
              </a:ext>
            </a:extLst>
          </p:cNvPr>
          <p:cNvSpPr>
            <a:spLocks xmlns:a="http://schemas.openxmlformats.org/drawingml/2006/main" noGrp="1"/>
          </p:cNvSpPr>
          <p:nvPr/>
        </p:nvSpPr>
        <p:spPr>
          <a:xfrm xmlns:a="http://schemas.openxmlformats.org/drawingml/2006/main">
            <a:off x="12687300" y="52863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75" b="1">
                <a:solidFill>
                  <a:srgbClr val="1C334E"/>
                </a:solidFill>
                <a:latin typeface="Montserrat Bold"/>
                <a:ea typeface="Montserrat Bold"/>
                <a:cs typeface="Montserrat Bold"/>
              </a:defRPr>
            </a:pPr>
            <a:r>
              <a:rPr sz="1275" b="1">
                <a:solidFill>
                  <a:srgbClr val="1C334E"/>
                </a:solidFill>
                <a:latin typeface="Montserrat Bold"/>
                <a:ea typeface="Montserrat Bold"/>
                <a:cs typeface="Montserrat Bold"/>
              </a:rPr>
              <a:t>Trung bình: xác thực*</a:t>
            </a:r>
          </a:p>
        </p:txBody>
      </p:sp>
      <p:sp>
        <p:nvSpPr>
          <p:cNvPr id="28" name="">
            <a:extLst xmlns:a="http://schemas.openxmlformats.org/drawingml/2006/main">
              <a:ext uri="{FF2B5EF4-FFF2-40B4-BE49-F238E27FC236}">
                <a16:creationId xmlns:a16="http://schemas.microsoft.com/office/drawing/2014/main" id="{90C1BE11-C966-4F88-BE58-4D2B492AB88A}"/>
              </a:ext>
            </a:extLst>
          </p:cNvPr>
          <p:cNvSpPr>
            <a:spLocks xmlns:a="http://schemas.openxmlformats.org/drawingml/2006/main" noGrp="1"/>
          </p:cNvSpPr>
          <p:nvPr/>
        </p:nvSpPr>
        <p:spPr>
          <a:xfrm xmlns:a="http://schemas.openxmlformats.org/drawingml/2006/main">
            <a:off x="12573000" y="6829425"/>
            <a:ext cx="4000500" cy="785813"/>
          </a:xfrm>
          <a:prstGeom xmlns:a="http://schemas.openxmlformats.org/drawingml/2006/main" prst="roundRect">
            <a:avLst>
              <a:gd name="adj" fmla="val 9697"/>
            </a:avLst>
          </a:prstGeom>
          <a:solidFill xmlns:a="http://schemas.openxmlformats.org/drawingml/2006/main">
            <a:srgbClr val="FCEBEC"/>
          </a:solidFill>
          <a:ln xmlns:a="http://schemas.openxmlformats.org/drawingml/2006/main" w="19050">
            <a:solidFill>
              <a:srgbClr val="C0504D"/>
            </a:solidFill>
          </a:ln>
        </p:spPr>
      </p:sp>
      <p:sp>
        <p:nvSpPr>
          <p:cNvPr id="29" name="">
            <a:extLst xmlns:a="http://schemas.openxmlformats.org/drawingml/2006/main">
              <a:ext uri="{FF2B5EF4-FFF2-40B4-BE49-F238E27FC236}">
                <a16:creationId xmlns:a16="http://schemas.microsoft.com/office/drawing/2014/main" id="{63CDE693-BBA1-4903-AC6D-B37FB44C9823}"/>
              </a:ext>
            </a:extLst>
          </p:cNvPr>
          <p:cNvSpPr>
            <a:spLocks xmlns:a="http://schemas.openxmlformats.org/drawingml/2006/main" noGrp="1"/>
          </p:cNvSpPr>
          <p:nvPr/>
        </p:nvSpPr>
        <p:spPr>
          <a:xfrm xmlns:a="http://schemas.openxmlformats.org/drawingml/2006/main">
            <a:off x="12687300" y="6900863"/>
            <a:ext cx="37719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75" b="1">
                <a:solidFill>
                  <a:srgbClr val="1C334E"/>
                </a:solidFill>
                <a:latin typeface="Montserrat Bold"/>
                <a:ea typeface="Montserrat Bold"/>
                <a:cs typeface="Montserrat Bold"/>
              </a:defRPr>
            </a:pPr>
            <a:r>
              <a:rPr sz="1275" b="1">
                <a:solidFill>
                  <a:srgbClr val="1C334E"/>
                </a:solidFill>
                <a:latin typeface="Montserrat Bold"/>
                <a:ea typeface="Montserrat Bold"/>
                <a:cs typeface="Montserrat Bold"/>
              </a:rPr>
              <a:t>Cao: đề xuất chuyên viên</a:t>
            </a:r>
          </a:p>
        </p:txBody>
      </p:sp>
      <p:sp>
        <p:nvSpPr>
          <p:cNvPr id="30" name="">
            <a:extLst xmlns:a="http://schemas.openxmlformats.org/drawingml/2006/main">
              <a:ext uri="{FF2B5EF4-FFF2-40B4-BE49-F238E27FC236}">
                <a16:creationId xmlns:a16="http://schemas.microsoft.com/office/drawing/2014/main" id="{454484DE-5649-4378-939D-A294D8A9C5B0}"/>
              </a:ext>
            </a:extLst>
          </p:cNvPr>
          <p:cNvSpPr>
            <a:spLocks xmlns:a="http://schemas.openxmlformats.org/drawingml/2006/main" noGrp="1"/>
          </p:cNvSpPr>
          <p:nvPr/>
        </p:nvSpPr>
        <p:spPr>
          <a:xfrm xmlns:a="http://schemas.openxmlformats.org/drawingml/2006/main">
            <a:off x="4643438" y="3043238"/>
            <a:ext cx="35718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B894837-8F5C-4104-9545-ADAE27D4E3CB}"/>
              </a:ext>
            </a:extLst>
          </p:cNvPr>
          <p:cNvSpPr>
            <a:spLocks xmlns:a="http://schemas.openxmlformats.org/drawingml/2006/main" noGrp="1"/>
          </p:cNvSpPr>
          <p:nvPr/>
        </p:nvSpPr>
        <p:spPr>
          <a:xfrm xmlns:a="http://schemas.openxmlformats.org/drawingml/2006/main">
            <a:off x="7358063" y="3100388"/>
            <a:ext cx="357188"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9B97F66-0D5F-407A-A3D7-440B040D9A73}"/>
              </a:ext>
            </a:extLst>
          </p:cNvPr>
          <p:cNvSpPr>
            <a:spLocks xmlns:a="http://schemas.openxmlformats.org/drawingml/2006/main" noGrp="1"/>
          </p:cNvSpPr>
          <p:nvPr/>
        </p:nvSpPr>
        <p:spPr>
          <a:xfrm xmlns:a="http://schemas.openxmlformats.org/drawingml/2006/main">
            <a:off x="7686675" y="3128963"/>
            <a:ext cx="57150" cy="2157413"/>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4EFA647-5BBB-4E37-A9E5-362CA15E8FD0}"/>
              </a:ext>
            </a:extLst>
          </p:cNvPr>
          <p:cNvSpPr>
            <a:spLocks xmlns:a="http://schemas.openxmlformats.org/drawingml/2006/main" noGrp="1"/>
          </p:cNvSpPr>
          <p:nvPr/>
        </p:nvSpPr>
        <p:spPr>
          <a:xfrm xmlns:a="http://schemas.openxmlformats.org/drawingml/2006/main">
            <a:off x="7715250" y="5172075"/>
            <a:ext cx="35718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ED6745F-EC45-473A-A7CD-A46361BA8168}"/>
              </a:ext>
            </a:extLst>
          </p:cNvPr>
          <p:cNvSpPr>
            <a:spLocks xmlns:a="http://schemas.openxmlformats.org/drawingml/2006/main" noGrp="1"/>
          </p:cNvSpPr>
          <p:nvPr/>
        </p:nvSpPr>
        <p:spPr>
          <a:xfrm xmlns:a="http://schemas.openxmlformats.org/drawingml/2006/main">
            <a:off x="10472738" y="5157788"/>
            <a:ext cx="428625"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BE484EA-94F2-4D8F-BA29-7381032FFDE7}"/>
              </a:ext>
            </a:extLst>
          </p:cNvPr>
          <p:cNvSpPr>
            <a:spLocks xmlns:a="http://schemas.openxmlformats.org/drawingml/2006/main" noGrp="1"/>
          </p:cNvSpPr>
          <p:nvPr/>
        </p:nvSpPr>
        <p:spPr>
          <a:xfrm xmlns:a="http://schemas.openxmlformats.org/drawingml/2006/main">
            <a:off x="12058650" y="5214938"/>
            <a:ext cx="157163"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63BB285-6DA1-4FFE-A728-6B4E6BFE4F74}"/>
              </a:ext>
            </a:extLst>
          </p:cNvPr>
          <p:cNvSpPr>
            <a:spLocks xmlns:a="http://schemas.openxmlformats.org/drawingml/2006/main" noGrp="1"/>
          </p:cNvSpPr>
          <p:nvPr/>
        </p:nvSpPr>
        <p:spPr>
          <a:xfrm xmlns:a="http://schemas.openxmlformats.org/drawingml/2006/main">
            <a:off x="12187238" y="4714875"/>
            <a:ext cx="57150" cy="2500313"/>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E4264D8-A867-4248-A32F-03C6ED52997A}"/>
              </a:ext>
            </a:extLst>
          </p:cNvPr>
          <p:cNvSpPr>
            <a:spLocks xmlns:a="http://schemas.openxmlformats.org/drawingml/2006/main" noGrp="1"/>
          </p:cNvSpPr>
          <p:nvPr/>
        </p:nvSpPr>
        <p:spPr>
          <a:xfrm xmlns:a="http://schemas.openxmlformats.org/drawingml/2006/main">
            <a:off x="12215813" y="4686300"/>
            <a:ext cx="300038"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83417AF-4459-4C16-82EB-211D2098BA77}"/>
              </a:ext>
            </a:extLst>
          </p:cNvPr>
          <p:cNvSpPr>
            <a:spLocks xmlns:a="http://schemas.openxmlformats.org/drawingml/2006/main" noGrp="1"/>
          </p:cNvSpPr>
          <p:nvPr/>
        </p:nvSpPr>
        <p:spPr>
          <a:xfrm xmlns:a="http://schemas.openxmlformats.org/drawingml/2006/main">
            <a:off x="12201525" y="4600575"/>
            <a:ext cx="41433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E196F27-EBDD-4ADB-9FFB-EA7FCAE71227}"/>
              </a:ext>
            </a:extLst>
          </p:cNvPr>
          <p:cNvSpPr>
            <a:spLocks xmlns:a="http://schemas.openxmlformats.org/drawingml/2006/main" noGrp="1"/>
          </p:cNvSpPr>
          <p:nvPr/>
        </p:nvSpPr>
        <p:spPr>
          <a:xfrm xmlns:a="http://schemas.openxmlformats.org/drawingml/2006/main">
            <a:off x="12215813" y="5543550"/>
            <a:ext cx="300038"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9AEB3B7-CBF0-4E67-9DBF-C0D9E5844990}"/>
              </a:ext>
            </a:extLst>
          </p:cNvPr>
          <p:cNvSpPr>
            <a:spLocks xmlns:a="http://schemas.openxmlformats.org/drawingml/2006/main" noGrp="1"/>
          </p:cNvSpPr>
          <p:nvPr/>
        </p:nvSpPr>
        <p:spPr>
          <a:xfrm xmlns:a="http://schemas.openxmlformats.org/drawingml/2006/main">
            <a:off x="12201525" y="5457825"/>
            <a:ext cx="41433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F42C7CF-7823-444C-BDD7-314F5ED8FF7C}"/>
              </a:ext>
            </a:extLst>
          </p:cNvPr>
          <p:cNvSpPr>
            <a:spLocks xmlns:a="http://schemas.openxmlformats.org/drawingml/2006/main" noGrp="1"/>
          </p:cNvSpPr>
          <p:nvPr/>
        </p:nvSpPr>
        <p:spPr>
          <a:xfrm xmlns:a="http://schemas.openxmlformats.org/drawingml/2006/main">
            <a:off x="11501438" y="5772150"/>
            <a:ext cx="57150" cy="1443038"/>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5809D7D-FAD4-4C14-9536-A8CB5F30FDCE}"/>
              </a:ext>
            </a:extLst>
          </p:cNvPr>
          <p:cNvSpPr>
            <a:spLocks xmlns:a="http://schemas.openxmlformats.org/drawingml/2006/main" noGrp="1"/>
          </p:cNvSpPr>
          <p:nvPr/>
        </p:nvSpPr>
        <p:spPr>
          <a:xfrm xmlns:a="http://schemas.openxmlformats.org/drawingml/2006/main">
            <a:off x="11530013" y="7186613"/>
            <a:ext cx="985838" cy="57150"/>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6C441D6-82D4-4082-8513-87C1D5DDAAC0}"/>
              </a:ext>
            </a:extLst>
          </p:cNvPr>
          <p:cNvSpPr>
            <a:spLocks xmlns:a="http://schemas.openxmlformats.org/drawingml/2006/main" noGrp="1"/>
          </p:cNvSpPr>
          <p:nvPr/>
        </p:nvSpPr>
        <p:spPr>
          <a:xfrm xmlns:a="http://schemas.openxmlformats.org/drawingml/2006/main">
            <a:off x="12172950" y="7100888"/>
            <a:ext cx="414338" cy="214313"/>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B82D1D6-2A68-4A20-BA27-36D392409DEE}"/>
              </a:ext>
            </a:extLst>
          </p:cNvPr>
          <p:cNvSpPr>
            <a:spLocks xmlns:a="http://schemas.openxmlformats.org/drawingml/2006/main" noGrp="1"/>
          </p:cNvSpPr>
          <p:nvPr/>
        </p:nvSpPr>
        <p:spPr>
          <a:xfrm xmlns:a="http://schemas.openxmlformats.org/drawingml/2006/main">
            <a:off x="1143000" y="8743950"/>
            <a:ext cx="1585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 Cơ chế xác thực, timeout và hold/release cần được chủ quy trình phê duyệt.</a:t>
            </a:r>
          </a:p>
        </p:txBody>
      </p:sp>
      <p:sp>
        <p:nvSpPr>
          <p:cNvPr id="45" name="">
            <a:extLst xmlns:a="http://schemas.openxmlformats.org/drawingml/2006/main">
              <a:ext uri="{FF2B5EF4-FFF2-40B4-BE49-F238E27FC236}">
                <a16:creationId xmlns:a16="http://schemas.microsoft.com/office/drawing/2014/main" id="{58216BBC-835A-40EA-BD1A-BE01784FC5B3}"/>
              </a:ext>
            </a:extLst>
          </p:cNvPr>
          <p:cNvSpPr>
            <a:spLocks xmlns:a="http://schemas.openxmlformats.org/drawingml/2006/main" noGrp="1"/>
          </p:cNvSpPr>
          <p:nvPr/>
        </p:nvSpPr>
        <p:spPr>
          <a:xfrm xmlns:a="http://schemas.openxmlformats.org/drawingml/2006/main">
            <a:off x="1143000" y="9244013"/>
            <a:ext cx="1585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1">
                <a:solidFill>
                  <a:srgbClr val="C0504D"/>
                </a:solidFill>
                <a:latin typeface="Open Sans"/>
                <a:ea typeface="Open Sans"/>
                <a:cs typeface="Open Sans"/>
              </a:defRPr>
            </a:pPr>
            <a:r>
              <a:rPr sz="1350" b="1">
                <a:solidFill>
                  <a:srgbClr val="C0504D"/>
                </a:solidFill>
                <a:latin typeface="Open Sans"/>
                <a:ea typeface="Open Sans"/>
                <a:cs typeface="Open Sans"/>
              </a:rPr>
              <a:t>PoC hiện chỉ tạo score và gợi ý trên UI; không gửi lệnh giao dịch.</a:t>
            </a:r>
          </a:p>
        </p:txBody>
      </p:sp>
    </p:spTree>
    <p:extLst>
      <p:ext uri="{BB962C8B-B14F-4D97-AF65-F5344CB8AC3E}">
        <p14:creationId xmlns:p14="http://schemas.microsoft.com/office/powerpoint/2010/main" val="523138334"/>
      </p:ext>
    </p:extLst>
  </p:cSld>
</p:sld>
</file>

<file path=ppt/slides/slide8.xml><?xml version="1.0" encoding="utf-8"?>
<p:sld xmlns:a="http://schemas.openxmlformats.org/drawingml/2006/main" xmlns:a16="http://schemas.microsoft.com/office/drawing/2014/main" xmlns:p14="http://schemas.microsoft.com/office/powerpoint/2010/main" xmlns:p="http://schemas.openxmlformats.org/presentationml/2006/main">
  <p:cSld name="Kiến trúc kỹ thuật">
    <p:bg>
      <p:bgPr>
        <a:solidFill xmlns:a="http://schemas.openxmlformats.org/drawingml/2006/main">
          <a:srgbClr val="282A7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550D5D-EE28-4899-B6B7-D5B97A2BC648}"/>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618D90E5-3D4B-462A-BC60-9582F598E070}"/>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B12814ED-5134-44A0-BBA5-E74DA41F8127}"/>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92896A-9084-4F48-8FE5-FB98015DA448}"/>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THIẾT KẾ</a:t>
            </a:r>
          </a:p>
        </p:txBody>
      </p:sp>
      <p:sp>
        <p:nvSpPr>
          <p:cNvPr id="5" name="">
            <a:extLst xmlns:a="http://schemas.openxmlformats.org/drawingml/2006/main">
              <a:ext uri="{FF2B5EF4-FFF2-40B4-BE49-F238E27FC236}">
                <a16:creationId xmlns:a16="http://schemas.microsoft.com/office/drawing/2014/main" id="{F7F627AD-B15A-40C5-9C5A-616DDA05639C}"/>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Giải pháp kỹ thuật: boosting trên dữ liệu bảng</a:t>
            </a:r>
          </a:p>
        </p:txBody>
      </p:sp>
      <p:sp>
        <p:nvSpPr>
          <p:cNvPr id="6" name="">
            <a:extLst xmlns:a="http://schemas.openxmlformats.org/drawingml/2006/main">
              <a:ext uri="{FF2B5EF4-FFF2-40B4-BE49-F238E27FC236}">
                <a16:creationId xmlns:a16="http://schemas.microsoft.com/office/drawing/2014/main" id="{C311C67F-C214-4F16-84FE-025696202621}"/>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1889FD-46A3-435C-9390-33E47CA985CA}"/>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EA05075E-40C6-4192-BF62-23455C229AD2}"/>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50576B2F-CF4E-4AAC-B7D2-26016324154D}"/>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8</a:t>
            </a:r>
          </a:p>
        </p:txBody>
      </p:sp>
      <p:sp>
        <p:nvSpPr>
          <p:cNvPr id="10" name="">
            <a:extLst xmlns:a="http://schemas.openxmlformats.org/drawingml/2006/main">
              <a:ext uri="{FF2B5EF4-FFF2-40B4-BE49-F238E27FC236}">
                <a16:creationId xmlns:a16="http://schemas.microsoft.com/office/drawing/2014/main" id="{038D8D74-2468-46B8-90FF-AC66B187A52E}"/>
              </a:ext>
            </a:extLst>
          </p:cNvPr>
          <p:cNvSpPr>
            <a:spLocks xmlns:a="http://schemas.openxmlformats.org/drawingml/2006/main" noGrp="1"/>
          </p:cNvSpPr>
          <p:nvPr/>
        </p:nvSpPr>
        <p:spPr>
          <a:xfrm xmlns:a="http://schemas.openxmlformats.org/drawingml/2006/main">
            <a:off x="1285875" y="3500438"/>
            <a:ext cx="2428875" cy="1571625"/>
          </a:xfrm>
          <a:prstGeom xmlns:a="http://schemas.openxmlformats.org/drawingml/2006/main" prst="roundRect">
            <a:avLst>
              <a:gd name="adj" fmla="val 4848"/>
            </a:avLst>
          </a:prstGeom>
          <a:solidFill xmlns:a="http://schemas.openxmlformats.org/drawingml/2006/main">
            <a:srgbClr val="FBFBFC"/>
          </a:solidFill>
          <a:ln xmlns:a="http://schemas.openxmlformats.org/drawingml/2006/main" w="19050">
            <a:solidFill>
              <a:srgbClr val="D7D9E8"/>
            </a:solidFill>
          </a:ln>
        </p:spPr>
      </p:sp>
      <p:sp>
        <p:nvSpPr>
          <p:cNvPr id="11" name="">
            <a:extLst xmlns:a="http://schemas.openxmlformats.org/drawingml/2006/main">
              <a:ext uri="{FF2B5EF4-FFF2-40B4-BE49-F238E27FC236}">
                <a16:creationId xmlns:a16="http://schemas.microsoft.com/office/drawing/2014/main" id="{2CAC4CCB-B93A-44A7-9919-EC30E4B91E5A}"/>
              </a:ext>
            </a:extLst>
          </p:cNvPr>
          <p:cNvSpPr>
            <a:spLocks xmlns:a="http://schemas.openxmlformats.org/drawingml/2006/main" noGrp="1"/>
          </p:cNvSpPr>
          <p:nvPr/>
        </p:nvSpPr>
        <p:spPr>
          <a:xfrm xmlns:a="http://schemas.openxmlformats.org/drawingml/2006/main">
            <a:off x="1400175" y="3571875"/>
            <a:ext cx="22002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Giao dịch</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giả lập</a:t>
            </a:r>
          </a:p>
        </p:txBody>
      </p:sp>
      <p:sp>
        <p:nvSpPr>
          <p:cNvPr id="12" name="">
            <a:extLst xmlns:a="http://schemas.openxmlformats.org/drawingml/2006/main">
              <a:ext uri="{FF2B5EF4-FFF2-40B4-BE49-F238E27FC236}">
                <a16:creationId xmlns:a16="http://schemas.microsoft.com/office/drawing/2014/main" id="{391F4572-AD51-4389-B2B2-16D4D1D4611E}"/>
              </a:ext>
            </a:extLst>
          </p:cNvPr>
          <p:cNvSpPr>
            <a:spLocks xmlns:a="http://schemas.openxmlformats.org/drawingml/2006/main" noGrp="1"/>
          </p:cNvSpPr>
          <p:nvPr/>
        </p:nvSpPr>
        <p:spPr>
          <a:xfrm xmlns:a="http://schemas.openxmlformats.org/drawingml/2006/main">
            <a:off x="4643438" y="3500438"/>
            <a:ext cx="2428875" cy="1571625"/>
          </a:xfrm>
          <a:prstGeom xmlns:a="http://schemas.openxmlformats.org/drawingml/2006/main" prst="roundRect">
            <a:avLst>
              <a:gd name="adj" fmla="val 4848"/>
            </a:avLst>
          </a:prstGeom>
          <a:solidFill xmlns:a="http://schemas.openxmlformats.org/drawingml/2006/main">
            <a:srgbClr val="FBFBFC"/>
          </a:solidFill>
          <a:ln xmlns:a="http://schemas.openxmlformats.org/drawingml/2006/main" w="19050">
            <a:solidFill>
              <a:srgbClr val="D7D9E8"/>
            </a:solidFill>
          </a:ln>
        </p:spPr>
      </p:sp>
      <p:sp>
        <p:nvSpPr>
          <p:cNvPr id="13" name="">
            <a:extLst xmlns:a="http://schemas.openxmlformats.org/drawingml/2006/main">
              <a:ext uri="{FF2B5EF4-FFF2-40B4-BE49-F238E27FC236}">
                <a16:creationId xmlns:a16="http://schemas.microsoft.com/office/drawing/2014/main" id="{2BB1A81B-7DDA-49A6-B542-88B0FCFD18E5}"/>
              </a:ext>
            </a:extLst>
          </p:cNvPr>
          <p:cNvSpPr>
            <a:spLocks xmlns:a="http://schemas.openxmlformats.org/drawingml/2006/main" noGrp="1"/>
          </p:cNvSpPr>
          <p:nvPr/>
        </p:nvSpPr>
        <p:spPr>
          <a:xfrm xmlns:a="http://schemas.openxmlformats.org/drawingml/2006/main">
            <a:off x="4757738" y="3571875"/>
            <a:ext cx="22002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Kiểm tra</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8 trường</a:t>
            </a:r>
          </a:p>
        </p:txBody>
      </p:sp>
      <p:sp>
        <p:nvSpPr>
          <p:cNvPr id="14" name="">
            <a:extLst xmlns:a="http://schemas.openxmlformats.org/drawingml/2006/main">
              <a:ext uri="{FF2B5EF4-FFF2-40B4-BE49-F238E27FC236}">
                <a16:creationId xmlns:a16="http://schemas.microsoft.com/office/drawing/2014/main" id="{112C1BAC-F9E6-4DE0-9EC6-5ADD85FEF001}"/>
              </a:ext>
            </a:extLst>
          </p:cNvPr>
          <p:cNvSpPr>
            <a:spLocks xmlns:a="http://schemas.openxmlformats.org/drawingml/2006/main" noGrp="1"/>
          </p:cNvSpPr>
          <p:nvPr/>
        </p:nvSpPr>
        <p:spPr>
          <a:xfrm xmlns:a="http://schemas.openxmlformats.org/drawingml/2006/main">
            <a:off x="8001000" y="3500438"/>
            <a:ext cx="2428875" cy="1571625"/>
          </a:xfrm>
          <a:prstGeom xmlns:a="http://schemas.openxmlformats.org/drawingml/2006/main" prst="roundRect">
            <a:avLst>
              <a:gd name="adj" fmla="val 4848"/>
            </a:avLst>
          </a:prstGeom>
          <a:solidFill xmlns:a="http://schemas.openxmlformats.org/drawingml/2006/main">
            <a:srgbClr val="F1F3F8"/>
          </a:solidFill>
          <a:ln xmlns:a="http://schemas.openxmlformats.org/drawingml/2006/main" w="19050">
            <a:solidFill>
              <a:srgbClr val="4F81BD"/>
            </a:solidFill>
          </a:ln>
        </p:spPr>
      </p:sp>
      <p:sp>
        <p:nvSpPr>
          <p:cNvPr id="15" name="">
            <a:extLst xmlns:a="http://schemas.openxmlformats.org/drawingml/2006/main">
              <a:ext uri="{FF2B5EF4-FFF2-40B4-BE49-F238E27FC236}">
                <a16:creationId xmlns:a16="http://schemas.microsoft.com/office/drawing/2014/main" id="{05101D4F-BF85-4739-A5FD-C3CC36B7BAB5}"/>
              </a:ext>
            </a:extLst>
          </p:cNvPr>
          <p:cNvSpPr>
            <a:spLocks xmlns:a="http://schemas.openxmlformats.org/drawingml/2006/main" noGrp="1"/>
          </p:cNvSpPr>
          <p:nvPr/>
        </p:nvSpPr>
        <p:spPr>
          <a:xfrm xmlns:a="http://schemas.openxmlformats.org/drawingml/2006/main">
            <a:off x="8115300" y="3571875"/>
            <a:ext cx="22002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XGBoost</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seed 42</a:t>
            </a:r>
          </a:p>
        </p:txBody>
      </p:sp>
      <p:sp>
        <p:nvSpPr>
          <p:cNvPr id="16" name="">
            <a:extLst xmlns:a="http://schemas.openxmlformats.org/drawingml/2006/main">
              <a:ext uri="{FF2B5EF4-FFF2-40B4-BE49-F238E27FC236}">
                <a16:creationId xmlns:a16="http://schemas.microsoft.com/office/drawing/2014/main" id="{AA278771-0BDB-4C62-A9D1-3EFD66BDF32E}"/>
              </a:ext>
            </a:extLst>
          </p:cNvPr>
          <p:cNvSpPr>
            <a:spLocks xmlns:a="http://schemas.openxmlformats.org/drawingml/2006/main" noGrp="1"/>
          </p:cNvSpPr>
          <p:nvPr/>
        </p:nvSpPr>
        <p:spPr>
          <a:xfrm xmlns:a="http://schemas.openxmlformats.org/drawingml/2006/main">
            <a:off x="11358563" y="3500438"/>
            <a:ext cx="2428875" cy="1571625"/>
          </a:xfrm>
          <a:prstGeom xmlns:a="http://schemas.openxmlformats.org/drawingml/2006/main" prst="roundRect">
            <a:avLst>
              <a:gd name="adj" fmla="val 4848"/>
            </a:avLst>
          </a:prstGeom>
          <a:solidFill xmlns:a="http://schemas.openxmlformats.org/drawingml/2006/main">
            <a:srgbClr val="FBFBFC"/>
          </a:solidFill>
          <a:ln xmlns:a="http://schemas.openxmlformats.org/drawingml/2006/main" w="19050">
            <a:solidFill>
              <a:srgbClr val="D7D9E8"/>
            </a:solidFill>
          </a:ln>
        </p:spPr>
      </p:sp>
      <p:sp>
        <p:nvSpPr>
          <p:cNvPr id="17" name="">
            <a:extLst xmlns:a="http://schemas.openxmlformats.org/drawingml/2006/main">
              <a:ext uri="{FF2B5EF4-FFF2-40B4-BE49-F238E27FC236}">
                <a16:creationId xmlns:a16="http://schemas.microsoft.com/office/drawing/2014/main" id="{0F2E9878-81BF-4AD0-9E80-18C7C1844E74}"/>
              </a:ext>
            </a:extLst>
          </p:cNvPr>
          <p:cNvSpPr>
            <a:spLocks xmlns:a="http://schemas.openxmlformats.org/drawingml/2006/main" noGrp="1"/>
          </p:cNvSpPr>
          <p:nvPr/>
        </p:nvSpPr>
        <p:spPr>
          <a:xfrm xmlns:a="http://schemas.openxmlformats.org/drawingml/2006/main">
            <a:off x="11472863" y="3571875"/>
            <a:ext cx="22002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Policy demo</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3 vùng</a:t>
            </a:r>
          </a:p>
        </p:txBody>
      </p:sp>
      <p:sp>
        <p:nvSpPr>
          <p:cNvPr id="18" name="">
            <a:extLst xmlns:a="http://schemas.openxmlformats.org/drawingml/2006/main">
              <a:ext uri="{FF2B5EF4-FFF2-40B4-BE49-F238E27FC236}">
                <a16:creationId xmlns:a16="http://schemas.microsoft.com/office/drawing/2014/main" id="{70DDA4C6-B424-40EE-ADB4-FD20EFF7D4E2}"/>
              </a:ext>
            </a:extLst>
          </p:cNvPr>
          <p:cNvSpPr>
            <a:spLocks xmlns:a="http://schemas.openxmlformats.org/drawingml/2006/main" noGrp="1"/>
          </p:cNvSpPr>
          <p:nvPr/>
        </p:nvSpPr>
        <p:spPr>
          <a:xfrm xmlns:a="http://schemas.openxmlformats.org/drawingml/2006/main">
            <a:off x="14716125" y="3500438"/>
            <a:ext cx="2428875" cy="1571625"/>
          </a:xfrm>
          <a:prstGeom xmlns:a="http://schemas.openxmlformats.org/drawingml/2006/main" prst="roundRect">
            <a:avLst>
              <a:gd name="adj" fmla="val 4848"/>
            </a:avLst>
          </a:prstGeom>
          <a:solidFill xmlns:a="http://schemas.openxmlformats.org/drawingml/2006/main">
            <a:srgbClr val="FBFBFC"/>
          </a:solidFill>
          <a:ln xmlns:a="http://schemas.openxmlformats.org/drawingml/2006/main" w="19050">
            <a:solidFill>
              <a:srgbClr val="D7D9E8"/>
            </a:solidFill>
          </a:ln>
        </p:spPr>
      </p:sp>
      <p:sp>
        <p:nvSpPr>
          <p:cNvPr id="19" name="">
            <a:extLst xmlns:a="http://schemas.openxmlformats.org/drawingml/2006/main">
              <a:ext uri="{FF2B5EF4-FFF2-40B4-BE49-F238E27FC236}">
                <a16:creationId xmlns:a16="http://schemas.microsoft.com/office/drawing/2014/main" id="{45B7CB44-D500-4385-B530-9878FB8A210F}"/>
              </a:ext>
            </a:extLst>
          </p:cNvPr>
          <p:cNvSpPr>
            <a:spLocks xmlns:a="http://schemas.openxmlformats.org/drawingml/2006/main" noGrp="1"/>
          </p:cNvSpPr>
          <p:nvPr/>
        </p:nvSpPr>
        <p:spPr>
          <a:xfrm xmlns:a="http://schemas.openxmlformats.org/drawingml/2006/main">
            <a:off x="14830425" y="3571875"/>
            <a:ext cx="22002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Lịch sử</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 CSV</a:t>
            </a:r>
          </a:p>
        </p:txBody>
      </p:sp>
      <p:cxnSp>
        <p:nvCxnSpPr>
          <p:cNvPr id="48" name=""/>
          <p:cNvCxnSpPr>
            <a:stCxn xmlns:a="http://schemas.openxmlformats.org/drawingml/2006/main" id="10" idx="3"/>
            <a:endCxn xmlns:a="http://schemas.openxmlformats.org/drawingml/2006/main" id="12" idx="1"/>
          </p:cNvCxnSpPr>
          <p:nvPr/>
        </p:nvCxnSpPr>
        <p:spPr>
          <a:xfrm xmlns:a="http://schemas.openxmlformats.org/drawingml/2006/main">
            <a:off x="3714750" y="4286251"/>
            <a:ext cx="928688" cy="0"/>
          </a:xfrm>
          <a:prstGeom xmlns:a="http://schemas.openxmlformats.org/drawingml/2006/main" prst="straightConnector1">
            <a:avLst/>
          </a:prstGeom>
          <a:ln xmlns:a="http://schemas.openxmlformats.org/drawingml/2006/main" w="28575">
            <a:solidFill>
              <a:srgbClr val="4F81BD"/>
            </a:solidFill>
            <a:prstDash val="solid"/>
            <a:tailEnd type="arrow" w="med" len="med"/>
          </a:ln>
        </p:spPr>
      </p:cxnSp>
      <p:cxnSp>
        <p:nvCxnSpPr>
          <p:cNvPr id="49" name=""/>
          <p:cNvCxnSpPr>
            <a:stCxn xmlns:a="http://schemas.openxmlformats.org/drawingml/2006/main" id="12" idx="3"/>
            <a:endCxn xmlns:a="http://schemas.openxmlformats.org/drawingml/2006/main" id="14" idx="1"/>
          </p:cNvCxnSpPr>
          <p:nvPr/>
        </p:nvCxnSpPr>
        <p:spPr>
          <a:xfrm xmlns:a="http://schemas.openxmlformats.org/drawingml/2006/main">
            <a:off x="7072313" y="4286251"/>
            <a:ext cx="928687" cy="0"/>
          </a:xfrm>
          <a:prstGeom xmlns:a="http://schemas.openxmlformats.org/drawingml/2006/main" prst="straightConnector1">
            <a:avLst/>
          </a:prstGeom>
          <a:ln xmlns:a="http://schemas.openxmlformats.org/drawingml/2006/main" w="28575">
            <a:solidFill>
              <a:srgbClr val="4F81BD"/>
            </a:solidFill>
            <a:prstDash val="solid"/>
            <a:tailEnd type="arrow" w="med" len="med"/>
          </a:ln>
        </p:spPr>
      </p:cxnSp>
      <p:cxnSp>
        <p:nvCxnSpPr>
          <p:cNvPr id="50" name=""/>
          <p:cNvCxnSpPr>
            <a:stCxn xmlns:a="http://schemas.openxmlformats.org/drawingml/2006/main" id="14" idx="3"/>
            <a:endCxn xmlns:a="http://schemas.openxmlformats.org/drawingml/2006/main" id="16" idx="1"/>
          </p:cNvCxnSpPr>
          <p:nvPr/>
        </p:nvCxnSpPr>
        <p:spPr>
          <a:xfrm xmlns:a="http://schemas.openxmlformats.org/drawingml/2006/main">
            <a:off x="10429875" y="4286251"/>
            <a:ext cx="928688" cy="0"/>
          </a:xfrm>
          <a:prstGeom xmlns:a="http://schemas.openxmlformats.org/drawingml/2006/main" prst="straightConnector1">
            <a:avLst/>
          </a:prstGeom>
          <a:ln xmlns:a="http://schemas.openxmlformats.org/drawingml/2006/main" w="28575">
            <a:solidFill>
              <a:srgbClr val="4F81BD"/>
            </a:solidFill>
            <a:prstDash val="solid"/>
            <a:tailEnd type="arrow" w="med" len="med"/>
          </a:ln>
        </p:spPr>
      </p:cxnSp>
      <p:cxnSp>
        <p:nvCxnSpPr>
          <p:cNvPr id="51" name=""/>
          <p:cNvCxnSpPr>
            <a:stCxn xmlns:a="http://schemas.openxmlformats.org/drawingml/2006/main" id="16" idx="3"/>
            <a:endCxn xmlns:a="http://schemas.openxmlformats.org/drawingml/2006/main" id="18" idx="1"/>
          </p:cNvCxnSpPr>
          <p:nvPr/>
        </p:nvCxnSpPr>
        <p:spPr>
          <a:xfrm xmlns:a="http://schemas.openxmlformats.org/drawingml/2006/main">
            <a:off x="13787438" y="4286251"/>
            <a:ext cx="928687" cy="0"/>
          </a:xfrm>
          <a:prstGeom xmlns:a="http://schemas.openxmlformats.org/drawingml/2006/main" prst="straightConnector1">
            <a:avLst/>
          </a:prstGeom>
          <a:ln xmlns:a="http://schemas.openxmlformats.org/drawingml/2006/main" w="28575">
            <a:solidFill>
              <a:srgbClr val="4F81BD"/>
            </a:solidFill>
            <a:prstDash val="solid"/>
            <a:tailEnd type="arrow" w="med" len="med"/>
          </a:ln>
        </p:spPr>
      </p:cxnSp>
      <p:sp>
        <p:nvSpPr>
          <p:cNvPr id="24" name="">
            <a:extLst xmlns:a="http://schemas.openxmlformats.org/drawingml/2006/main">
              <a:ext uri="{FF2B5EF4-FFF2-40B4-BE49-F238E27FC236}">
                <a16:creationId xmlns:a16="http://schemas.microsoft.com/office/drawing/2014/main" id="{37C4766E-2967-43DF-8A6D-BBD660F825BC}"/>
              </a:ext>
            </a:extLst>
          </p:cNvPr>
          <p:cNvSpPr>
            <a:spLocks xmlns:a="http://schemas.openxmlformats.org/drawingml/2006/main" noGrp="1"/>
          </p:cNvSpPr>
          <p:nvPr/>
        </p:nvSpPr>
        <p:spPr>
          <a:xfrm xmlns:a="http://schemas.openxmlformats.org/drawingml/2006/main">
            <a:off x="1314450" y="6286500"/>
            <a:ext cx="3571875"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1">
                <a:solidFill>
                  <a:srgbClr val="4F81BD"/>
                </a:solidFill>
                <a:latin typeface="Open Sans"/>
                <a:ea typeface="Open Sans"/>
                <a:cs typeface="Open Sans"/>
              </a:defRPr>
            </a:pPr>
            <a:r>
              <a:rPr sz="1800" b="1">
                <a:solidFill>
                  <a:srgbClr val="4F81BD"/>
                </a:solidFill>
                <a:latin typeface="Open Sans"/>
                <a:ea typeface="Open Sans"/>
                <a:cs typeface="Open Sans"/>
              </a:rPr>
              <a:t>XGBoost</a:t>
            </a:r>
          </a:p>
        </p:txBody>
      </p:sp>
      <p:sp>
        <p:nvSpPr>
          <p:cNvPr id="25" name="">
            <a:extLst xmlns:a="http://schemas.openxmlformats.org/drawingml/2006/main">
              <a:ext uri="{FF2B5EF4-FFF2-40B4-BE49-F238E27FC236}">
                <a16:creationId xmlns:a16="http://schemas.microsoft.com/office/drawing/2014/main" id="{2FAEB3AB-6DBF-4AE3-80F9-176882AA5C7F}"/>
              </a:ext>
            </a:extLst>
          </p:cNvPr>
          <p:cNvSpPr>
            <a:spLocks xmlns:a="http://schemas.openxmlformats.org/drawingml/2006/main" noGrp="1"/>
          </p:cNvSpPr>
          <p:nvPr/>
        </p:nvSpPr>
        <p:spPr>
          <a:xfrm xmlns:a="http://schemas.openxmlformats.org/drawingml/2006/main">
            <a:off x="1285875" y="6929438"/>
            <a:ext cx="7500938"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Gradient-boosted trees phù hợp với dữ liệu dạng bảng</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Tỷ lệ lớp dương dùng trong scale_pos_weight chỉ từ train</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Score chưa được calibration</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TreeSHAP mô tả đóng góp vào raw margin</a:t>
            </a:r>
          </a:p>
        </p:txBody>
      </p:sp>
      <p:sp>
        <p:nvSpPr>
          <p:cNvPr id="26" name="">
            <a:extLst xmlns:a="http://schemas.openxmlformats.org/drawingml/2006/main">
              <a:ext uri="{FF2B5EF4-FFF2-40B4-BE49-F238E27FC236}">
                <a16:creationId xmlns:a16="http://schemas.microsoft.com/office/drawing/2014/main" id="{BFEABB9F-1D8C-4A22-8235-0213D13B067E}"/>
              </a:ext>
            </a:extLst>
          </p:cNvPr>
          <p:cNvSpPr>
            <a:spLocks xmlns:a="http://schemas.openxmlformats.org/drawingml/2006/main" noGrp="1"/>
          </p:cNvSpPr>
          <p:nvPr/>
        </p:nvSpPr>
        <p:spPr>
          <a:xfrm xmlns:a="http://schemas.openxmlformats.org/drawingml/2006/main">
            <a:off x="9501188" y="6257925"/>
            <a:ext cx="7572375" cy="2928938"/>
          </a:xfrm>
          <a:prstGeom xmlns:a="http://schemas.openxmlformats.org/drawingml/2006/main" prst="roundRect">
            <a:avLst>
              <a:gd name="adj" fmla="val 2602"/>
            </a:avLst>
          </a:prstGeom>
          <a:solidFill xmlns:a="http://schemas.openxmlformats.org/drawingml/2006/main">
            <a:srgbClr val="FFF4D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1F2CF7-5DA9-4AEE-B4BA-FDABEB3D9894}"/>
              </a:ext>
            </a:extLst>
          </p:cNvPr>
          <p:cNvSpPr>
            <a:spLocks xmlns:a="http://schemas.openxmlformats.org/drawingml/2006/main" noGrp="1"/>
          </p:cNvSpPr>
          <p:nvPr/>
        </p:nvSpPr>
        <p:spPr>
          <a:xfrm xmlns:a="http://schemas.openxmlformats.org/drawingml/2006/main">
            <a:off x="9915525" y="65436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FAA61A"/>
                </a:solidFill>
                <a:latin typeface="Open Sans"/>
                <a:ea typeface="Open Sans"/>
                <a:cs typeface="Open Sans"/>
              </a:defRPr>
            </a:pPr>
            <a:r>
              <a:rPr sz="1650" b="1">
                <a:solidFill>
                  <a:srgbClr val="FAA61A"/>
                </a:solidFill>
                <a:latin typeface="Open Sans"/>
                <a:ea typeface="Open Sans"/>
                <a:cs typeface="Open Sans"/>
              </a:rPr>
              <a:t>Chưa cài / chưa kết nối</a:t>
            </a:r>
          </a:p>
        </p:txBody>
      </p:sp>
      <p:sp>
        <p:nvSpPr>
          <p:cNvPr id="28" name="">
            <a:extLst xmlns:a="http://schemas.openxmlformats.org/drawingml/2006/main">
              <a:ext uri="{FF2B5EF4-FFF2-40B4-BE49-F238E27FC236}">
                <a16:creationId xmlns:a16="http://schemas.microsoft.com/office/drawing/2014/main" id="{6694A030-E0F0-4688-AB97-7B40EEC035D6}"/>
              </a:ext>
            </a:extLst>
          </p:cNvPr>
          <p:cNvSpPr>
            <a:spLocks xmlns:a="http://schemas.openxmlformats.org/drawingml/2006/main" noGrp="1"/>
          </p:cNvSpPr>
          <p:nvPr/>
        </p:nvSpPr>
        <p:spPr>
          <a:xfrm xmlns:a="http://schemas.openxmlformats.org/drawingml/2006/main">
            <a:off x="9915525" y="7243763"/>
            <a:ext cx="62865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12000"/>
              </a:lnSpc>
              <a:buNone/>
              <a:defRPr sz="1575" b="0">
                <a:solidFill>
                  <a:srgbClr val="1C334E"/>
                </a:solidFill>
                <a:latin typeface="Open Sans"/>
                <a:ea typeface="Open Sans"/>
                <a:cs typeface="Open Sans"/>
              </a:defRPr>
            </a:pPr>
            <a:r>
              <a:rPr sz="1575" b="0">
                <a:solidFill>
                  <a:srgbClr val="1C334E"/>
                </a:solidFill>
                <a:latin typeface="Open Sans"/>
                <a:ea typeface="Open Sans"/>
                <a:cs typeface="Open Sans"/>
              </a:rPr>
              <a:t>Kafka, API Gateway, feature store, Core Banking</a:t>
            </a:r>
          </a:p>
          <a:p xmlns:a="http://schemas.openxmlformats.org/drawingml/2006/main">
            <a:pPr algn="l">
              <a:lnSpc>
                <a:spcPct val="112000"/>
              </a:lnSpc>
              <a:buNone/>
              <a:defRPr sz="1575" b="0">
                <a:solidFill>
                  <a:srgbClr val="1C334E"/>
                </a:solidFill>
                <a:latin typeface="Open Sans"/>
                <a:ea typeface="Open Sans"/>
                <a:cs typeface="Open Sans"/>
              </a:defRPr>
            </a:pPr>
            <a:r>
              <a:rPr sz="1575" b="0">
                <a:solidFill>
                  <a:srgbClr val="1C334E"/>
                </a:solidFill>
                <a:latin typeface="Open Sans"/>
                <a:ea typeface="Open Sans"/>
                <a:cs typeface="Open Sans"/>
              </a:rPr>
              <a:t>OTP / FaceID, lưu trữ bền vững, HA/DR</a:t>
            </a:r>
          </a:p>
        </p:txBody>
      </p:sp>
    </p:spTree>
    <p:extLst>
      <p:ext uri="{BB962C8B-B14F-4D97-AF65-F5344CB8AC3E}">
        <p14:creationId xmlns:p14="http://schemas.microsoft.com/office/powerpoint/2010/main" val="1173212926"/>
      </p:ext>
    </p:extLst>
  </p:cSld>
</p:sld>
</file>

<file path=ppt/slides/slide9.xml><?xml version="1.0" encoding="utf-8"?>
<p:sld xmlns:a="http://schemas.openxmlformats.org/drawingml/2006/main" xmlns:a16="http://schemas.microsoft.com/office/drawing/2014/main" xmlns:p14="http://schemas.microsoft.com/office/powerpoint/2010/main" xmlns:p="http://schemas.openxmlformats.org/presentationml/2006/main">
  <p:cSld name="Dữ liệu tổng hợp">
    <p:bg>
      <p:bgPr>
        <a:solidFill xmlns:a="http://schemas.openxmlformats.org/drawingml/2006/main">
          <a:srgbClr val="282A7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EDB0FB8-F272-4704-BDCB-0ADD214724BC}"/>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8C48FBE6-3B96-4DBD-945B-CB8D2EFC920C}"/>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41920580-4252-4F42-AD90-08B7ED8E1303}"/>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870740-EFC2-4EFC-926C-16A0E354763A}"/>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THỰC NGHIỆM</a:t>
            </a:r>
          </a:p>
        </p:txBody>
      </p:sp>
      <p:sp>
        <p:nvSpPr>
          <p:cNvPr id="5" name="">
            <a:extLst xmlns:a="http://schemas.openxmlformats.org/drawingml/2006/main">
              <a:ext uri="{FF2B5EF4-FFF2-40B4-BE49-F238E27FC236}">
                <a16:creationId xmlns:a16="http://schemas.microsoft.com/office/drawing/2014/main" id="{F63C09D6-F3F2-4E74-AED3-B36D1CACE6A3}"/>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Dữ liệu tổng hợp và nhãn thiết kế</a:t>
            </a:r>
          </a:p>
        </p:txBody>
      </p:sp>
      <p:sp>
        <p:nvSpPr>
          <p:cNvPr id="6" name="">
            <a:extLst xmlns:a="http://schemas.openxmlformats.org/drawingml/2006/main">
              <a:ext uri="{FF2B5EF4-FFF2-40B4-BE49-F238E27FC236}">
                <a16:creationId xmlns:a16="http://schemas.microsoft.com/office/drawing/2014/main" id="{0C712AFE-BA98-4E1D-8983-677BA4F5D296}"/>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234C03-F1E4-4F26-9E2A-5C9D5750AA78}"/>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73094904-D2C2-4619-BB98-26B564A3B0E9}"/>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2CF9E342-C281-41E9-ADB2-C978B2F2E9EE}"/>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9</a:t>
            </a:r>
          </a:p>
        </p:txBody>
      </p:sp>
      <p:sp>
        <p:nvSpPr>
          <p:cNvPr id="10" name="">
            <a:extLst xmlns:a="http://schemas.openxmlformats.org/drawingml/2006/main">
              <a:ext uri="{FF2B5EF4-FFF2-40B4-BE49-F238E27FC236}">
                <a16:creationId xmlns:a16="http://schemas.microsoft.com/office/drawing/2014/main" id="{34A9F9C7-1C7F-4089-823E-D8205FC0E6A1}"/>
              </a:ext>
            </a:extLst>
          </p:cNvPr>
          <p:cNvSpPr>
            <a:spLocks xmlns:a="http://schemas.openxmlformats.org/drawingml/2006/main" noGrp="1"/>
          </p:cNvSpPr>
          <p:nvPr/>
        </p:nvSpPr>
        <p:spPr>
          <a:xfrm xmlns:a="http://schemas.openxmlformats.org/drawingml/2006/main">
            <a:off x="1214438" y="2371725"/>
            <a:ext cx="3571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850" b="1">
                <a:solidFill>
                  <a:srgbClr val="282A75"/>
                </a:solidFill>
                <a:latin typeface="Open Sans"/>
                <a:ea typeface="Open Sans"/>
                <a:cs typeface="Open Sans"/>
              </a:defRPr>
            </a:pPr>
            <a:r>
              <a:rPr sz="2850" b="1">
                <a:solidFill>
                  <a:srgbClr val="282A75"/>
                </a:solidFill>
                <a:latin typeface="Open Sans"/>
                <a:ea typeface="Open Sans"/>
                <a:cs typeface="Open Sans"/>
              </a:rPr>
              <a:t>25.000</a:t>
            </a:r>
          </a:p>
        </p:txBody>
      </p:sp>
      <p:sp>
        <p:nvSpPr>
          <p:cNvPr id="11" name="">
            <a:extLst xmlns:a="http://schemas.openxmlformats.org/drawingml/2006/main">
              <a:ext uri="{FF2B5EF4-FFF2-40B4-BE49-F238E27FC236}">
                <a16:creationId xmlns:a16="http://schemas.microsoft.com/office/drawing/2014/main" id="{650D1253-EBEB-4320-9AC8-5FD4F403F4A5}"/>
              </a:ext>
            </a:extLst>
          </p:cNvPr>
          <p:cNvSpPr>
            <a:spLocks xmlns:a="http://schemas.openxmlformats.org/drawingml/2006/main" noGrp="1"/>
          </p:cNvSpPr>
          <p:nvPr/>
        </p:nvSpPr>
        <p:spPr>
          <a:xfrm xmlns:a="http://schemas.openxmlformats.org/drawingml/2006/main">
            <a:off x="1214438" y="33718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giao dịch sinh tổng hợp</a:t>
            </a:r>
          </a:p>
        </p:txBody>
      </p:sp>
      <p:sp>
        <p:nvSpPr>
          <p:cNvPr id="12" name="">
            <a:extLst xmlns:a="http://schemas.openxmlformats.org/drawingml/2006/main">
              <a:ext uri="{FF2B5EF4-FFF2-40B4-BE49-F238E27FC236}">
                <a16:creationId xmlns:a16="http://schemas.microsoft.com/office/drawing/2014/main" id="{726187CC-84CD-4F6E-91C2-CA40B76E4203}"/>
              </a:ext>
            </a:extLst>
          </p:cNvPr>
          <p:cNvSpPr>
            <a:spLocks xmlns:a="http://schemas.openxmlformats.org/drawingml/2006/main" noGrp="1"/>
          </p:cNvSpPr>
          <p:nvPr/>
        </p:nvSpPr>
        <p:spPr>
          <a:xfrm xmlns:a="http://schemas.openxmlformats.org/drawingml/2006/main">
            <a:off x="1385888" y="4286250"/>
            <a:ext cx="3228975" cy="42863"/>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DB0D2DE-FCC9-431E-8379-ADF631CEF2C1}"/>
              </a:ext>
            </a:extLst>
          </p:cNvPr>
          <p:cNvSpPr>
            <a:spLocks xmlns:a="http://schemas.openxmlformats.org/drawingml/2006/main" noGrp="1"/>
          </p:cNvSpPr>
          <p:nvPr/>
        </p:nvSpPr>
        <p:spPr>
          <a:xfrm xmlns:a="http://schemas.openxmlformats.org/drawingml/2006/main">
            <a:off x="5243513" y="2371725"/>
            <a:ext cx="3571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850" b="1">
                <a:solidFill>
                  <a:srgbClr val="282A75"/>
                </a:solidFill>
                <a:latin typeface="Open Sans"/>
                <a:ea typeface="Open Sans"/>
                <a:cs typeface="Open Sans"/>
              </a:defRPr>
            </a:pPr>
            <a:r>
              <a:rPr sz="2850" b="1">
                <a:solidFill>
                  <a:srgbClr val="282A75"/>
                </a:solidFill>
                <a:latin typeface="Open Sans"/>
                <a:ea typeface="Open Sans"/>
                <a:cs typeface="Open Sans"/>
              </a:rPr>
              <a:t>1,8%</a:t>
            </a:r>
          </a:p>
        </p:txBody>
      </p:sp>
      <p:sp>
        <p:nvSpPr>
          <p:cNvPr id="14" name="">
            <a:extLst xmlns:a="http://schemas.openxmlformats.org/drawingml/2006/main">
              <a:ext uri="{FF2B5EF4-FFF2-40B4-BE49-F238E27FC236}">
                <a16:creationId xmlns:a16="http://schemas.microsoft.com/office/drawing/2014/main" id="{8AB15363-37C2-4B72-BD1A-9C8A641764B9}"/>
              </a:ext>
            </a:extLst>
          </p:cNvPr>
          <p:cNvSpPr>
            <a:spLocks xmlns:a="http://schemas.openxmlformats.org/drawingml/2006/main" noGrp="1"/>
          </p:cNvSpPr>
          <p:nvPr/>
        </p:nvSpPr>
        <p:spPr>
          <a:xfrm xmlns:a="http://schemas.openxmlformats.org/drawingml/2006/main">
            <a:off x="5243513" y="33718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tỷ lệ nhãn dương thiết kế</a:t>
            </a:r>
          </a:p>
        </p:txBody>
      </p:sp>
      <p:sp>
        <p:nvSpPr>
          <p:cNvPr id="15" name="">
            <a:extLst xmlns:a="http://schemas.openxmlformats.org/drawingml/2006/main">
              <a:ext uri="{FF2B5EF4-FFF2-40B4-BE49-F238E27FC236}">
                <a16:creationId xmlns:a16="http://schemas.microsoft.com/office/drawing/2014/main" id="{95907345-F794-4B64-ABA9-F779C36ECE9D}"/>
              </a:ext>
            </a:extLst>
          </p:cNvPr>
          <p:cNvSpPr>
            <a:spLocks xmlns:a="http://schemas.openxmlformats.org/drawingml/2006/main" noGrp="1"/>
          </p:cNvSpPr>
          <p:nvPr/>
        </p:nvSpPr>
        <p:spPr>
          <a:xfrm xmlns:a="http://schemas.openxmlformats.org/drawingml/2006/main">
            <a:off x="5414963" y="4286250"/>
            <a:ext cx="3228975" cy="42863"/>
          </a:xfrm>
          <a:prstGeom xmlns:a="http://schemas.openxmlformats.org/drawingml/2006/main" prst="rect">
            <a:avLst/>
          </a:prstGeom>
          <a:solidFill xmlns:a="http://schemas.openxmlformats.org/drawingml/2006/main">
            <a:srgbClr val="9BBB5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7F83FA-14F4-4345-A62C-290761B83595}"/>
              </a:ext>
            </a:extLst>
          </p:cNvPr>
          <p:cNvSpPr>
            <a:spLocks xmlns:a="http://schemas.openxmlformats.org/drawingml/2006/main" noGrp="1"/>
          </p:cNvSpPr>
          <p:nvPr/>
        </p:nvSpPr>
        <p:spPr>
          <a:xfrm xmlns:a="http://schemas.openxmlformats.org/drawingml/2006/main">
            <a:off x="9272588" y="2371725"/>
            <a:ext cx="3571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850" b="1">
                <a:solidFill>
                  <a:srgbClr val="282A75"/>
                </a:solidFill>
                <a:latin typeface="Open Sans"/>
                <a:ea typeface="Open Sans"/>
                <a:cs typeface="Open Sans"/>
              </a:defRPr>
            </a:pPr>
            <a:r>
              <a:rPr sz="2850" b="1">
                <a:solidFill>
                  <a:srgbClr val="282A75"/>
                </a:solidFill>
                <a:latin typeface="Open Sans"/>
                <a:ea typeface="Open Sans"/>
                <a:cs typeface="Open Sans"/>
              </a:rPr>
              <a:t>8</a:t>
            </a:r>
          </a:p>
        </p:txBody>
      </p:sp>
      <p:sp>
        <p:nvSpPr>
          <p:cNvPr id="17" name="">
            <a:extLst xmlns:a="http://schemas.openxmlformats.org/drawingml/2006/main">
              <a:ext uri="{FF2B5EF4-FFF2-40B4-BE49-F238E27FC236}">
                <a16:creationId xmlns:a16="http://schemas.microsoft.com/office/drawing/2014/main" id="{5A994473-CE5F-47C2-86D2-FE5CD05F3788}"/>
              </a:ext>
            </a:extLst>
          </p:cNvPr>
          <p:cNvSpPr>
            <a:spLocks xmlns:a="http://schemas.openxmlformats.org/drawingml/2006/main" noGrp="1"/>
          </p:cNvSpPr>
          <p:nvPr/>
        </p:nvSpPr>
        <p:spPr>
          <a:xfrm xmlns:a="http://schemas.openxmlformats.org/drawingml/2006/main">
            <a:off x="9272588" y="33718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đặc trưng đầu vào</a:t>
            </a:r>
          </a:p>
        </p:txBody>
      </p:sp>
      <p:sp>
        <p:nvSpPr>
          <p:cNvPr id="18" name="">
            <a:extLst xmlns:a="http://schemas.openxmlformats.org/drawingml/2006/main">
              <a:ext uri="{FF2B5EF4-FFF2-40B4-BE49-F238E27FC236}">
                <a16:creationId xmlns:a16="http://schemas.microsoft.com/office/drawing/2014/main" id="{0C4FD6FF-9907-4CF3-B374-272AFAB8EFA2}"/>
              </a:ext>
            </a:extLst>
          </p:cNvPr>
          <p:cNvSpPr>
            <a:spLocks xmlns:a="http://schemas.openxmlformats.org/drawingml/2006/main" noGrp="1"/>
          </p:cNvSpPr>
          <p:nvPr/>
        </p:nvSpPr>
        <p:spPr>
          <a:xfrm xmlns:a="http://schemas.openxmlformats.org/drawingml/2006/main">
            <a:off x="9444038" y="4286250"/>
            <a:ext cx="3228975" cy="42863"/>
          </a:xfrm>
          <a:prstGeom xmlns:a="http://schemas.openxmlformats.org/drawingml/2006/main" prst="rect">
            <a:avLst/>
          </a:prstGeom>
          <a:solidFill xmlns:a="http://schemas.openxmlformats.org/drawingml/2006/main">
            <a:srgbClr val="FAA61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8DFDDDD-0746-43D0-8FCE-7AD478ACACE5}"/>
              </a:ext>
            </a:extLst>
          </p:cNvPr>
          <p:cNvSpPr>
            <a:spLocks xmlns:a="http://schemas.openxmlformats.org/drawingml/2006/main" noGrp="1"/>
          </p:cNvSpPr>
          <p:nvPr/>
        </p:nvSpPr>
        <p:spPr>
          <a:xfrm xmlns:a="http://schemas.openxmlformats.org/drawingml/2006/main">
            <a:off x="13301663" y="2371725"/>
            <a:ext cx="3571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850" b="1">
                <a:solidFill>
                  <a:srgbClr val="282A75"/>
                </a:solidFill>
                <a:latin typeface="Open Sans"/>
                <a:ea typeface="Open Sans"/>
                <a:cs typeface="Open Sans"/>
              </a:defRPr>
            </a:pPr>
            <a:r>
              <a:rPr sz="2850" b="1">
                <a:solidFill>
                  <a:srgbClr val="282A75"/>
                </a:solidFill>
                <a:latin typeface="Open Sans"/>
                <a:ea typeface="Open Sans"/>
                <a:cs typeface="Open Sans"/>
              </a:rPr>
              <a:t>42 / 52 / 62</a:t>
            </a:r>
          </a:p>
        </p:txBody>
      </p:sp>
      <p:sp>
        <p:nvSpPr>
          <p:cNvPr id="20" name="">
            <a:extLst xmlns:a="http://schemas.openxmlformats.org/drawingml/2006/main">
              <a:ext uri="{FF2B5EF4-FFF2-40B4-BE49-F238E27FC236}">
                <a16:creationId xmlns:a16="http://schemas.microsoft.com/office/drawing/2014/main" id="{0ACB9D76-BCFF-445A-895D-D5AC3B8ABC37}"/>
              </a:ext>
            </a:extLst>
          </p:cNvPr>
          <p:cNvSpPr>
            <a:spLocks xmlns:a="http://schemas.openxmlformats.org/drawingml/2006/main" noGrp="1"/>
          </p:cNvSpPr>
          <p:nvPr/>
        </p:nvSpPr>
        <p:spPr>
          <a:xfrm xmlns:a="http://schemas.openxmlformats.org/drawingml/2006/main">
            <a:off x="13301663" y="33718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random seed mô hình</a:t>
            </a:r>
          </a:p>
        </p:txBody>
      </p:sp>
      <p:sp>
        <p:nvSpPr>
          <p:cNvPr id="21" name="">
            <a:extLst xmlns:a="http://schemas.openxmlformats.org/drawingml/2006/main">
              <a:ext uri="{FF2B5EF4-FFF2-40B4-BE49-F238E27FC236}">
                <a16:creationId xmlns:a16="http://schemas.microsoft.com/office/drawing/2014/main" id="{915ED006-8334-4E20-A9E2-14DC9DD7C010}"/>
              </a:ext>
            </a:extLst>
          </p:cNvPr>
          <p:cNvSpPr>
            <a:spLocks xmlns:a="http://schemas.openxmlformats.org/drawingml/2006/main" noGrp="1"/>
          </p:cNvSpPr>
          <p:nvPr/>
        </p:nvSpPr>
        <p:spPr>
          <a:xfrm xmlns:a="http://schemas.openxmlformats.org/drawingml/2006/main">
            <a:off x="13473113" y="4286250"/>
            <a:ext cx="3228975" cy="42863"/>
          </a:xfrm>
          <a:prstGeom xmlns:a="http://schemas.openxmlformats.org/drawingml/2006/main" prst="rect">
            <a:avLst/>
          </a:prstGeom>
          <a:solidFill xmlns:a="http://schemas.openxmlformats.org/drawingml/2006/main">
            <a:srgbClr val="C0504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3BD5B6-51E8-466C-B06D-65AA8572996E}"/>
              </a:ext>
            </a:extLst>
          </p:cNvPr>
          <p:cNvSpPr>
            <a:spLocks xmlns:a="http://schemas.openxmlformats.org/drawingml/2006/main" noGrp="1"/>
          </p:cNvSpPr>
          <p:nvPr/>
        </p:nvSpPr>
        <p:spPr>
          <a:xfrm xmlns:a="http://schemas.openxmlformats.org/drawingml/2006/main">
            <a:off x="1357313" y="5000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4F81BD"/>
                </a:solidFill>
                <a:latin typeface="Open Sans"/>
                <a:ea typeface="Open Sans"/>
                <a:cs typeface="Open Sans"/>
              </a:defRPr>
            </a:pPr>
            <a:r>
              <a:rPr sz="1575" b="1">
                <a:solidFill>
                  <a:srgbClr val="4F81BD"/>
                </a:solidFill>
                <a:latin typeface="Open Sans"/>
                <a:ea typeface="Open Sans"/>
                <a:cs typeface="Open Sans"/>
              </a:rPr>
              <a:t>Đặc trưng</a:t>
            </a:r>
          </a:p>
        </p:txBody>
      </p:sp>
      <p:sp>
        <p:nvSpPr>
          <p:cNvPr id="23" name="">
            <a:extLst xmlns:a="http://schemas.openxmlformats.org/drawingml/2006/main">
              <a:ext uri="{FF2B5EF4-FFF2-40B4-BE49-F238E27FC236}">
                <a16:creationId xmlns:a16="http://schemas.microsoft.com/office/drawing/2014/main" id="{1ECB090C-E418-4D08-A0E2-834E18C8C9B3}"/>
              </a:ext>
            </a:extLst>
          </p:cNvPr>
          <p:cNvSpPr>
            <a:spLocks xmlns:a="http://schemas.openxmlformats.org/drawingml/2006/main" noGrp="1"/>
          </p:cNvSpPr>
          <p:nvPr/>
        </p:nvSpPr>
        <p:spPr>
          <a:xfrm xmlns:a="http://schemas.openxmlformats.org/drawingml/2006/main">
            <a:off x="1285875" y="5643563"/>
            <a:ext cx="75723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Số tiền, giờ, kênh</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Thiết bị mới, vị trí bất thường</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Sai OTP/PIN, tần suất 10 phút</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Người nhận mới đối với người gửi</a:t>
            </a:r>
          </a:p>
        </p:txBody>
      </p:sp>
      <p:sp>
        <p:nvSpPr>
          <p:cNvPr id="24" name="">
            <a:extLst xmlns:a="http://schemas.openxmlformats.org/drawingml/2006/main">
              <a:ext uri="{FF2B5EF4-FFF2-40B4-BE49-F238E27FC236}">
                <a16:creationId xmlns:a16="http://schemas.microsoft.com/office/drawing/2014/main" id="{9AD5C28C-5676-4BAB-AE8D-0D91B20D4025}"/>
              </a:ext>
            </a:extLst>
          </p:cNvPr>
          <p:cNvSpPr>
            <a:spLocks xmlns:a="http://schemas.openxmlformats.org/drawingml/2006/main" noGrp="1"/>
          </p:cNvSpPr>
          <p:nvPr/>
        </p:nvSpPr>
        <p:spPr>
          <a:xfrm xmlns:a="http://schemas.openxmlformats.org/drawingml/2006/main">
            <a:off x="9715500" y="5072063"/>
            <a:ext cx="7286625" cy="3143250"/>
          </a:xfrm>
          <a:prstGeom xmlns:a="http://schemas.openxmlformats.org/drawingml/2006/main" prst="roundRect">
            <a:avLst>
              <a:gd name="adj" fmla="val 2424"/>
            </a:avLst>
          </a:prstGeom>
          <a:solidFill xmlns:a="http://schemas.openxmlformats.org/drawingml/2006/main">
            <a:srgbClr val="FCEBE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3F243CA-A941-4045-9379-E57AD76220FE}"/>
              </a:ext>
            </a:extLst>
          </p:cNvPr>
          <p:cNvSpPr>
            <a:spLocks xmlns:a="http://schemas.openxmlformats.org/drawingml/2006/main" noGrp="1"/>
          </p:cNvSpPr>
          <p:nvPr/>
        </p:nvSpPr>
        <p:spPr>
          <a:xfrm xmlns:a="http://schemas.openxmlformats.org/drawingml/2006/main">
            <a:off x="10115550" y="5357813"/>
            <a:ext cx="642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C0504D"/>
                </a:solidFill>
                <a:latin typeface="Open Sans"/>
                <a:ea typeface="Open Sans"/>
                <a:cs typeface="Open Sans"/>
              </a:defRPr>
            </a:pPr>
            <a:r>
              <a:rPr sz="1650" b="1">
                <a:solidFill>
                  <a:srgbClr val="C0504D"/>
                </a:solidFill>
                <a:latin typeface="Open Sans"/>
                <a:ea typeface="Open Sans"/>
                <a:cs typeface="Open Sans"/>
              </a:rPr>
              <a:t>Hạn chế nhãn</a:t>
            </a:r>
          </a:p>
        </p:txBody>
      </p:sp>
      <p:sp>
        <p:nvSpPr>
          <p:cNvPr id="26" name="">
            <a:extLst xmlns:a="http://schemas.openxmlformats.org/drawingml/2006/main">
              <a:ext uri="{FF2B5EF4-FFF2-40B4-BE49-F238E27FC236}">
                <a16:creationId xmlns:a16="http://schemas.microsoft.com/office/drawing/2014/main" id="{5CC73995-DB0D-4323-91CC-C4A621633036}"/>
              </a:ext>
            </a:extLst>
          </p:cNvPr>
          <p:cNvSpPr>
            <a:spLocks xmlns:a="http://schemas.openxmlformats.org/drawingml/2006/main" noGrp="1"/>
          </p:cNvSpPr>
          <p:nvPr/>
        </p:nvSpPr>
        <p:spPr>
          <a:xfrm xmlns:a="http://schemas.openxmlformats.org/drawingml/2006/main">
            <a:off x="10115550" y="6086475"/>
            <a:ext cx="6357938"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10000"/>
              </a:lnSpc>
              <a:buNone/>
              <a:defRPr sz="1650" b="0">
                <a:solidFill>
                  <a:srgbClr val="1C334E"/>
                </a:solidFill>
                <a:latin typeface="Open Sans"/>
                <a:ea typeface="Open Sans"/>
                <a:cs typeface="Open Sans"/>
              </a:defRPr>
            </a:pPr>
            <a:r>
              <a:rPr sz="1650" b="0">
                <a:solidFill>
                  <a:srgbClr val="1C334E"/>
                </a:solidFill>
                <a:latin typeface="Open Sans"/>
                <a:ea typeface="Open Sans"/>
                <a:cs typeface="Open Sans"/>
              </a:rPr>
              <a:t>Nhãn = top 1,8% latent risk + nhiễu.</a:t>
            </a:r>
          </a:p>
          <a:p xmlns:a="http://schemas.openxmlformats.org/drawingml/2006/main">
            <a:pPr algn="l">
              <a:lnSpc>
                <a:spcPct val="110000"/>
              </a:lnSpc>
              <a:buNone/>
              <a:defRPr sz="1650" b="0">
                <a:solidFill>
                  <a:srgbClr val="1C334E"/>
                </a:solidFill>
                <a:latin typeface="Open Sans"/>
                <a:ea typeface="Open Sans"/>
                <a:cs typeface="Open Sans"/>
              </a:defRPr>
            </a:pPr>
            <a:r>
              <a:rPr sz="1650" b="0">
                <a:solidFill>
                  <a:srgbClr val="1C334E"/>
                </a:solidFill>
                <a:latin typeface="Open Sans"/>
                <a:ea typeface="Open Sans"/>
                <a:cs typeface="Open Sans"/>
              </a:rPr>
              <a:t>Mô hình học lại cấu trúc do nhóm định nghĩa.</a:t>
            </a:r>
          </a:p>
          <a:p xmlns:a="http://schemas.openxmlformats.org/drawingml/2006/main">
            <a:pPr algn="l">
              <a:lnSpc>
                <a:spcPct val="110000"/>
              </a:lnSpc>
              <a:buNone/>
              <a:defRPr sz="1650" b="0">
                <a:solidFill>
                  <a:srgbClr val="1C334E"/>
                </a:solidFill>
                <a:latin typeface="Open Sans"/>
                <a:ea typeface="Open Sans"/>
                <a:cs typeface="Open Sans"/>
              </a:defRPr>
            </a:pPr>
            <a:r>
              <a:rPr sz="1650" b="0">
                <a:solidFill>
                  <a:srgbClr val="1C334E"/>
                </a:solidFill>
                <a:latin typeface="Open Sans"/>
                <a:ea typeface="Open Sans"/>
                <a:cs typeface="Open Sans"/>
              </a:rPr>
              <a:t>Không đại diện hành vi hoặc nhãn của MB.</a:t>
            </a:r>
          </a:p>
        </p:txBody>
      </p:sp>
      <p:sp>
        <p:nvSpPr>
          <p:cNvPr id="27" name="">
            <a:extLst xmlns:a="http://schemas.openxmlformats.org/drawingml/2006/main">
              <a:ext uri="{FF2B5EF4-FFF2-40B4-BE49-F238E27FC236}">
                <a16:creationId xmlns:a16="http://schemas.microsoft.com/office/drawing/2014/main" id="{7E62A70E-8AD0-496C-9135-A405858C012D}"/>
              </a:ext>
            </a:extLst>
          </p:cNvPr>
          <p:cNvSpPr>
            <a:spLocks xmlns:a="http://schemas.openxmlformats.org/drawingml/2006/main" noGrp="1"/>
          </p:cNvSpPr>
          <p:nvPr/>
        </p:nvSpPr>
        <p:spPr>
          <a:xfrm xmlns:a="http://schemas.openxmlformats.org/drawingml/2006/main">
            <a:off x="1314450" y="8786813"/>
            <a:ext cx="1543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282A75"/>
                </a:solidFill>
                <a:latin typeface="Open Sans"/>
                <a:ea typeface="Open Sans"/>
                <a:cs typeface="Open Sans"/>
              </a:defRPr>
            </a:pPr>
            <a:r>
              <a:rPr sz="1650" b="1">
                <a:solidFill>
                  <a:srgbClr val="282A75"/>
                </a:solidFill>
                <a:latin typeface="Open Sans"/>
                <a:ea typeface="Open Sans"/>
                <a:cs typeface="Open Sans"/>
              </a:rPr>
              <a:t>Split stratified: 60% train  |  20% validation  |  20% test</a:t>
            </a:r>
          </a:p>
        </p:txBody>
      </p:sp>
    </p:spTree>
    <p:extLst>
      <p:ext uri="{BB962C8B-B14F-4D97-AF65-F5344CB8AC3E}">
        <p14:creationId xmlns:p14="http://schemas.microsoft.com/office/powerpoint/2010/main" val="1368730902"/>
      </p:ext>
    </p:extLst>
  </p:cSld>
</p:sld>
</file>

<file path=ppt/slides/slide10.xml><?xml version="1.0" encoding="utf-8"?>
<p:sld xmlns:a="http://schemas.openxmlformats.org/drawingml/2006/main" xmlns:a16="http://schemas.microsoft.com/office/drawing/2014/main" xmlns:p14="http://schemas.microsoft.com/office/powerpoint/2010/main" xmlns:p="http://schemas.openxmlformats.org/presentationml/2006/main">
  <p:cSld name="Thiết kế thực nghiệm">
    <p:bg>
      <p:bgPr>
        <a:solidFill xmlns:a="http://schemas.openxmlformats.org/drawingml/2006/main">
          <a:srgbClr val="282A7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F160510-9701-4067-878F-FA36C3D437A8}"/>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E789CE06-AF64-4047-A405-C8C09BA46037}"/>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E74E038B-3800-41CD-AB9C-904A2A726B5C}"/>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213286-04C2-4DA5-A5A1-0033AC1A6DD4}"/>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PHƯƠNG PHÁP</a:t>
            </a:r>
          </a:p>
        </p:txBody>
      </p:sp>
      <p:sp>
        <p:nvSpPr>
          <p:cNvPr id="5" name="">
            <a:extLst xmlns:a="http://schemas.openxmlformats.org/drawingml/2006/main">
              <a:ext uri="{FF2B5EF4-FFF2-40B4-BE49-F238E27FC236}">
                <a16:creationId xmlns:a16="http://schemas.microsoft.com/office/drawing/2014/main" id="{2DB363D3-9F75-4C3E-B86A-77792C212F6C}"/>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Protocol đánh giá tách biệt lựa chọn và kiểm tra</a:t>
            </a:r>
          </a:p>
        </p:txBody>
      </p:sp>
      <p:sp>
        <p:nvSpPr>
          <p:cNvPr id="6" name="">
            <a:extLst xmlns:a="http://schemas.openxmlformats.org/drawingml/2006/main">
              <a:ext uri="{FF2B5EF4-FFF2-40B4-BE49-F238E27FC236}">
                <a16:creationId xmlns:a16="http://schemas.microsoft.com/office/drawing/2014/main" id="{CF1A931D-1976-4630-AD16-260F8833BF7B}"/>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26025A-9D45-4234-9574-50C88F48C8B4}"/>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0BF39ECF-42C1-4308-97AB-94864E983697}"/>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CB6E8BC9-2C0C-447F-97BF-34302D9CEE19}"/>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10</a:t>
            </a:r>
          </a:p>
        </p:txBody>
      </p:sp>
      <p:sp>
        <p:nvSpPr>
          <p:cNvPr id="10" name="">
            <a:extLst xmlns:a="http://schemas.openxmlformats.org/drawingml/2006/main">
              <a:ext uri="{FF2B5EF4-FFF2-40B4-BE49-F238E27FC236}">
                <a16:creationId xmlns:a16="http://schemas.microsoft.com/office/drawing/2014/main" id="{999589BF-C3AB-4B4B-8FEF-95489AE49F31}"/>
              </a:ext>
            </a:extLst>
          </p:cNvPr>
          <p:cNvSpPr>
            <a:spLocks xmlns:a="http://schemas.openxmlformats.org/drawingml/2006/main" noGrp="1"/>
          </p:cNvSpPr>
          <p:nvPr/>
        </p:nvSpPr>
        <p:spPr>
          <a:xfrm xmlns:a="http://schemas.openxmlformats.org/drawingml/2006/main">
            <a:off x="1500188" y="2714625"/>
            <a:ext cx="4286250" cy="2257425"/>
          </a:xfrm>
          <a:prstGeom xmlns:a="http://schemas.openxmlformats.org/drawingml/2006/main" prst="roundRect">
            <a:avLst>
              <a:gd name="adj" fmla="val 3376"/>
            </a:avLst>
          </a:prstGeom>
          <a:solidFill xmlns:a="http://schemas.openxmlformats.org/drawingml/2006/main">
            <a:srgbClr val="F1F3F8"/>
          </a:solidFill>
          <a:ln xmlns:a="http://schemas.openxmlformats.org/drawingml/2006/main" w="19050">
            <a:solidFill>
              <a:srgbClr val="4F81BD"/>
            </a:solidFill>
          </a:ln>
        </p:spPr>
      </p:sp>
      <p:sp>
        <p:nvSpPr>
          <p:cNvPr id="11" name="">
            <a:extLst xmlns:a="http://schemas.openxmlformats.org/drawingml/2006/main">
              <a:ext uri="{FF2B5EF4-FFF2-40B4-BE49-F238E27FC236}">
                <a16:creationId xmlns:a16="http://schemas.microsoft.com/office/drawing/2014/main" id="{5BE8E411-13D5-427D-A73E-572D75A00E88}"/>
              </a:ext>
            </a:extLst>
          </p:cNvPr>
          <p:cNvSpPr>
            <a:spLocks xmlns:a="http://schemas.openxmlformats.org/drawingml/2006/main" noGrp="1"/>
          </p:cNvSpPr>
          <p:nvPr/>
        </p:nvSpPr>
        <p:spPr>
          <a:xfrm xmlns:a="http://schemas.openxmlformats.org/drawingml/2006/main">
            <a:off x="1785938" y="3000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00" b="1">
                <a:solidFill>
                  <a:srgbClr val="4F81BD"/>
                </a:solidFill>
                <a:latin typeface="Open Sans"/>
                <a:ea typeface="Open Sans"/>
                <a:cs typeface="Open Sans"/>
              </a:defRPr>
            </a:pPr>
            <a:r>
              <a:rPr sz="1500" b="1">
                <a:solidFill>
                  <a:srgbClr val="4F81BD"/>
                </a:solidFill>
                <a:latin typeface="Open Sans"/>
                <a:ea typeface="Open Sans"/>
                <a:cs typeface="Open Sans"/>
              </a:rPr>
              <a:t>TRAIN</a:t>
            </a:r>
          </a:p>
        </p:txBody>
      </p:sp>
      <p:sp>
        <p:nvSpPr>
          <p:cNvPr id="12" name="">
            <a:extLst xmlns:a="http://schemas.openxmlformats.org/drawingml/2006/main">
              <a:ext uri="{FF2B5EF4-FFF2-40B4-BE49-F238E27FC236}">
                <a16:creationId xmlns:a16="http://schemas.microsoft.com/office/drawing/2014/main" id="{3CD3FD70-9E40-4456-A382-15980B8B8C63}"/>
              </a:ext>
            </a:extLst>
          </p:cNvPr>
          <p:cNvSpPr>
            <a:spLocks xmlns:a="http://schemas.openxmlformats.org/drawingml/2006/main" noGrp="1"/>
          </p:cNvSpPr>
          <p:nvPr/>
        </p:nvSpPr>
        <p:spPr>
          <a:xfrm xmlns:a="http://schemas.openxmlformats.org/drawingml/2006/main">
            <a:off x="1785938" y="3500438"/>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700" b="1">
                <a:solidFill>
                  <a:srgbClr val="282A75"/>
                </a:solidFill>
                <a:latin typeface="Open Sans"/>
                <a:ea typeface="Open Sans"/>
                <a:cs typeface="Open Sans"/>
              </a:defRPr>
            </a:pPr>
            <a:r>
              <a:rPr sz="2700" b="1">
                <a:solidFill>
                  <a:srgbClr val="282A75"/>
                </a:solidFill>
                <a:latin typeface="Open Sans"/>
                <a:ea typeface="Open Sans"/>
                <a:cs typeface="Open Sans"/>
              </a:rPr>
              <a:t>15.000</a:t>
            </a:r>
          </a:p>
        </p:txBody>
      </p:sp>
      <p:sp>
        <p:nvSpPr>
          <p:cNvPr id="13" name="">
            <a:extLst xmlns:a="http://schemas.openxmlformats.org/drawingml/2006/main">
              <a:ext uri="{FF2B5EF4-FFF2-40B4-BE49-F238E27FC236}">
                <a16:creationId xmlns:a16="http://schemas.microsoft.com/office/drawing/2014/main" id="{396CF255-9E22-4C62-AB73-230617827ED5}"/>
              </a:ext>
            </a:extLst>
          </p:cNvPr>
          <p:cNvSpPr>
            <a:spLocks xmlns:a="http://schemas.openxmlformats.org/drawingml/2006/main" noGrp="1"/>
          </p:cNvSpPr>
          <p:nvPr/>
        </p:nvSpPr>
        <p:spPr>
          <a:xfrm xmlns:a="http://schemas.openxmlformats.org/drawingml/2006/main">
            <a:off x="1785938" y="42862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1C334E"/>
                </a:solidFill>
                <a:latin typeface="Open Sans"/>
                <a:ea typeface="Open Sans"/>
                <a:cs typeface="Open Sans"/>
              </a:defRPr>
            </a:pPr>
            <a:r>
              <a:rPr sz="1350" b="0">
                <a:solidFill>
                  <a:srgbClr val="1C334E"/>
                </a:solidFill>
                <a:latin typeface="Open Sans"/>
                <a:ea typeface="Open Sans"/>
                <a:cs typeface="Open Sans"/>
              </a:rPr>
              <a:t>Ước lượng model</a:t>
            </a:r>
          </a:p>
        </p:txBody>
      </p:sp>
      <p:sp>
        <p:nvSpPr>
          <p:cNvPr id="14" name="">
            <a:extLst xmlns:a="http://schemas.openxmlformats.org/drawingml/2006/main">
              <a:ext uri="{FF2B5EF4-FFF2-40B4-BE49-F238E27FC236}">
                <a16:creationId xmlns:a16="http://schemas.microsoft.com/office/drawing/2014/main" id="{A5EE05A8-05E4-4A53-A687-838CE541AB6C}"/>
              </a:ext>
            </a:extLst>
          </p:cNvPr>
          <p:cNvSpPr>
            <a:spLocks xmlns:a="http://schemas.openxmlformats.org/drawingml/2006/main" noGrp="1"/>
          </p:cNvSpPr>
          <p:nvPr/>
        </p:nvSpPr>
        <p:spPr>
          <a:xfrm xmlns:a="http://schemas.openxmlformats.org/drawingml/2006/main">
            <a:off x="6929438" y="2714625"/>
            <a:ext cx="4286250" cy="2257425"/>
          </a:xfrm>
          <a:prstGeom xmlns:a="http://schemas.openxmlformats.org/drawingml/2006/main" prst="roundRect">
            <a:avLst>
              <a:gd name="adj" fmla="val 3376"/>
            </a:avLst>
          </a:prstGeom>
          <a:solidFill xmlns:a="http://schemas.openxmlformats.org/drawingml/2006/main">
            <a:srgbClr val="FFF4DE"/>
          </a:solidFill>
          <a:ln xmlns:a="http://schemas.openxmlformats.org/drawingml/2006/main" w="19050">
            <a:solidFill>
              <a:srgbClr val="FAA61A"/>
            </a:solidFill>
          </a:ln>
        </p:spPr>
      </p:sp>
      <p:sp>
        <p:nvSpPr>
          <p:cNvPr id="15" name="">
            <a:extLst xmlns:a="http://schemas.openxmlformats.org/drawingml/2006/main">
              <a:ext uri="{FF2B5EF4-FFF2-40B4-BE49-F238E27FC236}">
                <a16:creationId xmlns:a16="http://schemas.microsoft.com/office/drawing/2014/main" id="{ADDCACB7-A494-4DB3-84BB-C055BF025E38}"/>
              </a:ext>
            </a:extLst>
          </p:cNvPr>
          <p:cNvSpPr>
            <a:spLocks xmlns:a="http://schemas.openxmlformats.org/drawingml/2006/main" noGrp="1"/>
          </p:cNvSpPr>
          <p:nvPr/>
        </p:nvSpPr>
        <p:spPr>
          <a:xfrm xmlns:a="http://schemas.openxmlformats.org/drawingml/2006/main">
            <a:off x="7215188" y="3000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00" b="1">
                <a:solidFill>
                  <a:srgbClr val="FAA61A"/>
                </a:solidFill>
                <a:latin typeface="Open Sans"/>
                <a:ea typeface="Open Sans"/>
                <a:cs typeface="Open Sans"/>
              </a:defRPr>
            </a:pPr>
            <a:r>
              <a:rPr sz="1500" b="1">
                <a:solidFill>
                  <a:srgbClr val="FAA61A"/>
                </a:solidFill>
                <a:latin typeface="Open Sans"/>
                <a:ea typeface="Open Sans"/>
                <a:cs typeface="Open Sans"/>
              </a:rPr>
              <a:t>VALIDATION</a:t>
            </a:r>
          </a:p>
        </p:txBody>
      </p:sp>
      <p:sp>
        <p:nvSpPr>
          <p:cNvPr id="16" name="">
            <a:extLst xmlns:a="http://schemas.openxmlformats.org/drawingml/2006/main">
              <a:ext uri="{FF2B5EF4-FFF2-40B4-BE49-F238E27FC236}">
                <a16:creationId xmlns:a16="http://schemas.microsoft.com/office/drawing/2014/main" id="{B9F589B6-1B62-4CE5-B18C-E479068893B2}"/>
              </a:ext>
            </a:extLst>
          </p:cNvPr>
          <p:cNvSpPr>
            <a:spLocks xmlns:a="http://schemas.openxmlformats.org/drawingml/2006/main" noGrp="1"/>
          </p:cNvSpPr>
          <p:nvPr/>
        </p:nvSpPr>
        <p:spPr>
          <a:xfrm xmlns:a="http://schemas.openxmlformats.org/drawingml/2006/main">
            <a:off x="7215188" y="3500438"/>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700" b="1">
                <a:solidFill>
                  <a:srgbClr val="282A75"/>
                </a:solidFill>
                <a:latin typeface="Open Sans"/>
                <a:ea typeface="Open Sans"/>
                <a:cs typeface="Open Sans"/>
              </a:defRPr>
            </a:pPr>
            <a:r>
              <a:rPr sz="2700" b="1">
                <a:solidFill>
                  <a:srgbClr val="282A75"/>
                </a:solidFill>
                <a:latin typeface="Open Sans"/>
                <a:ea typeface="Open Sans"/>
                <a:cs typeface="Open Sans"/>
              </a:rPr>
              <a:t>5.000</a:t>
            </a:r>
          </a:p>
        </p:txBody>
      </p:sp>
      <p:sp>
        <p:nvSpPr>
          <p:cNvPr id="17" name="">
            <a:extLst xmlns:a="http://schemas.openxmlformats.org/drawingml/2006/main">
              <a:ext uri="{FF2B5EF4-FFF2-40B4-BE49-F238E27FC236}">
                <a16:creationId xmlns:a16="http://schemas.microsoft.com/office/drawing/2014/main" id="{EE27ADE6-826D-4B7D-8BB5-39D2AB97B416}"/>
              </a:ext>
            </a:extLst>
          </p:cNvPr>
          <p:cNvSpPr>
            <a:spLocks xmlns:a="http://schemas.openxmlformats.org/drawingml/2006/main" noGrp="1"/>
          </p:cNvSpPr>
          <p:nvPr/>
        </p:nvSpPr>
        <p:spPr>
          <a:xfrm xmlns:a="http://schemas.openxmlformats.org/drawingml/2006/main">
            <a:off x="7215188" y="42862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1C334E"/>
                </a:solidFill>
                <a:latin typeface="Open Sans"/>
                <a:ea typeface="Open Sans"/>
                <a:cs typeface="Open Sans"/>
              </a:defRPr>
            </a:pPr>
            <a:r>
              <a:rPr sz="1350" b="0">
                <a:solidFill>
                  <a:srgbClr val="1C334E"/>
                </a:solidFill>
                <a:latin typeface="Open Sans"/>
                <a:ea typeface="Open Sans"/>
                <a:cs typeface="Open Sans"/>
              </a:rPr>
              <a:t>Chọn F2 threshold</a:t>
            </a:r>
          </a:p>
        </p:txBody>
      </p:sp>
      <p:sp>
        <p:nvSpPr>
          <p:cNvPr id="18" name="">
            <a:extLst xmlns:a="http://schemas.openxmlformats.org/drawingml/2006/main">
              <a:ext uri="{FF2B5EF4-FFF2-40B4-BE49-F238E27FC236}">
                <a16:creationId xmlns:a16="http://schemas.microsoft.com/office/drawing/2014/main" id="{63163503-35EC-4CD4-A07B-16F17717900D}"/>
              </a:ext>
            </a:extLst>
          </p:cNvPr>
          <p:cNvSpPr>
            <a:spLocks xmlns:a="http://schemas.openxmlformats.org/drawingml/2006/main" noGrp="1"/>
          </p:cNvSpPr>
          <p:nvPr/>
        </p:nvSpPr>
        <p:spPr>
          <a:xfrm xmlns:a="http://schemas.openxmlformats.org/drawingml/2006/main">
            <a:off x="12358688" y="2714625"/>
            <a:ext cx="4286250" cy="2257425"/>
          </a:xfrm>
          <a:prstGeom xmlns:a="http://schemas.openxmlformats.org/drawingml/2006/main" prst="roundRect">
            <a:avLst>
              <a:gd name="adj" fmla="val 3376"/>
            </a:avLst>
          </a:prstGeom>
          <a:solidFill xmlns:a="http://schemas.openxmlformats.org/drawingml/2006/main">
            <a:srgbClr val="F1F3F8"/>
          </a:solidFill>
          <a:ln xmlns:a="http://schemas.openxmlformats.org/drawingml/2006/main" w="19050">
            <a:solidFill>
              <a:srgbClr val="4F81BD"/>
            </a:solidFill>
          </a:ln>
        </p:spPr>
      </p:sp>
      <p:sp>
        <p:nvSpPr>
          <p:cNvPr id="19" name="">
            <a:extLst xmlns:a="http://schemas.openxmlformats.org/drawingml/2006/main">
              <a:ext uri="{FF2B5EF4-FFF2-40B4-BE49-F238E27FC236}">
                <a16:creationId xmlns:a16="http://schemas.microsoft.com/office/drawing/2014/main" id="{C179005D-466E-4828-9206-D3BD7909EACC}"/>
              </a:ext>
            </a:extLst>
          </p:cNvPr>
          <p:cNvSpPr>
            <a:spLocks xmlns:a="http://schemas.openxmlformats.org/drawingml/2006/main" noGrp="1"/>
          </p:cNvSpPr>
          <p:nvPr/>
        </p:nvSpPr>
        <p:spPr>
          <a:xfrm xmlns:a="http://schemas.openxmlformats.org/drawingml/2006/main">
            <a:off x="12644438" y="3000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00" b="1">
                <a:solidFill>
                  <a:srgbClr val="4F81BD"/>
                </a:solidFill>
                <a:latin typeface="Open Sans"/>
                <a:ea typeface="Open Sans"/>
                <a:cs typeface="Open Sans"/>
              </a:defRPr>
            </a:pPr>
            <a:r>
              <a:rPr sz="1500" b="1">
                <a:solidFill>
                  <a:srgbClr val="4F81BD"/>
                </a:solidFill>
                <a:latin typeface="Open Sans"/>
                <a:ea typeface="Open Sans"/>
                <a:cs typeface="Open Sans"/>
              </a:rPr>
              <a:t>TEST</a:t>
            </a:r>
          </a:p>
        </p:txBody>
      </p:sp>
      <p:sp>
        <p:nvSpPr>
          <p:cNvPr id="20" name="">
            <a:extLst xmlns:a="http://schemas.openxmlformats.org/drawingml/2006/main">
              <a:ext uri="{FF2B5EF4-FFF2-40B4-BE49-F238E27FC236}">
                <a16:creationId xmlns:a16="http://schemas.microsoft.com/office/drawing/2014/main" id="{8B36BABD-9998-4138-9267-9AC74C8E8B9B}"/>
              </a:ext>
            </a:extLst>
          </p:cNvPr>
          <p:cNvSpPr>
            <a:spLocks xmlns:a="http://schemas.openxmlformats.org/drawingml/2006/main" noGrp="1"/>
          </p:cNvSpPr>
          <p:nvPr/>
        </p:nvSpPr>
        <p:spPr>
          <a:xfrm xmlns:a="http://schemas.openxmlformats.org/drawingml/2006/main">
            <a:off x="12644438" y="3500438"/>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700" b="1">
                <a:solidFill>
                  <a:srgbClr val="282A75"/>
                </a:solidFill>
                <a:latin typeface="Open Sans"/>
                <a:ea typeface="Open Sans"/>
                <a:cs typeface="Open Sans"/>
              </a:defRPr>
            </a:pPr>
            <a:r>
              <a:rPr sz="2700" b="1">
                <a:solidFill>
                  <a:srgbClr val="282A75"/>
                </a:solidFill>
                <a:latin typeface="Open Sans"/>
                <a:ea typeface="Open Sans"/>
                <a:cs typeface="Open Sans"/>
              </a:rPr>
              <a:t>5.000</a:t>
            </a:r>
          </a:p>
        </p:txBody>
      </p:sp>
      <p:sp>
        <p:nvSpPr>
          <p:cNvPr id="21" name="">
            <a:extLst xmlns:a="http://schemas.openxmlformats.org/drawingml/2006/main">
              <a:ext uri="{FF2B5EF4-FFF2-40B4-BE49-F238E27FC236}">
                <a16:creationId xmlns:a16="http://schemas.microsoft.com/office/drawing/2014/main" id="{AADBDDB2-0D5D-430D-80D1-6FF649195A7E}"/>
              </a:ext>
            </a:extLst>
          </p:cNvPr>
          <p:cNvSpPr>
            <a:spLocks xmlns:a="http://schemas.openxmlformats.org/drawingml/2006/main" noGrp="1"/>
          </p:cNvSpPr>
          <p:nvPr/>
        </p:nvSpPr>
        <p:spPr>
          <a:xfrm xmlns:a="http://schemas.openxmlformats.org/drawingml/2006/main">
            <a:off x="12644438" y="42862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0">
                <a:solidFill>
                  <a:srgbClr val="1C334E"/>
                </a:solidFill>
                <a:latin typeface="Open Sans"/>
                <a:ea typeface="Open Sans"/>
                <a:cs typeface="Open Sans"/>
              </a:defRPr>
            </a:pPr>
            <a:r>
              <a:rPr sz="1350" b="0">
                <a:solidFill>
                  <a:srgbClr val="1C334E"/>
                </a:solidFill>
                <a:latin typeface="Open Sans"/>
                <a:ea typeface="Open Sans"/>
                <a:cs typeface="Open Sans"/>
              </a:rPr>
              <a:t>Đánh giá holdout</a:t>
            </a:r>
          </a:p>
        </p:txBody>
      </p:sp>
      <p:sp>
        <p:nvSpPr>
          <p:cNvPr id="22" name="">
            <a:extLst xmlns:a="http://schemas.openxmlformats.org/drawingml/2006/main">
              <a:ext uri="{FF2B5EF4-FFF2-40B4-BE49-F238E27FC236}">
                <a16:creationId xmlns:a16="http://schemas.microsoft.com/office/drawing/2014/main" id="{68872637-DF0F-4FDC-AA0A-12D1D010A0B5}"/>
              </a:ext>
            </a:extLst>
          </p:cNvPr>
          <p:cNvSpPr>
            <a:spLocks xmlns:a="http://schemas.openxmlformats.org/drawingml/2006/main" noGrp="1"/>
          </p:cNvSpPr>
          <p:nvPr/>
        </p:nvSpPr>
        <p:spPr>
          <a:xfrm xmlns:a="http://schemas.openxmlformats.org/drawingml/2006/main">
            <a:off x="1357313" y="5915025"/>
            <a:ext cx="3214688" cy="1000125"/>
          </a:xfrm>
          <a:prstGeom xmlns:a="http://schemas.openxmlformats.org/drawingml/2006/main" prst="roundRect">
            <a:avLst>
              <a:gd name="adj" fmla="val 7619"/>
            </a:avLst>
          </a:prstGeom>
          <a:solidFill xmlns:a="http://schemas.openxmlformats.org/drawingml/2006/main">
            <a:srgbClr val="FBFBFC"/>
          </a:solidFill>
          <a:ln xmlns:a="http://schemas.openxmlformats.org/drawingml/2006/main" w="19050">
            <a:solidFill>
              <a:srgbClr val="D7D9E8"/>
            </a:solidFill>
          </a:ln>
        </p:spPr>
      </p:sp>
      <p:sp>
        <p:nvSpPr>
          <p:cNvPr id="23" name="">
            <a:extLst xmlns:a="http://schemas.openxmlformats.org/drawingml/2006/main">
              <a:ext uri="{FF2B5EF4-FFF2-40B4-BE49-F238E27FC236}">
                <a16:creationId xmlns:a16="http://schemas.microsoft.com/office/drawing/2014/main" id="{185871FC-1E0F-40C3-BDC7-DF5D4719369A}"/>
              </a:ext>
            </a:extLst>
          </p:cNvPr>
          <p:cNvSpPr>
            <a:spLocks xmlns:a="http://schemas.openxmlformats.org/drawingml/2006/main" noGrp="1"/>
          </p:cNvSpPr>
          <p:nvPr/>
        </p:nvSpPr>
        <p:spPr>
          <a:xfrm xmlns:a="http://schemas.openxmlformats.org/drawingml/2006/main">
            <a:off x="1471613" y="5986463"/>
            <a:ext cx="298608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Luôn dự đoán âm</a:t>
            </a:r>
          </a:p>
        </p:txBody>
      </p:sp>
      <p:sp>
        <p:nvSpPr>
          <p:cNvPr id="24" name="">
            <a:extLst xmlns:a="http://schemas.openxmlformats.org/drawingml/2006/main">
              <a:ext uri="{FF2B5EF4-FFF2-40B4-BE49-F238E27FC236}">
                <a16:creationId xmlns:a16="http://schemas.microsoft.com/office/drawing/2014/main" id="{2D418070-35D1-4F0B-9255-32258F861D68}"/>
              </a:ext>
            </a:extLst>
          </p:cNvPr>
          <p:cNvSpPr>
            <a:spLocks xmlns:a="http://schemas.openxmlformats.org/drawingml/2006/main" noGrp="1"/>
          </p:cNvSpPr>
          <p:nvPr/>
        </p:nvSpPr>
        <p:spPr>
          <a:xfrm xmlns:a="http://schemas.openxmlformats.org/drawingml/2006/main">
            <a:off x="5643563" y="5915025"/>
            <a:ext cx="3214688" cy="1000125"/>
          </a:xfrm>
          <a:prstGeom xmlns:a="http://schemas.openxmlformats.org/drawingml/2006/main" prst="roundRect">
            <a:avLst>
              <a:gd name="adj" fmla="val 7619"/>
            </a:avLst>
          </a:prstGeom>
          <a:solidFill xmlns:a="http://schemas.openxmlformats.org/drawingml/2006/main">
            <a:srgbClr val="FBFBFC"/>
          </a:solidFill>
          <a:ln xmlns:a="http://schemas.openxmlformats.org/drawingml/2006/main" w="19050">
            <a:solidFill>
              <a:srgbClr val="D7D9E8"/>
            </a:solidFill>
          </a:ln>
        </p:spPr>
      </p:sp>
      <p:sp>
        <p:nvSpPr>
          <p:cNvPr id="25" name="">
            <a:extLst xmlns:a="http://schemas.openxmlformats.org/drawingml/2006/main">
              <a:ext uri="{FF2B5EF4-FFF2-40B4-BE49-F238E27FC236}">
                <a16:creationId xmlns:a16="http://schemas.microsoft.com/office/drawing/2014/main" id="{59CB647E-12DF-442E-9E62-91F5D8076294}"/>
              </a:ext>
            </a:extLst>
          </p:cNvPr>
          <p:cNvSpPr>
            <a:spLocks xmlns:a="http://schemas.openxmlformats.org/drawingml/2006/main" noGrp="1"/>
          </p:cNvSpPr>
          <p:nvPr/>
        </p:nvSpPr>
        <p:spPr>
          <a:xfrm xmlns:a="http://schemas.openxmlformats.org/drawingml/2006/main">
            <a:off x="5757863" y="5986463"/>
            <a:ext cx="298608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1C334E"/>
                </a:solidFill>
                <a:latin typeface="Montserrat Bold"/>
                <a:ea typeface="Montserrat Bold"/>
                <a:cs typeface="Montserrat Bold"/>
              </a:defRPr>
            </a:pPr>
            <a:r>
              <a:rPr sz="1425" b="1">
                <a:solidFill>
                  <a:srgbClr val="1C334E"/>
                </a:solidFill>
                <a:latin typeface="Montserrat Bold"/>
                <a:ea typeface="Montserrat Bold"/>
                <a:cs typeface="Montserrat Bold"/>
              </a:rPr>
              <a:t>Quy tắc 3 tín hiệu</a:t>
            </a:r>
          </a:p>
        </p:txBody>
      </p:sp>
      <p:sp>
        <p:nvSpPr>
          <p:cNvPr id="26" name="">
            <a:extLst xmlns:a="http://schemas.openxmlformats.org/drawingml/2006/main">
              <a:ext uri="{FF2B5EF4-FFF2-40B4-BE49-F238E27FC236}">
                <a16:creationId xmlns:a16="http://schemas.microsoft.com/office/drawing/2014/main" id="{7C103A38-ECEF-4BEF-B189-18882A69F928}"/>
              </a:ext>
            </a:extLst>
          </p:cNvPr>
          <p:cNvSpPr>
            <a:spLocks xmlns:a="http://schemas.openxmlformats.org/drawingml/2006/main" noGrp="1"/>
          </p:cNvSpPr>
          <p:nvPr/>
        </p:nvSpPr>
        <p:spPr>
          <a:xfrm xmlns:a="http://schemas.openxmlformats.org/drawingml/2006/main">
            <a:off x="9929813" y="5915025"/>
            <a:ext cx="3357563" cy="1000125"/>
          </a:xfrm>
          <a:prstGeom xmlns:a="http://schemas.openxmlformats.org/drawingml/2006/main" prst="roundRect">
            <a:avLst>
              <a:gd name="adj" fmla="val 7619"/>
            </a:avLst>
          </a:prstGeom>
          <a:solidFill xmlns:a="http://schemas.openxmlformats.org/drawingml/2006/main">
            <a:srgbClr val="FBFBFC"/>
          </a:solidFill>
          <a:ln xmlns:a="http://schemas.openxmlformats.org/drawingml/2006/main" w="19050">
            <a:solidFill>
              <a:srgbClr val="D7D9E8"/>
            </a:solidFill>
          </a:ln>
        </p:spPr>
      </p:sp>
      <p:sp>
        <p:nvSpPr>
          <p:cNvPr id="27" name="">
            <a:extLst xmlns:a="http://schemas.openxmlformats.org/drawingml/2006/main">
              <a:ext uri="{FF2B5EF4-FFF2-40B4-BE49-F238E27FC236}">
                <a16:creationId xmlns:a16="http://schemas.microsoft.com/office/drawing/2014/main" id="{D56706F6-4541-45F5-BEB7-312FE2E157D8}"/>
              </a:ext>
            </a:extLst>
          </p:cNvPr>
          <p:cNvSpPr>
            <a:spLocks xmlns:a="http://schemas.openxmlformats.org/drawingml/2006/main" noGrp="1"/>
          </p:cNvSpPr>
          <p:nvPr/>
        </p:nvSpPr>
        <p:spPr>
          <a:xfrm xmlns:a="http://schemas.openxmlformats.org/drawingml/2006/main">
            <a:off x="10044113" y="5986463"/>
            <a:ext cx="3128963"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350" b="1">
                <a:solidFill>
                  <a:srgbClr val="1C334E"/>
                </a:solidFill>
                <a:latin typeface="Montserrat Bold"/>
                <a:ea typeface="Montserrat Bold"/>
                <a:cs typeface="Montserrat Bold"/>
              </a:defRPr>
            </a:pPr>
            <a:r>
              <a:rPr sz="1350" b="1">
                <a:solidFill>
                  <a:srgbClr val="1C334E"/>
                </a:solidFill>
                <a:latin typeface="Montserrat Bold"/>
                <a:ea typeface="Montserrat Bold"/>
                <a:cs typeface="Montserrat Bold"/>
              </a:rPr>
              <a:t>XGBoost seeds 42, 52, 62</a:t>
            </a:r>
          </a:p>
        </p:txBody>
      </p:sp>
      <p:sp>
        <p:nvSpPr>
          <p:cNvPr id="28" name="">
            <a:extLst xmlns:a="http://schemas.openxmlformats.org/drawingml/2006/main">
              <a:ext uri="{FF2B5EF4-FFF2-40B4-BE49-F238E27FC236}">
                <a16:creationId xmlns:a16="http://schemas.microsoft.com/office/drawing/2014/main" id="{75B28570-1742-48D6-8AB8-67915B6FBDEA}"/>
              </a:ext>
            </a:extLst>
          </p:cNvPr>
          <p:cNvSpPr>
            <a:spLocks xmlns:a="http://schemas.openxmlformats.org/drawingml/2006/main" noGrp="1"/>
          </p:cNvSpPr>
          <p:nvPr/>
        </p:nvSpPr>
        <p:spPr>
          <a:xfrm xmlns:a="http://schemas.openxmlformats.org/drawingml/2006/main">
            <a:off x="1314450" y="7572375"/>
            <a:ext cx="15573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282A75"/>
                </a:solidFill>
                <a:latin typeface="Open Sans"/>
                <a:ea typeface="Open Sans"/>
                <a:cs typeface="Open Sans"/>
              </a:defRPr>
            </a:pPr>
            <a:r>
              <a:rPr sz="1575" b="1">
                <a:solidFill>
                  <a:srgbClr val="282A75"/>
                </a:solidFill>
                <a:latin typeface="Open Sans"/>
                <a:ea typeface="Open Sans"/>
                <a:cs typeface="Open Sans"/>
              </a:rPr>
              <a:t>Metric chính: F2 trên validation; hòa chọn alert rate thấp hơn, rồi threshold cao hơn.</a:t>
            </a:r>
          </a:p>
        </p:txBody>
      </p:sp>
      <p:sp>
        <p:nvSpPr>
          <p:cNvPr id="29" name="">
            <a:extLst xmlns:a="http://schemas.openxmlformats.org/drawingml/2006/main">
              <a:ext uri="{FF2B5EF4-FFF2-40B4-BE49-F238E27FC236}">
                <a16:creationId xmlns:a16="http://schemas.microsoft.com/office/drawing/2014/main" id="{FD173647-67CD-4256-8E2F-32271E249B9C}"/>
              </a:ext>
            </a:extLst>
          </p:cNvPr>
          <p:cNvSpPr>
            <a:spLocks xmlns:a="http://schemas.openxmlformats.org/drawingml/2006/main" noGrp="1"/>
          </p:cNvSpPr>
          <p:nvPr/>
        </p:nvSpPr>
        <p:spPr>
          <a:xfrm xmlns:a="http://schemas.openxmlformats.org/drawingml/2006/main">
            <a:off x="1314450" y="8343900"/>
            <a:ext cx="15573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1">
                <a:solidFill>
                  <a:srgbClr val="C0504D"/>
                </a:solidFill>
                <a:latin typeface="Open Sans"/>
                <a:ea typeface="Open Sans"/>
                <a:cs typeface="Open Sans"/>
              </a:defRPr>
            </a:pPr>
            <a:r>
              <a:rPr sz="1425" b="1">
                <a:solidFill>
                  <a:srgbClr val="C0504D"/>
                </a:solidFill>
                <a:latin typeface="Open Sans"/>
                <a:ea typeface="Open Sans"/>
                <a:cs typeface="Open Sans"/>
              </a:rPr>
              <a:t>Test không dùng chọn ngưỡng. Ba seed dùng chung split, chỉ đo độ nhạy huấn luyện.</a:t>
            </a:r>
          </a:p>
        </p:txBody>
      </p:sp>
    </p:spTree>
    <p:extLst>
      <p:ext uri="{BB962C8B-B14F-4D97-AF65-F5344CB8AC3E}">
        <p14:creationId xmlns:p14="http://schemas.microsoft.com/office/powerpoint/2010/main" val="180414525"/>
      </p:ext>
    </p:extLst>
  </p:cSld>
</p:sld>
</file>

<file path=ppt/slides/slide11.xml><?xml version="1.0" encoding="utf-8"?>
<p:sld xmlns:a="http://schemas.openxmlformats.org/drawingml/2006/main" xmlns:a16="http://schemas.microsoft.com/office/drawing/2014/main" xmlns:p14="http://schemas.microsoft.com/office/powerpoint/2010/main" xmlns:p="http://schemas.openxmlformats.org/presentationml/2006/main">
  <p:cSld name="Kết quả holdout">
    <p:bg>
      <p:bgPr>
        <a:solidFill xmlns:a="http://schemas.openxmlformats.org/drawingml/2006/main">
          <a:srgbClr val="282A7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9B72E3C-654D-4163-A7F8-5D8AD07DDE26}"/>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90C3A03C-5938-4BCE-9BD1-ED494915789D}"/>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C07B9A54-46CC-41F0-A47A-6B06F5F6F17B}"/>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852B0F-FBAD-402B-ABED-EBBC533984C7}"/>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KẾT QUẢ TEST HOLDOUT</a:t>
            </a:r>
          </a:p>
        </p:txBody>
      </p:sp>
      <p:sp>
        <p:nvSpPr>
          <p:cNvPr id="5" name="">
            <a:extLst xmlns:a="http://schemas.openxmlformats.org/drawingml/2006/main">
              <a:ext uri="{FF2B5EF4-FFF2-40B4-BE49-F238E27FC236}">
                <a16:creationId xmlns:a16="http://schemas.microsoft.com/office/drawing/2014/main" id="{8A324790-3AA3-4E6B-849A-E048E32E9854}"/>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XGBoost tăng khả năng xếp hạng, nhưng vẫn có cảnh báo sai</a:t>
            </a:r>
          </a:p>
        </p:txBody>
      </p:sp>
      <p:sp>
        <p:nvSpPr>
          <p:cNvPr id="6" name="">
            <a:extLst xmlns:a="http://schemas.openxmlformats.org/drawingml/2006/main">
              <a:ext uri="{FF2B5EF4-FFF2-40B4-BE49-F238E27FC236}">
                <a16:creationId xmlns:a16="http://schemas.microsoft.com/office/drawing/2014/main" id="{5F71CF2A-E664-4772-A19F-59621AB2DE10}"/>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695BFE-DD2F-4A73-9857-28B256FD574A}"/>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CFAD1A2E-CEFC-4379-92D7-4DB4AC4CA9D3}"/>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17124C6E-2B8D-4A9D-8CC9-2EA520567B6F}"/>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11</a:t>
            </a:r>
          </a:p>
        </p:txBody>
      </p:sp>
      <p:graphicFrame>
        <p:nvGraphicFramePr>
          <p:cNvPr id="23" name=""/>
          <p:cNvGraphicFramePr/>
          <p:nvPr/>
        </p:nvGraphicFramePr>
        <p:xfrm>
          <a:off xmlns:a="http://schemas.openxmlformats.org/drawingml/2006/main" x="1114425" y="2643188"/>
          <a:ext xmlns:a="http://schemas.openxmlformats.org/drawingml/2006/main" cx="16002000" cy="4029075"/>
        </p:xfrm>
        <a:graphic xmlns:a="http://schemas.openxmlformats.org/drawingml/2006/main">
          <a:graphicData uri="http://schemas.openxmlformats.org/drawingml/2006/table">
            <a:tbl>
              <a:tblPr firstRow="1" bandRow="1"/>
              <a:tblGrid>
                <a:gridCol w="4000500"/>
                <a:gridCol w="2000250"/>
                <a:gridCol w="2357438"/>
                <a:gridCol w="2071688"/>
                <a:gridCol w="2071688"/>
                <a:gridCol w="3500438"/>
              </a:tblGrid>
              <a:tr h="1007269">
                <a:tc>
                  <a:txBody>
                    <a:bodyPr>
                      <a:normAutofit/>
                    </a:bodyPr>
                    <a:lstStyle/>
                    <a:p>
                      <a:pPr algn="ctr"/>
                      <a:r>
                        <a:rPr sz="1500" b="1">
                          <a:solidFill>
                            <a:srgbClr val="FBFBFC"/>
                          </a:solidFill>
                          <a:latin typeface="Montserrat Bold"/>
                          <a:ea typeface="Montserrat Bold"/>
                          <a:cs typeface="Montserrat Bold"/>
                        </a:rPr>
                        <a:t>Phương án</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AP</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Precision</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Recall</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F2</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Alert rate</a:t>
                      </a:r>
                    </a:p>
                  </a:txBody>
                  <a:tcPr marL="91440" marR="91440" marT="45720" marB="45720" anchor="ctr">
                    <a:solidFill>
                      <a:srgbClr val="282A75"/>
                    </a:solidFill>
                  </a:tcPr>
                </a:tc>
              </a:tr>
              <a:tr h="1007269">
                <a:tc>
                  <a:txBody>
                    <a:bodyPr>
                      <a:normAutofit/>
                    </a:bodyPr>
                    <a:lstStyle/>
                    <a:p>
                      <a:pPr algn="ctr"/>
                      <a:r>
                        <a:rPr sz="1500" b="0">
                          <a:solidFill>
                            <a:srgbClr val="1C334E"/>
                          </a:solidFill>
                          <a:latin typeface="Open Sans"/>
                          <a:ea typeface="Open Sans"/>
                          <a:cs typeface="Open Sans"/>
                        </a:rPr>
                        <a:t>Luôn dự đoán âm</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0.018</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0.0%</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0.0%</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0.000</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0.00%</a:t>
                      </a:r>
                    </a:p>
                  </a:txBody>
                  <a:tcPr marL="91440" marR="91440" marT="45720" marB="45720" anchor="ctr">
                    <a:solidFill>
                      <a:srgbClr val="FBFBFC"/>
                    </a:solidFill>
                  </a:tcPr>
                </a:tc>
              </a:tr>
              <a:tr h="1007269">
                <a:tc>
                  <a:txBody>
                    <a:bodyPr>
                      <a:normAutofit/>
                    </a:bodyPr>
                    <a:lstStyle/>
                    <a:p>
                      <a:pPr algn="ctr"/>
                      <a:r>
                        <a:rPr sz="1500" b="0">
                          <a:solidFill>
                            <a:srgbClr val="1C334E"/>
                          </a:solidFill>
                          <a:latin typeface="Open Sans"/>
                          <a:ea typeface="Open Sans"/>
                          <a:cs typeface="Open Sans"/>
                        </a:rPr>
                        <a:t>Quy tắc đơn giản</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0.232</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11.3%</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84.4%</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0.369</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13.42%</a:t>
                      </a:r>
                    </a:p>
                  </a:txBody>
                  <a:tcPr marL="91440" marR="91440" marT="45720" marB="45720" anchor="ctr">
                    <a:solidFill>
                      <a:srgbClr val="F1F3F8"/>
                    </a:solidFill>
                  </a:tcPr>
                </a:tc>
              </a:tr>
              <a:tr h="1007269">
                <a:tc>
                  <a:txBody>
                    <a:bodyPr>
                      <a:normAutofit/>
                    </a:bodyPr>
                    <a:lstStyle/>
                    <a:p>
                      <a:pPr algn="ctr"/>
                      <a:r>
                        <a:rPr sz="1500" b="0">
                          <a:solidFill>
                            <a:srgbClr val="1C334E"/>
                          </a:solidFill>
                          <a:latin typeface="Open Sans"/>
                          <a:ea typeface="Open Sans"/>
                          <a:cs typeface="Open Sans"/>
                        </a:rPr>
                        <a:t>XGBoost seed 42</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0.551</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34.8%</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72.2%</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0.594</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3.74%</a:t>
                      </a:r>
                    </a:p>
                  </a:txBody>
                  <a:tcPr marL="91440" marR="91440" marT="45720" marB="45720" anchor="ctr">
                    <a:solidFill>
                      <a:srgbClr val="FBFBFC"/>
                    </a:solidFill>
                  </a:tcPr>
                </a:tc>
              </a:tr>
            </a:tbl>
          </a:graphicData>
        </a:graphic>
      </p:graphicFrame>
      <p:sp>
        <p:nvSpPr>
          <p:cNvPr id="11" name="">
            <a:extLst xmlns:a="http://schemas.openxmlformats.org/drawingml/2006/main">
              <a:ext uri="{FF2B5EF4-FFF2-40B4-BE49-F238E27FC236}">
                <a16:creationId xmlns:a16="http://schemas.microsoft.com/office/drawing/2014/main" id="{9D4F0EA9-BE78-4BF0-B931-9C3BD8F66D5C}"/>
              </a:ext>
            </a:extLst>
          </p:cNvPr>
          <p:cNvSpPr>
            <a:spLocks xmlns:a="http://schemas.openxmlformats.org/drawingml/2006/main" noGrp="1"/>
          </p:cNvSpPr>
          <p:nvPr/>
        </p:nvSpPr>
        <p:spPr>
          <a:xfrm xmlns:a="http://schemas.openxmlformats.org/drawingml/2006/main">
            <a:off x="1285875" y="7286625"/>
            <a:ext cx="1543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282A75"/>
                </a:solidFill>
                <a:latin typeface="Open Sans"/>
                <a:ea typeface="Open Sans"/>
                <a:cs typeface="Open Sans"/>
              </a:defRPr>
            </a:pPr>
            <a:r>
              <a:rPr sz="1650" b="1">
                <a:solidFill>
                  <a:srgbClr val="282A75"/>
                </a:solidFill>
                <a:latin typeface="Open Sans"/>
                <a:ea typeface="Open Sans"/>
                <a:cs typeface="Open Sans"/>
              </a:rPr>
              <a:t>XGBoost seed 42: ROC-AUC 0.983  •  FPR 2.48%</a:t>
            </a:r>
          </a:p>
        </p:txBody>
      </p:sp>
      <p:sp>
        <p:nvSpPr>
          <p:cNvPr id="12" name="">
            <a:extLst xmlns:a="http://schemas.openxmlformats.org/drawingml/2006/main">
              <a:ext uri="{FF2B5EF4-FFF2-40B4-BE49-F238E27FC236}">
                <a16:creationId xmlns:a16="http://schemas.microsoft.com/office/drawing/2014/main" id="{CBB8FEAC-CE29-4CD2-A5BC-2BB572A494A4}"/>
              </a:ext>
            </a:extLst>
          </p:cNvPr>
          <p:cNvSpPr>
            <a:spLocks xmlns:a="http://schemas.openxmlformats.org/drawingml/2006/main" noGrp="1"/>
          </p:cNvSpPr>
          <p:nvPr/>
        </p:nvSpPr>
        <p:spPr>
          <a:xfrm xmlns:a="http://schemas.openxmlformats.org/drawingml/2006/main">
            <a:off x="1214438" y="8143875"/>
            <a:ext cx="15930563" cy="914400"/>
          </a:xfrm>
          <a:prstGeom xmlns:a="http://schemas.openxmlformats.org/drawingml/2006/main" prst="roundRect">
            <a:avLst>
              <a:gd name="adj" fmla="val 8333"/>
            </a:avLst>
          </a:prstGeom>
          <a:solidFill xmlns:a="http://schemas.openxmlformats.org/drawingml/2006/main">
            <a:srgbClr val="FFF4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0CE94D-AFD7-4B9B-8A24-D083798F9F79}"/>
              </a:ext>
            </a:extLst>
          </p:cNvPr>
          <p:cNvSpPr>
            <a:spLocks xmlns:a="http://schemas.openxmlformats.org/drawingml/2006/main" noGrp="1"/>
          </p:cNvSpPr>
          <p:nvPr/>
        </p:nvSpPr>
        <p:spPr>
          <a:xfrm xmlns:a="http://schemas.openxmlformats.org/drawingml/2006/main">
            <a:off x="1500188" y="8272463"/>
            <a:ext cx="154305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1">
                <a:solidFill>
                  <a:srgbClr val="1C334E"/>
                </a:solidFill>
                <a:latin typeface="Open Sans"/>
                <a:ea typeface="Open Sans"/>
                <a:cs typeface="Open Sans"/>
              </a:defRPr>
            </a:pPr>
            <a:r>
              <a:rPr sz="1350" b="1">
                <a:solidFill>
                  <a:srgbClr val="1C334E"/>
                </a:solidFill>
                <a:latin typeface="Open Sans"/>
                <a:ea typeface="Open Sans"/>
                <a:cs typeface="Open Sans"/>
              </a:rPr>
              <a:t>So sánh trên nhãn tổng hợp; rule và XGBoost chọn ngưỡng F2 trên validation. Không khẳng định thắng theo mọi mục tiêu.</a:t>
            </a:r>
          </a:p>
        </p:txBody>
      </p:sp>
    </p:spTree>
    <p:extLst>
      <p:ext uri="{BB962C8B-B14F-4D97-AF65-F5344CB8AC3E}">
        <p14:creationId xmlns:p14="http://schemas.microsoft.com/office/powerpoint/2010/main" val="1471876889"/>
      </p:ext>
    </p:extLst>
  </p:cSld>
</p:sld>
</file>

<file path=ppt/slides/slide12.xml><?xml version="1.0" encoding="utf-8"?>
<p:sld xmlns:a="http://schemas.openxmlformats.org/drawingml/2006/main" xmlns:a16="http://schemas.microsoft.com/office/drawing/2014/main" xmlns:r="http://schemas.openxmlformats.org/officeDocument/2006/relationships" xmlns:c="http://schemas.openxmlformats.org/drawingml/2006/chart" xmlns:p14="http://schemas.microsoft.com/office/powerpoint/2010/main" xmlns:p="http://schemas.openxmlformats.org/presentationml/2006/main">
  <p:cSld name="Precision–Recall">
    <p:bg>
      <p:bgPr>
        <a:solidFill xmlns:a="http://schemas.openxmlformats.org/drawingml/2006/main">
          <a:srgbClr val="282A7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FDC6662-0D16-464E-87A9-CC282F1AECF6}"/>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B7F89D3E-4D26-408A-A830-C8EA16102D8B}"/>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0D2667D3-C735-4B28-A27B-D52AFD9D1F03}"/>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038A52-70AE-4086-B6F9-0B64EF418AFE}"/>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ĐÁNH GIÁ MÔ HÌNH</a:t>
            </a:r>
          </a:p>
        </p:txBody>
      </p:sp>
      <p:sp>
        <p:nvSpPr>
          <p:cNvPr id="5" name="">
            <a:extLst xmlns:a="http://schemas.openxmlformats.org/drawingml/2006/main">
              <a:ext uri="{FF2B5EF4-FFF2-40B4-BE49-F238E27FC236}">
                <a16:creationId xmlns:a16="http://schemas.microsoft.com/office/drawing/2014/main" id="{DEF7347C-5C7E-4A52-A965-A884231F3DA9}"/>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Precision–Recall cho thấy độ chính xác giảm khi mở rộng thu hồi</a:t>
            </a:r>
          </a:p>
        </p:txBody>
      </p:sp>
      <p:sp>
        <p:nvSpPr>
          <p:cNvPr id="6" name="">
            <a:extLst xmlns:a="http://schemas.openxmlformats.org/drawingml/2006/main">
              <a:ext uri="{FF2B5EF4-FFF2-40B4-BE49-F238E27FC236}">
                <a16:creationId xmlns:a16="http://schemas.microsoft.com/office/drawing/2014/main" id="{A11F99D6-C6F1-4F8A-B607-7568F480CFFA}"/>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277783-C27F-4A29-9D97-45E1DD7BE331}"/>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3138BC7A-2B2E-4626-B596-1C2E134F8DC2}"/>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B18B5748-ED8F-450E-9C35-4EC8F355897B}"/>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12</a:t>
            </a:r>
          </a:p>
        </p:txBody>
      </p:sp>
      <p:graphicFrame>
        <p:nvGraphicFramePr>
          <p:cNvPr id="24" name="Chart"/>
          <p:cNvGraphicFramePr/>
          <p:nvPr/>
        </p:nvGraphicFramePr>
        <p:xfrm>
          <a:off xmlns:a="http://schemas.openxmlformats.org/drawingml/2006/main" x="1357313" y="2428875"/>
          <a:ext xmlns:a="http://schemas.openxmlformats.org/drawingml/2006/main" cx="11930063" cy="6000750"/>
        </p:xfrm>
        <a:graphic xmlns:a="http://schemas.openxmlformats.org/drawingml/2006/main">
          <a:graphicData uri="http://schemas.openxmlformats.org/drawingml/2006/chart">
            <c:chart xmlns:r="http://schemas.openxmlformats.org/officeDocument/2006/relationships" xmlns:c="http://schemas.openxmlformats.org/drawingml/2006/chart" r:id="R9d52beb534c24aea"/>
          </a:graphicData>
        </a:graphic>
      </p:graphicFrame>
      <p:sp>
        <p:nvSpPr>
          <p:cNvPr id="11" name="">
            <a:extLst xmlns:a="http://schemas.openxmlformats.org/drawingml/2006/main">
              <a:ext uri="{FF2B5EF4-FFF2-40B4-BE49-F238E27FC236}">
                <a16:creationId xmlns:a16="http://schemas.microsoft.com/office/drawing/2014/main" id="{854353D2-D4E3-4101-AFF2-46144132BFD6}"/>
              </a:ext>
            </a:extLst>
          </p:cNvPr>
          <p:cNvSpPr>
            <a:spLocks xmlns:a="http://schemas.openxmlformats.org/drawingml/2006/main" noGrp="1"/>
          </p:cNvSpPr>
          <p:nvPr/>
        </p:nvSpPr>
        <p:spPr>
          <a:xfrm xmlns:a="http://schemas.openxmlformats.org/drawingml/2006/main">
            <a:off x="13858875" y="3114675"/>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2400" b="1">
                <a:solidFill>
                  <a:srgbClr val="282A75"/>
                </a:solidFill>
                <a:latin typeface="Open Sans"/>
                <a:ea typeface="Open Sans"/>
                <a:cs typeface="Open Sans"/>
              </a:defRPr>
            </a:pPr>
            <a:r>
              <a:rPr sz="2400" b="1">
                <a:solidFill>
                  <a:srgbClr val="282A75"/>
                </a:solidFill>
                <a:latin typeface="Open Sans"/>
                <a:ea typeface="Open Sans"/>
                <a:cs typeface="Open Sans"/>
              </a:rPr>
              <a:t>AP = 0.551</a:t>
            </a:r>
          </a:p>
        </p:txBody>
      </p:sp>
      <p:sp>
        <p:nvSpPr>
          <p:cNvPr id="12" name="">
            <a:extLst xmlns:a="http://schemas.openxmlformats.org/drawingml/2006/main">
              <a:ext uri="{FF2B5EF4-FFF2-40B4-BE49-F238E27FC236}">
                <a16:creationId xmlns:a16="http://schemas.microsoft.com/office/drawing/2014/main" id="{19BD692C-8DDD-49F0-A48A-2E95B523642D}"/>
              </a:ext>
            </a:extLst>
          </p:cNvPr>
          <p:cNvSpPr>
            <a:spLocks xmlns:a="http://schemas.openxmlformats.org/drawingml/2006/main" noGrp="1"/>
          </p:cNvSpPr>
          <p:nvPr/>
        </p:nvSpPr>
        <p:spPr>
          <a:xfrm xmlns:a="http://schemas.openxmlformats.org/drawingml/2006/main">
            <a:off x="13858875" y="4357688"/>
            <a:ext cx="314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800" b="0">
                <a:solidFill>
                  <a:srgbClr val="667085"/>
                </a:solidFill>
                <a:latin typeface="Open Sans"/>
                <a:ea typeface="Open Sans"/>
                <a:cs typeface="Open Sans"/>
              </a:defRPr>
            </a:pPr>
            <a:r>
              <a:rPr sz="1800" b="0">
                <a:solidFill>
                  <a:srgbClr val="667085"/>
                </a:solidFill>
                <a:latin typeface="Open Sans"/>
                <a:ea typeface="Open Sans"/>
                <a:cs typeface="Open Sans"/>
              </a:rPr>
              <a:t>Nhãn dương</a:t>
            </a:r>
          </a:p>
          <a:p xmlns:a="http://schemas.openxmlformats.org/drawingml/2006/main">
            <a:pPr algn="ctr">
              <a:lnSpc>
                <a:spcPct val="105000"/>
              </a:lnSpc>
              <a:buNone/>
              <a:defRPr sz="1800" b="0">
                <a:solidFill>
                  <a:srgbClr val="667085"/>
                </a:solidFill>
                <a:latin typeface="Open Sans"/>
                <a:ea typeface="Open Sans"/>
                <a:cs typeface="Open Sans"/>
              </a:defRPr>
            </a:pPr>
            <a:r>
              <a:rPr sz="1800" b="0">
                <a:solidFill>
                  <a:srgbClr val="667085"/>
                </a:solidFill>
                <a:latin typeface="Open Sans"/>
                <a:ea typeface="Open Sans"/>
                <a:cs typeface="Open Sans"/>
              </a:rPr>
              <a:t>1.8%</a:t>
            </a:r>
          </a:p>
        </p:txBody>
      </p:sp>
      <p:sp>
        <p:nvSpPr>
          <p:cNvPr id="13" name="">
            <a:extLst xmlns:a="http://schemas.openxmlformats.org/drawingml/2006/main">
              <a:ext uri="{FF2B5EF4-FFF2-40B4-BE49-F238E27FC236}">
                <a16:creationId xmlns:a16="http://schemas.microsoft.com/office/drawing/2014/main" id="{0EF9A9C7-5789-45CB-B886-9CDC5CB9452B}"/>
              </a:ext>
            </a:extLst>
          </p:cNvPr>
          <p:cNvSpPr>
            <a:spLocks xmlns:a="http://schemas.openxmlformats.org/drawingml/2006/main" noGrp="1"/>
          </p:cNvSpPr>
          <p:nvPr/>
        </p:nvSpPr>
        <p:spPr>
          <a:xfrm xmlns:a="http://schemas.openxmlformats.org/drawingml/2006/main">
            <a:off x="13787438" y="6000750"/>
            <a:ext cx="328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650" b="0">
                <a:solidFill>
                  <a:srgbClr val="1C334E"/>
                </a:solidFill>
                <a:latin typeface="Open Sans"/>
                <a:ea typeface="Open Sans"/>
                <a:cs typeface="Open Sans"/>
              </a:defRPr>
            </a:pPr>
            <a:r>
              <a:rPr sz="1650" b="0">
                <a:solidFill>
                  <a:srgbClr val="1C334E"/>
                </a:solidFill>
                <a:latin typeface="Open Sans"/>
                <a:ea typeface="Open Sans"/>
                <a:cs typeface="Open Sans"/>
              </a:rPr>
              <a:t>PR/AP đi cùng ROC-AUC</a:t>
            </a:r>
          </a:p>
          <a:p xmlns:a="http://schemas.openxmlformats.org/drawingml/2006/main">
            <a:pPr algn="ctr">
              <a:lnSpc>
                <a:spcPct val="105000"/>
              </a:lnSpc>
              <a:buNone/>
              <a:defRPr sz="1650" b="0">
                <a:solidFill>
                  <a:srgbClr val="1C334E"/>
                </a:solidFill>
                <a:latin typeface="Open Sans"/>
                <a:ea typeface="Open Sans"/>
                <a:cs typeface="Open Sans"/>
              </a:defRPr>
            </a:pPr>
            <a:r>
              <a:rPr sz="1650" b="0">
                <a:solidFill>
                  <a:srgbClr val="1C334E"/>
                </a:solidFill>
                <a:latin typeface="Open Sans"/>
                <a:ea typeface="Open Sans"/>
                <a:cs typeface="Open Sans"/>
              </a:rPr>
              <a:t>trong dữ liệu lệch lớp.</a:t>
            </a:r>
          </a:p>
        </p:txBody>
      </p:sp>
      <p:sp>
        <p:nvSpPr>
          <p:cNvPr id="14" name="">
            <a:extLst xmlns:a="http://schemas.openxmlformats.org/drawingml/2006/main">
              <a:ext uri="{FF2B5EF4-FFF2-40B4-BE49-F238E27FC236}">
                <a16:creationId xmlns:a16="http://schemas.microsoft.com/office/drawing/2014/main" id="{E76D2009-267C-40CC-838E-B8BD4021839C}"/>
              </a:ext>
            </a:extLst>
          </p:cNvPr>
          <p:cNvSpPr>
            <a:spLocks xmlns:a="http://schemas.openxmlformats.org/drawingml/2006/main" noGrp="1"/>
          </p:cNvSpPr>
          <p:nvPr/>
        </p:nvSpPr>
        <p:spPr>
          <a:xfrm xmlns:a="http://schemas.openxmlformats.org/drawingml/2006/main">
            <a:off x="1400175" y="8786813"/>
            <a:ext cx="1471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0">
                <a:solidFill>
                  <a:srgbClr val="667085"/>
                </a:solidFill>
                <a:latin typeface="Open Sans"/>
                <a:ea typeface="Open Sans"/>
                <a:cs typeface="Open Sans"/>
              </a:defRPr>
            </a:pPr>
            <a:r>
              <a:rPr sz="1350" b="0">
                <a:solidFill>
                  <a:srgbClr val="667085"/>
                </a:solidFill>
                <a:latin typeface="Open Sans"/>
                <a:ea typeface="Open Sans"/>
                <a:cs typeface="Open Sans"/>
              </a:rPr>
              <a:t>AP không được gọi là diện tích hình thang của PR curve.</a:t>
            </a:r>
          </a:p>
        </p:txBody>
      </p:sp>
    </p:spTree>
    <p:extLst>
      <p:ext uri="{BB962C8B-B14F-4D97-AF65-F5344CB8AC3E}">
        <p14:creationId xmlns:p14="http://schemas.microsoft.com/office/powerpoint/2010/main" val="1305472288"/>
      </p:ext>
    </p:extLst>
  </p:cSld>
</p:sld>
</file>

<file path=ppt/slides/slide13.xml><?xml version="1.0" encoding="utf-8"?>
<p:sld xmlns:a="http://schemas.openxmlformats.org/drawingml/2006/main" xmlns:a16="http://schemas.microsoft.com/office/drawing/2014/main" xmlns:p14="http://schemas.microsoft.com/office/powerpoint/2010/main" xmlns:p="http://schemas.openxmlformats.org/presentationml/2006/main">
  <p:cSld name="Confusion matrix">
    <p:bg>
      <p:bgPr>
        <a:solidFill xmlns:a="http://schemas.openxmlformats.org/drawingml/2006/main">
          <a:srgbClr val="282A7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B54B1F-D3B2-4AC5-9758-05909AD8E1D2}"/>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7B586B3C-C5AC-4EF2-B3BA-A9D717DBE5EA}"/>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A4F74CE7-3A92-431C-8ADF-0D337CB9C089}"/>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4AC765-3530-4579-9E0D-6332440EF07B}"/>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ĐỌC KẾT QUẢ</a:t>
            </a:r>
          </a:p>
        </p:txBody>
      </p:sp>
      <p:sp>
        <p:nvSpPr>
          <p:cNvPr id="5" name="">
            <a:extLst xmlns:a="http://schemas.openxmlformats.org/drawingml/2006/main">
              <a:ext uri="{FF2B5EF4-FFF2-40B4-BE49-F238E27FC236}">
                <a16:creationId xmlns:a16="http://schemas.microsoft.com/office/drawing/2014/main" id="{C30CAA14-3591-45D3-B150-3FDAEAEC7217}"/>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187 cảnh báo trên test, trong đó 122 là false positive</a:t>
            </a:r>
          </a:p>
        </p:txBody>
      </p:sp>
      <p:sp>
        <p:nvSpPr>
          <p:cNvPr id="6" name="">
            <a:extLst xmlns:a="http://schemas.openxmlformats.org/drawingml/2006/main">
              <a:ext uri="{FF2B5EF4-FFF2-40B4-BE49-F238E27FC236}">
                <a16:creationId xmlns:a16="http://schemas.microsoft.com/office/drawing/2014/main" id="{DC4F292C-847A-4FD8-AC98-65BA37D89077}"/>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042481-C102-4EED-AB05-9D67CC0C6F65}"/>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51760572-4767-41DC-8CA3-0D6918F6C5A5}"/>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A3681965-3120-413D-A29E-437A6FA96884}"/>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13</a:t>
            </a:r>
          </a:p>
        </p:txBody>
      </p:sp>
      <p:graphicFrame>
        <p:nvGraphicFramePr>
          <p:cNvPr id="26" name=""/>
          <p:cNvGraphicFramePr/>
          <p:nvPr/>
        </p:nvGraphicFramePr>
        <p:xfrm>
          <a:off xmlns:a="http://schemas.openxmlformats.org/drawingml/2006/main" x="1285875" y="2571750"/>
          <a:ext xmlns:a="http://schemas.openxmlformats.org/drawingml/2006/main" cx="10429875" cy="3600450"/>
        </p:xfrm>
        <a:graphic xmlns:a="http://schemas.openxmlformats.org/drawingml/2006/main">
          <a:graphicData uri="http://schemas.openxmlformats.org/drawingml/2006/table">
            <a:tbl>
              <a:tblPr firstRow="1" bandRow="1"/>
              <a:tblGrid>
                <a:gridCol w="4000500"/>
                <a:gridCol w="3214688"/>
                <a:gridCol w="3214688"/>
              </a:tblGrid>
              <a:tr h="1200150">
                <a:tc>
                  <a:txBody>
                    <a:bodyPr>
                      <a:normAutofit/>
                    </a:bodyPr>
                    <a:lstStyle/>
                    <a:p>
                      <a:pPr algn="ctr"/>
                      <a:r>
                        <a:rPr sz="1725" b="1">
                          <a:solidFill>
                            <a:srgbClr val="FBFBFC"/>
                          </a:solidFill>
                          <a:latin typeface="Montserrat Bold"/>
                          <a:ea typeface="Montserrat Bold"/>
                          <a:cs typeface="Montserrat Bold"/>
                        </a:rPr>
                        <a:t>Nhãn thật / dự đoán</a:t>
                      </a:r>
                    </a:p>
                  </a:txBody>
                  <a:tcPr marL="91440" marR="91440" marT="45720" marB="45720" anchor="ctr">
                    <a:solidFill>
                      <a:srgbClr val="282A75"/>
                    </a:solidFill>
                  </a:tcPr>
                </a:tc>
                <a:tc>
                  <a:txBody>
                    <a:bodyPr>
                      <a:normAutofit/>
                    </a:bodyPr>
                    <a:lstStyle/>
                    <a:p>
                      <a:pPr algn="ctr"/>
                      <a:r>
                        <a:rPr sz="1725" b="1">
                          <a:solidFill>
                            <a:srgbClr val="FBFBFC"/>
                          </a:solidFill>
                          <a:latin typeface="Montserrat Bold"/>
                          <a:ea typeface="Montserrat Bold"/>
                          <a:cs typeface="Montserrat Bold"/>
                        </a:rPr>
                        <a:t>Dự đoán bình thường</a:t>
                      </a:r>
                    </a:p>
                  </a:txBody>
                  <a:tcPr marL="91440" marR="91440" marT="45720" marB="45720" anchor="ctr">
                    <a:solidFill>
                      <a:srgbClr val="282A75"/>
                    </a:solidFill>
                  </a:tcPr>
                </a:tc>
                <a:tc>
                  <a:txBody>
                    <a:bodyPr>
                      <a:normAutofit/>
                    </a:bodyPr>
                    <a:lstStyle/>
                    <a:p>
                      <a:pPr algn="ctr"/>
                      <a:r>
                        <a:rPr sz="1725" b="1">
                          <a:solidFill>
                            <a:srgbClr val="FBFBFC"/>
                          </a:solidFill>
                          <a:latin typeface="Montserrat Bold"/>
                          <a:ea typeface="Montserrat Bold"/>
                          <a:cs typeface="Montserrat Bold"/>
                        </a:rPr>
                        <a:t>Dự đoán cảnh báo</a:t>
                      </a:r>
                    </a:p>
                  </a:txBody>
                  <a:tcPr marL="91440" marR="91440" marT="45720" marB="45720" anchor="ctr">
                    <a:solidFill>
                      <a:srgbClr val="282A75"/>
                    </a:solidFill>
                  </a:tcPr>
                </a:tc>
              </a:tr>
              <a:tr h="1200150">
                <a:tc>
                  <a:txBody>
                    <a:bodyPr>
                      <a:normAutofit/>
                    </a:bodyPr>
                    <a:lstStyle/>
                    <a:p>
                      <a:pPr algn="ctr"/>
                      <a:r>
                        <a:rPr sz="1725" b="0">
                          <a:solidFill>
                            <a:srgbClr val="1C334E"/>
                          </a:solidFill>
                          <a:latin typeface="Open Sans"/>
                          <a:ea typeface="Open Sans"/>
                          <a:cs typeface="Open Sans"/>
                        </a:rPr>
                        <a:t>Thật bình thường</a:t>
                      </a:r>
                    </a:p>
                  </a:txBody>
                  <a:tcPr marL="91440" marR="91440" marT="45720" marB="45720" anchor="ctr">
                    <a:solidFill>
                      <a:srgbClr val="FBFBFC"/>
                    </a:solidFill>
                  </a:tcPr>
                </a:tc>
                <a:tc>
                  <a:txBody>
                    <a:bodyPr>
                      <a:normAutofit/>
                    </a:bodyPr>
                    <a:lstStyle/>
                    <a:p>
                      <a:pPr algn="ctr"/>
                      <a:r>
                        <a:rPr sz="1725" b="0">
                          <a:solidFill>
                            <a:srgbClr val="1C334E"/>
                          </a:solidFill>
                          <a:latin typeface="Open Sans"/>
                          <a:ea typeface="Open Sans"/>
                          <a:cs typeface="Open Sans"/>
                        </a:rPr>
                        <a:t>4788</a:t>
                      </a:r>
                    </a:p>
                  </a:txBody>
                  <a:tcPr marL="91440" marR="91440" marT="45720" marB="45720" anchor="ctr">
                    <a:solidFill>
                      <a:srgbClr val="FBFBFC"/>
                    </a:solidFill>
                  </a:tcPr>
                </a:tc>
                <a:tc>
                  <a:txBody>
                    <a:bodyPr>
                      <a:normAutofit/>
                    </a:bodyPr>
                    <a:lstStyle/>
                    <a:p>
                      <a:pPr algn="ctr"/>
                      <a:r>
                        <a:rPr sz="1725" b="0">
                          <a:solidFill>
                            <a:srgbClr val="1C334E"/>
                          </a:solidFill>
                          <a:latin typeface="Open Sans"/>
                          <a:ea typeface="Open Sans"/>
                          <a:cs typeface="Open Sans"/>
                        </a:rPr>
                        <a:t>122</a:t>
                      </a:r>
                    </a:p>
                  </a:txBody>
                  <a:tcPr marL="91440" marR="91440" marT="45720" marB="45720" anchor="ctr">
                    <a:solidFill>
                      <a:srgbClr val="FBFBFC"/>
                    </a:solidFill>
                  </a:tcPr>
                </a:tc>
              </a:tr>
              <a:tr h="1200150">
                <a:tc>
                  <a:txBody>
                    <a:bodyPr>
                      <a:normAutofit/>
                    </a:bodyPr>
                    <a:lstStyle/>
                    <a:p>
                      <a:pPr algn="ctr"/>
                      <a:r>
                        <a:rPr sz="1725" b="0">
                          <a:solidFill>
                            <a:srgbClr val="1C334E"/>
                          </a:solidFill>
                          <a:latin typeface="Open Sans"/>
                          <a:ea typeface="Open Sans"/>
                          <a:cs typeface="Open Sans"/>
                        </a:rPr>
                        <a:t>Thật dương tổng hợp</a:t>
                      </a:r>
                    </a:p>
                  </a:txBody>
                  <a:tcPr marL="91440" marR="91440" marT="45720" marB="45720" anchor="ctr">
                    <a:solidFill>
                      <a:srgbClr val="F1F3F8"/>
                    </a:solidFill>
                  </a:tcPr>
                </a:tc>
                <a:tc>
                  <a:txBody>
                    <a:bodyPr>
                      <a:normAutofit/>
                    </a:bodyPr>
                    <a:lstStyle/>
                    <a:p>
                      <a:pPr algn="ctr"/>
                      <a:r>
                        <a:rPr sz="1725" b="0">
                          <a:solidFill>
                            <a:srgbClr val="1C334E"/>
                          </a:solidFill>
                          <a:latin typeface="Open Sans"/>
                          <a:ea typeface="Open Sans"/>
                          <a:cs typeface="Open Sans"/>
                        </a:rPr>
                        <a:t>25</a:t>
                      </a:r>
                    </a:p>
                  </a:txBody>
                  <a:tcPr marL="91440" marR="91440" marT="45720" marB="45720" anchor="ctr">
                    <a:solidFill>
                      <a:srgbClr val="F1F3F8"/>
                    </a:solidFill>
                  </a:tcPr>
                </a:tc>
                <a:tc>
                  <a:txBody>
                    <a:bodyPr>
                      <a:normAutofit/>
                    </a:bodyPr>
                    <a:lstStyle/>
                    <a:p>
                      <a:pPr algn="ctr"/>
                      <a:r>
                        <a:rPr sz="1725" b="0">
                          <a:solidFill>
                            <a:srgbClr val="1C334E"/>
                          </a:solidFill>
                          <a:latin typeface="Open Sans"/>
                          <a:ea typeface="Open Sans"/>
                          <a:cs typeface="Open Sans"/>
                        </a:rPr>
                        <a:t>65</a:t>
                      </a:r>
                    </a:p>
                  </a:txBody>
                  <a:tcPr marL="91440" marR="91440" marT="45720" marB="45720" anchor="ctr">
                    <a:solidFill>
                      <a:srgbClr val="F1F3F8"/>
                    </a:solidFill>
                  </a:tcPr>
                </a:tc>
              </a:tr>
            </a:tbl>
          </a:graphicData>
        </a:graphic>
      </p:graphicFrame>
      <p:sp>
        <p:nvSpPr>
          <p:cNvPr id="11" name="">
            <a:extLst xmlns:a="http://schemas.openxmlformats.org/drawingml/2006/main">
              <a:ext uri="{FF2B5EF4-FFF2-40B4-BE49-F238E27FC236}">
                <a16:creationId xmlns:a16="http://schemas.microsoft.com/office/drawing/2014/main" id="{C20D637F-4D7D-4ACD-A029-26F52DF17EA7}"/>
              </a:ext>
            </a:extLst>
          </p:cNvPr>
          <p:cNvSpPr>
            <a:spLocks xmlns:a="http://schemas.openxmlformats.org/drawingml/2006/main" noGrp="1"/>
          </p:cNvSpPr>
          <p:nvPr/>
        </p:nvSpPr>
        <p:spPr>
          <a:xfrm xmlns:a="http://schemas.openxmlformats.org/drawingml/2006/main">
            <a:off x="12287250" y="2714625"/>
            <a:ext cx="4572000" cy="3571875"/>
          </a:xfrm>
          <a:prstGeom xmlns:a="http://schemas.openxmlformats.org/drawingml/2006/main" prst="roundRect">
            <a:avLst>
              <a:gd name="adj" fmla="val 2133"/>
            </a:avLst>
          </a:prstGeom>
          <a:solidFill xmlns:a="http://schemas.openxmlformats.org/drawingml/2006/main">
            <a:srgbClr val="FCEB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97FC46-ED0B-4040-89BA-CC009C474DD0}"/>
              </a:ext>
            </a:extLst>
          </p:cNvPr>
          <p:cNvSpPr>
            <a:spLocks xmlns:a="http://schemas.openxmlformats.org/drawingml/2006/main" noGrp="1"/>
          </p:cNvSpPr>
          <p:nvPr/>
        </p:nvSpPr>
        <p:spPr>
          <a:xfrm xmlns:a="http://schemas.openxmlformats.org/drawingml/2006/main">
            <a:off x="12687300" y="30575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3750" b="1">
                <a:solidFill>
                  <a:srgbClr val="C0504D"/>
                </a:solidFill>
                <a:latin typeface="Open Sans"/>
                <a:ea typeface="Open Sans"/>
                <a:cs typeface="Open Sans"/>
              </a:defRPr>
            </a:pPr>
            <a:r>
              <a:rPr sz="3750" b="1">
                <a:solidFill>
                  <a:srgbClr val="C0504D"/>
                </a:solidFill>
                <a:latin typeface="Open Sans"/>
                <a:ea typeface="Open Sans"/>
                <a:cs typeface="Open Sans"/>
              </a:rPr>
              <a:t>122</a:t>
            </a:r>
          </a:p>
        </p:txBody>
      </p:sp>
      <p:sp>
        <p:nvSpPr>
          <p:cNvPr id="13" name="">
            <a:extLst xmlns:a="http://schemas.openxmlformats.org/drawingml/2006/main">
              <a:ext uri="{FF2B5EF4-FFF2-40B4-BE49-F238E27FC236}">
                <a16:creationId xmlns:a16="http://schemas.microsoft.com/office/drawing/2014/main" id="{D34A90C1-C289-4CD5-906A-7CC14539B1FA}"/>
              </a:ext>
            </a:extLst>
          </p:cNvPr>
          <p:cNvSpPr>
            <a:spLocks xmlns:a="http://schemas.openxmlformats.org/drawingml/2006/main" noGrp="1"/>
          </p:cNvSpPr>
          <p:nvPr/>
        </p:nvSpPr>
        <p:spPr>
          <a:xfrm xmlns:a="http://schemas.openxmlformats.org/drawingml/2006/main">
            <a:off x="12687300" y="4086225"/>
            <a:ext cx="3714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800" b="1">
                <a:solidFill>
                  <a:srgbClr val="1C334E"/>
                </a:solidFill>
                <a:latin typeface="Open Sans"/>
                <a:ea typeface="Open Sans"/>
                <a:cs typeface="Open Sans"/>
              </a:defRPr>
            </a:pPr>
            <a:r>
              <a:rPr sz="1800" b="1">
                <a:solidFill>
                  <a:srgbClr val="1C334E"/>
                </a:solidFill>
                <a:latin typeface="Open Sans"/>
                <a:ea typeface="Open Sans"/>
                <a:cs typeface="Open Sans"/>
              </a:rPr>
              <a:t>cảnh báo sai</a:t>
            </a:r>
          </a:p>
          <a:p xmlns:a="http://schemas.openxmlformats.org/drawingml/2006/main">
            <a:pPr algn="ctr">
              <a:lnSpc>
                <a:spcPct val="105000"/>
              </a:lnSpc>
              <a:buNone/>
              <a:defRPr sz="1800" b="1">
                <a:solidFill>
                  <a:srgbClr val="1C334E"/>
                </a:solidFill>
                <a:latin typeface="Open Sans"/>
                <a:ea typeface="Open Sans"/>
                <a:cs typeface="Open Sans"/>
              </a:defRPr>
            </a:pPr>
            <a:r>
              <a:rPr sz="1800" b="1">
                <a:solidFill>
                  <a:srgbClr val="1C334E"/>
                </a:solidFill>
                <a:latin typeface="Open Sans"/>
                <a:ea typeface="Open Sans"/>
                <a:cs typeface="Open Sans"/>
              </a:rPr>
              <a:t>theo nhãn tổng hợp</a:t>
            </a:r>
          </a:p>
        </p:txBody>
      </p:sp>
      <p:sp>
        <p:nvSpPr>
          <p:cNvPr id="14" name="">
            <a:extLst xmlns:a="http://schemas.openxmlformats.org/drawingml/2006/main">
              <a:ext uri="{FF2B5EF4-FFF2-40B4-BE49-F238E27FC236}">
                <a16:creationId xmlns:a16="http://schemas.microsoft.com/office/drawing/2014/main" id="{91768C22-70F9-403A-9C65-BE7DFEAE53E3}"/>
              </a:ext>
            </a:extLst>
          </p:cNvPr>
          <p:cNvSpPr>
            <a:spLocks xmlns:a="http://schemas.openxmlformats.org/drawingml/2006/main" noGrp="1"/>
          </p:cNvSpPr>
          <p:nvPr/>
        </p:nvSpPr>
        <p:spPr>
          <a:xfrm xmlns:a="http://schemas.openxmlformats.org/drawingml/2006/main">
            <a:off x="12573000" y="6743700"/>
            <a:ext cx="47148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00" b="1">
                <a:solidFill>
                  <a:srgbClr val="C0504D"/>
                </a:solidFill>
                <a:latin typeface="Open Sans"/>
                <a:ea typeface="Open Sans"/>
                <a:cs typeface="Open Sans"/>
              </a:defRPr>
            </a:pPr>
            <a:r>
              <a:rPr sz="1500" b="1">
                <a:solidFill>
                  <a:srgbClr val="C0504D"/>
                </a:solidFill>
                <a:latin typeface="Open Sans"/>
                <a:ea typeface="Open Sans"/>
                <a:cs typeface="Open Sans"/>
              </a:rPr>
              <a:t>Không phải “122 vụ gian lận bị chặn”.</a:t>
            </a:r>
          </a:p>
        </p:txBody>
      </p:sp>
      <p:sp>
        <p:nvSpPr>
          <p:cNvPr id="15" name="">
            <a:extLst xmlns:a="http://schemas.openxmlformats.org/drawingml/2006/main">
              <a:ext uri="{FF2B5EF4-FFF2-40B4-BE49-F238E27FC236}">
                <a16:creationId xmlns:a16="http://schemas.microsoft.com/office/drawing/2014/main" id="{8DF161D7-70B4-4521-81EF-C36E9B18A8C4}"/>
              </a:ext>
            </a:extLst>
          </p:cNvPr>
          <p:cNvSpPr>
            <a:spLocks xmlns:a="http://schemas.openxmlformats.org/drawingml/2006/main" noGrp="1"/>
          </p:cNvSpPr>
          <p:nvPr/>
        </p:nvSpPr>
        <p:spPr>
          <a:xfrm xmlns:a="http://schemas.openxmlformats.org/drawingml/2006/main">
            <a:off x="1314450" y="7929563"/>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282A75"/>
                </a:solidFill>
                <a:latin typeface="Open Sans"/>
                <a:ea typeface="Open Sans"/>
                <a:cs typeface="Open Sans"/>
              </a:defRPr>
            </a:pPr>
            <a:r>
              <a:rPr sz="1650" b="1">
                <a:solidFill>
                  <a:srgbClr val="282A75"/>
                </a:solidFill>
                <a:latin typeface="Open Sans"/>
                <a:ea typeface="Open Sans"/>
                <a:cs typeface="Open Sans"/>
              </a:rPr>
              <a:t>90 nhãn dương trong 5.000 dòng test</a:t>
            </a:r>
          </a:p>
        </p:txBody>
      </p:sp>
      <p:sp>
        <p:nvSpPr>
          <p:cNvPr id="16" name="">
            <a:extLst xmlns:a="http://schemas.openxmlformats.org/drawingml/2006/main">
              <a:ext uri="{FF2B5EF4-FFF2-40B4-BE49-F238E27FC236}">
                <a16:creationId xmlns:a16="http://schemas.microsoft.com/office/drawing/2014/main" id="{D0C27A51-D42B-4B29-9C49-99643D4B1526}"/>
              </a:ext>
            </a:extLst>
          </p:cNvPr>
          <p:cNvSpPr>
            <a:spLocks xmlns:a="http://schemas.openxmlformats.org/drawingml/2006/main" noGrp="1"/>
          </p:cNvSpPr>
          <p:nvPr/>
        </p:nvSpPr>
        <p:spPr>
          <a:xfrm xmlns:a="http://schemas.openxmlformats.org/drawingml/2006/main">
            <a:off x="1314450" y="8572500"/>
            <a:ext cx="1543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00" b="0">
                <a:solidFill>
                  <a:srgbClr val="667085"/>
                </a:solidFill>
                <a:latin typeface="Open Sans"/>
                <a:ea typeface="Open Sans"/>
                <a:cs typeface="Open Sans"/>
              </a:defRPr>
            </a:pPr>
            <a:r>
              <a:rPr sz="1500" b="0">
                <a:solidFill>
                  <a:srgbClr val="667085"/>
                </a:solidFill>
                <a:latin typeface="Open Sans"/>
                <a:ea typeface="Open Sans"/>
                <a:cs typeface="Open Sans"/>
              </a:rPr>
              <a:t>Tải cảnh báo và quyết định can thiệp cần đánh giá cùng năng lực chuyên viên.</a:t>
            </a:r>
          </a:p>
        </p:txBody>
      </p:sp>
    </p:spTree>
    <p:extLst>
      <p:ext uri="{BB962C8B-B14F-4D97-AF65-F5344CB8AC3E}">
        <p14:creationId xmlns:p14="http://schemas.microsoft.com/office/powerpoint/2010/main" val="1833014765"/>
      </p:ext>
    </p:extLst>
  </p:cSld>
</p:sld>
</file>

<file path=ppt/slides/slide14.xml><?xml version="1.0" encoding="utf-8"?>
<p:sld xmlns:a="http://schemas.openxmlformats.org/drawingml/2006/main" xmlns:a16="http://schemas.microsoft.com/office/drawing/2014/main" xmlns:p14="http://schemas.microsoft.com/office/powerpoint/2010/main" xmlns:p="http://schemas.openxmlformats.org/presentationml/2006/main">
  <p:cSld name="Độ nhạy và latency">
    <p:bg>
      <p:bgPr>
        <a:solidFill xmlns:a="http://schemas.openxmlformats.org/drawingml/2006/main">
          <a:srgbClr val="282A7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4CECEC7-3DC5-41B8-90B5-38C9E84BEBF4}"/>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18BAE029-755D-4E0B-ACFE-620D511BC197}"/>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C4223365-24CE-432F-A4F3-9D8B9F5FC9B9}"/>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576895-2EA7-48D8-BF8F-9B57B50CDC38}"/>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ĐỘ NHẠY VÀ HIỆU NĂNG KỸ THUẬT</a:t>
            </a:r>
          </a:p>
        </p:txBody>
      </p:sp>
      <p:sp>
        <p:nvSpPr>
          <p:cNvPr id="5" name="">
            <a:extLst xmlns:a="http://schemas.openxmlformats.org/drawingml/2006/main">
              <a:ext uri="{FF2B5EF4-FFF2-40B4-BE49-F238E27FC236}">
                <a16:creationId xmlns:a16="http://schemas.microsoft.com/office/drawing/2014/main" id="{ED376E71-A11D-4B78-BEC9-0F609D5C2798}"/>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Kết quả ổn định giữa seed; latency chỉ là inference local</a:t>
            </a:r>
          </a:p>
        </p:txBody>
      </p:sp>
      <p:sp>
        <p:nvSpPr>
          <p:cNvPr id="6" name="">
            <a:extLst xmlns:a="http://schemas.openxmlformats.org/drawingml/2006/main">
              <a:ext uri="{FF2B5EF4-FFF2-40B4-BE49-F238E27FC236}">
                <a16:creationId xmlns:a16="http://schemas.microsoft.com/office/drawing/2014/main" id="{C5A751CC-9FBE-4FF9-AD98-D31C615F02C6}"/>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F62C60-8999-4276-94A0-1D7387E947E1}"/>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B382CF1B-2CC4-40B0-9656-A4C8603B12D8}"/>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E86A6682-2BC6-410F-AD12-5D30B6F0E9B4}"/>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14</a:t>
            </a:r>
          </a:p>
        </p:txBody>
      </p:sp>
      <p:graphicFrame>
        <p:nvGraphicFramePr>
          <p:cNvPr id="28" name=""/>
          <p:cNvGraphicFramePr/>
          <p:nvPr/>
        </p:nvGraphicFramePr>
        <p:xfrm>
          <a:off xmlns:a="http://schemas.openxmlformats.org/drawingml/2006/main" x="1071563" y="2400300"/>
          <a:ext xmlns:a="http://schemas.openxmlformats.org/drawingml/2006/main" cx="10287000" cy="3571875"/>
        </p:xfrm>
        <a:graphic xmlns:a="http://schemas.openxmlformats.org/drawingml/2006/main">
          <a:graphicData uri="http://schemas.openxmlformats.org/drawingml/2006/table">
            <a:tbl>
              <a:tblPr firstRow="1" bandRow="1"/>
              <a:tblGrid>
                <a:gridCol w="1857375"/>
                <a:gridCol w="2571750"/>
                <a:gridCol w="2000250"/>
                <a:gridCol w="2000250"/>
                <a:gridCol w="1857375"/>
              </a:tblGrid>
              <a:tr h="892969">
                <a:tc>
                  <a:txBody>
                    <a:bodyPr>
                      <a:normAutofit/>
                    </a:bodyPr>
                    <a:lstStyle/>
                    <a:p>
                      <a:pPr algn="ctr"/>
                      <a:r>
                        <a:rPr sz="1500" b="1">
                          <a:solidFill>
                            <a:srgbClr val="FBFBFC"/>
                          </a:solidFill>
                          <a:latin typeface="Montserrat Bold"/>
                          <a:ea typeface="Montserrat Bold"/>
                          <a:cs typeface="Montserrat Bold"/>
                        </a:rPr>
                        <a:t>Seed</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Threshold val</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Precision</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Recall</a:t>
                      </a:r>
                    </a:p>
                  </a:txBody>
                  <a:tcPr marL="91440" marR="91440" marT="45720" marB="45720" anchor="ctr">
                    <a:solidFill>
                      <a:srgbClr val="282A75"/>
                    </a:solidFill>
                  </a:tcPr>
                </a:tc>
                <a:tc>
                  <a:txBody>
                    <a:bodyPr>
                      <a:normAutofit/>
                    </a:bodyPr>
                    <a:lstStyle/>
                    <a:p>
                      <a:pPr algn="ctr"/>
                      <a:r>
                        <a:rPr sz="1500" b="1">
                          <a:solidFill>
                            <a:srgbClr val="FBFBFC"/>
                          </a:solidFill>
                          <a:latin typeface="Montserrat Bold"/>
                          <a:ea typeface="Montserrat Bold"/>
                          <a:cs typeface="Montserrat Bold"/>
                        </a:rPr>
                        <a:t>F2</a:t>
                      </a:r>
                    </a:p>
                  </a:txBody>
                  <a:tcPr marL="91440" marR="91440" marT="45720" marB="45720" anchor="ctr">
                    <a:solidFill>
                      <a:srgbClr val="282A75"/>
                    </a:solidFill>
                  </a:tcPr>
                </a:tc>
              </a:tr>
              <a:tr h="892969">
                <a:tc>
                  <a:txBody>
                    <a:bodyPr>
                      <a:normAutofit/>
                    </a:bodyPr>
                    <a:lstStyle/>
                    <a:p>
                      <a:pPr algn="ctr"/>
                      <a:r>
                        <a:rPr sz="1500" b="0">
                          <a:solidFill>
                            <a:srgbClr val="1C334E"/>
                          </a:solidFill>
                          <a:latin typeface="Open Sans"/>
                          <a:ea typeface="Open Sans"/>
                          <a:cs typeface="Open Sans"/>
                        </a:rPr>
                        <a:t>42</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0.637</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34.8%</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72.2%</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0.594</a:t>
                      </a:r>
                    </a:p>
                  </a:txBody>
                  <a:tcPr marL="91440" marR="91440" marT="45720" marB="45720" anchor="ctr">
                    <a:solidFill>
                      <a:srgbClr val="FBFBFC"/>
                    </a:solidFill>
                  </a:tcPr>
                </a:tc>
              </a:tr>
              <a:tr h="892969">
                <a:tc>
                  <a:txBody>
                    <a:bodyPr>
                      <a:normAutofit/>
                    </a:bodyPr>
                    <a:lstStyle/>
                    <a:p>
                      <a:pPr algn="ctr"/>
                      <a:r>
                        <a:rPr sz="1500" b="0">
                          <a:solidFill>
                            <a:srgbClr val="1C334E"/>
                          </a:solidFill>
                          <a:latin typeface="Open Sans"/>
                          <a:ea typeface="Open Sans"/>
                          <a:cs typeface="Open Sans"/>
                        </a:rPr>
                        <a:t>52</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0.725</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38.7%</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72.2%</a:t>
                      </a:r>
                    </a:p>
                  </a:txBody>
                  <a:tcPr marL="91440" marR="91440" marT="45720" marB="45720" anchor="ctr">
                    <a:solidFill>
                      <a:srgbClr val="F1F3F8"/>
                    </a:solidFill>
                  </a:tcPr>
                </a:tc>
                <a:tc>
                  <a:txBody>
                    <a:bodyPr>
                      <a:normAutofit/>
                    </a:bodyPr>
                    <a:lstStyle/>
                    <a:p>
                      <a:pPr algn="ctr"/>
                      <a:r>
                        <a:rPr sz="1500" b="0">
                          <a:solidFill>
                            <a:srgbClr val="1C334E"/>
                          </a:solidFill>
                          <a:latin typeface="Open Sans"/>
                          <a:ea typeface="Open Sans"/>
                          <a:cs typeface="Open Sans"/>
                        </a:rPr>
                        <a:t>0.616</a:t>
                      </a:r>
                    </a:p>
                  </a:txBody>
                  <a:tcPr marL="91440" marR="91440" marT="45720" marB="45720" anchor="ctr">
                    <a:solidFill>
                      <a:srgbClr val="F1F3F8"/>
                    </a:solidFill>
                  </a:tcPr>
                </a:tc>
              </a:tr>
              <a:tr h="892969">
                <a:tc>
                  <a:txBody>
                    <a:bodyPr>
                      <a:normAutofit/>
                    </a:bodyPr>
                    <a:lstStyle/>
                    <a:p>
                      <a:pPr algn="ctr"/>
                      <a:r>
                        <a:rPr sz="1500" b="0">
                          <a:solidFill>
                            <a:srgbClr val="1C334E"/>
                          </a:solidFill>
                          <a:latin typeface="Open Sans"/>
                          <a:ea typeface="Open Sans"/>
                          <a:cs typeface="Open Sans"/>
                        </a:rPr>
                        <a:t>62</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0.667</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36.4%</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75.6%</a:t>
                      </a:r>
                    </a:p>
                  </a:txBody>
                  <a:tcPr marL="91440" marR="91440" marT="45720" marB="45720" anchor="ctr">
                    <a:solidFill>
                      <a:srgbClr val="FBFBFC"/>
                    </a:solidFill>
                  </a:tcPr>
                </a:tc>
                <a:tc>
                  <a:txBody>
                    <a:bodyPr>
                      <a:normAutofit/>
                    </a:bodyPr>
                    <a:lstStyle/>
                    <a:p>
                      <a:pPr algn="ctr"/>
                      <a:r>
                        <a:rPr sz="1500" b="0">
                          <a:solidFill>
                            <a:srgbClr val="1C334E"/>
                          </a:solidFill>
                          <a:latin typeface="Open Sans"/>
                          <a:ea typeface="Open Sans"/>
                          <a:cs typeface="Open Sans"/>
                        </a:rPr>
                        <a:t>0.622</a:t>
                      </a:r>
                    </a:p>
                  </a:txBody>
                  <a:tcPr marL="91440" marR="91440" marT="45720" marB="45720" anchor="ctr">
                    <a:solidFill>
                      <a:srgbClr val="FBFBFC"/>
                    </a:solidFill>
                  </a:tcPr>
                </a:tc>
              </a:tr>
            </a:tbl>
          </a:graphicData>
        </a:graphic>
      </p:graphicFrame>
      <p:sp>
        <p:nvSpPr>
          <p:cNvPr id="11" name="">
            <a:extLst xmlns:a="http://schemas.openxmlformats.org/drawingml/2006/main">
              <a:ext uri="{FF2B5EF4-FFF2-40B4-BE49-F238E27FC236}">
                <a16:creationId xmlns:a16="http://schemas.microsoft.com/office/drawing/2014/main" id="{B1251EE3-E19B-4A4F-BE8C-AD76991EF1DC}"/>
              </a:ext>
            </a:extLst>
          </p:cNvPr>
          <p:cNvSpPr>
            <a:spLocks xmlns:a="http://schemas.openxmlformats.org/drawingml/2006/main" noGrp="1"/>
          </p:cNvSpPr>
          <p:nvPr/>
        </p:nvSpPr>
        <p:spPr>
          <a:xfrm xmlns:a="http://schemas.openxmlformats.org/drawingml/2006/main">
            <a:off x="12030075" y="2400300"/>
            <a:ext cx="4714875" cy="3571875"/>
          </a:xfrm>
          <a:prstGeom xmlns:a="http://schemas.openxmlformats.org/drawingml/2006/main" prst="roundRect">
            <a:avLst>
              <a:gd name="adj" fmla="val 2133"/>
            </a:avLst>
          </a:prstGeom>
          <a:solidFill xmlns:a="http://schemas.openxmlformats.org/drawingml/2006/main">
            <a:srgbClr val="F1F3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CB05AF-5011-4D6E-B32C-BE09B818E1AF}"/>
              </a:ext>
            </a:extLst>
          </p:cNvPr>
          <p:cNvSpPr>
            <a:spLocks xmlns:a="http://schemas.openxmlformats.org/drawingml/2006/main" noGrp="1"/>
          </p:cNvSpPr>
          <p:nvPr/>
        </p:nvSpPr>
        <p:spPr>
          <a:xfrm xmlns:a="http://schemas.openxmlformats.org/drawingml/2006/main">
            <a:off x="12430125" y="2643188"/>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75" b="1">
                <a:solidFill>
                  <a:srgbClr val="667085"/>
                </a:solidFill>
                <a:latin typeface="Open Sans"/>
                <a:ea typeface="Open Sans"/>
                <a:cs typeface="Open Sans"/>
              </a:defRPr>
            </a:pPr>
            <a:r>
              <a:rPr sz="1275" b="1">
                <a:solidFill>
                  <a:srgbClr val="667085"/>
                </a:solidFill>
                <a:latin typeface="Open Sans"/>
                <a:ea typeface="Open Sans"/>
                <a:cs typeface="Open Sans"/>
              </a:rPr>
              <a:t>ROC-AUC</a:t>
            </a:r>
          </a:p>
        </p:txBody>
      </p:sp>
      <p:sp>
        <p:nvSpPr>
          <p:cNvPr id="13" name="">
            <a:extLst xmlns:a="http://schemas.openxmlformats.org/drawingml/2006/main">
              <a:ext uri="{FF2B5EF4-FFF2-40B4-BE49-F238E27FC236}">
                <a16:creationId xmlns:a16="http://schemas.microsoft.com/office/drawing/2014/main" id="{845CF4F1-4E1C-494A-BFE7-D9E2125965C8}"/>
              </a:ext>
            </a:extLst>
          </p:cNvPr>
          <p:cNvSpPr>
            <a:spLocks xmlns:a="http://schemas.openxmlformats.org/drawingml/2006/main" noGrp="1"/>
          </p:cNvSpPr>
          <p:nvPr/>
        </p:nvSpPr>
        <p:spPr>
          <a:xfrm xmlns:a="http://schemas.openxmlformats.org/drawingml/2006/main">
            <a:off x="12344400" y="3114675"/>
            <a:ext cx="4086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650" b="1">
                <a:solidFill>
                  <a:srgbClr val="282A75"/>
                </a:solidFill>
                <a:latin typeface="Open Sans"/>
                <a:ea typeface="Open Sans"/>
                <a:cs typeface="Open Sans"/>
              </a:defRPr>
            </a:pPr>
            <a:r>
              <a:rPr sz="1650" b="1">
                <a:solidFill>
                  <a:srgbClr val="282A75"/>
                </a:solidFill>
                <a:latin typeface="Open Sans"/>
                <a:ea typeface="Open Sans"/>
                <a:cs typeface="Open Sans"/>
              </a:rPr>
              <a:t>0.9825 ± 0.0004</a:t>
            </a:r>
          </a:p>
        </p:txBody>
      </p:sp>
      <p:sp>
        <p:nvSpPr>
          <p:cNvPr id="14" name="">
            <a:extLst xmlns:a="http://schemas.openxmlformats.org/drawingml/2006/main">
              <a:ext uri="{FF2B5EF4-FFF2-40B4-BE49-F238E27FC236}">
                <a16:creationId xmlns:a16="http://schemas.microsoft.com/office/drawing/2014/main" id="{6F159645-6430-4CEF-A952-BAAA1375730A}"/>
              </a:ext>
            </a:extLst>
          </p:cNvPr>
          <p:cNvSpPr>
            <a:spLocks xmlns:a="http://schemas.openxmlformats.org/drawingml/2006/main" noGrp="1"/>
          </p:cNvSpPr>
          <p:nvPr/>
        </p:nvSpPr>
        <p:spPr>
          <a:xfrm xmlns:a="http://schemas.openxmlformats.org/drawingml/2006/main">
            <a:off x="12430125" y="3957638"/>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275" b="1">
                <a:solidFill>
                  <a:srgbClr val="667085"/>
                </a:solidFill>
                <a:latin typeface="Open Sans"/>
                <a:ea typeface="Open Sans"/>
                <a:cs typeface="Open Sans"/>
              </a:defRPr>
            </a:pPr>
            <a:r>
              <a:rPr sz="1275" b="1">
                <a:solidFill>
                  <a:srgbClr val="667085"/>
                </a:solidFill>
                <a:latin typeface="Open Sans"/>
                <a:ea typeface="Open Sans"/>
                <a:cs typeface="Open Sans"/>
              </a:rPr>
              <a:t>AP</a:t>
            </a:r>
          </a:p>
        </p:txBody>
      </p:sp>
      <p:sp>
        <p:nvSpPr>
          <p:cNvPr id="15" name="">
            <a:extLst xmlns:a="http://schemas.openxmlformats.org/drawingml/2006/main">
              <a:ext uri="{FF2B5EF4-FFF2-40B4-BE49-F238E27FC236}">
                <a16:creationId xmlns:a16="http://schemas.microsoft.com/office/drawing/2014/main" id="{28948BB2-A425-4FA9-BD39-46F64EB0A8B9}"/>
              </a:ext>
            </a:extLst>
          </p:cNvPr>
          <p:cNvSpPr>
            <a:spLocks xmlns:a="http://schemas.openxmlformats.org/drawingml/2006/main" noGrp="1"/>
          </p:cNvSpPr>
          <p:nvPr/>
        </p:nvSpPr>
        <p:spPr>
          <a:xfrm xmlns:a="http://schemas.openxmlformats.org/drawingml/2006/main">
            <a:off x="12344400" y="4414838"/>
            <a:ext cx="4086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650" b="1">
                <a:solidFill>
                  <a:srgbClr val="282A75"/>
                </a:solidFill>
                <a:latin typeface="Open Sans"/>
                <a:ea typeface="Open Sans"/>
                <a:cs typeface="Open Sans"/>
              </a:defRPr>
            </a:pPr>
            <a:r>
              <a:rPr sz="1650" b="1">
                <a:solidFill>
                  <a:srgbClr val="282A75"/>
                </a:solidFill>
                <a:latin typeface="Open Sans"/>
                <a:ea typeface="Open Sans"/>
                <a:cs typeface="Open Sans"/>
              </a:rPr>
              <a:t>0.5429 ± 0.0075</a:t>
            </a:r>
          </a:p>
        </p:txBody>
      </p:sp>
      <p:sp>
        <p:nvSpPr>
          <p:cNvPr id="16" name="">
            <a:extLst xmlns:a="http://schemas.openxmlformats.org/drawingml/2006/main">
              <a:ext uri="{FF2B5EF4-FFF2-40B4-BE49-F238E27FC236}">
                <a16:creationId xmlns:a16="http://schemas.microsoft.com/office/drawing/2014/main" id="{A9F32F06-F9E4-4BEA-955A-C9314FB3438D}"/>
              </a:ext>
            </a:extLst>
          </p:cNvPr>
          <p:cNvSpPr>
            <a:spLocks xmlns:a="http://schemas.openxmlformats.org/drawingml/2006/main" noGrp="1"/>
          </p:cNvSpPr>
          <p:nvPr/>
        </p:nvSpPr>
        <p:spPr>
          <a:xfrm xmlns:a="http://schemas.openxmlformats.org/drawingml/2006/main">
            <a:off x="1171575" y="6800850"/>
            <a:ext cx="1571625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4F81BD"/>
                </a:solidFill>
                <a:latin typeface="Open Sans"/>
                <a:ea typeface="Open Sans"/>
                <a:cs typeface="Open Sans"/>
              </a:defRPr>
            </a:pPr>
            <a:r>
              <a:rPr sz="1650" b="1">
                <a:solidFill>
                  <a:srgbClr val="4F81BD"/>
                </a:solidFill>
                <a:latin typeface="Open Sans"/>
                <a:ea typeface="Open Sans"/>
                <a:cs typeface="Open Sans"/>
              </a:rPr>
              <a:t>Latency seed 42: median 0.353 ms; P95 0.362 ms</a:t>
            </a:r>
          </a:p>
        </p:txBody>
      </p:sp>
      <p:sp>
        <p:nvSpPr>
          <p:cNvPr id="17" name="">
            <a:extLst xmlns:a="http://schemas.openxmlformats.org/drawingml/2006/main">
              <a:ext uri="{FF2B5EF4-FFF2-40B4-BE49-F238E27FC236}">
                <a16:creationId xmlns:a16="http://schemas.microsoft.com/office/drawing/2014/main" id="{1B36D4DC-7346-41BF-87DE-687A83744335}"/>
              </a:ext>
            </a:extLst>
          </p:cNvPr>
          <p:cNvSpPr>
            <a:spLocks xmlns:a="http://schemas.openxmlformats.org/drawingml/2006/main" noGrp="1"/>
          </p:cNvSpPr>
          <p:nvPr/>
        </p:nvSpPr>
        <p:spPr>
          <a:xfrm xmlns:a="http://schemas.openxmlformats.org/drawingml/2006/main">
            <a:off x="1171575" y="7572375"/>
            <a:ext cx="15787688"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1C334E"/>
                </a:solidFill>
                <a:latin typeface="Open Sans"/>
                <a:ea typeface="Open Sans"/>
                <a:cs typeface="Open Sans"/>
              </a:defRPr>
            </a:pPr>
            <a:r>
              <a:rPr sz="1425" b="0">
                <a:solidFill>
                  <a:srgbClr val="1C334E"/>
                </a:solidFill>
                <a:latin typeface="Open Sans"/>
                <a:ea typeface="Open Sans"/>
                <a:cs typeface="Open Sans"/>
              </a:rPr>
              <a:t>30 warm-up + 250 predict_proba một dòng trên macOS ARM64. Không gồm mạng, feature retrieval hay giao dịch; không phải SLA.</a:t>
            </a:r>
          </a:p>
        </p:txBody>
      </p:sp>
      <p:sp>
        <p:nvSpPr>
          <p:cNvPr id="18" name="">
            <a:extLst xmlns:a="http://schemas.openxmlformats.org/drawingml/2006/main">
              <a:ext uri="{FF2B5EF4-FFF2-40B4-BE49-F238E27FC236}">
                <a16:creationId xmlns:a16="http://schemas.microsoft.com/office/drawing/2014/main" id="{C9AFCC8E-5DB9-4925-A759-5035F4F5BF79}"/>
              </a:ext>
            </a:extLst>
          </p:cNvPr>
          <p:cNvSpPr>
            <a:spLocks xmlns:a="http://schemas.openxmlformats.org/drawingml/2006/main" noGrp="1"/>
          </p:cNvSpPr>
          <p:nvPr/>
        </p:nvSpPr>
        <p:spPr>
          <a:xfrm xmlns:a="http://schemas.openxmlformats.org/drawingml/2006/main">
            <a:off x="1171575" y="8858250"/>
            <a:ext cx="1578768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1">
                <a:solidFill>
                  <a:srgbClr val="C0504D"/>
                </a:solidFill>
                <a:latin typeface="Open Sans"/>
                <a:ea typeface="Open Sans"/>
                <a:cs typeface="Open Sans"/>
              </a:defRPr>
            </a:pPr>
            <a:r>
              <a:rPr sz="1425" b="1">
                <a:solidFill>
                  <a:srgbClr val="C0504D"/>
                </a:solidFill>
                <a:latin typeface="Open Sans"/>
                <a:ea typeface="Open Sans"/>
                <a:cs typeface="Open Sans"/>
              </a:rPr>
              <a:t>Ba seed cùng split: mô tả độ nhạy estimator, không phải 3 mẫu độc lập.</a:t>
            </a:r>
          </a:p>
        </p:txBody>
      </p:sp>
    </p:spTree>
    <p:extLst>
      <p:ext uri="{BB962C8B-B14F-4D97-AF65-F5344CB8AC3E}">
        <p14:creationId xmlns:p14="http://schemas.microsoft.com/office/powerpoint/2010/main" val="1912848548"/>
      </p:ext>
    </p:extLst>
  </p:cSld>
</p:sld>
</file>

<file path=ppt/slides/slide15.xml><?xml version="1.0" encoding="utf-8"?>
<p:sld xmlns:a="http://schemas.openxmlformats.org/drawingml/2006/main" xmlns:a16="http://schemas.microsoft.com/office/drawing/2014/main" xmlns:p14="http://schemas.microsoft.com/office/powerpoint/2010/main" xmlns:p="http://schemas.openxmlformats.org/presentationml/2006/main">
  <p:cSld name="Khả thi và rủi ro">
    <p:bg>
      <p:bgPr>
        <a:solidFill xmlns:a="http://schemas.openxmlformats.org/drawingml/2006/main">
          <a:srgbClr val="282A7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B393881-16C6-4282-A134-F1DFED997114}"/>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E7FBE27E-59D0-4BCE-8337-CD9B8A060DD7}"/>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770A6002-C4EE-48E0-A7EF-87DA529C9315}"/>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C92D4A-D329-44FB-90C9-7FD7E2D14F84}"/>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ĐÁNH GIÁ NGHIỆP VỤ</a:t>
            </a:r>
          </a:p>
        </p:txBody>
      </p:sp>
      <p:sp>
        <p:nvSpPr>
          <p:cNvPr id="5" name="">
            <a:extLst xmlns:a="http://schemas.openxmlformats.org/drawingml/2006/main">
              <a:ext uri="{FF2B5EF4-FFF2-40B4-BE49-F238E27FC236}">
                <a16:creationId xmlns:a16="http://schemas.microsoft.com/office/drawing/2014/main" id="{8BFE6040-AA1B-4248-B5B9-AE539F24F332}"/>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Khả thi ở mức PoC; ROI chưa thể kết luận</a:t>
            </a:r>
          </a:p>
        </p:txBody>
      </p:sp>
      <p:sp>
        <p:nvSpPr>
          <p:cNvPr id="6" name="">
            <a:extLst xmlns:a="http://schemas.openxmlformats.org/drawingml/2006/main">
              <a:ext uri="{FF2B5EF4-FFF2-40B4-BE49-F238E27FC236}">
                <a16:creationId xmlns:a16="http://schemas.microsoft.com/office/drawing/2014/main" id="{963D6608-B061-4376-9F12-121743B0703F}"/>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0FC483-A862-400D-B983-93D1D172F9BC}"/>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4AC348D5-1158-481F-8952-DE881DB5DD44}"/>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01E2FFFC-D6D3-48C7-96CD-187832CC0F6E}"/>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15</a:t>
            </a:r>
          </a:p>
        </p:txBody>
      </p:sp>
      <p:sp>
        <p:nvSpPr>
          <p:cNvPr id="10" name="">
            <a:extLst xmlns:a="http://schemas.openxmlformats.org/drawingml/2006/main">
              <a:ext uri="{FF2B5EF4-FFF2-40B4-BE49-F238E27FC236}">
                <a16:creationId xmlns:a16="http://schemas.microsoft.com/office/drawing/2014/main" id="{539D62E8-FA78-4B24-8DF3-E9AEE2E8ABC5}"/>
              </a:ext>
            </a:extLst>
          </p:cNvPr>
          <p:cNvSpPr>
            <a:spLocks xmlns:a="http://schemas.openxmlformats.org/drawingml/2006/main" noGrp="1"/>
          </p:cNvSpPr>
          <p:nvPr/>
        </p:nvSpPr>
        <p:spPr>
          <a:xfrm xmlns:a="http://schemas.openxmlformats.org/drawingml/2006/main">
            <a:off x="1257300" y="2371725"/>
            <a:ext cx="671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1">
                <a:solidFill>
                  <a:srgbClr val="4F81BD"/>
                </a:solidFill>
                <a:latin typeface="Open Sans"/>
                <a:ea typeface="Open Sans"/>
                <a:cs typeface="Open Sans"/>
              </a:defRPr>
            </a:pPr>
            <a:r>
              <a:rPr sz="1800" b="1">
                <a:solidFill>
                  <a:srgbClr val="4F81BD"/>
                </a:solidFill>
                <a:latin typeface="Open Sans"/>
                <a:ea typeface="Open Sans"/>
                <a:cs typeface="Open Sans"/>
              </a:rPr>
              <a:t>Lợi ích ròng kỳ vọng</a:t>
            </a:r>
          </a:p>
        </p:txBody>
      </p:sp>
      <p:sp>
        <p:nvSpPr>
          <p:cNvPr id="11" name="">
            <a:extLst xmlns:a="http://schemas.openxmlformats.org/drawingml/2006/main">
              <a:ext uri="{FF2B5EF4-FFF2-40B4-BE49-F238E27FC236}">
                <a16:creationId xmlns:a16="http://schemas.microsoft.com/office/drawing/2014/main" id="{CABD4D6E-740D-47F1-9A14-118016B2B6D2}"/>
              </a:ext>
            </a:extLst>
          </p:cNvPr>
          <p:cNvSpPr>
            <a:spLocks xmlns:a="http://schemas.openxmlformats.org/drawingml/2006/main" noGrp="1"/>
          </p:cNvSpPr>
          <p:nvPr/>
        </p:nvSpPr>
        <p:spPr>
          <a:xfrm xmlns:a="http://schemas.openxmlformats.org/drawingml/2006/main">
            <a:off x="1343025" y="3128963"/>
            <a:ext cx="7429500" cy="2500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12000"/>
              </a:lnSpc>
              <a:buNone/>
              <a:defRPr sz="2025" b="1">
                <a:solidFill>
                  <a:srgbClr val="282A75"/>
                </a:solidFill>
                <a:latin typeface="Open Sans"/>
                <a:ea typeface="Open Sans"/>
                <a:cs typeface="Open Sans"/>
              </a:defRPr>
            </a:pPr>
            <a:r>
              <a:rPr sz="2025" b="1">
                <a:solidFill>
                  <a:srgbClr val="282A75"/>
                </a:solidFill>
                <a:latin typeface="Open Sans"/>
                <a:ea typeface="Open Sans"/>
                <a:cs typeface="Open Sans"/>
              </a:rPr>
              <a:t>Tổn thất đã xác minh tránh được</a:t>
            </a:r>
          </a:p>
          <a:p xmlns:a="http://schemas.openxmlformats.org/drawingml/2006/main">
            <a:pPr algn="l">
              <a:lnSpc>
                <a:spcPct val="112000"/>
              </a:lnSpc>
              <a:buNone/>
              <a:defRPr sz="2025" b="1">
                <a:solidFill>
                  <a:srgbClr val="282A75"/>
                </a:solidFill>
                <a:latin typeface="Open Sans"/>
                <a:ea typeface="Open Sans"/>
                <a:cs typeface="Open Sans"/>
              </a:defRPr>
            </a:pPr>
            <a:r>
              <a:rPr sz="2025" b="1">
                <a:solidFill>
                  <a:srgbClr val="282A75"/>
                </a:solidFill>
                <a:latin typeface="Open Sans"/>
                <a:ea typeface="Open Sans"/>
                <a:cs typeface="Open Sans"/>
              </a:rPr>
              <a:t>− hạ tầng và vận hành</a:t>
            </a:r>
          </a:p>
          <a:p xmlns:a="http://schemas.openxmlformats.org/drawingml/2006/main">
            <a:pPr algn="l">
              <a:lnSpc>
                <a:spcPct val="112000"/>
              </a:lnSpc>
              <a:buNone/>
              <a:defRPr sz="2025" b="1">
                <a:solidFill>
                  <a:srgbClr val="282A75"/>
                </a:solidFill>
                <a:latin typeface="Open Sans"/>
                <a:ea typeface="Open Sans"/>
                <a:cs typeface="Open Sans"/>
              </a:defRPr>
            </a:pPr>
            <a:r>
              <a:rPr sz="2025" b="1">
                <a:solidFill>
                  <a:srgbClr val="282A75"/>
                </a:solidFill>
                <a:latin typeface="Open Sans"/>
                <a:ea typeface="Open Sans"/>
                <a:cs typeface="Open Sans"/>
              </a:rPr>
              <a:t>− chi phí xử lý cảnh báo</a:t>
            </a:r>
          </a:p>
          <a:p xmlns:a="http://schemas.openxmlformats.org/drawingml/2006/main">
            <a:pPr algn="l">
              <a:lnSpc>
                <a:spcPct val="112000"/>
              </a:lnSpc>
              <a:buNone/>
              <a:defRPr sz="2025" b="1">
                <a:solidFill>
                  <a:srgbClr val="282A75"/>
                </a:solidFill>
                <a:latin typeface="Open Sans"/>
                <a:ea typeface="Open Sans"/>
                <a:cs typeface="Open Sans"/>
              </a:defRPr>
            </a:pPr>
            <a:r>
              <a:rPr sz="2025" b="1">
                <a:solidFill>
                  <a:srgbClr val="282A75"/>
                </a:solidFill>
                <a:latin typeface="Open Sans"/>
                <a:ea typeface="Open Sans"/>
                <a:cs typeface="Open Sans"/>
              </a:rPr>
              <a:t>− tác động gián đoạn khách hàng</a:t>
            </a:r>
          </a:p>
        </p:txBody>
      </p:sp>
      <p:sp>
        <p:nvSpPr>
          <p:cNvPr id="12" name="">
            <a:extLst xmlns:a="http://schemas.openxmlformats.org/drawingml/2006/main">
              <a:ext uri="{FF2B5EF4-FFF2-40B4-BE49-F238E27FC236}">
                <a16:creationId xmlns:a16="http://schemas.microsoft.com/office/drawing/2014/main" id="{D585177F-1919-4A06-A7C5-02E3E706BE30}"/>
              </a:ext>
            </a:extLst>
          </p:cNvPr>
          <p:cNvSpPr>
            <a:spLocks xmlns:a="http://schemas.openxmlformats.org/drawingml/2006/main" noGrp="1"/>
          </p:cNvSpPr>
          <p:nvPr/>
        </p:nvSpPr>
        <p:spPr>
          <a:xfrm xmlns:a="http://schemas.openxmlformats.org/drawingml/2006/main">
            <a:off x="9501188" y="2400300"/>
            <a:ext cx="7500938" cy="3357563"/>
          </a:xfrm>
          <a:prstGeom xmlns:a="http://schemas.openxmlformats.org/drawingml/2006/main" prst="roundRect">
            <a:avLst>
              <a:gd name="adj" fmla="val 2270"/>
            </a:avLst>
          </a:prstGeom>
          <a:solidFill xmlns:a="http://schemas.openxmlformats.org/drawingml/2006/main">
            <a:srgbClr val="FFF4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55A5C1-CC27-4207-9570-09ABC82F6D30}"/>
              </a:ext>
            </a:extLst>
          </p:cNvPr>
          <p:cNvSpPr>
            <a:spLocks xmlns:a="http://schemas.openxmlformats.org/drawingml/2006/main" noGrp="1"/>
          </p:cNvSpPr>
          <p:nvPr/>
        </p:nvSpPr>
        <p:spPr>
          <a:xfrm xmlns:a="http://schemas.openxmlformats.org/drawingml/2006/main">
            <a:off x="9915525" y="2671763"/>
            <a:ext cx="65008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FAA61A"/>
                </a:solidFill>
                <a:latin typeface="Open Sans"/>
                <a:ea typeface="Open Sans"/>
                <a:cs typeface="Open Sans"/>
              </a:defRPr>
            </a:pPr>
            <a:r>
              <a:rPr sz="1650" b="1">
                <a:solidFill>
                  <a:srgbClr val="FAA61A"/>
                </a:solidFill>
                <a:latin typeface="Open Sans"/>
                <a:ea typeface="Open Sans"/>
                <a:cs typeface="Open Sans"/>
              </a:rPr>
              <a:t>Cần dữ liệu trước khi tính</a:t>
            </a:r>
          </a:p>
        </p:txBody>
      </p:sp>
      <p:sp>
        <p:nvSpPr>
          <p:cNvPr id="14" name="">
            <a:extLst xmlns:a="http://schemas.openxmlformats.org/drawingml/2006/main">
              <a:ext uri="{FF2B5EF4-FFF2-40B4-BE49-F238E27FC236}">
                <a16:creationId xmlns:a16="http://schemas.microsoft.com/office/drawing/2014/main" id="{6FA16574-BA6E-4C5D-918F-D9D3CABB100C}"/>
              </a:ext>
            </a:extLst>
          </p:cNvPr>
          <p:cNvSpPr>
            <a:spLocks xmlns:a="http://schemas.openxmlformats.org/drawingml/2006/main" noGrp="1"/>
          </p:cNvSpPr>
          <p:nvPr/>
        </p:nvSpPr>
        <p:spPr>
          <a:xfrm xmlns:a="http://schemas.openxmlformats.org/drawingml/2006/main">
            <a:off x="9715500" y="3271838"/>
            <a:ext cx="6786563"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350">
                <a:solidFill>
                  <a:srgbClr val="1C334E"/>
                </a:solidFill>
                <a:latin typeface="Open Sans"/>
                <a:ea typeface="Open Sans"/>
                <a:cs typeface="Open Sans"/>
              </a:defRPr>
            </a:pPr>
            <a:r>
              <a:rPr sz="1350">
                <a:solidFill>
                  <a:srgbClr val="1C334E"/>
                </a:solidFill>
                <a:latin typeface="Open Sans"/>
                <a:ea typeface="Open Sans"/>
                <a:cs typeface="Open Sans"/>
              </a:rPr>
              <a:t>Tổn thất và kết quả điều tra</a:t>
            </a:r>
          </a:p>
          <a:p xmlns:a="http://schemas.openxmlformats.org/drawingml/2006/main">
            <a:pPr marL="254000" indent="-114300">
              <a:lnSpc>
                <a:spcPct val="110000"/>
              </a:lnSpc>
              <a:spcAft>
                <a:spcPts val="1000"/>
              </a:spcAft>
              <a:buNone/>
              <a:defRPr sz="1350">
                <a:solidFill>
                  <a:srgbClr val="1C334E"/>
                </a:solidFill>
                <a:latin typeface="Open Sans"/>
                <a:ea typeface="Open Sans"/>
                <a:cs typeface="Open Sans"/>
              </a:defRPr>
            </a:pPr>
            <a:r>
              <a:rPr sz="1350">
                <a:solidFill>
                  <a:srgbClr val="1C334E"/>
                </a:solidFill>
                <a:latin typeface="Open Sans"/>
                <a:ea typeface="Open Sans"/>
                <a:cs typeface="Open Sans"/>
              </a:rPr>
              <a:t>Thời gian xử lý / năng lực chuyên viên</a:t>
            </a:r>
          </a:p>
          <a:p xmlns:a="http://schemas.openxmlformats.org/drawingml/2006/main">
            <a:pPr marL="254000" indent="-114300">
              <a:lnSpc>
                <a:spcPct val="110000"/>
              </a:lnSpc>
              <a:spcAft>
                <a:spcPts val="1000"/>
              </a:spcAft>
              <a:buNone/>
              <a:defRPr sz="1350">
                <a:solidFill>
                  <a:srgbClr val="1C334E"/>
                </a:solidFill>
                <a:latin typeface="Open Sans"/>
                <a:ea typeface="Open Sans"/>
                <a:cs typeface="Open Sans"/>
              </a:defRPr>
            </a:pPr>
            <a:r>
              <a:rPr sz="1350">
                <a:solidFill>
                  <a:srgbClr val="1C334E"/>
                </a:solidFill>
                <a:latin typeface="Open Sans"/>
                <a:ea typeface="Open Sans"/>
                <a:cs typeface="Open Sans"/>
              </a:rPr>
              <a:t>False positive và khiếu nại</a:t>
            </a:r>
          </a:p>
          <a:p xmlns:a="http://schemas.openxmlformats.org/drawingml/2006/main">
            <a:pPr marL="254000" indent="-114300">
              <a:lnSpc>
                <a:spcPct val="110000"/>
              </a:lnSpc>
              <a:spcAft>
                <a:spcPts val="1000"/>
              </a:spcAft>
              <a:buNone/>
              <a:defRPr sz="1350">
                <a:solidFill>
                  <a:srgbClr val="1C334E"/>
                </a:solidFill>
                <a:latin typeface="Open Sans"/>
                <a:ea typeface="Open Sans"/>
                <a:cs typeface="Open Sans"/>
              </a:defRPr>
            </a:pPr>
            <a:r>
              <a:rPr sz="1350">
                <a:solidFill>
                  <a:srgbClr val="1C334E"/>
                </a:solidFill>
                <a:latin typeface="Open Sans"/>
                <a:ea typeface="Open Sans"/>
                <a:cs typeface="Open Sans"/>
              </a:rPr>
              <a:t>Chi phí hạ tầng, giám sát, dự phòng</a:t>
            </a:r>
          </a:p>
        </p:txBody>
      </p:sp>
      <p:sp>
        <p:nvSpPr>
          <p:cNvPr id="15" name="">
            <a:extLst xmlns:a="http://schemas.openxmlformats.org/drawingml/2006/main">
              <a:ext uri="{FF2B5EF4-FFF2-40B4-BE49-F238E27FC236}">
                <a16:creationId xmlns:a16="http://schemas.microsoft.com/office/drawing/2014/main" id="{13377B95-BA84-4AA1-80F7-7B42E30C922F}"/>
              </a:ext>
            </a:extLst>
          </p:cNvPr>
          <p:cNvSpPr>
            <a:spLocks xmlns:a="http://schemas.openxmlformats.org/drawingml/2006/main" noGrp="1"/>
          </p:cNvSpPr>
          <p:nvPr/>
        </p:nvSpPr>
        <p:spPr>
          <a:xfrm xmlns:a="http://schemas.openxmlformats.org/drawingml/2006/main">
            <a:off x="1285875" y="5843588"/>
            <a:ext cx="1557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1">
                <a:solidFill>
                  <a:srgbClr val="4F81BD"/>
                </a:solidFill>
                <a:latin typeface="Open Sans"/>
                <a:ea typeface="Open Sans"/>
                <a:cs typeface="Open Sans"/>
              </a:defRPr>
            </a:pPr>
            <a:r>
              <a:rPr sz="1275" b="1">
                <a:solidFill>
                  <a:srgbClr val="4F81BD"/>
                </a:solidFill>
                <a:latin typeface="Open Sans"/>
                <a:ea typeface="Open Sans"/>
                <a:cs typeface="Open Sans"/>
              </a:rPr>
              <a:t>Định vị đổi mới: đề xuất cải tiến quy trình hỗ trợ quyết định; chưa triển khai tại tổ chức.</a:t>
            </a:r>
          </a:p>
        </p:txBody>
      </p:sp>
      <p:sp>
        <p:nvSpPr>
          <p:cNvPr id="16" name="">
            <a:extLst xmlns:a="http://schemas.openxmlformats.org/drawingml/2006/main">
              <a:ext uri="{FF2B5EF4-FFF2-40B4-BE49-F238E27FC236}">
                <a16:creationId xmlns:a16="http://schemas.microsoft.com/office/drawing/2014/main" id="{7FD902BD-B3A8-4413-B1BE-F475A3321E46}"/>
              </a:ext>
            </a:extLst>
          </p:cNvPr>
          <p:cNvSpPr>
            <a:spLocks xmlns:a="http://schemas.openxmlformats.org/drawingml/2006/main" noGrp="1"/>
          </p:cNvSpPr>
          <p:nvPr/>
        </p:nvSpPr>
        <p:spPr>
          <a:xfrm xmlns:a="http://schemas.openxmlformats.org/drawingml/2006/main">
            <a:off x="1285875" y="6400800"/>
            <a:ext cx="5429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4F81BD"/>
                </a:solidFill>
                <a:latin typeface="Open Sans"/>
                <a:ea typeface="Open Sans"/>
                <a:cs typeface="Open Sans"/>
              </a:defRPr>
            </a:pPr>
            <a:r>
              <a:rPr sz="1650" b="1">
                <a:solidFill>
                  <a:srgbClr val="4F81BD"/>
                </a:solidFill>
                <a:latin typeface="Open Sans"/>
                <a:ea typeface="Open Sans"/>
                <a:cs typeface="Open Sans"/>
              </a:rPr>
              <a:t>Rủi ro cần quản trị</a:t>
            </a:r>
          </a:p>
        </p:txBody>
      </p:sp>
      <p:sp>
        <p:nvSpPr>
          <p:cNvPr id="17" name="">
            <a:extLst xmlns:a="http://schemas.openxmlformats.org/drawingml/2006/main">
              <a:ext uri="{FF2B5EF4-FFF2-40B4-BE49-F238E27FC236}">
                <a16:creationId xmlns:a16="http://schemas.microsoft.com/office/drawing/2014/main" id="{8A3FF9F3-73C5-459C-B25B-3B6532650325}"/>
              </a:ext>
            </a:extLst>
          </p:cNvPr>
          <p:cNvSpPr>
            <a:spLocks xmlns:a="http://schemas.openxmlformats.org/drawingml/2006/main" noGrp="1"/>
          </p:cNvSpPr>
          <p:nvPr/>
        </p:nvSpPr>
        <p:spPr>
          <a:xfrm xmlns:a="http://schemas.openxmlformats.org/drawingml/2006/main">
            <a:off x="1243013" y="7015163"/>
            <a:ext cx="15573375"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Nhãn tổng hợp tạo kết quả lạc quan</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Drift, nhãn đến trễ, score chưa calibration</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Feature đa kênh không đồng nhất</a:t>
            </a:r>
          </a:p>
          <a:p xmlns:a="http://schemas.openxmlformats.org/drawingml/2006/main">
            <a:pPr marL="254000" indent="-114300">
              <a:lnSpc>
                <a:spcPct val="110000"/>
              </a:lnSpc>
              <a:spcAft>
                <a:spcPts val="1000"/>
              </a:spcAft>
              <a:buNone/>
              <a:defRPr sz="1500">
                <a:solidFill>
                  <a:srgbClr val="1C334E"/>
                </a:solidFill>
                <a:latin typeface="Open Sans"/>
                <a:ea typeface="Open Sans"/>
                <a:cs typeface="Open Sans"/>
              </a:defRPr>
            </a:pPr>
            <a:r>
              <a:rPr sz="1500">
                <a:solidFill>
                  <a:srgbClr val="1C334E"/>
                </a:solidFill>
                <a:latin typeface="Open Sans"/>
                <a:ea typeface="Open Sans"/>
                <a:cs typeface="Open Sans"/>
              </a:rPr>
              <a:t>Bảo mật, quyền dữ liệu, audit production</a:t>
            </a:r>
          </a:p>
        </p:txBody>
      </p:sp>
      <p:sp>
        <p:nvSpPr>
          <p:cNvPr id="18" name="">
            <a:extLst xmlns:a="http://schemas.openxmlformats.org/drawingml/2006/main">
              <a:ext uri="{FF2B5EF4-FFF2-40B4-BE49-F238E27FC236}">
                <a16:creationId xmlns:a16="http://schemas.microsoft.com/office/drawing/2014/main" id="{B65830A2-B416-4B06-8DFE-60A6EC60CA40}"/>
              </a:ext>
            </a:extLst>
          </p:cNvPr>
          <p:cNvSpPr>
            <a:spLocks xmlns:a="http://schemas.openxmlformats.org/drawingml/2006/main" noGrp="1"/>
          </p:cNvSpPr>
          <p:nvPr/>
        </p:nvSpPr>
        <p:spPr>
          <a:xfrm xmlns:a="http://schemas.openxmlformats.org/drawingml/2006/main">
            <a:off x="1285875" y="9029700"/>
            <a:ext cx="1428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00" b="1">
                <a:solidFill>
                  <a:srgbClr val="C0504D"/>
                </a:solidFill>
                <a:latin typeface="Open Sans"/>
                <a:ea typeface="Open Sans"/>
                <a:cs typeface="Open Sans"/>
              </a:defRPr>
            </a:pPr>
            <a:r>
              <a:rPr sz="1500" b="1">
                <a:solidFill>
                  <a:srgbClr val="C0504D"/>
                </a:solidFill>
                <a:latin typeface="Open Sans"/>
                <a:ea typeface="Open Sans"/>
                <a:cs typeface="Open Sans"/>
              </a:rPr>
              <a:t>Không lấy tổng tiền cảnh báo làm tiền tiết kiệm.</a:t>
            </a:r>
          </a:p>
        </p:txBody>
      </p:sp>
    </p:spTree>
    <p:extLst>
      <p:ext uri="{BB962C8B-B14F-4D97-AF65-F5344CB8AC3E}">
        <p14:creationId xmlns:p14="http://schemas.microsoft.com/office/powerpoint/2010/main" val="1361792412"/>
      </p:ext>
    </p:extLst>
  </p:cSld>
</p:sld>
</file>

<file path=ppt/slides/slide16.xml><?xml version="1.0" encoding="utf-8"?>
<p:sld xmlns:a="http://schemas.openxmlformats.org/drawingml/2006/main" xmlns:a16="http://schemas.microsoft.com/office/drawing/2014/main" xmlns:p14="http://schemas.microsoft.com/office/powerpoint/2010/main" xmlns:p="http://schemas.openxmlformats.org/presentationml/2006/main">
  <p:cSld name="Giải thích TreeSHAP">
    <p:bg>
      <p:bgPr>
        <a:solidFill xmlns:a="http://schemas.openxmlformats.org/drawingml/2006/main">
          <a:srgbClr val="282A7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96F07BE-4931-4875-A38C-955BDCB2C13C}"/>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06BC0D51-3871-4869-875D-71F9C56AF43D}"/>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54AD3414-58F0-436A-9497-217280EBBFFE}"/>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5471DF-AA67-4745-A90F-F1CF6F926745}"/>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DEMO</a:t>
            </a:r>
          </a:p>
        </p:txBody>
      </p:sp>
      <p:sp>
        <p:nvSpPr>
          <p:cNvPr id="5" name="">
            <a:extLst xmlns:a="http://schemas.openxmlformats.org/drawingml/2006/main">
              <a:ext uri="{FF2B5EF4-FFF2-40B4-BE49-F238E27FC236}">
                <a16:creationId xmlns:a16="http://schemas.microsoft.com/office/drawing/2014/main" id="{E6151789-777D-4A13-87FE-E2691D502A67}"/>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TreeSHAP giải thích đầu ra mô hình, không xác định nguyên nhân</a:t>
            </a:r>
          </a:p>
        </p:txBody>
      </p:sp>
      <p:sp>
        <p:nvSpPr>
          <p:cNvPr id="6" name="">
            <a:extLst xmlns:a="http://schemas.openxmlformats.org/drawingml/2006/main">
              <a:ext uri="{FF2B5EF4-FFF2-40B4-BE49-F238E27FC236}">
                <a16:creationId xmlns:a16="http://schemas.microsoft.com/office/drawing/2014/main" id="{CD469F1A-7284-469D-9A40-A7AE7DE674AB}"/>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2B3370-DE00-4F1C-8F3D-29CF5962831B}"/>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4C360DD9-9FDE-4797-8132-D9DA65B8C83E}"/>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CE33AB28-4349-4951-8E91-8AC5F33F5D55}"/>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16</a:t>
            </a:r>
          </a:p>
        </p:txBody>
      </p:sp>
      <p:sp>
        <p:nvSpPr>
          <p:cNvPr id="10" name="">
            <a:extLst xmlns:a="http://schemas.openxmlformats.org/drawingml/2006/main">
              <a:ext uri="{FF2B5EF4-FFF2-40B4-BE49-F238E27FC236}">
                <a16:creationId xmlns:a16="http://schemas.microsoft.com/office/drawing/2014/main" id="{E6257690-F969-4BE6-B70F-E0525A33A268}"/>
              </a:ext>
            </a:extLst>
          </p:cNvPr>
          <p:cNvSpPr>
            <a:spLocks xmlns:a="http://schemas.openxmlformats.org/drawingml/2006/main" noGrp="1"/>
          </p:cNvSpPr>
          <p:nvPr/>
        </p:nvSpPr>
        <p:spPr>
          <a:xfrm xmlns:a="http://schemas.openxmlformats.org/drawingml/2006/main">
            <a:off x="1428750" y="2286000"/>
            <a:ext cx="885825" cy="771525"/>
          </a:xfrm>
          <a:prstGeom xmlns:a="http://schemas.openxmlformats.org/drawingml/2006/main" prst="roundRect">
            <a:avLst>
              <a:gd name="adj" fmla="val 9877"/>
            </a:avLst>
          </a:prstGeom>
          <a:solidFill xmlns:a="http://schemas.openxmlformats.org/drawingml/2006/main">
            <a:srgbClr val="F1F3F8"/>
          </a:solidFill>
          <a:ln xmlns:a="http://schemas.openxmlformats.org/drawingml/2006/main" w="9525">
            <a:solidFill>
              <a:srgbClr val="D7D9E8"/>
            </a:solidFill>
          </a:ln>
        </p:spPr>
      </p:sp>
      <p:sp>
        <p:nvSpPr>
          <p:cNvPr id="11" name="">
            <a:extLst xmlns:a="http://schemas.openxmlformats.org/drawingml/2006/main">
              <a:ext uri="{FF2B5EF4-FFF2-40B4-BE49-F238E27FC236}">
                <a16:creationId xmlns:a16="http://schemas.microsoft.com/office/drawing/2014/main" id="{DD4704A8-E11D-4962-B306-AF368A8E9ABE}"/>
              </a:ext>
            </a:extLst>
          </p:cNvPr>
          <p:cNvSpPr>
            <a:spLocks xmlns:a="http://schemas.openxmlformats.org/drawingml/2006/main" noGrp="1"/>
          </p:cNvSpPr>
          <p:nvPr/>
        </p:nvSpPr>
        <p:spPr>
          <a:xfrm xmlns:a="http://schemas.openxmlformats.org/drawingml/2006/main">
            <a:off x="1471613" y="2386013"/>
            <a:ext cx="785813"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4F81BD"/>
                </a:solidFill>
                <a:latin typeface="Open Sans"/>
                <a:ea typeface="Open Sans"/>
                <a:cs typeface="Open Sans"/>
              </a:defRPr>
            </a:pPr>
            <a:r>
              <a:rPr sz="1425" b="1">
                <a:solidFill>
                  <a:srgbClr val="4F81BD"/>
                </a:solidFill>
                <a:latin typeface="Open Sans"/>
                <a:ea typeface="Open Sans"/>
                <a:cs typeface="Open Sans"/>
              </a:rPr>
              <a:t>01</a:t>
            </a:r>
          </a:p>
        </p:txBody>
      </p:sp>
      <p:sp>
        <p:nvSpPr>
          <p:cNvPr id="12" name="">
            <a:extLst xmlns:a="http://schemas.openxmlformats.org/drawingml/2006/main">
              <a:ext uri="{FF2B5EF4-FFF2-40B4-BE49-F238E27FC236}">
                <a16:creationId xmlns:a16="http://schemas.microsoft.com/office/drawing/2014/main" id="{14FFD63A-9A87-4B52-9F55-01DEF52FBDC1}"/>
              </a:ext>
            </a:extLst>
          </p:cNvPr>
          <p:cNvSpPr>
            <a:spLocks xmlns:a="http://schemas.openxmlformats.org/drawingml/2006/main" noGrp="1"/>
          </p:cNvSpPr>
          <p:nvPr/>
        </p:nvSpPr>
        <p:spPr>
          <a:xfrm xmlns:a="http://schemas.openxmlformats.org/drawingml/2006/main">
            <a:off x="2743200" y="2357438"/>
            <a:ext cx="6929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0">
                <a:solidFill>
                  <a:srgbClr val="1C334E"/>
                </a:solidFill>
                <a:latin typeface="Open Sans"/>
                <a:ea typeface="Open Sans"/>
                <a:cs typeface="Open Sans"/>
              </a:defRPr>
            </a:pPr>
            <a:r>
              <a:rPr sz="1800" b="0">
                <a:solidFill>
                  <a:srgbClr val="1C334E"/>
                </a:solidFill>
                <a:latin typeface="Open Sans"/>
                <a:ea typeface="Open Sans"/>
                <a:cs typeface="Open Sans"/>
              </a:rPr>
              <a:t>Nhập 8 đặc trưng</a:t>
            </a:r>
          </a:p>
        </p:txBody>
      </p:sp>
      <p:sp>
        <p:nvSpPr>
          <p:cNvPr id="13" name="">
            <a:extLst xmlns:a="http://schemas.openxmlformats.org/drawingml/2006/main">
              <a:ext uri="{FF2B5EF4-FFF2-40B4-BE49-F238E27FC236}">
                <a16:creationId xmlns:a16="http://schemas.microsoft.com/office/drawing/2014/main" id="{DBC16416-5042-448F-8FAF-41A4D8E1675F}"/>
              </a:ext>
            </a:extLst>
          </p:cNvPr>
          <p:cNvSpPr>
            <a:spLocks xmlns:a="http://schemas.openxmlformats.org/drawingml/2006/main" noGrp="1"/>
          </p:cNvSpPr>
          <p:nvPr/>
        </p:nvSpPr>
        <p:spPr>
          <a:xfrm xmlns:a="http://schemas.openxmlformats.org/drawingml/2006/main">
            <a:off x="1857375" y="3071813"/>
            <a:ext cx="28575" cy="442913"/>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48CA5C-7E46-4C40-B5B5-1BF844F87A05}"/>
              </a:ext>
            </a:extLst>
          </p:cNvPr>
          <p:cNvSpPr>
            <a:spLocks xmlns:a="http://schemas.openxmlformats.org/drawingml/2006/main" noGrp="1"/>
          </p:cNvSpPr>
          <p:nvPr/>
        </p:nvSpPr>
        <p:spPr>
          <a:xfrm xmlns:a="http://schemas.openxmlformats.org/drawingml/2006/main">
            <a:off x="1428750" y="3543300"/>
            <a:ext cx="885825" cy="771525"/>
          </a:xfrm>
          <a:prstGeom xmlns:a="http://schemas.openxmlformats.org/drawingml/2006/main" prst="roundRect">
            <a:avLst>
              <a:gd name="adj" fmla="val 9877"/>
            </a:avLst>
          </a:prstGeom>
          <a:solidFill xmlns:a="http://schemas.openxmlformats.org/drawingml/2006/main">
            <a:srgbClr val="F1F3F8"/>
          </a:solidFill>
          <a:ln xmlns:a="http://schemas.openxmlformats.org/drawingml/2006/main" w="9525">
            <a:solidFill>
              <a:srgbClr val="D7D9E8"/>
            </a:solidFill>
          </a:ln>
        </p:spPr>
      </p:sp>
      <p:sp>
        <p:nvSpPr>
          <p:cNvPr id="15" name="">
            <a:extLst xmlns:a="http://schemas.openxmlformats.org/drawingml/2006/main">
              <a:ext uri="{FF2B5EF4-FFF2-40B4-BE49-F238E27FC236}">
                <a16:creationId xmlns:a16="http://schemas.microsoft.com/office/drawing/2014/main" id="{16323795-C72F-4B58-8F72-1F07C4C9FBED}"/>
              </a:ext>
            </a:extLst>
          </p:cNvPr>
          <p:cNvSpPr>
            <a:spLocks xmlns:a="http://schemas.openxmlformats.org/drawingml/2006/main" noGrp="1"/>
          </p:cNvSpPr>
          <p:nvPr/>
        </p:nvSpPr>
        <p:spPr>
          <a:xfrm xmlns:a="http://schemas.openxmlformats.org/drawingml/2006/main">
            <a:off x="1471613" y="3643313"/>
            <a:ext cx="785813"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4F81BD"/>
                </a:solidFill>
                <a:latin typeface="Open Sans"/>
                <a:ea typeface="Open Sans"/>
                <a:cs typeface="Open Sans"/>
              </a:defRPr>
            </a:pPr>
            <a:r>
              <a:rPr sz="1425" b="1">
                <a:solidFill>
                  <a:srgbClr val="4F81BD"/>
                </a:solidFill>
                <a:latin typeface="Open Sans"/>
                <a:ea typeface="Open Sans"/>
                <a:cs typeface="Open Sans"/>
              </a:rPr>
              <a:t>02</a:t>
            </a:r>
          </a:p>
        </p:txBody>
      </p:sp>
      <p:sp>
        <p:nvSpPr>
          <p:cNvPr id="16" name="">
            <a:extLst xmlns:a="http://schemas.openxmlformats.org/drawingml/2006/main">
              <a:ext uri="{FF2B5EF4-FFF2-40B4-BE49-F238E27FC236}">
                <a16:creationId xmlns:a16="http://schemas.microsoft.com/office/drawing/2014/main" id="{EB453E32-E66E-4C7C-9D2D-33B42A318FBB}"/>
              </a:ext>
            </a:extLst>
          </p:cNvPr>
          <p:cNvSpPr>
            <a:spLocks xmlns:a="http://schemas.openxmlformats.org/drawingml/2006/main" noGrp="1"/>
          </p:cNvSpPr>
          <p:nvPr/>
        </p:nvSpPr>
        <p:spPr>
          <a:xfrm xmlns:a="http://schemas.openxmlformats.org/drawingml/2006/main">
            <a:off x="2743200" y="3614738"/>
            <a:ext cx="6929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0">
                <a:solidFill>
                  <a:srgbClr val="1C334E"/>
                </a:solidFill>
                <a:latin typeface="Open Sans"/>
                <a:ea typeface="Open Sans"/>
                <a:cs typeface="Open Sans"/>
              </a:defRPr>
            </a:pPr>
            <a:r>
              <a:rPr sz="1800" b="0">
                <a:solidFill>
                  <a:srgbClr val="1C334E"/>
                </a:solidFill>
                <a:latin typeface="Open Sans"/>
                <a:ea typeface="Open Sans"/>
                <a:cs typeface="Open Sans"/>
              </a:rPr>
              <a:t>Xác minh input &amp; artifact</a:t>
            </a:r>
          </a:p>
        </p:txBody>
      </p:sp>
      <p:sp>
        <p:nvSpPr>
          <p:cNvPr id="17" name="">
            <a:extLst xmlns:a="http://schemas.openxmlformats.org/drawingml/2006/main">
              <a:ext uri="{FF2B5EF4-FFF2-40B4-BE49-F238E27FC236}">
                <a16:creationId xmlns:a16="http://schemas.microsoft.com/office/drawing/2014/main" id="{F66F1363-B373-4CAA-8710-C58993361AA3}"/>
              </a:ext>
            </a:extLst>
          </p:cNvPr>
          <p:cNvSpPr>
            <a:spLocks xmlns:a="http://schemas.openxmlformats.org/drawingml/2006/main" noGrp="1"/>
          </p:cNvSpPr>
          <p:nvPr/>
        </p:nvSpPr>
        <p:spPr>
          <a:xfrm xmlns:a="http://schemas.openxmlformats.org/drawingml/2006/main">
            <a:off x="1857375" y="4329113"/>
            <a:ext cx="28575" cy="442913"/>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0C7580-1259-4BAF-AF5F-AD98E3603E23}"/>
              </a:ext>
            </a:extLst>
          </p:cNvPr>
          <p:cNvSpPr>
            <a:spLocks xmlns:a="http://schemas.openxmlformats.org/drawingml/2006/main" noGrp="1"/>
          </p:cNvSpPr>
          <p:nvPr/>
        </p:nvSpPr>
        <p:spPr>
          <a:xfrm xmlns:a="http://schemas.openxmlformats.org/drawingml/2006/main">
            <a:off x="1428750" y="4800600"/>
            <a:ext cx="885825" cy="771525"/>
          </a:xfrm>
          <a:prstGeom xmlns:a="http://schemas.openxmlformats.org/drawingml/2006/main" prst="roundRect">
            <a:avLst>
              <a:gd name="adj" fmla="val 9877"/>
            </a:avLst>
          </a:prstGeom>
          <a:solidFill xmlns:a="http://schemas.openxmlformats.org/drawingml/2006/main">
            <a:srgbClr val="F1F3F8"/>
          </a:solidFill>
          <a:ln xmlns:a="http://schemas.openxmlformats.org/drawingml/2006/main" w="9525">
            <a:solidFill>
              <a:srgbClr val="D7D9E8"/>
            </a:solidFill>
          </a:ln>
        </p:spPr>
      </p:sp>
      <p:sp>
        <p:nvSpPr>
          <p:cNvPr id="19" name="">
            <a:extLst xmlns:a="http://schemas.openxmlformats.org/drawingml/2006/main">
              <a:ext uri="{FF2B5EF4-FFF2-40B4-BE49-F238E27FC236}">
                <a16:creationId xmlns:a16="http://schemas.microsoft.com/office/drawing/2014/main" id="{1D99E89F-5E39-4CEC-A043-05E2A7BE4908}"/>
              </a:ext>
            </a:extLst>
          </p:cNvPr>
          <p:cNvSpPr>
            <a:spLocks xmlns:a="http://schemas.openxmlformats.org/drawingml/2006/main" noGrp="1"/>
          </p:cNvSpPr>
          <p:nvPr/>
        </p:nvSpPr>
        <p:spPr>
          <a:xfrm xmlns:a="http://schemas.openxmlformats.org/drawingml/2006/main">
            <a:off x="1471613" y="4900613"/>
            <a:ext cx="785813"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4F81BD"/>
                </a:solidFill>
                <a:latin typeface="Open Sans"/>
                <a:ea typeface="Open Sans"/>
                <a:cs typeface="Open Sans"/>
              </a:defRPr>
            </a:pPr>
            <a:r>
              <a:rPr sz="1425" b="1">
                <a:solidFill>
                  <a:srgbClr val="4F81BD"/>
                </a:solidFill>
                <a:latin typeface="Open Sans"/>
                <a:ea typeface="Open Sans"/>
                <a:cs typeface="Open Sans"/>
              </a:rPr>
              <a:t>03</a:t>
            </a:r>
          </a:p>
        </p:txBody>
      </p:sp>
      <p:sp>
        <p:nvSpPr>
          <p:cNvPr id="20" name="">
            <a:extLst xmlns:a="http://schemas.openxmlformats.org/drawingml/2006/main">
              <a:ext uri="{FF2B5EF4-FFF2-40B4-BE49-F238E27FC236}">
                <a16:creationId xmlns:a16="http://schemas.microsoft.com/office/drawing/2014/main" id="{3DD8CB9B-359E-43C5-984C-ED1ADF8AB5DB}"/>
              </a:ext>
            </a:extLst>
          </p:cNvPr>
          <p:cNvSpPr>
            <a:spLocks xmlns:a="http://schemas.openxmlformats.org/drawingml/2006/main" noGrp="1"/>
          </p:cNvSpPr>
          <p:nvPr/>
        </p:nvSpPr>
        <p:spPr>
          <a:xfrm xmlns:a="http://schemas.openxmlformats.org/drawingml/2006/main">
            <a:off x="2743200" y="4872038"/>
            <a:ext cx="6929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0">
                <a:solidFill>
                  <a:srgbClr val="1C334E"/>
                </a:solidFill>
                <a:latin typeface="Open Sans"/>
                <a:ea typeface="Open Sans"/>
                <a:cs typeface="Open Sans"/>
              </a:defRPr>
            </a:pPr>
            <a:r>
              <a:rPr sz="1800" b="0">
                <a:solidFill>
                  <a:srgbClr val="1C334E"/>
                </a:solidFill>
                <a:latin typeface="Open Sans"/>
                <a:ea typeface="Open Sans"/>
                <a:cs typeface="Open Sans"/>
              </a:rPr>
              <a:t>Score + ngưỡng demo</a:t>
            </a:r>
          </a:p>
        </p:txBody>
      </p:sp>
      <p:sp>
        <p:nvSpPr>
          <p:cNvPr id="21" name="">
            <a:extLst xmlns:a="http://schemas.openxmlformats.org/drawingml/2006/main">
              <a:ext uri="{FF2B5EF4-FFF2-40B4-BE49-F238E27FC236}">
                <a16:creationId xmlns:a16="http://schemas.microsoft.com/office/drawing/2014/main" id="{6D78DCE1-929F-446F-B320-1C93A5192C08}"/>
              </a:ext>
            </a:extLst>
          </p:cNvPr>
          <p:cNvSpPr>
            <a:spLocks xmlns:a="http://schemas.openxmlformats.org/drawingml/2006/main" noGrp="1"/>
          </p:cNvSpPr>
          <p:nvPr/>
        </p:nvSpPr>
        <p:spPr>
          <a:xfrm xmlns:a="http://schemas.openxmlformats.org/drawingml/2006/main">
            <a:off x="1857375" y="5586413"/>
            <a:ext cx="28575" cy="442913"/>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FAAD61C-A127-456C-983A-B9D663092AB9}"/>
              </a:ext>
            </a:extLst>
          </p:cNvPr>
          <p:cNvSpPr>
            <a:spLocks xmlns:a="http://schemas.openxmlformats.org/drawingml/2006/main" noGrp="1"/>
          </p:cNvSpPr>
          <p:nvPr/>
        </p:nvSpPr>
        <p:spPr>
          <a:xfrm xmlns:a="http://schemas.openxmlformats.org/drawingml/2006/main">
            <a:off x="1428750" y="6057900"/>
            <a:ext cx="885825" cy="771525"/>
          </a:xfrm>
          <a:prstGeom xmlns:a="http://schemas.openxmlformats.org/drawingml/2006/main" prst="roundRect">
            <a:avLst>
              <a:gd name="adj" fmla="val 9877"/>
            </a:avLst>
          </a:prstGeom>
          <a:solidFill xmlns:a="http://schemas.openxmlformats.org/drawingml/2006/main">
            <a:srgbClr val="FFF4DE"/>
          </a:solidFill>
          <a:ln xmlns:a="http://schemas.openxmlformats.org/drawingml/2006/main" w="9525">
            <a:solidFill>
              <a:srgbClr val="D7D9E8"/>
            </a:solidFill>
          </a:ln>
        </p:spPr>
      </p:sp>
      <p:sp>
        <p:nvSpPr>
          <p:cNvPr id="23" name="">
            <a:extLst xmlns:a="http://schemas.openxmlformats.org/drawingml/2006/main">
              <a:ext uri="{FF2B5EF4-FFF2-40B4-BE49-F238E27FC236}">
                <a16:creationId xmlns:a16="http://schemas.microsoft.com/office/drawing/2014/main" id="{9E8EDDE7-0CD9-437E-A584-379CC2A9AC9C}"/>
              </a:ext>
            </a:extLst>
          </p:cNvPr>
          <p:cNvSpPr>
            <a:spLocks xmlns:a="http://schemas.openxmlformats.org/drawingml/2006/main" noGrp="1"/>
          </p:cNvSpPr>
          <p:nvPr/>
        </p:nvSpPr>
        <p:spPr>
          <a:xfrm xmlns:a="http://schemas.openxmlformats.org/drawingml/2006/main">
            <a:off x="1471613" y="6157913"/>
            <a:ext cx="785813"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FAA61A"/>
                </a:solidFill>
                <a:latin typeface="Open Sans"/>
                <a:ea typeface="Open Sans"/>
                <a:cs typeface="Open Sans"/>
              </a:defRPr>
            </a:pPr>
            <a:r>
              <a:rPr sz="1425" b="1">
                <a:solidFill>
                  <a:srgbClr val="FAA61A"/>
                </a:solidFill>
                <a:latin typeface="Open Sans"/>
                <a:ea typeface="Open Sans"/>
                <a:cs typeface="Open Sans"/>
              </a:rPr>
              <a:t>04</a:t>
            </a:r>
          </a:p>
        </p:txBody>
      </p:sp>
      <p:sp>
        <p:nvSpPr>
          <p:cNvPr id="24" name="">
            <a:extLst xmlns:a="http://schemas.openxmlformats.org/drawingml/2006/main">
              <a:ext uri="{FF2B5EF4-FFF2-40B4-BE49-F238E27FC236}">
                <a16:creationId xmlns:a16="http://schemas.microsoft.com/office/drawing/2014/main" id="{E425D149-960B-48C8-8860-FE52F18D1E95}"/>
              </a:ext>
            </a:extLst>
          </p:cNvPr>
          <p:cNvSpPr>
            <a:spLocks xmlns:a="http://schemas.openxmlformats.org/drawingml/2006/main" noGrp="1"/>
          </p:cNvSpPr>
          <p:nvPr/>
        </p:nvSpPr>
        <p:spPr>
          <a:xfrm xmlns:a="http://schemas.openxmlformats.org/drawingml/2006/main">
            <a:off x="2743200" y="6129338"/>
            <a:ext cx="6929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1">
                <a:solidFill>
                  <a:srgbClr val="1C334E"/>
                </a:solidFill>
                <a:latin typeface="Open Sans"/>
                <a:ea typeface="Open Sans"/>
                <a:cs typeface="Open Sans"/>
              </a:defRPr>
            </a:pPr>
            <a:r>
              <a:rPr sz="1800" b="1">
                <a:solidFill>
                  <a:srgbClr val="1C334E"/>
                </a:solidFill>
                <a:latin typeface="Open Sans"/>
                <a:ea typeface="Open Sans"/>
                <a:cs typeface="Open Sans"/>
              </a:rPr>
              <a:t>TreeSHAP raw margin</a:t>
            </a:r>
          </a:p>
        </p:txBody>
      </p:sp>
      <p:sp>
        <p:nvSpPr>
          <p:cNvPr id="25" name="">
            <a:extLst xmlns:a="http://schemas.openxmlformats.org/drawingml/2006/main">
              <a:ext uri="{FF2B5EF4-FFF2-40B4-BE49-F238E27FC236}">
                <a16:creationId xmlns:a16="http://schemas.microsoft.com/office/drawing/2014/main" id="{C6B50CC2-B7FA-4208-87C8-3B2339DAD243}"/>
              </a:ext>
            </a:extLst>
          </p:cNvPr>
          <p:cNvSpPr>
            <a:spLocks xmlns:a="http://schemas.openxmlformats.org/drawingml/2006/main" noGrp="1"/>
          </p:cNvSpPr>
          <p:nvPr/>
        </p:nvSpPr>
        <p:spPr>
          <a:xfrm xmlns:a="http://schemas.openxmlformats.org/drawingml/2006/main">
            <a:off x="1857375" y="6843713"/>
            <a:ext cx="28575" cy="442913"/>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44AA2C9-6CE9-4DD2-AB33-472B6A025673}"/>
              </a:ext>
            </a:extLst>
          </p:cNvPr>
          <p:cNvSpPr>
            <a:spLocks xmlns:a="http://schemas.openxmlformats.org/drawingml/2006/main" noGrp="1"/>
          </p:cNvSpPr>
          <p:nvPr/>
        </p:nvSpPr>
        <p:spPr>
          <a:xfrm xmlns:a="http://schemas.openxmlformats.org/drawingml/2006/main">
            <a:off x="1428750" y="7315200"/>
            <a:ext cx="885825" cy="771525"/>
          </a:xfrm>
          <a:prstGeom xmlns:a="http://schemas.openxmlformats.org/drawingml/2006/main" prst="roundRect">
            <a:avLst>
              <a:gd name="adj" fmla="val 9877"/>
            </a:avLst>
          </a:prstGeom>
          <a:solidFill xmlns:a="http://schemas.openxmlformats.org/drawingml/2006/main">
            <a:srgbClr val="F1F3F8"/>
          </a:solidFill>
          <a:ln xmlns:a="http://schemas.openxmlformats.org/drawingml/2006/main" w="9525">
            <a:solidFill>
              <a:srgbClr val="D7D9E8"/>
            </a:solidFill>
          </a:ln>
        </p:spPr>
      </p:sp>
      <p:sp>
        <p:nvSpPr>
          <p:cNvPr id="27" name="">
            <a:extLst xmlns:a="http://schemas.openxmlformats.org/drawingml/2006/main">
              <a:ext uri="{FF2B5EF4-FFF2-40B4-BE49-F238E27FC236}">
                <a16:creationId xmlns:a16="http://schemas.microsoft.com/office/drawing/2014/main" id="{FC5DDA2B-4B20-452D-95CE-3ACD5353D680}"/>
              </a:ext>
            </a:extLst>
          </p:cNvPr>
          <p:cNvSpPr>
            <a:spLocks xmlns:a="http://schemas.openxmlformats.org/drawingml/2006/main" noGrp="1"/>
          </p:cNvSpPr>
          <p:nvPr/>
        </p:nvSpPr>
        <p:spPr>
          <a:xfrm xmlns:a="http://schemas.openxmlformats.org/drawingml/2006/main">
            <a:off x="1471613" y="7415213"/>
            <a:ext cx="785813"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4F81BD"/>
                </a:solidFill>
                <a:latin typeface="Open Sans"/>
                <a:ea typeface="Open Sans"/>
                <a:cs typeface="Open Sans"/>
              </a:defRPr>
            </a:pPr>
            <a:r>
              <a:rPr sz="1425" b="1">
                <a:solidFill>
                  <a:srgbClr val="4F81BD"/>
                </a:solidFill>
                <a:latin typeface="Open Sans"/>
                <a:ea typeface="Open Sans"/>
                <a:cs typeface="Open Sans"/>
              </a:rPr>
              <a:t>05</a:t>
            </a:r>
          </a:p>
        </p:txBody>
      </p:sp>
      <p:sp>
        <p:nvSpPr>
          <p:cNvPr id="28" name="">
            <a:extLst xmlns:a="http://schemas.openxmlformats.org/drawingml/2006/main">
              <a:ext uri="{FF2B5EF4-FFF2-40B4-BE49-F238E27FC236}">
                <a16:creationId xmlns:a16="http://schemas.microsoft.com/office/drawing/2014/main" id="{E552B98E-A73C-4EE4-8BCC-D8B00BC3A7F8}"/>
              </a:ext>
            </a:extLst>
          </p:cNvPr>
          <p:cNvSpPr>
            <a:spLocks xmlns:a="http://schemas.openxmlformats.org/drawingml/2006/main" noGrp="1"/>
          </p:cNvSpPr>
          <p:nvPr/>
        </p:nvSpPr>
        <p:spPr>
          <a:xfrm xmlns:a="http://schemas.openxmlformats.org/drawingml/2006/main">
            <a:off x="2743200" y="7386638"/>
            <a:ext cx="6929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00" b="0">
                <a:solidFill>
                  <a:srgbClr val="1C334E"/>
                </a:solidFill>
                <a:latin typeface="Open Sans"/>
                <a:ea typeface="Open Sans"/>
                <a:cs typeface="Open Sans"/>
              </a:defRPr>
            </a:pPr>
            <a:r>
              <a:rPr sz="1800" b="0">
                <a:solidFill>
                  <a:srgbClr val="1C334E"/>
                </a:solidFill>
                <a:latin typeface="Open Sans"/>
                <a:ea typeface="Open Sans"/>
                <a:cs typeface="Open Sans"/>
              </a:rPr>
              <a:t>Lưu trong session / CSV</a:t>
            </a:r>
          </a:p>
        </p:txBody>
      </p:sp>
      <p:sp>
        <p:nvSpPr>
          <p:cNvPr id="29" name="">
            <a:extLst xmlns:a="http://schemas.openxmlformats.org/drawingml/2006/main">
              <a:ext uri="{FF2B5EF4-FFF2-40B4-BE49-F238E27FC236}">
                <a16:creationId xmlns:a16="http://schemas.microsoft.com/office/drawing/2014/main" id="{E2645B1E-38C0-4E8D-9134-B4F6AE55D00D}"/>
              </a:ext>
            </a:extLst>
          </p:cNvPr>
          <p:cNvSpPr>
            <a:spLocks xmlns:a="http://schemas.openxmlformats.org/drawingml/2006/main" noGrp="1"/>
          </p:cNvSpPr>
          <p:nvPr/>
        </p:nvSpPr>
        <p:spPr>
          <a:xfrm xmlns:a="http://schemas.openxmlformats.org/drawingml/2006/main">
            <a:off x="10572750" y="2614613"/>
            <a:ext cx="6357938" cy="4214813"/>
          </a:xfrm>
          <a:prstGeom xmlns:a="http://schemas.openxmlformats.org/drawingml/2006/main" prst="roundRect">
            <a:avLst>
              <a:gd name="adj" fmla="val 1808"/>
            </a:avLst>
          </a:prstGeom>
          <a:solidFill xmlns:a="http://schemas.openxmlformats.org/drawingml/2006/main">
            <a:srgbClr val="F1F3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0AC4736-E3CD-4998-AFA4-C31C85AA6FFA}"/>
              </a:ext>
            </a:extLst>
          </p:cNvPr>
          <p:cNvSpPr>
            <a:spLocks xmlns:a="http://schemas.openxmlformats.org/drawingml/2006/main" noGrp="1"/>
          </p:cNvSpPr>
          <p:nvPr/>
        </p:nvSpPr>
        <p:spPr>
          <a:xfrm xmlns:a="http://schemas.openxmlformats.org/drawingml/2006/main">
            <a:off x="11029950" y="2957513"/>
            <a:ext cx="5286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875" b="1">
                <a:solidFill>
                  <a:srgbClr val="282A75"/>
                </a:solidFill>
                <a:latin typeface="Open Sans"/>
                <a:ea typeface="Open Sans"/>
                <a:cs typeface="Open Sans"/>
              </a:defRPr>
            </a:pPr>
            <a:r>
              <a:rPr sz="1875" b="1">
                <a:solidFill>
                  <a:srgbClr val="282A75"/>
                </a:solidFill>
                <a:latin typeface="Open Sans"/>
                <a:ea typeface="Open Sans"/>
                <a:cs typeface="Open Sans"/>
              </a:rPr>
              <a:t>Raw margin</a:t>
            </a:r>
          </a:p>
        </p:txBody>
      </p:sp>
      <p:sp>
        <p:nvSpPr>
          <p:cNvPr id="31" name="">
            <a:extLst xmlns:a="http://schemas.openxmlformats.org/drawingml/2006/main">
              <a:ext uri="{FF2B5EF4-FFF2-40B4-BE49-F238E27FC236}">
                <a16:creationId xmlns:a16="http://schemas.microsoft.com/office/drawing/2014/main" id="{20A1514D-D2F2-4243-9332-4DA088EB01DA}"/>
              </a:ext>
            </a:extLst>
          </p:cNvPr>
          <p:cNvSpPr>
            <a:spLocks xmlns:a="http://schemas.openxmlformats.org/drawingml/2006/main" noGrp="1"/>
          </p:cNvSpPr>
          <p:nvPr/>
        </p:nvSpPr>
        <p:spPr>
          <a:xfrm xmlns:a="http://schemas.openxmlformats.org/drawingml/2006/main">
            <a:off x="11029950" y="3743325"/>
            <a:ext cx="5357813" cy="192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15000"/>
              </a:lnSpc>
              <a:buNone/>
              <a:defRPr sz="1725" b="0">
                <a:solidFill>
                  <a:srgbClr val="1C334E"/>
                </a:solidFill>
                <a:latin typeface="Open Sans"/>
                <a:ea typeface="Open Sans"/>
                <a:cs typeface="Open Sans"/>
              </a:defRPr>
            </a:pPr>
            <a:r>
              <a:rPr sz="1725" b="0">
                <a:solidFill>
                  <a:srgbClr val="1C334E"/>
                </a:solidFill>
                <a:latin typeface="Open Sans"/>
                <a:ea typeface="Open Sans"/>
                <a:cs typeface="Open Sans"/>
              </a:rPr>
              <a:t>Σ feature contributions + bias</a:t>
            </a:r>
          </a:p>
          <a:p xmlns:a="http://schemas.openxmlformats.org/drawingml/2006/main">
            <a:pPr algn="l">
              <a:lnSpc>
                <a:spcPct val="115000"/>
              </a:lnSpc>
              <a:buNone/>
              <a:defRPr sz="1725" b="0">
                <a:solidFill>
                  <a:srgbClr val="1C334E"/>
                </a:solidFill>
                <a:latin typeface="Open Sans"/>
                <a:ea typeface="Open Sans"/>
                <a:cs typeface="Open Sans"/>
              </a:defRPr>
            </a:pPr>
            <a:r>
              <a:rPr sz="1725" b="0">
                <a:solidFill>
                  <a:srgbClr val="1C334E"/>
                </a:solidFill>
                <a:latin typeface="Open Sans"/>
                <a:ea typeface="Open Sans"/>
                <a:cs typeface="Open Sans"/>
              </a:rPr>
              <a:t>= model raw margin</a:t>
            </a:r>
          </a:p>
          <a:p xmlns:a="http://schemas.openxmlformats.org/drawingml/2006/main">
            <a:r>
              <a:t/>
            </a:r>
          </a:p>
          <a:p xmlns:a="http://schemas.openxmlformats.org/drawingml/2006/main">
            <a:pPr algn="l">
              <a:lnSpc>
                <a:spcPct val="115000"/>
              </a:lnSpc>
              <a:buNone/>
              <a:defRPr sz="1725" b="0">
                <a:solidFill>
                  <a:srgbClr val="1C334E"/>
                </a:solidFill>
                <a:latin typeface="Open Sans"/>
                <a:ea typeface="Open Sans"/>
                <a:cs typeface="Open Sans"/>
              </a:defRPr>
            </a:pPr>
            <a:r>
              <a:rPr sz="1725" b="0">
                <a:solidFill>
                  <a:srgbClr val="1C334E"/>
                </a:solidFill>
                <a:latin typeface="Open Sans"/>
                <a:ea typeface="Open Sans"/>
                <a:cs typeface="Open Sans"/>
              </a:rPr>
              <a:t>Logistic(raw margin) = model score</a:t>
            </a:r>
          </a:p>
        </p:txBody>
      </p:sp>
      <p:sp>
        <p:nvSpPr>
          <p:cNvPr id="32" name="">
            <a:extLst xmlns:a="http://schemas.openxmlformats.org/drawingml/2006/main">
              <a:ext uri="{FF2B5EF4-FFF2-40B4-BE49-F238E27FC236}">
                <a16:creationId xmlns:a16="http://schemas.microsoft.com/office/drawing/2014/main" id="{718A1BFE-EBD5-46EA-ABAE-0C3D0BFA9ECB}"/>
              </a:ext>
            </a:extLst>
          </p:cNvPr>
          <p:cNvSpPr>
            <a:spLocks xmlns:a="http://schemas.openxmlformats.org/drawingml/2006/main" noGrp="1"/>
          </p:cNvSpPr>
          <p:nvPr/>
        </p:nvSpPr>
        <p:spPr>
          <a:xfrm xmlns:a="http://schemas.openxmlformats.org/drawingml/2006/main">
            <a:off x="11029950" y="5857875"/>
            <a:ext cx="53578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275" b="1">
                <a:solidFill>
                  <a:srgbClr val="C0504D"/>
                </a:solidFill>
                <a:latin typeface="Open Sans"/>
                <a:ea typeface="Open Sans"/>
                <a:cs typeface="Open Sans"/>
              </a:defRPr>
            </a:pPr>
            <a:r>
              <a:rPr sz="1275" b="1">
                <a:solidFill>
                  <a:srgbClr val="C0504D"/>
                </a:solidFill>
                <a:latin typeface="Open Sans"/>
                <a:ea typeface="Open Sans"/>
                <a:cs typeface="Open Sans"/>
              </a:rPr>
              <a:t>Không chứng minh quan hệ nhân quả</a:t>
            </a:r>
          </a:p>
          <a:p xmlns:a="http://schemas.openxmlformats.org/drawingml/2006/main">
            <a:pPr algn="l">
              <a:lnSpc>
                <a:spcPct val="105000"/>
              </a:lnSpc>
              <a:buNone/>
              <a:defRPr sz="1275" b="1">
                <a:solidFill>
                  <a:srgbClr val="C0504D"/>
                </a:solidFill>
                <a:latin typeface="Open Sans"/>
                <a:ea typeface="Open Sans"/>
                <a:cs typeface="Open Sans"/>
              </a:defRPr>
            </a:pPr>
            <a:r>
              <a:rPr sz="1275" b="1">
                <a:solidFill>
                  <a:srgbClr val="C0504D"/>
                </a:solidFill>
                <a:latin typeface="Open Sans"/>
                <a:ea typeface="Open Sans"/>
                <a:cs typeface="Open Sans"/>
              </a:rPr>
              <a:t>hoặc giao dịch gian lận đã xảy ra.</a:t>
            </a:r>
          </a:p>
        </p:txBody>
      </p:sp>
      <p:sp>
        <p:nvSpPr>
          <p:cNvPr id="33" name="">
            <a:extLst xmlns:a="http://schemas.openxmlformats.org/drawingml/2006/main">
              <a:ext uri="{FF2B5EF4-FFF2-40B4-BE49-F238E27FC236}">
                <a16:creationId xmlns:a16="http://schemas.microsoft.com/office/drawing/2014/main" id="{E2263611-44AF-427B-A218-D8B07A324B26}"/>
              </a:ext>
            </a:extLst>
          </p:cNvPr>
          <p:cNvSpPr>
            <a:spLocks xmlns:a="http://schemas.openxmlformats.org/drawingml/2006/main" noGrp="1"/>
          </p:cNvSpPr>
          <p:nvPr/>
        </p:nvSpPr>
        <p:spPr>
          <a:xfrm xmlns:a="http://schemas.openxmlformats.org/drawingml/2006/main">
            <a:off x="1371600" y="8886825"/>
            <a:ext cx="15501938"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00" b="1">
                <a:solidFill>
                  <a:srgbClr val="9BBB59"/>
                </a:solidFill>
                <a:latin typeface="Open Sans"/>
                <a:ea typeface="Open Sans"/>
                <a:cs typeface="Open Sans"/>
              </a:defRPr>
            </a:pPr>
            <a:r>
              <a:rPr sz="1500" b="1">
                <a:solidFill>
                  <a:srgbClr val="9BBB59"/>
                </a:solidFill>
                <a:latin typeface="Open Sans"/>
                <a:ea typeface="Open Sans"/>
                <a:cs typeface="Open Sans"/>
              </a:rPr>
              <a:t>Demo không dùng dữ liệu nhận dạng thật.</a:t>
            </a:r>
          </a:p>
        </p:txBody>
      </p:sp>
    </p:spTree>
    <p:extLst>
      <p:ext uri="{BB962C8B-B14F-4D97-AF65-F5344CB8AC3E}">
        <p14:creationId xmlns:p14="http://schemas.microsoft.com/office/powerpoint/2010/main" val="1834198783"/>
      </p:ext>
    </p:extLst>
  </p:cSld>
</p:sld>
</file>

<file path=ppt/slides/slide17.xml><?xml version="1.0" encoding="utf-8"?>
<p:sld xmlns:a="http://schemas.openxmlformats.org/drawingml/2006/main" xmlns:a16="http://schemas.microsoft.com/office/drawing/2014/main" xmlns:p14="http://schemas.microsoft.com/office/powerpoint/2010/main" xmlns:p="http://schemas.openxmlformats.org/presentationml/2006/main">
  <p:cSld name="Chuyển sang demo">
    <p:bg>
      <p:bgPr>
        <a:solidFill xmlns:a="http://schemas.openxmlformats.org/drawingml/2006/main">
          <a:srgbClr val="282A7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A72E3AC-43EC-4B7F-9582-2F8C5D2E7CB2}"/>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3BC0D296-B519-4E21-92CB-D02720D1E96D}"/>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D01468A9-0CD9-4A75-BCA8-F7F22F32F23F}"/>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1E1247-357E-4467-9D2E-0E8171D9EAE8}"/>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CHUYỂN SANG SẢN PHẨM</a:t>
            </a:r>
          </a:p>
        </p:txBody>
      </p:sp>
      <p:sp>
        <p:nvSpPr>
          <p:cNvPr id="5" name="">
            <a:extLst xmlns:a="http://schemas.openxmlformats.org/drawingml/2006/main">
              <a:ext uri="{FF2B5EF4-FFF2-40B4-BE49-F238E27FC236}">
                <a16:creationId xmlns:a16="http://schemas.microsoft.com/office/drawing/2014/main" id="{AB9F580D-53E5-4FAC-BB81-AD1C07FC7EA6}"/>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Demo trực tiếp: từ tín hiệu đầu vào đến gợi ý kiểm tra</a:t>
            </a:r>
          </a:p>
        </p:txBody>
      </p:sp>
      <p:sp>
        <p:nvSpPr>
          <p:cNvPr id="6" name="">
            <a:extLst xmlns:a="http://schemas.openxmlformats.org/drawingml/2006/main">
              <a:ext uri="{FF2B5EF4-FFF2-40B4-BE49-F238E27FC236}">
                <a16:creationId xmlns:a16="http://schemas.microsoft.com/office/drawing/2014/main" id="{409126C5-14EF-4F08-92E2-D5A546D33400}"/>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859ABC-33A3-4B89-A6B5-7D7C1AB0FCA9}"/>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C351EA92-C8C1-433C-8FB4-64C8D0B94C5C}"/>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55CFF017-A2C3-4490-9874-350EFA67486B}"/>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17</a:t>
            </a:r>
          </a:p>
        </p:txBody>
      </p:sp>
      <p:sp>
        <p:nvSpPr>
          <p:cNvPr id="10" name="">
            <a:extLst xmlns:a="http://schemas.openxmlformats.org/drawingml/2006/main">
              <a:ext uri="{FF2B5EF4-FFF2-40B4-BE49-F238E27FC236}">
                <a16:creationId xmlns:a16="http://schemas.microsoft.com/office/drawing/2014/main" id="{0FA85026-BF6A-4C58-BC56-2C296A641611}"/>
              </a:ext>
            </a:extLst>
          </p:cNvPr>
          <p:cNvSpPr>
            <a:spLocks xmlns:a="http://schemas.openxmlformats.org/drawingml/2006/main" noGrp="1"/>
          </p:cNvSpPr>
          <p:nvPr/>
        </p:nvSpPr>
        <p:spPr>
          <a:xfrm xmlns:a="http://schemas.openxmlformats.org/drawingml/2006/main">
            <a:off x="1143000" y="2714625"/>
            <a:ext cx="3357563" cy="1514475"/>
          </a:xfrm>
          <a:prstGeom xmlns:a="http://schemas.openxmlformats.org/drawingml/2006/main" prst="roundRect">
            <a:avLst>
              <a:gd name="adj" fmla="val 5031"/>
            </a:avLst>
          </a:prstGeom>
          <a:solidFill xmlns:a="http://schemas.openxmlformats.org/drawingml/2006/main">
            <a:srgbClr val="F1F3F8"/>
          </a:solidFill>
          <a:ln xmlns:a="http://schemas.openxmlformats.org/drawingml/2006/main" w="19050">
            <a:solidFill>
              <a:srgbClr val="4F81BD"/>
            </a:solidFill>
          </a:ln>
        </p:spPr>
      </p:sp>
      <p:sp>
        <p:nvSpPr>
          <p:cNvPr id="11" name="">
            <a:extLst xmlns:a="http://schemas.openxmlformats.org/drawingml/2006/main">
              <a:ext uri="{FF2B5EF4-FFF2-40B4-BE49-F238E27FC236}">
                <a16:creationId xmlns:a16="http://schemas.microsoft.com/office/drawing/2014/main" id="{C50CD099-7657-477A-A605-D8CBFDF99C3F}"/>
              </a:ext>
            </a:extLst>
          </p:cNvPr>
          <p:cNvSpPr>
            <a:spLocks xmlns:a="http://schemas.openxmlformats.org/drawingml/2006/main" noGrp="1"/>
          </p:cNvSpPr>
          <p:nvPr/>
        </p:nvSpPr>
        <p:spPr>
          <a:xfrm xmlns:a="http://schemas.openxmlformats.org/drawingml/2006/main">
            <a:off x="1257300" y="2786063"/>
            <a:ext cx="3128963"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01</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Nhập giao dịch</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tổng hợp</a:t>
            </a:r>
          </a:p>
        </p:txBody>
      </p:sp>
      <p:sp>
        <p:nvSpPr>
          <p:cNvPr id="12" name="">
            <a:extLst xmlns:a="http://schemas.openxmlformats.org/drawingml/2006/main">
              <a:ext uri="{FF2B5EF4-FFF2-40B4-BE49-F238E27FC236}">
                <a16:creationId xmlns:a16="http://schemas.microsoft.com/office/drawing/2014/main" id="{9E5DB5B8-7D38-4CA5-AED6-B5DB4D487005}"/>
              </a:ext>
            </a:extLst>
          </p:cNvPr>
          <p:cNvSpPr>
            <a:spLocks xmlns:a="http://schemas.openxmlformats.org/drawingml/2006/main" noGrp="1"/>
          </p:cNvSpPr>
          <p:nvPr/>
        </p:nvSpPr>
        <p:spPr>
          <a:xfrm xmlns:a="http://schemas.openxmlformats.org/drawingml/2006/main">
            <a:off x="4557713" y="3314700"/>
            <a:ext cx="585788" cy="285750"/>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915F24-95D9-49E0-8CDC-B9683FB69D0B}"/>
              </a:ext>
            </a:extLst>
          </p:cNvPr>
          <p:cNvSpPr>
            <a:spLocks xmlns:a="http://schemas.openxmlformats.org/drawingml/2006/main" noGrp="1"/>
          </p:cNvSpPr>
          <p:nvPr/>
        </p:nvSpPr>
        <p:spPr>
          <a:xfrm xmlns:a="http://schemas.openxmlformats.org/drawingml/2006/main">
            <a:off x="5229225" y="2714625"/>
            <a:ext cx="3357563" cy="1514475"/>
          </a:xfrm>
          <a:prstGeom xmlns:a="http://schemas.openxmlformats.org/drawingml/2006/main" prst="roundRect">
            <a:avLst>
              <a:gd name="adj" fmla="val 5031"/>
            </a:avLst>
          </a:prstGeom>
          <a:solidFill xmlns:a="http://schemas.openxmlformats.org/drawingml/2006/main">
            <a:srgbClr val="F1F3F8"/>
          </a:solidFill>
          <a:ln xmlns:a="http://schemas.openxmlformats.org/drawingml/2006/main" w="19050">
            <a:solidFill>
              <a:srgbClr val="4F81BD"/>
            </a:solidFill>
          </a:ln>
        </p:spPr>
      </p:sp>
      <p:sp>
        <p:nvSpPr>
          <p:cNvPr id="14" name="">
            <a:extLst xmlns:a="http://schemas.openxmlformats.org/drawingml/2006/main">
              <a:ext uri="{FF2B5EF4-FFF2-40B4-BE49-F238E27FC236}">
                <a16:creationId xmlns:a16="http://schemas.microsoft.com/office/drawing/2014/main" id="{EC51ED86-0B83-40AA-9926-C1C43E9CD86B}"/>
              </a:ext>
            </a:extLst>
          </p:cNvPr>
          <p:cNvSpPr>
            <a:spLocks xmlns:a="http://schemas.openxmlformats.org/drawingml/2006/main" noGrp="1"/>
          </p:cNvSpPr>
          <p:nvPr/>
        </p:nvSpPr>
        <p:spPr>
          <a:xfrm xmlns:a="http://schemas.openxmlformats.org/drawingml/2006/main">
            <a:off x="5343525" y="2786063"/>
            <a:ext cx="3128963"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02</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Kiểm tra input</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 model/run ID</a:t>
            </a:r>
          </a:p>
        </p:txBody>
      </p:sp>
      <p:sp>
        <p:nvSpPr>
          <p:cNvPr id="15" name="">
            <a:extLst xmlns:a="http://schemas.openxmlformats.org/drawingml/2006/main">
              <a:ext uri="{FF2B5EF4-FFF2-40B4-BE49-F238E27FC236}">
                <a16:creationId xmlns:a16="http://schemas.microsoft.com/office/drawing/2014/main" id="{956C1529-716A-4C60-AB85-590FE634191A}"/>
              </a:ext>
            </a:extLst>
          </p:cNvPr>
          <p:cNvSpPr>
            <a:spLocks xmlns:a="http://schemas.openxmlformats.org/drawingml/2006/main" noGrp="1"/>
          </p:cNvSpPr>
          <p:nvPr/>
        </p:nvSpPr>
        <p:spPr>
          <a:xfrm xmlns:a="http://schemas.openxmlformats.org/drawingml/2006/main">
            <a:off x="8643938" y="3314700"/>
            <a:ext cx="585788" cy="285750"/>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F97D1E-0C10-4C61-A25D-E776A03BF3F0}"/>
              </a:ext>
            </a:extLst>
          </p:cNvPr>
          <p:cNvSpPr>
            <a:spLocks xmlns:a="http://schemas.openxmlformats.org/drawingml/2006/main" noGrp="1"/>
          </p:cNvSpPr>
          <p:nvPr/>
        </p:nvSpPr>
        <p:spPr>
          <a:xfrm xmlns:a="http://schemas.openxmlformats.org/drawingml/2006/main">
            <a:off x="9315450" y="2714625"/>
            <a:ext cx="3357563" cy="1514475"/>
          </a:xfrm>
          <a:prstGeom xmlns:a="http://schemas.openxmlformats.org/drawingml/2006/main" prst="roundRect">
            <a:avLst>
              <a:gd name="adj" fmla="val 5031"/>
            </a:avLst>
          </a:prstGeom>
          <a:solidFill xmlns:a="http://schemas.openxmlformats.org/drawingml/2006/main">
            <a:srgbClr val="FFF4DE"/>
          </a:solidFill>
          <a:ln xmlns:a="http://schemas.openxmlformats.org/drawingml/2006/main" w="19050">
            <a:solidFill>
              <a:srgbClr val="FAA61A"/>
            </a:solidFill>
          </a:ln>
        </p:spPr>
      </p:sp>
      <p:sp>
        <p:nvSpPr>
          <p:cNvPr id="17" name="">
            <a:extLst xmlns:a="http://schemas.openxmlformats.org/drawingml/2006/main">
              <a:ext uri="{FF2B5EF4-FFF2-40B4-BE49-F238E27FC236}">
                <a16:creationId xmlns:a16="http://schemas.microsoft.com/office/drawing/2014/main" id="{3E65A503-24CC-440F-9BE4-B2E6871CDD4F}"/>
              </a:ext>
            </a:extLst>
          </p:cNvPr>
          <p:cNvSpPr>
            <a:spLocks xmlns:a="http://schemas.openxmlformats.org/drawingml/2006/main" noGrp="1"/>
          </p:cNvSpPr>
          <p:nvPr/>
        </p:nvSpPr>
        <p:spPr>
          <a:xfrm xmlns:a="http://schemas.openxmlformats.org/drawingml/2006/main">
            <a:off x="9429750" y="2786063"/>
            <a:ext cx="3128963"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03</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Xem score</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 vùng gợi ý</a:t>
            </a:r>
          </a:p>
        </p:txBody>
      </p:sp>
      <p:sp>
        <p:nvSpPr>
          <p:cNvPr id="18" name="">
            <a:extLst xmlns:a="http://schemas.openxmlformats.org/drawingml/2006/main">
              <a:ext uri="{FF2B5EF4-FFF2-40B4-BE49-F238E27FC236}">
                <a16:creationId xmlns:a16="http://schemas.microsoft.com/office/drawing/2014/main" id="{CB5EB24D-995D-49D2-99BF-AD2A895A63B6}"/>
              </a:ext>
            </a:extLst>
          </p:cNvPr>
          <p:cNvSpPr>
            <a:spLocks xmlns:a="http://schemas.openxmlformats.org/drawingml/2006/main" noGrp="1"/>
          </p:cNvSpPr>
          <p:nvPr/>
        </p:nvSpPr>
        <p:spPr>
          <a:xfrm xmlns:a="http://schemas.openxmlformats.org/drawingml/2006/main">
            <a:off x="12730163" y="3314700"/>
            <a:ext cx="585788" cy="285750"/>
          </a:xfrm>
          <a:prstGeom xmlns:a="http://schemas.openxmlformats.org/drawingml/2006/main" prst="rightArrow">
            <a:avLst/>
          </a:prstGeom>
          <a:solidFill xmlns:a="http://schemas.openxmlformats.org/drawingml/2006/main">
            <a:srgbClr val="4F81B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B437FD-25F9-4A0B-A1DD-0DC129E84D41}"/>
              </a:ext>
            </a:extLst>
          </p:cNvPr>
          <p:cNvSpPr>
            <a:spLocks xmlns:a="http://schemas.openxmlformats.org/drawingml/2006/main" noGrp="1"/>
          </p:cNvSpPr>
          <p:nvPr/>
        </p:nvSpPr>
        <p:spPr>
          <a:xfrm xmlns:a="http://schemas.openxmlformats.org/drawingml/2006/main">
            <a:off x="13401675" y="2714625"/>
            <a:ext cx="3357563" cy="1514475"/>
          </a:xfrm>
          <a:prstGeom xmlns:a="http://schemas.openxmlformats.org/drawingml/2006/main" prst="roundRect">
            <a:avLst>
              <a:gd name="adj" fmla="val 5031"/>
            </a:avLst>
          </a:prstGeom>
          <a:solidFill xmlns:a="http://schemas.openxmlformats.org/drawingml/2006/main">
            <a:srgbClr val="F1F3F8"/>
          </a:solidFill>
          <a:ln xmlns:a="http://schemas.openxmlformats.org/drawingml/2006/main" w="19050">
            <a:solidFill>
              <a:srgbClr val="4F81BD"/>
            </a:solidFill>
          </a:ln>
        </p:spPr>
      </p:sp>
      <p:sp>
        <p:nvSpPr>
          <p:cNvPr id="20" name="">
            <a:extLst xmlns:a="http://schemas.openxmlformats.org/drawingml/2006/main">
              <a:ext uri="{FF2B5EF4-FFF2-40B4-BE49-F238E27FC236}">
                <a16:creationId xmlns:a16="http://schemas.microsoft.com/office/drawing/2014/main" id="{388F41AD-EEFC-486A-A1D5-5CE7E5B4E49B}"/>
              </a:ext>
            </a:extLst>
          </p:cNvPr>
          <p:cNvSpPr>
            <a:spLocks xmlns:a="http://schemas.openxmlformats.org/drawingml/2006/main" noGrp="1"/>
          </p:cNvSpPr>
          <p:nvPr/>
        </p:nvSpPr>
        <p:spPr>
          <a:xfrm xmlns:a="http://schemas.openxmlformats.org/drawingml/2006/main">
            <a:off x="13515975" y="2786063"/>
            <a:ext cx="3128963"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04</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TreeSHAP</a:t>
            </a:r>
          </a:p>
          <a:p xmlns:a="http://schemas.openxmlformats.org/drawingml/2006/main">
            <a:pPr algn="ctr">
              <a:lnSpc>
                <a:spcPct val="105000"/>
              </a:lnSpc>
              <a:buNone/>
              <a:defRPr sz="1575" b="1">
                <a:solidFill>
                  <a:srgbClr val="1C334E"/>
                </a:solidFill>
                <a:latin typeface="Montserrat Bold"/>
                <a:ea typeface="Montserrat Bold"/>
                <a:cs typeface="Montserrat Bold"/>
              </a:defRPr>
            </a:pPr>
            <a:r>
              <a:rPr sz="1575" b="1">
                <a:solidFill>
                  <a:srgbClr val="1C334E"/>
                </a:solidFill>
                <a:latin typeface="Montserrat Bold"/>
                <a:ea typeface="Montserrat Bold"/>
                <a:cs typeface="Montserrat Bold"/>
              </a:rPr>
              <a:t>+ lịch sử/CSV</a:t>
            </a:r>
          </a:p>
        </p:txBody>
      </p:sp>
      <p:sp>
        <p:nvSpPr>
          <p:cNvPr id="21" name="">
            <a:extLst xmlns:a="http://schemas.openxmlformats.org/drawingml/2006/main">
              <a:ext uri="{FF2B5EF4-FFF2-40B4-BE49-F238E27FC236}">
                <a16:creationId xmlns:a16="http://schemas.microsoft.com/office/drawing/2014/main" id="{A8D15139-BD8D-436E-9ABC-025EE231E2C1}"/>
              </a:ext>
            </a:extLst>
          </p:cNvPr>
          <p:cNvSpPr>
            <a:spLocks xmlns:a="http://schemas.openxmlformats.org/drawingml/2006/main" noGrp="1"/>
          </p:cNvSpPr>
          <p:nvPr/>
        </p:nvSpPr>
        <p:spPr>
          <a:xfrm xmlns:a="http://schemas.openxmlformats.org/drawingml/2006/main">
            <a:off x="1285875" y="5214938"/>
            <a:ext cx="68580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9BBB59"/>
                </a:solidFill>
                <a:latin typeface="Open Sans"/>
                <a:ea typeface="Open Sans"/>
                <a:cs typeface="Open Sans"/>
              </a:defRPr>
            </a:pPr>
            <a:r>
              <a:rPr sz="1650" b="1">
                <a:solidFill>
                  <a:srgbClr val="9BBB59"/>
                </a:solidFill>
                <a:latin typeface="Open Sans"/>
                <a:ea typeface="Open Sans"/>
                <a:cs typeface="Open Sans"/>
              </a:rPr>
              <a:t>Kịch bản rủi ro thấp</a:t>
            </a:r>
          </a:p>
        </p:txBody>
      </p:sp>
      <p:sp>
        <p:nvSpPr>
          <p:cNvPr id="22" name="">
            <a:extLst xmlns:a="http://schemas.openxmlformats.org/drawingml/2006/main">
              <a:ext uri="{FF2B5EF4-FFF2-40B4-BE49-F238E27FC236}">
                <a16:creationId xmlns:a16="http://schemas.microsoft.com/office/drawing/2014/main" id="{5D4EA817-C514-41B4-A092-E1D17B743B6B}"/>
              </a:ext>
            </a:extLst>
          </p:cNvPr>
          <p:cNvSpPr>
            <a:spLocks xmlns:a="http://schemas.openxmlformats.org/drawingml/2006/main" noGrp="1"/>
          </p:cNvSpPr>
          <p:nvPr/>
        </p:nvSpPr>
        <p:spPr>
          <a:xfrm xmlns:a="http://schemas.openxmlformats.org/drawingml/2006/main">
            <a:off x="1285875" y="5772150"/>
            <a:ext cx="6929438"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1C334E"/>
                </a:solidFill>
                <a:latin typeface="Open Sans"/>
                <a:ea typeface="Open Sans"/>
                <a:cs typeface="Open Sans"/>
              </a:defRPr>
            </a:pPr>
            <a:r>
              <a:rPr sz="1425" b="0">
                <a:solidFill>
                  <a:srgbClr val="1C334E"/>
                </a:solidFill>
                <a:latin typeface="Open Sans"/>
                <a:ea typeface="Open Sans"/>
                <a:cs typeface="Open Sans"/>
              </a:rPr>
              <a:t>1.500.000 VND; giờ 14; thiết bị/vị trí bình thường; OTP sai 0; tần suất 1; người nhận cũ.</a:t>
            </a:r>
          </a:p>
        </p:txBody>
      </p:sp>
      <p:sp>
        <p:nvSpPr>
          <p:cNvPr id="23" name="">
            <a:extLst xmlns:a="http://schemas.openxmlformats.org/drawingml/2006/main">
              <a:ext uri="{FF2B5EF4-FFF2-40B4-BE49-F238E27FC236}">
                <a16:creationId xmlns:a16="http://schemas.microsoft.com/office/drawing/2014/main" id="{1524171F-6940-4C5C-AB5E-08B1AAB239FC}"/>
              </a:ext>
            </a:extLst>
          </p:cNvPr>
          <p:cNvSpPr>
            <a:spLocks xmlns:a="http://schemas.openxmlformats.org/drawingml/2006/main" noGrp="1"/>
          </p:cNvSpPr>
          <p:nvPr/>
        </p:nvSpPr>
        <p:spPr>
          <a:xfrm xmlns:a="http://schemas.openxmlformats.org/drawingml/2006/main">
            <a:off x="8886825" y="5114925"/>
            <a:ext cx="28575" cy="1857375"/>
          </a:xfrm>
          <a:prstGeom xmlns:a="http://schemas.openxmlformats.org/drawingml/2006/main" prst="rect">
            <a:avLst/>
          </a:prstGeom>
          <a:solidFill xmlns:a="http://schemas.openxmlformats.org/drawingml/2006/main">
            <a:srgbClr val="D7D9E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3B32F65-E0B2-49CD-96F0-8AF857D4088F}"/>
              </a:ext>
            </a:extLst>
          </p:cNvPr>
          <p:cNvSpPr>
            <a:spLocks xmlns:a="http://schemas.openxmlformats.org/drawingml/2006/main" noGrp="1"/>
          </p:cNvSpPr>
          <p:nvPr/>
        </p:nvSpPr>
        <p:spPr>
          <a:xfrm xmlns:a="http://schemas.openxmlformats.org/drawingml/2006/main">
            <a:off x="9501188" y="5214938"/>
            <a:ext cx="71437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C0504D"/>
                </a:solidFill>
                <a:latin typeface="Open Sans"/>
                <a:ea typeface="Open Sans"/>
                <a:cs typeface="Open Sans"/>
              </a:defRPr>
            </a:pPr>
            <a:r>
              <a:rPr sz="1650" b="1">
                <a:solidFill>
                  <a:srgbClr val="C0504D"/>
                </a:solidFill>
                <a:latin typeface="Open Sans"/>
                <a:ea typeface="Open Sans"/>
                <a:cs typeface="Open Sans"/>
              </a:rPr>
              <a:t>Kịch bản nhiều tín hiệu</a:t>
            </a:r>
          </a:p>
        </p:txBody>
      </p:sp>
      <p:sp>
        <p:nvSpPr>
          <p:cNvPr id="25" name="">
            <a:extLst xmlns:a="http://schemas.openxmlformats.org/drawingml/2006/main">
              <a:ext uri="{FF2B5EF4-FFF2-40B4-BE49-F238E27FC236}">
                <a16:creationId xmlns:a16="http://schemas.microsoft.com/office/drawing/2014/main" id="{8439912B-2D81-4163-866B-C7C2FD43DF36}"/>
              </a:ext>
            </a:extLst>
          </p:cNvPr>
          <p:cNvSpPr>
            <a:spLocks xmlns:a="http://schemas.openxmlformats.org/drawingml/2006/main" noGrp="1"/>
          </p:cNvSpPr>
          <p:nvPr/>
        </p:nvSpPr>
        <p:spPr>
          <a:xfrm xmlns:a="http://schemas.openxmlformats.org/drawingml/2006/main">
            <a:off x="9501188" y="5772150"/>
            <a:ext cx="714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1C334E"/>
                </a:solidFill>
                <a:latin typeface="Open Sans"/>
                <a:ea typeface="Open Sans"/>
                <a:cs typeface="Open Sans"/>
              </a:defRPr>
            </a:pPr>
            <a:r>
              <a:rPr sz="1425" b="0">
                <a:solidFill>
                  <a:srgbClr val="1C334E"/>
                </a:solidFill>
                <a:latin typeface="Open Sans"/>
                <a:ea typeface="Open Sans"/>
                <a:cs typeface="Open Sans"/>
              </a:rPr>
              <a:t>85.000.000 VND; giờ 2; thiết bị/vị trí mới; OTP sai 2; tần suất 6; người nhận mới.</a:t>
            </a:r>
          </a:p>
        </p:txBody>
      </p:sp>
      <p:sp>
        <p:nvSpPr>
          <p:cNvPr id="26" name="">
            <a:extLst xmlns:a="http://schemas.openxmlformats.org/drawingml/2006/main">
              <a:ext uri="{FF2B5EF4-FFF2-40B4-BE49-F238E27FC236}">
                <a16:creationId xmlns:a16="http://schemas.microsoft.com/office/drawing/2014/main" id="{E8A4FB1A-2B75-44F0-A7B4-DCD6D39DD6EF}"/>
              </a:ext>
            </a:extLst>
          </p:cNvPr>
          <p:cNvSpPr>
            <a:spLocks xmlns:a="http://schemas.openxmlformats.org/drawingml/2006/main" noGrp="1"/>
          </p:cNvSpPr>
          <p:nvPr/>
        </p:nvSpPr>
        <p:spPr>
          <a:xfrm xmlns:a="http://schemas.openxmlformats.org/drawingml/2006/main">
            <a:off x="1228725" y="7543800"/>
            <a:ext cx="15859125" cy="1057275"/>
          </a:xfrm>
          <a:prstGeom xmlns:a="http://schemas.openxmlformats.org/drawingml/2006/main" prst="roundRect">
            <a:avLst>
              <a:gd name="adj" fmla="val 7207"/>
            </a:avLst>
          </a:prstGeom>
          <a:solidFill xmlns:a="http://schemas.openxmlformats.org/drawingml/2006/main">
            <a:srgbClr val="FCEB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A95A06A-7537-42E8-9481-8D034B331680}"/>
              </a:ext>
            </a:extLst>
          </p:cNvPr>
          <p:cNvSpPr>
            <a:spLocks xmlns:a="http://schemas.openxmlformats.org/drawingml/2006/main" noGrp="1"/>
          </p:cNvSpPr>
          <p:nvPr/>
        </p:nvSpPr>
        <p:spPr>
          <a:xfrm xmlns:a="http://schemas.openxmlformats.org/drawingml/2006/main">
            <a:off x="1500188" y="7743825"/>
            <a:ext cx="15287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ctr">
              <a:lnSpc>
                <a:spcPct val="105000"/>
              </a:lnSpc>
              <a:buNone/>
              <a:defRPr sz="1425" b="1">
                <a:solidFill>
                  <a:srgbClr val="C0504D"/>
                </a:solidFill>
                <a:latin typeface="Open Sans"/>
                <a:ea typeface="Open Sans"/>
                <a:cs typeface="Open Sans"/>
              </a:defRPr>
            </a:pPr>
            <a:r>
              <a:rPr sz="1425" b="1">
                <a:solidFill>
                  <a:srgbClr val="C0504D"/>
                </a:solidFill>
                <a:latin typeface="Open Sans"/>
                <a:ea typeface="Open Sans"/>
                <a:cs typeface="Open Sans"/>
              </a:rPr>
              <a:t>Dừng trình chiếu tại đây để chạy UI local 3–5 phút. Demo không kết nối MB và không gửi lệnh giữ/chặn.</a:t>
            </a:r>
          </a:p>
        </p:txBody>
      </p:sp>
      <p:sp>
        <p:nvSpPr>
          <p:cNvPr id="28" name="">
            <a:extLst xmlns:a="http://schemas.openxmlformats.org/drawingml/2006/main">
              <a:ext uri="{FF2B5EF4-FFF2-40B4-BE49-F238E27FC236}">
                <a16:creationId xmlns:a16="http://schemas.microsoft.com/office/drawing/2014/main" id="{E16F9C1A-77AB-4136-A154-463C5788C602}"/>
              </a:ext>
            </a:extLst>
          </p:cNvPr>
          <p:cNvSpPr>
            <a:spLocks xmlns:a="http://schemas.openxmlformats.org/drawingml/2006/main" noGrp="1"/>
          </p:cNvSpPr>
          <p:nvPr/>
        </p:nvSpPr>
        <p:spPr>
          <a:xfrm xmlns:a="http://schemas.openxmlformats.org/drawingml/2006/main">
            <a:off x="1285875" y="8872538"/>
            <a:ext cx="157162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667085"/>
                </a:solidFill>
                <a:latin typeface="Open Sans"/>
                <a:ea typeface="Open Sans"/>
                <a:cs typeface="Open Sans"/>
              </a:defRPr>
            </a:pPr>
            <a:r>
              <a:rPr sz="1425" b="0">
                <a:solidFill>
                  <a:srgbClr val="667085"/>
                </a:solidFill>
                <a:latin typeface="Open Sans"/>
                <a:ea typeface="Open Sans"/>
                <a:cs typeface="Open Sans"/>
              </a:rPr>
              <a:t>Quan sát: đầu vào → score → hành động đề xuất → đóng góp TreeSHAP → history/run ID.</a:t>
            </a:r>
          </a:p>
        </p:txBody>
      </p:sp>
    </p:spTree>
    <p:extLst>
      <p:ext uri="{BB962C8B-B14F-4D97-AF65-F5344CB8AC3E}">
        <p14:creationId xmlns:p14="http://schemas.microsoft.com/office/powerpoint/2010/main" val="1022105028"/>
      </p:ext>
    </p:extLst>
  </p:cSld>
  <p:transition>
    <p:fade/>
  </p:transition>
</p:sld>
</file>

<file path=ppt/slides/slide18.xml><?xml version="1.0" encoding="utf-8"?>
<p:sld xmlns:a="http://schemas.openxmlformats.org/drawingml/2006/main" xmlns:a16="http://schemas.microsoft.com/office/drawing/2014/main" xmlns:p14="http://schemas.microsoft.com/office/powerpoint/2010/main" xmlns:p="http://schemas.openxmlformats.org/presentationml/2006/main">
  <p:cSld name="Kết luận">
    <p:bg>
      <p:bgPr>
        <a:solidFill xmlns:a="http://schemas.openxmlformats.org/drawingml/2006/main">
          <a:srgbClr val="282A7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6D3DCA-B03D-49FA-98DB-66E068EC1F97}"/>
              </a:ext>
            </a:extLst>
          </p:cNvPr>
          <p:cNvSpPr>
            <a:spLocks xmlns:a="http://schemas.openxmlformats.org/drawingml/2006/main" noGrp="1"/>
          </p:cNvSpPr>
          <p:nvPr/>
        </p:nvSpPr>
        <p:spPr>
          <a:xfrm xmlns:a="http://schemas.openxmlformats.org/drawingml/2006/main">
            <a:off x="542925" y="171450"/>
            <a:ext cx="278606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FBFBFC"/>
                </a:solidFill>
                <a:latin typeface="Montserrat Bold"/>
                <a:ea typeface="Montserrat Bold"/>
                <a:cs typeface="Montserrat Bold"/>
              </a:defRPr>
            </a:pPr>
            <a:r>
              <a:rPr sz="1050" b="1">
                <a:solidFill>
                  <a:srgbClr val="FBFBFC"/>
                </a:solidFill>
                <a:latin typeface="Montserrat Bold"/>
                <a:ea typeface="Montserrat Bold"/>
                <a:cs typeface="Montserrat Bold"/>
              </a:rPr>
              <a:t>HỌC VIỆN NGÂN HÀNG</a:t>
            </a:r>
          </a:p>
        </p:txBody>
      </p:sp>
      <p:sp>
        <p:nvSpPr>
          <p:cNvPr id="2" name="">
            <a:extLst xmlns:a="http://schemas.openxmlformats.org/drawingml/2006/main">
              <a:ext uri="{FF2B5EF4-FFF2-40B4-BE49-F238E27FC236}">
                <a16:creationId xmlns:a16="http://schemas.microsoft.com/office/drawing/2014/main" id="{E8E01442-DC17-4468-9E6A-EEB5F24ACDCE}"/>
              </a:ext>
            </a:extLst>
          </p:cNvPr>
          <p:cNvSpPr>
            <a:spLocks xmlns:a="http://schemas.openxmlformats.org/drawingml/2006/main" noGrp="1"/>
          </p:cNvSpPr>
          <p:nvPr/>
        </p:nvSpPr>
        <p:spPr>
          <a:xfrm xmlns:a="http://schemas.openxmlformats.org/drawingml/2006/main">
            <a:off x="542925" y="557213"/>
            <a:ext cx="278606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825" b="1">
                <a:solidFill>
                  <a:srgbClr val="4BACC6"/>
                </a:solidFill>
                <a:latin typeface="Open Sans"/>
                <a:ea typeface="Open Sans"/>
                <a:cs typeface="Open Sans"/>
              </a:defRPr>
            </a:pPr>
            <a:r>
              <a:rPr sz="825" b="1">
                <a:solidFill>
                  <a:srgbClr val="4BACC6"/>
                </a:solidFill>
                <a:latin typeface="Open Sans"/>
                <a:ea typeface="Open Sans"/>
                <a:cs typeface="Open Sans"/>
              </a:rPr>
              <a:t>MIS01 • CNM</a:t>
            </a:r>
          </a:p>
        </p:txBody>
      </p:sp>
      <p:sp>
        <p:nvSpPr>
          <p:cNvPr id="3" name="">
            <a:extLst xmlns:a="http://schemas.openxmlformats.org/drawingml/2006/main">
              <a:ext uri="{FF2B5EF4-FFF2-40B4-BE49-F238E27FC236}">
                <a16:creationId xmlns:a16="http://schemas.microsoft.com/office/drawing/2014/main" id="{14E45A53-2261-4AD0-AE14-BE2719B3D94D}"/>
              </a:ext>
            </a:extLst>
          </p:cNvPr>
          <p:cNvSpPr>
            <a:spLocks xmlns:a="http://schemas.openxmlformats.org/drawingml/2006/main" noGrp="1"/>
          </p:cNvSpPr>
          <p:nvPr/>
        </p:nvSpPr>
        <p:spPr>
          <a:xfrm xmlns:a="http://schemas.openxmlformats.org/drawingml/2006/main">
            <a:off x="3543300" y="171450"/>
            <a:ext cx="28575" cy="914400"/>
          </a:xfrm>
          <a:prstGeom xmlns:a="http://schemas.openxmlformats.org/drawingml/2006/main" prst="rect">
            <a:avLst/>
          </a:prstGeom>
          <a:solidFill xmlns:a="http://schemas.openxmlformats.org/drawingml/2006/main">
            <a:srgbClr val="4BACC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35EFDE-A347-45B5-BB42-7DFF38BCBF06}"/>
              </a:ext>
            </a:extLst>
          </p:cNvPr>
          <p:cNvSpPr>
            <a:spLocks xmlns:a="http://schemas.openxmlformats.org/drawingml/2006/main" noGrp="1"/>
          </p:cNvSpPr>
          <p:nvPr/>
        </p:nvSpPr>
        <p:spPr>
          <a:xfrm xmlns:a="http://schemas.openxmlformats.org/drawingml/2006/main">
            <a:off x="3857625" y="128588"/>
            <a:ext cx="1328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1">
                <a:solidFill>
                  <a:srgbClr val="4BACC6"/>
                </a:solidFill>
                <a:latin typeface="Montserrat Bold"/>
                <a:ea typeface="Montserrat Bold"/>
                <a:cs typeface="Montserrat Bold"/>
              </a:defRPr>
            </a:pPr>
            <a:r>
              <a:rPr sz="1050" b="1">
                <a:solidFill>
                  <a:srgbClr val="4BACC6"/>
                </a:solidFill>
                <a:latin typeface="Montserrat Bold"/>
                <a:ea typeface="Montserrat Bold"/>
                <a:cs typeface="Montserrat Bold"/>
              </a:rPr>
              <a:t>KẾT LUẬN</a:t>
            </a:r>
          </a:p>
        </p:txBody>
      </p:sp>
      <p:sp>
        <p:nvSpPr>
          <p:cNvPr id="5" name="">
            <a:extLst xmlns:a="http://schemas.openxmlformats.org/drawingml/2006/main">
              <a:ext uri="{FF2B5EF4-FFF2-40B4-BE49-F238E27FC236}">
                <a16:creationId xmlns:a16="http://schemas.microsoft.com/office/drawing/2014/main" id="{D6969C0D-6107-4BA9-92DD-00C03C01EC4C}"/>
              </a:ext>
            </a:extLst>
          </p:cNvPr>
          <p:cNvSpPr>
            <a:spLocks xmlns:a="http://schemas.openxmlformats.org/drawingml/2006/main" noGrp="1"/>
          </p:cNvSpPr>
          <p:nvPr/>
        </p:nvSpPr>
        <p:spPr>
          <a:xfrm xmlns:a="http://schemas.openxmlformats.org/drawingml/2006/main">
            <a:off x="3857625" y="500063"/>
            <a:ext cx="1328737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325" b="1">
                <a:solidFill>
                  <a:srgbClr val="FAA61A"/>
                </a:solidFill>
                <a:latin typeface="Montserrat Bold"/>
                <a:ea typeface="Montserrat Bold"/>
                <a:cs typeface="Montserrat Bold"/>
              </a:defRPr>
            </a:pPr>
            <a:r>
              <a:rPr sz="2325" b="1">
                <a:solidFill>
                  <a:srgbClr val="FAA61A"/>
                </a:solidFill>
                <a:latin typeface="Montserrat Bold"/>
                <a:ea typeface="Montserrat Bold"/>
                <a:cs typeface="Montserrat Bold"/>
              </a:rPr>
              <a:t>Kết luận: PoC kiểm chứng pipeline</a:t>
            </a:r>
          </a:p>
        </p:txBody>
      </p:sp>
      <p:sp>
        <p:nvSpPr>
          <p:cNvPr id="6" name="">
            <a:extLst xmlns:a="http://schemas.openxmlformats.org/drawingml/2006/main">
              <a:ext uri="{FF2B5EF4-FFF2-40B4-BE49-F238E27FC236}">
                <a16:creationId xmlns:a16="http://schemas.microsoft.com/office/drawing/2014/main" id="{7FA82F9E-83CB-4AE4-BF48-47D7564DCADB}"/>
              </a:ext>
            </a:extLst>
          </p:cNvPr>
          <p:cNvSpPr>
            <a:spLocks xmlns:a="http://schemas.openxmlformats.org/drawingml/2006/main" noGrp="1"/>
          </p:cNvSpPr>
          <p:nvPr/>
        </p:nvSpPr>
        <p:spPr>
          <a:xfrm xmlns:a="http://schemas.openxmlformats.org/drawingml/2006/main">
            <a:off x="0" y="1585913"/>
            <a:ext cx="18288000" cy="85725"/>
          </a:xfrm>
          <a:prstGeom xmlns:a="http://schemas.openxmlformats.org/drawingml/2006/main" prst="rect">
            <a:avLst/>
          </a:prstGeom>
          <a:solidFill xmlns:a="http://schemas.openxmlformats.org/drawingml/2006/main">
            <a:srgbClr val="4F81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263CF4-EBE5-4E76-9398-75DE2F67AFDC}"/>
              </a:ext>
            </a:extLst>
          </p:cNvPr>
          <p:cNvSpPr>
            <a:spLocks xmlns:a="http://schemas.openxmlformats.org/drawingml/2006/main" noGrp="1"/>
          </p:cNvSpPr>
          <p:nvPr/>
        </p:nvSpPr>
        <p:spPr>
          <a:xfrm xmlns:a="http://schemas.openxmlformats.org/drawingml/2006/main">
            <a:off x="428625" y="1885950"/>
            <a:ext cx="17430750" cy="7458075"/>
          </a:xfrm>
          <a:prstGeom xmlns:a="http://schemas.openxmlformats.org/drawingml/2006/main" prst="rect">
            <a:avLst/>
          </a:prstGeom>
          <a:solidFill xmlns:a="http://schemas.openxmlformats.org/drawingml/2006/main">
            <a:srgbClr val="FBFBFC"/>
          </a:solidFill>
          <a:ln xmlns:a="http://schemas.openxmlformats.org/drawingml/2006/main" w="9525">
            <a:solidFill>
              <a:srgbClr val="D7D9E8"/>
            </a:solidFill>
          </a:ln>
        </p:spPr>
      </p:sp>
      <p:sp>
        <p:nvSpPr>
          <p:cNvPr id="8" name="">
            <a:extLst xmlns:a="http://schemas.openxmlformats.org/drawingml/2006/main">
              <a:ext uri="{FF2B5EF4-FFF2-40B4-BE49-F238E27FC236}">
                <a16:creationId xmlns:a16="http://schemas.microsoft.com/office/drawing/2014/main" id="{7F81DE39-C4D6-4B52-85D5-4F0DC81268F5}"/>
              </a:ext>
            </a:extLst>
          </p:cNvPr>
          <p:cNvSpPr>
            <a:spLocks xmlns:a="http://schemas.openxmlformats.org/drawingml/2006/main" noGrp="1"/>
          </p:cNvSpPr>
          <p:nvPr/>
        </p:nvSpPr>
        <p:spPr>
          <a:xfrm xmlns:a="http://schemas.openxmlformats.org/drawingml/2006/main">
            <a:off x="714375" y="9715500"/>
            <a:ext cx="1214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050" b="0">
                <a:solidFill>
                  <a:srgbClr val="FBFBFC"/>
                </a:solidFill>
                <a:latin typeface="Open Sans"/>
                <a:ea typeface="Open Sans"/>
                <a:cs typeface="Open Sans"/>
              </a:defRPr>
            </a:pPr>
            <a:r>
              <a:rPr sz="1050" b="0">
                <a:solidFill>
                  <a:srgbClr val="FBFBFC"/>
                </a:solidFill>
                <a:latin typeface="Open Sans"/>
                <a:ea typeface="Open Sans"/>
                <a:cs typeface="Open Sans"/>
              </a:rPr>
              <a:t>HVNH – CNM – PoC HỌC THUẬT</a:t>
            </a:r>
          </a:p>
        </p:txBody>
      </p:sp>
      <p:sp>
        <p:nvSpPr>
          <p:cNvPr id="9" name="">
            <a:extLst xmlns:a="http://schemas.openxmlformats.org/drawingml/2006/main">
              <a:ext uri="{FF2B5EF4-FFF2-40B4-BE49-F238E27FC236}">
                <a16:creationId xmlns:a16="http://schemas.microsoft.com/office/drawing/2014/main" id="{D36D0853-D58D-4C17-AD8C-C03F7DAA6518}"/>
              </a:ext>
            </a:extLst>
          </p:cNvPr>
          <p:cNvSpPr>
            <a:spLocks xmlns:a="http://schemas.openxmlformats.org/drawingml/2006/main" noGrp="1"/>
          </p:cNvSpPr>
          <p:nvPr/>
        </p:nvSpPr>
        <p:spPr>
          <a:xfrm xmlns:a="http://schemas.openxmlformats.org/drawingml/2006/main">
            <a:off x="16573500" y="9686925"/>
            <a:ext cx="78581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r">
              <a:lnSpc>
                <a:spcPct val="105000"/>
              </a:lnSpc>
              <a:buNone/>
              <a:defRPr sz="1125" b="1">
                <a:solidFill>
                  <a:srgbClr val="FAA61A"/>
                </a:solidFill>
                <a:latin typeface="Montserrat Bold"/>
                <a:ea typeface="Montserrat Bold"/>
                <a:cs typeface="Montserrat Bold"/>
              </a:defRPr>
            </a:pPr>
            <a:r>
              <a:rPr sz="1125" b="1">
                <a:solidFill>
                  <a:srgbClr val="FAA61A"/>
                </a:solidFill>
                <a:latin typeface="Montserrat Bold"/>
                <a:ea typeface="Montserrat Bold"/>
                <a:cs typeface="Montserrat Bold"/>
              </a:rPr>
              <a:t>18</a:t>
            </a:r>
          </a:p>
        </p:txBody>
      </p:sp>
      <p:sp>
        <p:nvSpPr>
          <p:cNvPr id="10" name="">
            <a:extLst xmlns:a="http://schemas.openxmlformats.org/drawingml/2006/main">
              <a:ext uri="{FF2B5EF4-FFF2-40B4-BE49-F238E27FC236}">
                <a16:creationId xmlns:a16="http://schemas.microsoft.com/office/drawing/2014/main" id="{B8799FCB-A2E4-4C5E-98C3-77056DBFD6E6}"/>
              </a:ext>
            </a:extLst>
          </p:cNvPr>
          <p:cNvSpPr>
            <a:spLocks xmlns:a="http://schemas.openxmlformats.org/drawingml/2006/main" noGrp="1"/>
          </p:cNvSpPr>
          <p:nvPr/>
        </p:nvSpPr>
        <p:spPr>
          <a:xfrm xmlns:a="http://schemas.openxmlformats.org/drawingml/2006/main">
            <a:off x="1171575" y="2143125"/>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650" b="1">
                <a:solidFill>
                  <a:srgbClr val="4F81BD"/>
                </a:solidFill>
                <a:latin typeface="Open Sans"/>
                <a:ea typeface="Open Sans"/>
                <a:cs typeface="Open Sans"/>
              </a:defRPr>
            </a:pPr>
            <a:r>
              <a:rPr sz="1650" b="1">
                <a:solidFill>
                  <a:srgbClr val="4F81BD"/>
                </a:solidFill>
                <a:latin typeface="Open Sans"/>
                <a:ea typeface="Open Sans"/>
                <a:cs typeface="Open Sans"/>
              </a:rPr>
              <a:t>Câu trả lời nghiên cứu</a:t>
            </a:r>
          </a:p>
        </p:txBody>
      </p:sp>
      <p:sp>
        <p:nvSpPr>
          <p:cNvPr id="11" name="">
            <a:extLst xmlns:a="http://schemas.openxmlformats.org/drawingml/2006/main">
              <a:ext uri="{FF2B5EF4-FFF2-40B4-BE49-F238E27FC236}">
                <a16:creationId xmlns:a16="http://schemas.microsoft.com/office/drawing/2014/main" id="{ED3AC46A-E5CE-4046-8055-8C62717B7505}"/>
              </a:ext>
            </a:extLst>
          </p:cNvPr>
          <p:cNvSpPr>
            <a:spLocks xmlns:a="http://schemas.openxmlformats.org/drawingml/2006/main" noGrp="1"/>
          </p:cNvSpPr>
          <p:nvPr/>
        </p:nvSpPr>
        <p:spPr>
          <a:xfrm xmlns:a="http://schemas.openxmlformats.org/drawingml/2006/main">
            <a:off x="1171575" y="2714625"/>
            <a:ext cx="15930563"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100" b="1">
                <a:solidFill>
                  <a:srgbClr val="282A75"/>
                </a:solidFill>
                <a:latin typeface="Open Sans"/>
                <a:ea typeface="Open Sans"/>
                <a:cs typeface="Open Sans"/>
              </a:defRPr>
            </a:pPr>
            <a:r>
              <a:rPr sz="2100" b="1">
                <a:solidFill>
                  <a:srgbClr val="282A75"/>
                </a:solidFill>
                <a:latin typeface="Open Sans"/>
                <a:ea typeface="Open Sans"/>
                <a:cs typeface="Open Sans"/>
              </a:rPr>
              <a:t>Có thể xây dựng và tái lập pipeline trên dữ liệu tổng hợp; hiệu quả thực tế tại MB chưa được xác định.</a:t>
            </a:r>
          </a:p>
        </p:txBody>
      </p:sp>
      <p:sp>
        <p:nvSpPr>
          <p:cNvPr id="12" name="">
            <a:extLst xmlns:a="http://schemas.openxmlformats.org/drawingml/2006/main">
              <a:ext uri="{FF2B5EF4-FFF2-40B4-BE49-F238E27FC236}">
                <a16:creationId xmlns:a16="http://schemas.microsoft.com/office/drawing/2014/main" id="{D05EAC7D-0DC7-4E0E-A36E-95FBD2F079D5}"/>
              </a:ext>
            </a:extLst>
          </p:cNvPr>
          <p:cNvSpPr>
            <a:spLocks xmlns:a="http://schemas.openxmlformats.org/drawingml/2006/main" noGrp="1"/>
          </p:cNvSpPr>
          <p:nvPr/>
        </p:nvSpPr>
        <p:spPr>
          <a:xfrm xmlns:a="http://schemas.openxmlformats.org/drawingml/2006/main">
            <a:off x="1171575" y="3971925"/>
            <a:ext cx="15930563" cy="1314450"/>
          </a:xfrm>
          <a:prstGeom xmlns:a="http://schemas.openxmlformats.org/drawingml/2006/main" prst="roundRect">
            <a:avLst>
              <a:gd name="adj" fmla="val 5797"/>
            </a:avLst>
          </a:prstGeom>
          <a:solidFill xmlns:a="http://schemas.openxmlformats.org/drawingml/2006/main">
            <a:srgbClr val="F1F3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F7DB3E-5E65-4E15-8F23-69112DAFE54C}"/>
              </a:ext>
            </a:extLst>
          </p:cNvPr>
          <p:cNvSpPr>
            <a:spLocks xmlns:a="http://schemas.openxmlformats.org/drawingml/2006/main" noGrp="1"/>
          </p:cNvSpPr>
          <p:nvPr/>
        </p:nvSpPr>
        <p:spPr>
          <a:xfrm xmlns:a="http://schemas.openxmlformats.org/drawingml/2006/main">
            <a:off x="1471613" y="4143375"/>
            <a:ext cx="571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350" b="1">
                <a:solidFill>
                  <a:srgbClr val="667085"/>
                </a:solidFill>
                <a:latin typeface="Open Sans"/>
                <a:ea typeface="Open Sans"/>
                <a:cs typeface="Open Sans"/>
              </a:defRPr>
            </a:pPr>
            <a:r>
              <a:rPr sz="1350" b="1">
                <a:solidFill>
                  <a:srgbClr val="667085"/>
                </a:solidFill>
                <a:latin typeface="Open Sans"/>
                <a:ea typeface="Open Sans"/>
                <a:cs typeface="Open Sans"/>
              </a:rPr>
              <a:t>XGBoost seed 42 trên holdout</a:t>
            </a:r>
          </a:p>
        </p:txBody>
      </p:sp>
      <p:sp>
        <p:nvSpPr>
          <p:cNvPr id="14" name="">
            <a:extLst xmlns:a="http://schemas.openxmlformats.org/drawingml/2006/main">
              <a:ext uri="{FF2B5EF4-FFF2-40B4-BE49-F238E27FC236}">
                <a16:creationId xmlns:a16="http://schemas.microsoft.com/office/drawing/2014/main" id="{72D45173-0DF5-44A1-A6FB-683495AEDFC4}"/>
              </a:ext>
            </a:extLst>
          </p:cNvPr>
          <p:cNvSpPr>
            <a:spLocks xmlns:a="http://schemas.openxmlformats.org/drawingml/2006/main" noGrp="1"/>
          </p:cNvSpPr>
          <p:nvPr/>
        </p:nvSpPr>
        <p:spPr>
          <a:xfrm xmlns:a="http://schemas.openxmlformats.org/drawingml/2006/main">
            <a:off x="1471613" y="4614863"/>
            <a:ext cx="15287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282A75"/>
                </a:solidFill>
                <a:latin typeface="Open Sans"/>
                <a:ea typeface="Open Sans"/>
                <a:cs typeface="Open Sans"/>
              </a:defRPr>
            </a:pPr>
            <a:r>
              <a:rPr sz="1575" b="1">
                <a:solidFill>
                  <a:srgbClr val="282A75"/>
                </a:solidFill>
                <a:latin typeface="Open Sans"/>
                <a:ea typeface="Open Sans"/>
                <a:cs typeface="Open Sans"/>
              </a:rPr>
              <a:t>AP 0,551   •   Precision 34,8%   •   Recall 72,2%   •   Alert rate 3,74%   •   122 FP / 5.000</a:t>
            </a:r>
          </a:p>
        </p:txBody>
      </p:sp>
      <p:sp>
        <p:nvSpPr>
          <p:cNvPr id="15" name="">
            <a:extLst xmlns:a="http://schemas.openxmlformats.org/drawingml/2006/main">
              <a:ext uri="{FF2B5EF4-FFF2-40B4-BE49-F238E27FC236}">
                <a16:creationId xmlns:a16="http://schemas.microsoft.com/office/drawing/2014/main" id="{81CFB15F-62A0-406A-AF6F-45261A6F7515}"/>
              </a:ext>
            </a:extLst>
          </p:cNvPr>
          <p:cNvSpPr>
            <a:spLocks xmlns:a="http://schemas.openxmlformats.org/drawingml/2006/main" noGrp="1"/>
          </p:cNvSpPr>
          <p:nvPr/>
        </p:nvSpPr>
        <p:spPr>
          <a:xfrm xmlns:a="http://schemas.openxmlformats.org/drawingml/2006/main">
            <a:off x="1171575" y="5829300"/>
            <a:ext cx="7429500" cy="1885950"/>
          </a:xfrm>
          <a:prstGeom xmlns:a="http://schemas.openxmlformats.org/drawingml/2006/main" prst="roundRect">
            <a:avLst>
              <a:gd name="adj" fmla="val 4040"/>
            </a:avLst>
          </a:prstGeom>
          <a:solidFill xmlns:a="http://schemas.openxmlformats.org/drawingml/2006/main">
            <a:srgbClr val="FCEB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311713-1A5B-42A0-9E2C-FAF825C5892A}"/>
              </a:ext>
            </a:extLst>
          </p:cNvPr>
          <p:cNvSpPr>
            <a:spLocks xmlns:a="http://schemas.openxmlformats.org/drawingml/2006/main" noGrp="1"/>
          </p:cNvSpPr>
          <p:nvPr/>
        </p:nvSpPr>
        <p:spPr>
          <a:xfrm xmlns:a="http://schemas.openxmlformats.org/drawingml/2006/main">
            <a:off x="1500188" y="60579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C0504D"/>
                </a:solidFill>
                <a:latin typeface="Open Sans"/>
                <a:ea typeface="Open Sans"/>
                <a:cs typeface="Open Sans"/>
              </a:defRPr>
            </a:pPr>
            <a:r>
              <a:rPr sz="1575" b="1">
                <a:solidFill>
                  <a:srgbClr val="C0504D"/>
                </a:solidFill>
                <a:latin typeface="Open Sans"/>
                <a:ea typeface="Open Sans"/>
                <a:cs typeface="Open Sans"/>
              </a:rPr>
              <a:t>Giới hạn</a:t>
            </a:r>
          </a:p>
        </p:txBody>
      </p:sp>
      <p:sp>
        <p:nvSpPr>
          <p:cNvPr id="17" name="">
            <a:extLst xmlns:a="http://schemas.openxmlformats.org/drawingml/2006/main">
              <a:ext uri="{FF2B5EF4-FFF2-40B4-BE49-F238E27FC236}">
                <a16:creationId xmlns:a16="http://schemas.microsoft.com/office/drawing/2014/main" id="{211EC45C-12BB-4B1F-B57F-709390AF9E65}"/>
              </a:ext>
            </a:extLst>
          </p:cNvPr>
          <p:cNvSpPr>
            <a:spLocks xmlns:a="http://schemas.openxmlformats.org/drawingml/2006/main" noGrp="1"/>
          </p:cNvSpPr>
          <p:nvPr/>
        </p:nvSpPr>
        <p:spPr>
          <a:xfrm xmlns:a="http://schemas.openxmlformats.org/drawingml/2006/main">
            <a:off x="1500188" y="6600825"/>
            <a:ext cx="6643688"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1C334E"/>
                </a:solidFill>
                <a:latin typeface="Open Sans"/>
                <a:ea typeface="Open Sans"/>
                <a:cs typeface="Open Sans"/>
              </a:defRPr>
            </a:pPr>
            <a:r>
              <a:rPr sz="1425" b="0">
                <a:solidFill>
                  <a:srgbClr val="1C334E"/>
                </a:solidFill>
                <a:latin typeface="Open Sans"/>
                <a:ea typeface="Open Sans"/>
                <a:cs typeface="Open Sans"/>
              </a:rPr>
              <a:t>Nhãn do nhóm sinh; không có dữ liệu MB. Không streaming, không quyết định giao dịch thật.</a:t>
            </a:r>
          </a:p>
        </p:txBody>
      </p:sp>
      <p:sp>
        <p:nvSpPr>
          <p:cNvPr id="18" name="">
            <a:extLst xmlns:a="http://schemas.openxmlformats.org/drawingml/2006/main">
              <a:ext uri="{FF2B5EF4-FFF2-40B4-BE49-F238E27FC236}">
                <a16:creationId xmlns:a16="http://schemas.microsoft.com/office/drawing/2014/main" id="{D1298A59-7676-431F-8261-CA2ECE9F6B14}"/>
              </a:ext>
            </a:extLst>
          </p:cNvPr>
          <p:cNvSpPr>
            <a:spLocks xmlns:a="http://schemas.openxmlformats.org/drawingml/2006/main" noGrp="1"/>
          </p:cNvSpPr>
          <p:nvPr/>
        </p:nvSpPr>
        <p:spPr>
          <a:xfrm xmlns:a="http://schemas.openxmlformats.org/drawingml/2006/main">
            <a:off x="9001125" y="5829300"/>
            <a:ext cx="8101013" cy="1885950"/>
          </a:xfrm>
          <a:prstGeom xmlns:a="http://schemas.openxmlformats.org/drawingml/2006/main" prst="roundRect">
            <a:avLst>
              <a:gd name="adj" fmla="val 4040"/>
            </a:avLst>
          </a:prstGeom>
          <a:solidFill xmlns:a="http://schemas.openxmlformats.org/drawingml/2006/main">
            <a:srgbClr val="EFF5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609FE9-83D7-40FB-85EF-102F10FA976A}"/>
              </a:ext>
            </a:extLst>
          </p:cNvPr>
          <p:cNvSpPr>
            <a:spLocks xmlns:a="http://schemas.openxmlformats.org/drawingml/2006/main" noGrp="1"/>
          </p:cNvSpPr>
          <p:nvPr/>
        </p:nvSpPr>
        <p:spPr>
          <a:xfrm xmlns:a="http://schemas.openxmlformats.org/drawingml/2006/main">
            <a:off x="9358313" y="6057900"/>
            <a:ext cx="728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575" b="1">
                <a:solidFill>
                  <a:srgbClr val="9BBB59"/>
                </a:solidFill>
                <a:latin typeface="Open Sans"/>
                <a:ea typeface="Open Sans"/>
                <a:cs typeface="Open Sans"/>
              </a:defRPr>
            </a:pPr>
            <a:r>
              <a:rPr sz="1575" b="1">
                <a:solidFill>
                  <a:srgbClr val="9BBB59"/>
                </a:solidFill>
                <a:latin typeface="Open Sans"/>
                <a:ea typeface="Open Sans"/>
                <a:cs typeface="Open Sans"/>
              </a:rPr>
              <a:t>Bước tiếp theo</a:t>
            </a:r>
          </a:p>
        </p:txBody>
      </p:sp>
      <p:sp>
        <p:nvSpPr>
          <p:cNvPr id="20" name="">
            <a:extLst xmlns:a="http://schemas.openxmlformats.org/drawingml/2006/main">
              <a:ext uri="{FF2B5EF4-FFF2-40B4-BE49-F238E27FC236}">
                <a16:creationId xmlns:a16="http://schemas.microsoft.com/office/drawing/2014/main" id="{3A3996B6-0E3E-412A-9C78-CBA23C7E4AE4}"/>
              </a:ext>
            </a:extLst>
          </p:cNvPr>
          <p:cNvSpPr>
            <a:spLocks xmlns:a="http://schemas.openxmlformats.org/drawingml/2006/main" noGrp="1"/>
          </p:cNvSpPr>
          <p:nvPr/>
        </p:nvSpPr>
        <p:spPr>
          <a:xfrm xmlns:a="http://schemas.openxmlformats.org/drawingml/2006/main">
            <a:off x="9358313" y="6600825"/>
            <a:ext cx="7286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1425" b="0">
                <a:solidFill>
                  <a:srgbClr val="1C334E"/>
                </a:solidFill>
                <a:latin typeface="Open Sans"/>
                <a:ea typeface="Open Sans"/>
                <a:cs typeface="Open Sans"/>
              </a:defRPr>
            </a:pPr>
            <a:r>
              <a:rPr sz="1425" b="0">
                <a:solidFill>
                  <a:srgbClr val="1C334E"/>
                </a:solidFill>
                <a:latin typeface="Open Sans"/>
                <a:ea typeface="Open Sans"/>
                <a:cs typeface="Open Sans"/>
              </a:rPr>
              <a:t>Xác minh quy trình và quyền dữ liệu, đánh giá out-of-time, rồi shadow mode và pilot có giám sát.</a:t>
            </a:r>
          </a:p>
        </p:txBody>
      </p:sp>
      <p:sp>
        <p:nvSpPr>
          <p:cNvPr id="21" name="">
            <a:extLst xmlns:a="http://schemas.openxmlformats.org/drawingml/2006/main">
              <a:ext uri="{FF2B5EF4-FFF2-40B4-BE49-F238E27FC236}">
                <a16:creationId xmlns:a16="http://schemas.microsoft.com/office/drawing/2014/main" id="{30DC2120-968B-45F7-9156-213E87BD8820}"/>
              </a:ext>
            </a:extLst>
          </p:cNvPr>
          <p:cNvSpPr>
            <a:spLocks xmlns:a="http://schemas.openxmlformats.org/drawingml/2006/main" noGrp="1"/>
          </p:cNvSpPr>
          <p:nvPr/>
        </p:nvSpPr>
        <p:spPr>
          <a:xfrm xmlns:a="http://schemas.openxmlformats.org/drawingml/2006/main">
            <a:off x="1171575" y="8529638"/>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42863" rIns="57150" bIns="42863" anchor="ctr">
            <a:normAutofit fontScale="100000"/>
          </a:bodyPr>
          <a:lstStyle xmlns:a="http://schemas.openxmlformats.org/drawingml/2006/main"/>
          <a:p xmlns:a="http://schemas.openxmlformats.org/drawingml/2006/main">
            <a:pPr algn="l">
              <a:lnSpc>
                <a:spcPct val="105000"/>
              </a:lnSpc>
              <a:buNone/>
              <a:defRPr sz="2100" b="1">
                <a:solidFill>
                  <a:srgbClr val="282A75"/>
                </a:solidFill>
                <a:latin typeface="Open Sans"/>
                <a:ea typeface="Open Sans"/>
                <a:cs typeface="Open Sans"/>
              </a:defRPr>
            </a:pPr>
            <a:r>
              <a:rPr sz="2100" b="1">
                <a:solidFill>
                  <a:srgbClr val="282A75"/>
                </a:solidFill>
                <a:latin typeface="Open Sans"/>
                <a:ea typeface="Open Sans"/>
                <a:cs typeface="Open Sans"/>
              </a:rPr>
              <a:t>Cảm ơn — Hỏi đáp</a:t>
            </a:r>
          </a:p>
        </p:txBody>
      </p:sp>
    </p:spTree>
    <p:extLst>
      <p:ext uri="{BB962C8B-B14F-4D97-AF65-F5344CB8AC3E}">
        <p14:creationId xmlns:p14="http://schemas.microsoft.com/office/powerpoint/2010/main" val="178713014"/>
      </p:ext>
    </p:extLst>
  </p:cSld>
  <p:transition>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2026-09-17T08:15:10.8330000Z</dcterms:created>
  <dcterms:modified xsi:type="dcterms:W3CDTF">2026-09-17T08:15:10.8330000Z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1.0.150</vt:lpwstr>
  </op:property>
  <op:property fmtid="{D5CDD505-2E9C-101B-9397-08002B2CF9AE}" pid="3" name="OfficeCLI.LastModified">
    <vt:lpwstr xmlns:vt="http://schemas.openxmlformats.org/officeDocument/2006/docPropsVTypes">2026-09-17T08:15:11Z</vt:lpwstr>
  </op:property>
</op:Properties>
</file>