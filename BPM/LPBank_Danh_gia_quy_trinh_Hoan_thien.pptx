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194925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rPr dirty="0"/>
              <a:t> HỌC VIỆN NGÂN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67665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t>ĐÁNH GIÁ VÀ HOÀN THIỆN QUY TRÌNH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01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064240" cy="3474720"/>
          </a:xfrm>
          <a:prstGeom prst="roundRect">
            <a:avLst>
              <a:gd name="adj" fmla="val 8000"/>
            </a:avLst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332720" cy="1371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TRIỂN KHAI TÍN DỤNG &amp; GIẢI NGÂN</a:t>
            </a:r>
          </a:p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KHÁCH HÀNG CÁ NHÂN TẠI LPBANK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3E1F9"/>
                </a:solidFill>
                <a:latin typeface="Aptos"/>
              </a:defRPr>
            </a:pP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APQC PCF  • 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 • 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04088" y="5806440"/>
            <a:ext cx="1005840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606D82"/>
                </a:solidFill>
                <a:latin typeface="Aptos"/>
              </a:defRPr>
            </a:pPr>
            <a:r>
              <a:t>Giảng viên hướng dẫn: TS. Phan Thanh Đức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MỞ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67665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t>Nhóm thực hiện &amp; cấu trúc nghiên cứu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02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37360"/>
            <a:ext cx="109728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65376"/>
            <a:ext cx="91440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7631" y="1737360"/>
            <a:ext cx="55778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1865376"/>
            <a:ext cx="5394959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Thành viên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1" y="1737360"/>
            <a:ext cx="438912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9" y="1865376"/>
            <a:ext cx="420624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Mã học viên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313432"/>
            <a:ext cx="1097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395727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7631" y="2313432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2395727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Nguyễn Linh Chi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1" y="2313432"/>
            <a:ext cx="4389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9" y="2395727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28K406003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2958084"/>
            <a:ext cx="109728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79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27631" y="2958084"/>
            <a:ext cx="55778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37360" y="3040379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Tạ Ngọc Tuệ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5471" y="2958084"/>
            <a:ext cx="4389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9" y="3040379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28K406011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602736"/>
            <a:ext cx="1097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685032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27631" y="3602736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37360" y="3685032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Đỗ Văn Đạt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5471" y="3602736"/>
            <a:ext cx="4389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9" y="3685032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28K405001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247388"/>
            <a:ext cx="109728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329683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27631" y="4247388"/>
            <a:ext cx="55778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37360" y="4329683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Trương An Ninh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5471" y="4247388"/>
            <a:ext cx="4389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199" y="4329683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28K405003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4892040"/>
            <a:ext cx="1097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974336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27631" y="4892040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37360" y="4974336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Trần Ngọc Dũng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1" y="4892040"/>
            <a:ext cx="4389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199" y="4974336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28K406005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1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1.1 </a:t>
            </a:r>
            <a:r>
              <a:rPr lang="en-US" dirty="0" err="1"/>
              <a:t>B</a:t>
            </a:r>
            <a:r>
              <a:rPr dirty="0" err="1"/>
              <a:t>ối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LPBank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chiến</a:t>
            </a:r>
            <a:r>
              <a:rPr dirty="0"/>
              <a:t> </a:t>
            </a:r>
            <a:r>
              <a:rPr dirty="0" err="1"/>
              <a:t>lược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64792"/>
            <a:ext cx="5276088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64792"/>
            <a:ext cx="64008" cy="144475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11095"/>
            <a:ext cx="492861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Định hướng 2024–2028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04872"/>
            <a:ext cx="4892040" cy="7132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Bán lẻ – Dịch vụ – Kinh doanh đa năng; khách hàng làm trọng tâm.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764792"/>
            <a:ext cx="5532120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44184" y="1764792"/>
            <a:ext cx="64008" cy="144475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7064" y="1911095"/>
            <a:ext cx="5184648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dirty="0"/>
              <a:t>Quy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năm</a:t>
            </a:r>
            <a:r>
              <a:rPr dirty="0"/>
              <a:t> 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227064" y="2404872"/>
            <a:ext cx="5148072" cy="7132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Tổng tài sản: 508.330 tỷ đồng</a:t>
            </a:r>
          </a:p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Dư nợ tín dụng: 331.606 tỷ đồng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56432"/>
            <a:ext cx="5276088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456432"/>
            <a:ext cx="64008" cy="144475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02736"/>
            <a:ext cx="4928616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dirty="0"/>
              <a:t>Hiệu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năm</a:t>
            </a:r>
            <a:r>
              <a:rPr dirty="0"/>
              <a:t> 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1"/>
            <a:ext cx="4892040" cy="7132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rPr dirty="0"/>
              <a:t>Lợi </a:t>
            </a:r>
            <a:r>
              <a:rPr dirty="0" err="1"/>
              <a:t>nhuận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thuế</a:t>
            </a:r>
            <a:r>
              <a:rPr dirty="0"/>
              <a:t>: 12.168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đồng</a:t>
            </a:r>
            <a:endParaRPr dirty="0"/>
          </a:p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rPr dirty="0"/>
              <a:t>CIR: 29,15%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4184" y="3456432"/>
            <a:ext cx="5532120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44184" y="3456432"/>
            <a:ext cx="64008" cy="144475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27064" y="3602736"/>
            <a:ext cx="5184648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dirty="0"/>
              <a:t> </a:t>
            </a:r>
            <a:r>
              <a:rPr dirty="0" err="1"/>
              <a:t>vận</a:t>
            </a:r>
            <a:r>
              <a:rPr dirty="0"/>
              <a:t> </a:t>
            </a:r>
            <a:r>
              <a:rPr dirty="0" err="1"/>
              <a:t>hành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227064" y="4096511"/>
            <a:ext cx="5148072" cy="7132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Giải ngân cần nhanh, minh bạch nhưng phải duy trì kiểm soát rủi ro.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06440"/>
            <a:ext cx="1088136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6D82"/>
                </a:solidFill>
                <a:latin typeface="Aptos"/>
              </a:defRPr>
            </a:pPr>
            <a:r>
              <a:t>Các số liệu được kế thừa từ bản trình bày gốc; cần đối chiếu báo cáo công bố khi nộp.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1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1.2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chiến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975104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01  Tài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68880"/>
            <a:ext cx="4965192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trưởng</a:t>
            </a:r>
            <a:r>
              <a:rPr dirty="0"/>
              <a:t> </a:t>
            </a:r>
            <a:r>
              <a:rPr dirty="0" err="1"/>
              <a:t>tín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an </a:t>
            </a:r>
            <a:r>
              <a:rPr dirty="0" err="1"/>
              <a:t>toàn</a:t>
            </a:r>
            <a:r>
              <a:rPr dirty="0"/>
              <a:t>;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chi </a:t>
            </a:r>
            <a:r>
              <a:rPr dirty="0" err="1"/>
              <a:t>phí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64008" cy="155448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02  Khách hàng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4965192" cy="6386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ngân</a:t>
            </a:r>
            <a:r>
              <a:rPr dirty="0"/>
              <a:t> </a:t>
            </a:r>
            <a:r>
              <a:rPr lang="en-US" dirty="0" err="1"/>
              <a:t>kịp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,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55448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803904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03  Quy trình nội bộ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97680"/>
            <a:ext cx="4965192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 err="1"/>
              <a:t>Chuẩn hóa luồng quy trình nghiệp vụ, dữ liệu và trách nhiệm kiểm soát.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64008" cy="155448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803904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04  Học tập &amp; phát triển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97680"/>
            <a:ext cx="4965192" cy="6386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/>
              <a:t>Đào </a:t>
            </a:r>
            <a:r>
              <a:rPr dirty="0" err="1"/>
              <a:t>tạo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,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chuẩn</a:t>
            </a:r>
            <a:endParaRPr lang="en-US" dirty="0"/>
          </a:p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lang="en-US" dirty="0"/>
              <a:t>Q</a:t>
            </a:r>
            <a:r>
              <a:rPr dirty="0"/>
              <a:t>uản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chất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7606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229" y="2299716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1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1.3 </a:t>
            </a:r>
            <a:r>
              <a:rPr dirty="0"/>
              <a:t>Process Landscape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KHCN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316736"/>
            <a:ext cx="1097280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Phân loại ba nhóm quy trình và xác định vị trí giải ngân trong chuỗi giá trị.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632" y="6152039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8714" y="4992579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6882" y="6048711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rPr dirty="0"/>
              <a:t>05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410" y="4641350"/>
            <a:ext cx="1078992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2410" y="4641350"/>
            <a:ext cx="64008" cy="100584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8714" y="4800555"/>
            <a:ext cx="1044244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858" y="5228276"/>
            <a:ext cx="10405872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 err="1"/>
              <a:t>Chiến</a:t>
            </a:r>
            <a:r>
              <a:rPr dirty="0"/>
              <a:t> </a:t>
            </a:r>
            <a:r>
              <a:rPr dirty="0" err="1"/>
              <a:t>lược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dirty="0"/>
              <a:t>  •  </a:t>
            </a:r>
            <a:r>
              <a:rPr dirty="0" err="1"/>
              <a:t>Rủi</a:t>
            </a:r>
            <a:r>
              <a:rPr dirty="0"/>
              <a:t> </a:t>
            </a:r>
            <a:r>
              <a:rPr dirty="0" err="1"/>
              <a:t>ro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dirty="0"/>
              <a:t>  •  Tuân </a:t>
            </a:r>
            <a:r>
              <a:rPr dirty="0" err="1"/>
              <a:t>thủ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dirty="0"/>
              <a:t>  •  Hiệu </a:t>
            </a:r>
            <a:r>
              <a:rPr dirty="0" err="1"/>
              <a:t>suất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382410" y="1696212"/>
            <a:ext cx="10789920" cy="1307592"/>
          </a:xfrm>
          <a:prstGeom prst="roundRect">
            <a:avLst>
              <a:gd name="adj" fmla="val 9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162" y="2187753"/>
            <a:ext cx="10332720" cy="6126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B2567"/>
                </a:solidFill>
                <a:latin typeface="Aptos"/>
              </a:defRPr>
            </a:pPr>
            <a:r>
              <a:rPr dirty="0"/>
              <a:t>CORE  | 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→ </a:t>
            </a:r>
            <a:r>
              <a:rPr dirty="0" err="1"/>
              <a:t>Thẩm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→ </a:t>
            </a:r>
            <a:r>
              <a:rPr dirty="0" err="1"/>
              <a:t>Phê</a:t>
            </a:r>
            <a:r>
              <a:rPr dirty="0"/>
              <a:t> </a:t>
            </a:r>
            <a:r>
              <a:rPr dirty="0" err="1"/>
              <a:t>duyệt</a:t>
            </a:r>
            <a:r>
              <a:rPr dirty="0"/>
              <a:t> → TRIỂN KHAI &amp; GIẢI NGÂN → Sau </a:t>
            </a:r>
            <a:r>
              <a:rPr dirty="0" err="1"/>
              <a:t>vay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382410" y="3308251"/>
            <a:ext cx="10789920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2410" y="3308251"/>
            <a:ext cx="64008" cy="98755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5290" y="3454555"/>
            <a:ext cx="1044244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290" y="3948331"/>
            <a:ext cx="10405872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CNTT  •  Nhân sự  •  Kế toán  •  Pháp chế  •  Lưu trữ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1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1.4 </a:t>
            </a:r>
            <a:r>
              <a:rPr dirty="0"/>
              <a:t>Process Checklist: </a:t>
            </a:r>
            <a:r>
              <a:rPr dirty="0" err="1"/>
              <a:t>lựa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tượng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06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19072"/>
            <a:ext cx="324612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47088"/>
            <a:ext cx="3063239" cy="271869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 dirty="0" err="1"/>
              <a:t>Tiêu</a:t>
            </a:r>
            <a:r>
              <a:rPr sz="1600" dirty="0"/>
              <a:t> </a:t>
            </a:r>
            <a:r>
              <a:rPr sz="1600" dirty="0" err="1"/>
              <a:t>chí</a:t>
            </a:r>
            <a:r>
              <a:rPr sz="1600" dirty="0"/>
              <a:t> </a:t>
            </a:r>
            <a:r>
              <a:rPr sz="1600" dirty="0" err="1"/>
              <a:t>kiểm</a:t>
            </a:r>
            <a:r>
              <a:rPr sz="1600" dirty="0"/>
              <a:t> </a:t>
            </a:r>
            <a:r>
              <a:rPr sz="1600" dirty="0" err="1"/>
              <a:t>tra</a:t>
            </a:r>
            <a:endParaRPr sz="1600" dirty="0"/>
          </a:p>
        </p:txBody>
      </p:sp>
      <p:sp>
        <p:nvSpPr>
          <p:cNvPr id="11" name="Rectangle 10"/>
          <p:cNvSpPr/>
          <p:nvPr/>
        </p:nvSpPr>
        <p:spPr>
          <a:xfrm>
            <a:off x="3776472" y="1719072"/>
            <a:ext cx="781812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1858466"/>
            <a:ext cx="7635240" cy="271869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 dirty="0" err="1"/>
              <a:t>Đánh</a:t>
            </a:r>
            <a:r>
              <a:rPr sz="1600" dirty="0"/>
              <a:t> </a:t>
            </a:r>
            <a:r>
              <a:rPr sz="1600" dirty="0" err="1"/>
              <a:t>giá</a:t>
            </a:r>
            <a:r>
              <a:rPr sz="1600" dirty="0"/>
              <a:t> </a:t>
            </a:r>
            <a:r>
              <a:rPr sz="1600" dirty="0" err="1"/>
              <a:t>đối</a:t>
            </a:r>
            <a:r>
              <a:rPr sz="1600" dirty="0"/>
              <a:t> </a:t>
            </a:r>
            <a:r>
              <a:rPr sz="1600" dirty="0" err="1"/>
              <a:t>với</a:t>
            </a:r>
            <a:r>
              <a:rPr sz="1600" dirty="0"/>
              <a:t> </a:t>
            </a:r>
            <a:r>
              <a:rPr sz="1600" dirty="0" err="1"/>
              <a:t>quy</a:t>
            </a:r>
            <a:r>
              <a:rPr sz="1600" dirty="0"/>
              <a:t> </a:t>
            </a:r>
            <a:r>
              <a:rPr sz="1600" dirty="0" err="1"/>
              <a:t>trình</a:t>
            </a:r>
            <a:r>
              <a:rPr sz="1600" dirty="0"/>
              <a:t> </a:t>
            </a:r>
            <a:r>
              <a:rPr sz="1600" dirty="0" err="1"/>
              <a:t>giải</a:t>
            </a:r>
            <a:r>
              <a:rPr sz="1600" dirty="0"/>
              <a:t> </a:t>
            </a:r>
            <a:r>
              <a:rPr sz="1600" dirty="0" err="1"/>
              <a:t>ngân</a:t>
            </a:r>
            <a:endParaRPr sz="1600" dirty="0"/>
          </a:p>
        </p:txBody>
      </p:sp>
      <p:sp>
        <p:nvSpPr>
          <p:cNvPr id="13" name="Rectangle 12"/>
          <p:cNvSpPr/>
          <p:nvPr/>
        </p:nvSpPr>
        <p:spPr>
          <a:xfrm>
            <a:off x="530352" y="2295144"/>
            <a:ext cx="3246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39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Đầu vào – đầu ra rõ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2295144"/>
            <a:ext cx="7818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2377439"/>
            <a:ext cx="7635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Từ khoản vay đã duyệt đến tiền được chuyển và hạch toán.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939796"/>
            <a:ext cx="3246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022091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Có chuỗi hoạt động lặp lại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76472" y="2939796"/>
            <a:ext cx="7818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86200" y="3022091"/>
            <a:ext cx="7635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Khởi tạo, kiểm tra, kiểm soát, hạch toán, lưu trữ.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584448"/>
            <a:ext cx="3246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666744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Có chủ thể và điểm kiểm soát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6472" y="3584448"/>
            <a:ext cx="7818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86200" y="3666744"/>
            <a:ext cx="7635240" cy="256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rPr dirty="0"/>
              <a:t>RM,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, BPM, T24.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229100"/>
            <a:ext cx="3246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311396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Kiểm soát và đo lường được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76472" y="4229100"/>
            <a:ext cx="7818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6200" y="4311396"/>
            <a:ext cx="7635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Có task, trạng thái và event log; KPI cần chuẩn hóa.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4873752"/>
            <a:ext cx="3246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956048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Phạm vi đủ cụ thể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76472" y="4873752"/>
            <a:ext cx="7818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86200" y="4956048"/>
            <a:ext cx="7635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Tập trung sau phê duyệt; loại trừ thẩm định và thu hồi nợ.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952744"/>
            <a:ext cx="10698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Kết luận: đủ điều kiện xem là một quy trình độc lập cần Process Owner và KPI end-to-end.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2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2.1 </a:t>
            </a:r>
            <a:r>
              <a:rPr dirty="0"/>
              <a:t>Định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APQC Banking PCF 7.2.2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46504"/>
            <a:ext cx="10607040" cy="832104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65960"/>
            <a:ext cx="1280160" cy="32918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292A6"/>
                </a:solidFill>
                <a:latin typeface="Aptos"/>
              </a:defRPr>
            </a:pPr>
            <a:r>
              <a:t>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956816"/>
            <a:ext cx="7461504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49808" y="2715768"/>
            <a:ext cx="10607040" cy="832104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935224"/>
            <a:ext cx="1280160" cy="32918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292A6"/>
                </a:solidFill>
                <a:latin typeface="Aptos"/>
              </a:defRPr>
            </a:pPr>
            <a:r>
              <a:t>LEVEL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2926079"/>
            <a:ext cx="7461504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Cho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49808" y="3685032"/>
            <a:ext cx="10607040" cy="832104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904488"/>
            <a:ext cx="1280160" cy="32918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292A6"/>
                </a:solidFill>
                <a:latin typeface="Aptos"/>
              </a:defRPr>
            </a:pPr>
            <a:r>
              <a:t>LEVEL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3895344"/>
            <a:ext cx="7461504" cy="5488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749808" y="4654296"/>
            <a:ext cx="10607040" cy="832104"/>
          </a:xfrm>
          <a:prstGeom prst="roundRect">
            <a:avLst>
              <a:gd name="adj" fmla="val 8000"/>
            </a:avLst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873752"/>
            <a:ext cx="1280160" cy="32918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8C45B"/>
                </a:solidFill>
                <a:latin typeface="Aptos"/>
              </a:defRPr>
            </a:pPr>
            <a:r>
              <a:t>LEVEL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4864608"/>
            <a:ext cx="7461504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77240" y="5980176"/>
            <a:ext cx="1060704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APQC là hệ phân loại quy trình, không thay thế sơ đồ thực hiện công việc (workflow).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2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2.2 </a:t>
            </a:r>
            <a:r>
              <a:rPr dirty="0"/>
              <a:t>Mapping: APQC ↔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LPBank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Mảng nghiệp vụ: triển khai tín dụng KHCN, lập hồ sơ và giải ngân.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08 /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810512"/>
            <a:ext cx="30632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288036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PCF ID / Hoạt động chuẩn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3592" y="1810512"/>
            <a:ext cx="3867912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938528"/>
            <a:ext cx="3685032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Bằng chứng/chức năng tại LPBank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61504" y="1810512"/>
            <a:ext cx="4133087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71231" y="1938528"/>
            <a:ext cx="3950207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Khoảng trống cần xác minh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386584"/>
            <a:ext cx="3063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79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17400/17402  Hồ sơ – dữ liệu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93592" y="2386584"/>
            <a:ext cx="38679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3320" y="2468879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Upload; checklist; ECM/GenDoc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61504" y="2386584"/>
            <a:ext cx="4133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1" y="2468879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FTR; trùng chứng từ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2912364"/>
            <a:ext cx="3063240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299466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17405  Theo dõi hồ sơ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93592" y="2912364"/>
            <a:ext cx="3867912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299466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Task; trạng thái; màn hình monitor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61504" y="2912364"/>
            <a:ext cx="4133087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71231" y="299466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Cảnh báo SLA; Aging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3438144"/>
            <a:ext cx="3063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17418  Điều kiện sản phẩm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2" y="3438144"/>
            <a:ext cx="38679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03320" y="352044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First check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61504" y="3438144"/>
            <a:ext cx="4133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71231" y="352044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Rule Owner; version rule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3963924"/>
            <a:ext cx="3063240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04622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17419  Lãi suất/phí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93592" y="3963924"/>
            <a:ext cx="3867912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03320" y="404622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Trường nhập; API tính phí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1504" y="3963924"/>
            <a:ext cx="4133087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71231" y="404622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Nguồn master; phê duyệt ngoại lệ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4489704"/>
            <a:ext cx="3063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457200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17420  Tài sản bảo đảm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93592" y="4489704"/>
            <a:ext cx="38679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03320" y="457200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Luồng hoàn thiện; mã collateral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61504" y="4489704"/>
            <a:ext cx="4133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71231" y="457200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Đồng bộ dữ liệu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5015484"/>
            <a:ext cx="3063240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509778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17421  Thiết lập khoản vay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93592" y="5015484"/>
            <a:ext cx="3867912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03320" y="509778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Ánh xạ trường; API T24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61504" y="5015484"/>
            <a:ext cx="4133087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71231" y="509778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Timeout; retry; tạo trùng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5541264"/>
            <a:ext cx="3063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562356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13961  Giải ngân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93592" y="5541264"/>
            <a:ext cx="38679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03320" y="562356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Hạch toán; chuyển tiền; kiểm soát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61504" y="5541264"/>
            <a:ext cx="4133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571231" y="562356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Cycle time, error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2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2.3 </a:t>
            </a:r>
            <a:r>
              <a:rPr dirty="0"/>
              <a:t>Gap Analysis: </a:t>
            </a:r>
            <a:r>
              <a:rPr dirty="0" err="1"/>
              <a:t>thiếu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, </a:t>
            </a:r>
            <a:r>
              <a:rPr dirty="0" err="1"/>
              <a:t>trùng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,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biết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47088"/>
            <a:ext cx="534924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847088"/>
            <a:ext cx="64008" cy="164592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KHOẢNG TRỐNG QUẢN TRỊ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496519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Chưa thể hiện rõ Process Owner toàn trình; thiếu baseline đo Cycle time, FTR và SLA.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47088"/>
            <a:ext cx="534924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847088"/>
            <a:ext cx="64008" cy="164592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993392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KHOẢNG TRỐNG TÍCH HỢP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487168"/>
            <a:ext cx="496519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Cần kiểm chứng cơ chế retry, chống hạch toán trùng, đối soát BPM–T24.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30752"/>
            <a:ext cx="534924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30752"/>
            <a:ext cx="64008" cy="1645920"/>
          </a:xfrm>
          <a:prstGeom prst="rect">
            <a:avLst/>
          </a:prstGeom>
          <a:solidFill>
            <a:srgbClr val="F4A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877056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NGUY CƠ CHỒNG CHÉO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70832"/>
            <a:ext cx="496519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Cần kiểm chứng thao tác nhập lại, kiểm soát trùng hoặc trả hồ sơ lặp nhiều lần.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30752"/>
            <a:ext cx="534924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730752"/>
            <a:ext cx="64008" cy="1645920"/>
          </a:xfrm>
          <a:prstGeom prst="rect">
            <a:avLst/>
          </a:prstGeom>
          <a:solidFill>
            <a:srgbClr val="F4A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77056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NGUY CƠ PHÂN LOẠI SAI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370832"/>
            <a:ext cx="496519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Chưa đủ bằng chứng để kết luận có quy trình phân loại sai theo APQC.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806440"/>
            <a:ext cx="1042416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Nguyên tắc: “chưa có bằng chứng” ≠ “chức năng không tồn tại”.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3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3.1 </a:t>
            </a:r>
            <a:r>
              <a:rPr dirty="0" err="1"/>
              <a:t>Lựa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: 4,85/5 </a:t>
            </a:r>
            <a:r>
              <a:rPr dirty="0" err="1"/>
              <a:t>điểm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10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64792"/>
            <a:ext cx="78638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92807"/>
            <a:ext cx="768096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Quy trình ứng viên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94192" y="1764792"/>
            <a:ext cx="320040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19" y="1892807"/>
            <a:ext cx="301752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Điểm ưu tiên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340864"/>
            <a:ext cx="7863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76809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42F47"/>
                </a:solidFill>
                <a:latin typeface="Aptos"/>
              </a:defRPr>
            </a:pPr>
            <a:r>
              <a:t>Triển khai tín dụng &amp; giải ngân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94192" y="2340864"/>
            <a:ext cx="3200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19" y="2423160"/>
            <a:ext cx="30175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4,85 / 5,00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985516"/>
            <a:ext cx="78638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067812"/>
            <a:ext cx="76809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42F47"/>
                </a:solidFill>
                <a:latin typeface="Aptos"/>
              </a:defRPr>
            </a:pPr>
            <a:r>
              <a:t>Thẩm định &amp; phê duyệt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94192" y="2985516"/>
            <a:ext cx="320040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3067812"/>
            <a:ext cx="30175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4,35 / 5,00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630168"/>
            <a:ext cx="7863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712464"/>
            <a:ext cx="76809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42F47"/>
                </a:solidFill>
                <a:latin typeface="Aptos"/>
              </a:defRPr>
            </a:pPr>
            <a:r>
              <a:t>Văn kiện &amp; tài sản bảo đảm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94192" y="3630168"/>
            <a:ext cx="3200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19" y="3712464"/>
            <a:ext cx="30175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4,10 / 5,00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274820"/>
            <a:ext cx="78638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357116"/>
            <a:ext cx="76809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42F47"/>
                </a:solidFill>
                <a:latin typeface="Aptos"/>
              </a:defRPr>
            </a:pPr>
            <a:r>
              <a:t>Tiếp nhận nhu cầu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94192" y="4274820"/>
            <a:ext cx="320040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19" y="4357116"/>
            <a:ext cx="30175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3,60 / 5,00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5065776"/>
            <a:ext cx="10808208" cy="704088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5276088"/>
            <a:ext cx="103327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B2567"/>
                </a:solidFill>
                <a:latin typeface="Aptos"/>
              </a:defRPr>
            </a:pPr>
            <a:r>
              <a:t>Tiêu chí: chiến lược 25%  •  Khách hàng 20%  •  Rủi ro 25%  •  Điểm nghẽn 15%  •  Bằng chứng 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971032"/>
            <a:ext cx="10652760" cy="26517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6D82"/>
                </a:solidFill>
                <a:latin typeface="Aptos"/>
              </a:defRPr>
            </a:pPr>
            <a:r>
              <a:t>Điểm do nhóm chấm để ưu tiên cải tiến; không phải KPI vận hành đã đo.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3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3.2 </a:t>
            </a:r>
            <a:r>
              <a:rPr dirty="0"/>
              <a:t>As-Is: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ngân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 </a:t>
            </a:r>
            <a:r>
              <a:rPr dirty="0" err="1"/>
              <a:t>giao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11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956816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1965960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BPM khởi tạo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15184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Phương án đã duyệt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28800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956816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965960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RM đề xuất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15184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Dữ liệu + chứng từ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828800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956816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965960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Kiểm soát 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15184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Kiểm tra / trả hồ sơ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9584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657600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3666744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CSU rà soát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315968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Điều kiện + thông số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529584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657600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3666744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T24 / chuyển tiền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315968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Hạch toán / chi trả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7304" y="3529584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02752" y="3657600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666744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Đóng hồ sơ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15968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ECM + trạng thái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641848"/>
            <a:ext cx="1069848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Điểm cần đo: số lần trả hồ sơ • thời gian chờ giữa các đơn vị • lỗi tích hợp • kết quả giải ngân.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3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3.3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nghiệp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56231"/>
            <a:ext cx="3566160" cy="2907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856231"/>
            <a:ext cx="64008" cy="290779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002536"/>
            <a:ext cx="321868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TỔ CHỨC / HANDOFFS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1"/>
            <a:ext cx="3182112" cy="21762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RM → Kiểm soát viên → CSU → T24. Trách nhiệm từng khâu có, nhưng cần Owner xuyên suốt.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56231"/>
            <a:ext cx="3566160" cy="2907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856231"/>
            <a:ext cx="64008" cy="290779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2002536"/>
            <a:ext cx="321868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DỮ LIỆU / ỨNG DỤNG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496311"/>
            <a:ext cx="3182112" cy="21762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BPM, LOS, T24, ECM/GenDoc; cần chuẩn dữ liệu, trạng thái và dấu vết giao dịch.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1856231"/>
            <a:ext cx="3566160" cy="2907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1856231"/>
            <a:ext cx="64008" cy="2907792"/>
          </a:xfrm>
          <a:prstGeom prst="rect">
            <a:avLst/>
          </a:prstGeom>
          <a:solidFill>
            <a:srgbClr val="F4A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2167" y="2002536"/>
            <a:ext cx="321868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KHÁCH HÀNG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496311"/>
            <a:ext cx="3182112" cy="21762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Rủi ro trải nghiệm: chờ giải ngân và bổ sung hồ sơ lặp lại sau khi đã được phê duyệt.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66944"/>
            <a:ext cx="1078992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Phân tích VA/BVA/NVA: giảm nhập lại và chờ đợi; giữ kiểm soát Maker–Checker bắt buộc.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4.1 </a:t>
            </a:r>
            <a:r>
              <a:rPr dirty="0"/>
              <a:t>To-Be: 8 </a:t>
            </a:r>
            <a:r>
              <a:rPr dirty="0" err="1"/>
              <a:t>chặng</a:t>
            </a:r>
            <a:r>
              <a:rPr dirty="0"/>
              <a:t>,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r>
              <a:rPr dirty="0"/>
              <a:t> </a:t>
            </a:r>
            <a:r>
              <a:rPr dirty="0" err="1"/>
              <a:t>ngay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đầu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3852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01  Nhận dữ liệu LOS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3852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8" y="231343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02  Pre-check / Rule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93852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231343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03  RM xác nhận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17736" y="193852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73184" y="231343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04  Maker–Checker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63016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0507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05  Hạch toán T24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63016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8" y="400507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06  Chuyển tiền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363016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4536" y="400507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07  Đối soát / ECM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17736" y="363016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73184" y="400507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08  Log / KPI / hoàn tất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42432"/>
            <a:ext cx="10698480" cy="49377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Nguyên tắc: phát hiện lỗi sớm → giảm vòng lặp → giữ phân tách nhiệm vụ → truy vết toàn trình.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4.2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: </a:t>
            </a:r>
            <a:r>
              <a:rPr dirty="0" err="1"/>
              <a:t>vận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nghệ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14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28800"/>
            <a:ext cx="251460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56816"/>
            <a:ext cx="233172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Nhóm giải pháp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1828800"/>
            <a:ext cx="475488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1956816"/>
            <a:ext cx="457200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Đề xuất hành động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9832" y="1828800"/>
            <a:ext cx="379476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1956816"/>
            <a:ext cx="361188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Lợi ích kỳ vọng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404872"/>
            <a:ext cx="2514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87168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Cấu trúc và trách nhiệm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2404872"/>
            <a:ext cx="4754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54680" y="2487168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Chỉ định Process Owner; chuẩn RACI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99832" y="2404872"/>
            <a:ext cx="3794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2487168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Có đầu mối quản trị KPI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049524"/>
            <a:ext cx="251460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131820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Kiểm soát đầu vào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3049524"/>
            <a:ext cx="475488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54680" y="3131820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Pre-check; Reason Code khi trả hồ sơ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99832" y="3049524"/>
            <a:ext cx="379476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3131820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Giảm rework, tăng FTR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694176"/>
            <a:ext cx="2514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776472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Chuẩn hóa dữ liệu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4952" y="3694176"/>
            <a:ext cx="4754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54680" y="3776472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Data Dictionary; System of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2" y="3694176"/>
            <a:ext cx="3794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09560" y="3776472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Giảm nhập lại, sai lệch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338828"/>
            <a:ext cx="251460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421124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Tích hợp giao dịch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44952" y="4338828"/>
            <a:ext cx="475488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54680" y="4421124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Idempotency; retry; đối soát T24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99832" y="4338828"/>
            <a:ext cx="379476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4421124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Ngăn tạo trùng; tăng ổn định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4983480"/>
            <a:ext cx="2514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065776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Giám sát và tuân thủ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44952" y="4983480"/>
            <a:ext cx="4754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54680" y="5065776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Event log; SLA alert; Audit trail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99832" y="4983480"/>
            <a:ext cx="3794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5065776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Đo hiệu suất, truy vết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980176"/>
            <a:ext cx="1065276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Không loại bỏ kiểm soát pháp lý hoặc Maker–Checker vì lý do tối ưu tốc độ.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4.3 </a:t>
            </a:r>
            <a:r>
              <a:rPr dirty="0"/>
              <a:t>5 KPI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suất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15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28800"/>
            <a:ext cx="265176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56816"/>
            <a:ext cx="2468879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828800"/>
            <a:ext cx="53492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956816"/>
            <a:ext cx="5166359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Cách tính / Nguồn dữ liệu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1352" y="1828800"/>
            <a:ext cx="30632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1956816"/>
            <a:ext cx="288036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Mục tiêu đề xuất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404872"/>
            <a:ext cx="2651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87168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Cycle time E2E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2404872"/>
            <a:ext cx="5349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2487168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End − Start; Median, P90 từ event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1352" y="2404872"/>
            <a:ext cx="3063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2487168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Median giảm ≥20%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049524"/>
            <a:ext cx="265176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131820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First-Time-Right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2" y="3049524"/>
            <a:ext cx="53492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3131820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Hồ sơ không trả lại / hồ sơ nộp lần đầu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31352" y="3049524"/>
            <a:ext cx="30632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41080" y="3131820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Tăng ≥15 điểm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694176"/>
            <a:ext cx="2651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776472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SLA đúng hạn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82112" y="3694176"/>
            <a:ext cx="5349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91840" y="3776472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Hồ sơ hoàn tất đúng hạn / hồ sơ đến hạn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31352" y="3694176"/>
            <a:ext cx="3063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41080" y="3776472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≥95% sau pilot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338828"/>
            <a:ext cx="265176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421124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Rework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82112" y="4338828"/>
            <a:ext cx="53492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91840" y="4421124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Hồ sơ phải làm lại / hồ sơ xử lý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31352" y="4338828"/>
            <a:ext cx="30632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4421124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Đo baseline → chốt đích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4983480"/>
            <a:ext cx="2651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065776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Error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2112" y="4983480"/>
            <a:ext cx="5349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91840" y="5065776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Giao dịch lỗi / tổng giao dịch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31352" y="4983480"/>
            <a:ext cx="3063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41080" y="5065776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Đo baseline → chốt đích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6016752"/>
            <a:ext cx="1065276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Mọi mục tiêu là đề xuất của nhóm; đo baseline sản xuất 4 tuần trước khi phê duyệt ngưỡng chính thức.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4.4 </a:t>
            </a:r>
            <a:r>
              <a:rPr dirty="0" err="1"/>
              <a:t>Lộ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330952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64008" cy="162763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75104"/>
            <a:ext cx="4983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 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68880"/>
            <a:ext cx="4946904" cy="8961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4 tuần đo thực tế; RACI, dữ liệu, định nghĩa KPI.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30952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64008" cy="162763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983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1 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4946904" cy="8961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6–8 tuần; 3–5 chi nhánh; kiểm soát lỗi và FTR/SLA.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30752"/>
            <a:ext cx="5330952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730752"/>
            <a:ext cx="64008" cy="162763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877056"/>
            <a:ext cx="4983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2  ROLL-OUT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370832"/>
            <a:ext cx="4946904" cy="8961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8–12 tuần; mở rộng khi qua Gate 1; theo dõi SLA.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30752"/>
            <a:ext cx="5330952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730752"/>
            <a:ext cx="64008" cy="162763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877056"/>
            <a:ext cx="4983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3  SUSTAIN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70832"/>
            <a:ext cx="4946904" cy="8961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Process Mining, Pareto lỗi, rà soát quy tắc hàng quý.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71032"/>
            <a:ext cx="10744200" cy="3383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B2567"/>
                </a:solidFill>
                <a:latin typeface="Aptos"/>
              </a:defRPr>
            </a:pPr>
            <a:r>
              <a:t>Gate triển khai: chỉ mở rộng khi kiểm soát hạch toán, truy vết và KPI đạt ngưỡng đã thống nhất.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4.5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thu</a:t>
            </a:r>
            <a:r>
              <a:rPr dirty="0"/>
              <a:t>: </a:t>
            </a:r>
            <a:r>
              <a:rPr dirty="0" err="1"/>
              <a:t>chức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92807"/>
            <a:ext cx="5266944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92807"/>
            <a:ext cx="64008" cy="182880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4919472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NGHIỆM THU KỸ THUẬT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32887"/>
            <a:ext cx="4882896" cy="10972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Luồng quyền/định tuyến; Pre-check; Idempotency; Audit trail; đối soát BPM–T24.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92807"/>
            <a:ext cx="5266944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44768" y="1892807"/>
            <a:ext cx="64008" cy="182880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8" y="2039112"/>
            <a:ext cx="4919472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NGHIỆM THU NGHIỆP VỤ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532887"/>
            <a:ext cx="4882896" cy="10972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Event log đủ mốc; Reason Code chuẩn; KPI trước–sau trên cùng cơ sở so sánh.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23360"/>
            <a:ext cx="5266944" cy="16093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4023360"/>
            <a:ext cx="64008" cy="1609344"/>
          </a:xfrm>
          <a:prstGeom prst="rect">
            <a:avLst/>
          </a:prstGeom>
          <a:solidFill>
            <a:srgbClr val="F4A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169664"/>
            <a:ext cx="4919472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ĐIỀU KIỆN AN TOÀN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663440"/>
            <a:ext cx="4882896" cy="87782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Không phát sinh lỗi hạch toán nghiêm trọng; bảo toàn kiểm soát và dữ liệu cá nhân.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023360"/>
            <a:ext cx="5266944" cy="16093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4768" y="4023360"/>
            <a:ext cx="64008" cy="160934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4169664"/>
            <a:ext cx="4919472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ĐẦU MỐI XÁC NHẬN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663440"/>
            <a:ext cx="4882896" cy="87782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Process Owner, Vận hành, Rủi ro và CNTT cùng đánh giá, ký nghiệm thu.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0112" y="726948"/>
            <a:ext cx="4620768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: 4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28800"/>
            <a:ext cx="532180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828800"/>
            <a:ext cx="64008" cy="160020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975104"/>
            <a:ext cx="497433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01 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68880"/>
            <a:ext cx="4937760" cy="8686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Một đầu mối chịu KPI end-to-end.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2180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64008" cy="160020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97433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02  PRE-CHECK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4937760" cy="8686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Phát hiện thiếu sót sớm; giảm trả hồ sơ.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730752"/>
            <a:ext cx="532180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" y="3730752"/>
            <a:ext cx="64008" cy="160020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877056"/>
            <a:ext cx="497433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03  TÍCH HỢP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370832"/>
            <a:ext cx="4937760" cy="8686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T24 ổn định; đối soát và truy vết.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30752"/>
            <a:ext cx="532180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730752"/>
            <a:ext cx="64008" cy="160020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877056"/>
            <a:ext cx="497433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04  ĐO LƯỜNG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70832"/>
            <a:ext cx="4937760" cy="8686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Baseline → pilot → đánh giá Before–After.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925312"/>
            <a:ext cx="10607040" cy="4572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Thành công của BPM = hiệu quả quy trình được chứng minh bằng dữ liệu và không suy yếu kiểm soát.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TÀI LIỆU THAM KHẢO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67665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t>Nguồn tham chiếu &amp; lưu ý về bằng chứng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19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883664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764792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Đề bài: “Bài tập thực hành – Đánh giá và hoàn thiện hệ thống quy trình nghiệp vụ tại tổ chức”.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697479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7" y="2578608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Bài trình bày gốc của nhóm: “Đánh giá và hoàn thiện quy trình triển khai tín dụng và giải ngân KHCN tại LPBank”.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511296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7" y="3392424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Khung tham chiếu do bản gốc nêu: APQC Banking PCF 7.2.2; PCF ID trình bày tại slide 8–10.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4325112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4206240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Dữ liệu hệ thống Smart BPM/LOS/T24/ECM và các chỉ tiêu KPI thực tế cần được đối chiếu tài liệu nguồn.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138928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7" y="5020056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Các giải pháp, ngưỡng KPI và lộ trình trong bài là đề xuất nghiên cứu; chưa phải kết quả triển khai được xác nhận.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2233</Words>
  <Application>Microsoft Office PowerPoint</Application>
  <PresentationFormat>Widescreen</PresentationFormat>
  <Paragraphs>297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Truong An Ninh</cp:lastModifiedBy>
  <cp:revision>3</cp:revision>
  <dcterms:created xsi:type="dcterms:W3CDTF">2013-01-27T09:14:16Z</dcterms:created>
  <dcterms:modified xsi:type="dcterms:W3CDTF">2026-10-15T10:18:01Z</dcterms:modified>
  <cp:category/>
</cp:coreProperties>
</file>