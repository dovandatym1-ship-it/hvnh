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thầy và các bạn...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Hãy cùng bước vào câu chuyện của Tập đoàn Công nghiệp Việt...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Khi ban giám đốc đổ lỗi cho ông trời, dữ liệu Bar Chart đã bác bỏ hoàn toàn...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Và đây chính là khoảnh khắc 'Aha!' – điểm sáng nhất trong toàn bộ bài phân tích...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Biểu đồ phân phối này chỉ ra sự thiếu hụt khả năng phục hồi...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Để giải cứu Tập đoàn, chúng em đề xuất 2 bước hành động. Bước 1: Vá lỗ hổng...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Nhưng nếu khách hàng vẫn kiên quyết bắt ép đổi thiết kế thì sao? Đó là lúc ta cần Bước 2...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Ngoài pháp lý hợp đồng, việc chuyển dịch sang mô hình 3D (BIM) cũng là một vũ khí...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Xin kết lại bài thuyết trình của nhóm bằng một thông điệp từ chính dữ liệu...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Thầy và các bạn đã lắng nghe câu chuyện dữ liệu của nhóm chúng em...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Không sợ 'Lỗ hổng' phát sinh, chỉ sợ thiếu 'Khả năng phục hồi'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Giải pháp tối ưu tiến độ dự án xây dựng</a:t>
            </a:r>
          </a:p>
          <a:p>
            <a:r>
              <a:t>(Phân tích từ 6.000 dự án - Công ty CP Tập đoàn Công nghiệp Việt)</a:t>
            </a:r>
          </a:p>
        </p:txBody>
      </p:sp>
      <p:pic>
        <p:nvPicPr>
          <p:cNvPr id="4" name="Picture 3" descr="blueprint_hook_17837499908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Bối cảnh (The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BỨC TRANH TOÀN CẢNH:</a:t>
            </a:r>
          </a:p>
          <a:p>
            <a:r>
              <a:t>• Giai đoạn 2022-2025: Triển khai 6.000 dự án.</a:t>
            </a:r>
          </a:p>
          <a:p>
            <a:r>
              <a:t>• Thực trạng: Có tới 40% dự án bị trễ hạn.</a:t>
            </a:r>
          </a:p>
          <a:p>
            <a:r>
              <a:t>• Lỗ hổng khổng lồ nào đang nuốt chửng các dự án này?</a:t>
            </a:r>
          </a:p>
        </p:txBody>
      </p:sp>
      <p:pic>
        <p:nvPicPr>
          <p:cNvPr id="4" name="Picture 3" descr="donu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Nút thắt (The Conflict): Xóa bỏ định kiến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SỰ THẬT TỪ DỮ LIỆU:</a:t>
            </a:r>
          </a:p>
          <a:p>
            <a:r>
              <a:t>• Thời tiết, Mặt bằng chỉ đóng góp dưới 15%.</a:t>
            </a:r>
          </a:p>
          <a:p>
            <a:r>
              <a:t>• Kẻ kéo lùi dự án tàn bạo nhất lộ diện: THAY ĐỔI THIẾT KẾ!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Điểm bùng nổ (The Aha! Moment)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SỰ TƯƠNG QUAN CHẾT CHÓC:</a:t>
            </a:r>
          </a:p>
          <a:p>
            <a:r>
              <a:t>• Càng sửa bản vẽ, dự án càng trượt dài!</a:t>
            </a:r>
          </a:p>
          <a:p>
            <a:r>
              <a:t>• Lỗ hổng không đến từ ngoại cảnh, mà đến từ quyết định của con người.</a:t>
            </a:r>
          </a:p>
        </p:txBody>
      </p:sp>
      <p:pic>
        <p:nvPicPr>
          <p:cNvPr id="4" name="Picture 3" descr="scatt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Phân tích sâu (Deep Dive): Quả cầu tuyết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HIỆU ỨNG HÒN TUYẾT LĂN:</a:t>
            </a:r>
          </a:p>
          <a:p>
            <a:r>
              <a:t>• Vùng trễ hạn 1-10 ngày gần như trống.</a:t>
            </a:r>
          </a:p>
          <a:p>
            <a:r>
              <a:t>• Sự thiếu hụt KHẢ NĂNG PHỤC HỒI TIẾN ĐỘ khiến mọi rủi ro đều tích tụ thành thảm họa &gt; 50 ngày.</a:t>
            </a:r>
          </a:p>
        </p:txBody>
      </p:sp>
      <p:pic>
        <p:nvPicPr>
          <p:cNvPr id="4" name="Picture 3" descr="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Giải pháp Kép: Vá Lỗ hổng (Phần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VÁ LỖ HỔNG TỪ PHÒNG THIẾT KẾ</a:t>
            </a:r>
          </a:p>
          <a:p/>
          <a:p>
            <a:r>
              <a:t>• Kỷ luật 'Design Freeze' (Khóa bản vẽ):</a:t>
            </a:r>
          </a:p>
          <a:p>
            <a:r>
              <a:t>  - Thiết lập một mốc thời gian tử thần trong hợp đồng.</a:t>
            </a:r>
          </a:p>
          <a:p>
            <a:r>
              <a:t>  - Mọi thay đổi sau mốc này bị cấm hoặc phải bị kiểm soát chặt chẽ.</a:t>
            </a:r>
          </a:p>
          <a:p>
            <a:r>
              <a:t>• Đừng chạy đua trên bùn lầy, hãy chốt chặn từ phòng điều hòa!</a:t>
            </a:r>
          </a:p>
        </p:txBody>
      </p:sp>
      <p:pic>
        <p:nvPicPr>
          <p:cNvPr id="4" name="Picture 3" descr="design_freeze_17837500096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Giải pháp Kép: Tăng Phục hồi (Phần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TĂNG CƯỜNG KHẢ NĂNG PHỤC HỒI (SCHEDULE RESILIENCE)</a:t>
            </a:r>
          </a:p>
          <a:p/>
          <a:p>
            <a:r>
              <a:t>• Quy trình 'Change Order' (Biên lai thay đổi):</a:t>
            </a:r>
          </a:p>
          <a:p>
            <a:r>
              <a:t>  - Yêu cầu đổi thiết kế = Tiền phạt + Thời gian gia hạn.</a:t>
            </a:r>
          </a:p>
          <a:p>
            <a:r>
              <a:t>• Kích hoạt nén tiến độ:</a:t>
            </a:r>
          </a:p>
          <a:p>
            <a:r>
              <a:t>  - Bơm ngân sách làm song song (Fast-tracking).</a:t>
            </a:r>
          </a:p>
          <a:p>
            <a:r>
              <a:t>  - Dập tắt độ trễ trong vòng 48h để chặn đứng quả cầu tuyết.</a:t>
            </a:r>
          </a:p>
        </p:txBody>
      </p:sp>
      <p:pic>
        <p:nvPicPr>
          <p:cNvPr id="4" name="Picture 3" descr="schedule_crashing_17837500179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Hỗ trợ Công nghệ: Áp dụng mô hình BIM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Tương lai của quản lý thiết kế:</a:t>
            </a:r>
          </a:p>
          <a:p/>
          <a:p>
            <a:r>
              <a:t>• Chuyển dịch từ bản vẽ 2D sang mô hình 3D (BIM).</a:t>
            </a:r>
          </a:p>
          <a:p>
            <a:r>
              <a:t>• Trực quan hóa công trình trước khi khởi công.</a:t>
            </a:r>
          </a:p>
          <a:p>
            <a:r>
              <a:t>• Giảm thiểu tối đa sự dao động tâm lý của khách hàng, hạn chế thay đổi thiết kế về sau.</a:t>
            </a:r>
          </a:p>
        </p:txBody>
      </p:sp>
      <p:pic>
        <p:nvPicPr>
          <p:cNvPr id="4" name="Picture 3" descr="bim_3d_1783750026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Lời kêu gọi (Call to 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200400" cy="0"/>
          </a:xfrm>
        </p:spPr>
        <p:txBody>
          <a:bodyPr/>
          <a:lstStyle/>
          <a:p>
            <a:r>
              <a:t>Quản trị dự án xuất sắc không phải là người giăng lưới bắt hết mọi rủi ro.</a:t>
            </a:r>
          </a:p>
          <a:p/>
          <a:p>
            <a:r>
              <a:t>Quản trị dự án xuất sắc là người:</a:t>
            </a:r>
          </a:p>
          <a:p>
            <a:r>
              <a:t>1. Biết khóa chặt những biến số rủi ro cốt lõi nhất.</a:t>
            </a:r>
          </a:p>
          <a:p>
            <a:r>
              <a:t>2. Rèn luyện cho hệ thống một SỨC ĐỀ KHÁNG để bật dậy nhanh nhất sau mỗi lần vấp ngã.</a:t>
            </a:r>
          </a:p>
        </p:txBody>
      </p:sp>
      <p:pic>
        <p:nvPicPr>
          <p:cNvPr id="4" name="Picture 3" descr="call_to_action_17837500364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Xin trân trọng cảm ơn Thầy và các bạn đã lắng nghe!</a:t>
            </a:r>
          </a:p>
          <a:p/>
          <a:p>
            <a:r>
              <a:t>(Vui lòng xem file Jupyter Notebook và Dataset đính kèm)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