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CB13CD-F4B0-40A1-A357-220BF5E880D4}">
  <a:tblStyle styleId="{2FCB13CD-F4B0-40A1-A357-220BF5E880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0b27d7050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0b27d705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14.png"/><Relationship Id="rId9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11" Type="http://schemas.openxmlformats.org/officeDocument/2006/relationships/image" Target="../media/image35.png"/><Relationship Id="rId10" Type="http://schemas.openxmlformats.org/officeDocument/2006/relationships/image" Target="../media/image30.png"/><Relationship Id="rId9" Type="http://schemas.openxmlformats.org/officeDocument/2006/relationships/image" Target="../media/image18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9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3.png"/><Relationship Id="rId5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10" Type="http://schemas.openxmlformats.org/officeDocument/2006/relationships/image" Target="../media/image44.png"/><Relationship Id="rId9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58.png"/><Relationship Id="rId5" Type="http://schemas.openxmlformats.org/officeDocument/2006/relationships/image" Target="../media/image43.png"/><Relationship Id="rId6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56.png"/><Relationship Id="rId6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71500" y="381000"/>
            <a:ext cx="1143000" cy="5715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72390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BẢO MẬT HỆ THỐNG CRM 1.0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 VIETINBANK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255341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Nghiên cứu áp dụng tự động hoá đánh giá an ninh IaC và Container Image bằng Trivy / Terrascan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21875" y="3031104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Nhóm thực hiện: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Đỗ Văn Đạt, Trần Ngọc Dũng, Tạ Ngọc Tuệ, Nguyễn Linh Chi, Trương An Ninh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506016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Giảng viên: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TS. Vũ Duy Hiến 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646375" y="618870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Hà Nội - 2026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436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6448425"/>
            <a:ext cx="1190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VietinBank Confidential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Page 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11525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PHẦN 1: OVERVIEW KIẾN TRÚC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286500" y="11525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PHẦN 2: TÍCH HỢP &amp; DEMO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158115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Kiến trúc tổng thể 6 lớp (Technical Layers)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194310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Phân tích Stack Công nghệ: Frontend, API, Data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0505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Luồng tích hợp Legacy &amp; Cloud-native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266700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Thách thức bảo mật chuỗi cung ứng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286500" y="1581150"/>
            <a:ext cx="5334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Trivy: Quét SCA, Secrets &amp; Image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286500" y="1933575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Terrascan: Kiểm soát chính sách IaC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286500" y="2295525"/>
            <a:ext cx="5334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Pipeline Hard-Gate &amp; GitOps Flow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286500" y="264795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Demo: Scenario Phát hiện &amp; Chặn lỗ hổng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049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669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3288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908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195738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6500" y="23193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86500" y="2671762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CHƯƠNG TRÌNH THUYẾT TRÌNH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86708" y="2609850"/>
            <a:ext cx="11218433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PHẦN 1: OVERVIEW KIẾN TRÚC HỆ THỐNG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0" y="3609975"/>
            <a:ext cx="762000" cy="381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4406056" y="3838575"/>
            <a:ext cx="33797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Phân tích kỹ thuật đa lớp CRM 1.0 VietinBank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9715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728912"/>
            <a:ext cx="2233612" cy="1230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3436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6057900"/>
            <a:ext cx="9715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Mô hình phân lớp tách biệt (Decoupled Layers) đảm bảo khả năng mở rộng và hiệu năng cao cho CRM.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644842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 Overview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Page 04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KIẾN TRÚC TỔNG THỂ CRM 1.0 (TECHNICAL OVERVIEW)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5b1e7112-5aed-45df-8153-9e39f3b18bc0" id="144" name="Google Shape;14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7175" y="1242675"/>
            <a:ext cx="9244150" cy="45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0" y="142875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339137" y="2524125"/>
            <a:ext cx="129016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HTTPS / TLS 1.2+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24625" y="2857500"/>
            <a:ext cx="4857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Toàn bộ luồng dữ liệu từ Kênh truy cập được mã hóa đầu cuối và kiểm soát phiên (Session) chặt chẽ.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130492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Web Frontend: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Xây dựng trên nền tảng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NextJS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hỗ trợ Server-side Rendering (SSR) giúp tối ưu trải nghiệm và bảo mật phía Client.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193357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Mobile Access: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Cán bộ QHKH truy cập qua Mobile App chuyên dụng, tích hợp SDK bảo mật.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256222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MDM Control: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Thiết bị đầu cuối được quản lý bởi Mobile Device Management (MDM) để kiểm soát cấu hình và ngăn chặn Malware.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LỚP KÊNH GIAO DỊCH (ACCESS LAYER)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6286500" y="1152525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Thành phần cốt lõi: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286500" y="16383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IAM / ADFS: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Quản lý định danh tập trung, hỗ trợ Single Sign-On (SSO) cho cán bộ nhân viên.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286500" y="2190750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RBAC / ABAC: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Kiểm soát truy cập dựa trên vai trò và thuộc tính (Chi nhánh, Phòng ban).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286500" y="273367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OAuth 2.0 / JWT: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Sử dụng Token-based authentication để bảo mật giao tiếp giữa Frontend và API.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621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2145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75748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LỚP XÁC THỰC &amp; BẢO MẬT ĐỊNH DANH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485900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485900"/>
            <a:ext cx="3556099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115252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 thống được thiết kế theo kiến trúc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Microservices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đóng gói dưới dạng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Containers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chạy trên nền tảng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 Hat OpenShift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09625" y="1762125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Shared Services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09625" y="2219325"/>
            <a:ext cx="3079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Auth Service, Notification, File Storage, PDF Generator. Phục vụ các module nghiệp vụ chung.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556075" y="1762125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Business Services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556075" y="2219325"/>
            <a:ext cx="3079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Customer Management, Campaign, Lead/Opportunity, Product Catalog. Xử lý logic nghiệp vụ đặc thù.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02525" y="1762125"/>
            <a:ext cx="32338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Inter-service Comm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302525" y="2219325"/>
            <a:ext cx="307984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Giao tiếp qua REST API (Đồng bộ) và Kafka Event Streaming (Bất đồng bộ).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LỚP DỊCH VỤ CRM (MICROSERVICES LAYER)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115252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CRM 1.0 đóng vai trò trung tâm, kết nối dữ liệu từ các hệ thống Legacy của VietinBank:</a:t>
            </a:r>
            <a:endParaRPr/>
          </a:p>
        </p:txBody>
      </p:sp>
      <p:graphicFrame>
        <p:nvGraphicFramePr>
          <p:cNvPr id="203" name="Google Shape;203;p20"/>
          <p:cNvGraphicFramePr/>
          <p:nvPr/>
        </p:nvGraphicFramePr>
        <p:xfrm>
          <a:off x="571500" y="170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{2FCB13CD-F4B0-40A1-A357-220BF5E880D4}</a:tableStyleId>
              </a:tblPr>
              <a:tblGrid>
                <a:gridCol w="2995750"/>
                <a:gridCol w="2338250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Hệ thống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0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Phương thức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07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Banking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ESB / API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Internet/Mobile Banking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 API / Kafka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Contact Center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SIP / Internal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Loan Origin System (LOS)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SOAP / 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571500" y="2528887"/>
            <a:ext cx="2995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567261" y="2528887"/>
            <a:ext cx="23382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" y="2947987"/>
            <a:ext cx="2995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567261" y="2947987"/>
            <a:ext cx="23382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71500" y="3367087"/>
            <a:ext cx="2995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567261" y="3367087"/>
            <a:ext cx="23382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3786187"/>
            <a:ext cx="2995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567261" y="3786187"/>
            <a:ext cx="23382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LỚP TÍCH HỢP NGÂN HÀNG (INTEGRATION)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09975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152525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152525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152525"/>
            <a:ext cx="3556099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619500"/>
            <a:ext cx="110299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14287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09625" y="1857375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Relational DB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09625" y="2314575"/>
            <a:ext cx="30797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Sử dụng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Oracle DB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cho các dữ liệu giao dịch trọng yếu và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cho các Microservices mới.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56075" y="14287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4556075" y="1857375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In-memory Cache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556075" y="2314575"/>
            <a:ext cx="30797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Redis Cluster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được sử dụng để cache thông tin phiên, danh mục sản phẩm nhằm giảm tải cho DB Core.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2525" y="142875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8302525" y="1857375"/>
            <a:ext cx="32338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Object Storage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302525" y="2314575"/>
            <a:ext cx="30798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Lưu trữ tài liệu khách hàng, hợp đồng điện tử và các tệp tin đính kèm (ECM/CDM).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LỚP DỮ LIỆU (DATA PERSISTENCE)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571500" y="1304925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Container Orchestration: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Sử dụng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 Hat OpenShift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để quản lý vòng đời container.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71500" y="1885950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Availability: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Triển khai Multi-AZ, cân bằng tải tại lớp Ingress và Service.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2457450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Toàn bộ hạ tầng được định nghĩa dưới dạng mã (Terraform / K8s Manifests).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HẠ TẦNG CLOUD-NATIVE (INFRASTRUCTURE)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53340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152525"/>
            <a:ext cx="53340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809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Vấn đề hiện tại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524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Đề xuất DevSecOps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95375" y="18764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190625" y="1895475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 tra bảo mật thủ công, tốn thời gian.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095375" y="20955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190625" y="211455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Lỗ hổng CVE trong thư viện nguồn mở khó kiểm soát.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095375" y="23145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190625" y="2333625"/>
            <a:ext cx="4476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Cấu hình sai Kubernetes (Misconfiguration) tiềm ẩn rủi ro leo thang quyền.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095375" y="27527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190625" y="2771775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Rò rỉ Secrets (API Keys) trong mã nguồn.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810375" y="18764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905625" y="1895475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Tích hợp quét an ninh tự động vào Pipeline CI/CD.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810375" y="20955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905625" y="211455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Áp dụng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Trivy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để quét Image &amp; SCA.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810375" y="23145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905625" y="2333625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Áp dụng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Terrascan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để kiểm tra chính sách IaC.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810375" y="25336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905625" y="255270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Thiết lập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Hard Gate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chặn deploy nếu không an toàn.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THÁCH THỨC BẢO MẬT &amp; ĐỀ XUẤT CẢI THIỆN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0" y="2205037"/>
            <a:ext cx="12192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PHẦN 2: CHUYÊN SÂU TÍCH HỢP TRIVY &amp; TERRASCAN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715000" y="4014787"/>
            <a:ext cx="762000" cy="381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4056757" y="4243387"/>
            <a:ext cx="40783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Tự động hóa đánh giá an ninh hạ tầng và chuỗi cung ứng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/>
        </p:nvSpPr>
        <p:spPr>
          <a:xfrm>
            <a:off x="696475" y="427650"/>
            <a:ext cx="1140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KIẾN TRÚC TỔNG THỂ GIẢI PHÁP BẢO MẬT 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381000"/>
            <a:ext cx="47700" cy="4857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6450" y="1152525"/>
            <a:ext cx="8279376" cy="482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00" y="1152525"/>
            <a:ext cx="2764700" cy="48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643075" y="1531125"/>
            <a:ext cx="23907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Lớp 1 - Phát triển</a:t>
            </a: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Mã nguồn &amp; IaC được quản lý tập trung tại GitLab (Single Source of Truth).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Lớp 2 - CI/CD (Security Gate)</a:t>
            </a: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Tự động Build &amp; Scan với Trivy (SCA/Image) và Terrascan (IaC). Áp dụng Hard Gate chặn đứng luồng nếu phát hiện lỗi High/Critical. Ký số bằng Cosign.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Lớp 3 - GitOps &amp; Lưu trữ</a:t>
            </a: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Image sạch đưa lên Private Registry, Cấu hình Manifest đưa lên GitOps Repo.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Lớp 4 - Triển khai (Runtime)</a:t>
            </a: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ArgoCD đồng bộ xuống OpenShift. Admission Controller xác thực chữ ký số.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Lớp 5 - Giám sát</a:t>
            </a: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Lưu SBOM, Security Reports và WORM Audit Log.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C:\Users\TueTN\AppData\Local\Microsoft\Windows\INetCache\Content.Word\Kiến trúc giải pháp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7227"/>
          <a:stretch/>
        </p:blipFill>
        <p:spPr>
          <a:xfrm>
            <a:off x="3638975" y="1255350"/>
            <a:ext cx="7939875" cy="46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571500" y="115252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Thay vì kiểm tra bảo mật ở giai đoạn cuối, chúng ta đưa bảo mật vào ngay từ bước đầu của vòng đời phát triển (SDLC).</a:t>
            </a:r>
            <a:endParaRPr/>
          </a:p>
        </p:txBody>
      </p:sp>
      <p:pic>
        <p:nvPicPr>
          <p:cNvPr descr="image.png" id="307" name="Google Shape;30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95425"/>
            <a:ext cx="11029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TRIẾT LÝ SHIFT-LEFT SECURITY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11049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362075"/>
            <a:ext cx="1597223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4307" y="1352550"/>
            <a:ext cx="1597223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7090" y="1352550"/>
            <a:ext cx="1597223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9873" y="1362075"/>
            <a:ext cx="1597223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2656" y="1362075"/>
            <a:ext cx="1597223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571500" y="24288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Pipeline được cấu hình tự động (Automation) để thực hiện các bài kiểm tra an ninh mà không cần sự can thiệp của con người.</a:t>
            </a:r>
            <a:endParaRPr/>
          </a:p>
        </p:txBody>
      </p:sp>
      <p:pic>
        <p:nvPicPr>
          <p:cNvPr descr="image.png" id="323" name="Google Shape;323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34853" y="15716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7635" y="15716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60418" y="15716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3201" y="15716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 txBox="1"/>
          <p:nvPr/>
        </p:nvSpPr>
        <p:spPr>
          <a:xfrm>
            <a:off x="3613852" y="1466850"/>
            <a:ext cx="5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TRIVY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5652801" y="1466850"/>
            <a:ext cx="99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TERRASCAN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LUỒNG PIPELINE GITLAB CI/CD TÍCH HỢP</a:t>
            </a:r>
            <a:endParaRPr/>
          </a:p>
        </p:txBody>
      </p:sp>
      <p:sp>
        <p:nvSpPr>
          <p:cNvPr id="330" name="Google Shape;330;p27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7" name="Google Shape;3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90770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6286500" y="1152525"/>
            <a:ext cx="5334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Technical Command: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857250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952500" y="2476500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Secret Scanning: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Phát hiện API Keys, Passwords hardcode trong code.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857250" y="28860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952500" y="2905125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 (Software Composition Analysis):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Quét lỗ hổng CVE trong các thư viện (Go, NodeJS, Python).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857250" y="33242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952500" y="334327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Image Scanning: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Quét các lớp (Layers) của Docker Image để tìm OS vulnerabilities.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TRIVY: QUÉT SCA, SECRETS &amp; IMAGE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277207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9"/>
          <p:cNvSpPr txBox="1"/>
          <p:nvPr/>
        </p:nvSpPr>
        <p:spPr>
          <a:xfrm>
            <a:off x="6286500" y="1152525"/>
            <a:ext cx="5334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Technical Command: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857250" y="24574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952500" y="247650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 soát các rủi ro trong Kubernetes Manifests.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857250" y="26765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952500" y="2695575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Sử dụng ngôn ngữ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Rego (OPA)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để định nghĩa các Policy bảo mật.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857250" y="28956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952500" y="2914650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 bảo Best Practices: No-Root, Resource Limits, AppArmor/Seccomp profiles.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TERRASCAN: PHÂN TÍCH IAC MISCONFIGURATION</a:t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533400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152525"/>
            <a:ext cx="53340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809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Logic Dừng Pipeline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809625" y="1885950"/>
            <a:ext cx="4857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Nếu kết quả quét trả về lỗ hổng mức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CRITICAL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hoặc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Pipeline sẽ tự động trả về Exit Code 1.</a:t>
            </a:r>
            <a:endParaRPr/>
          </a:p>
        </p:txBody>
      </p:sp>
      <p:sp>
        <p:nvSpPr>
          <p:cNvPr id="373" name="Google Shape;373;p30"/>
          <p:cNvSpPr txBox="1"/>
          <p:nvPr/>
        </p:nvSpPr>
        <p:spPr>
          <a:xfrm>
            <a:off x="809625" y="243840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Điều này ngăn chặn việc build image và đẩy lên Container Registry (Harbor).</a:t>
            </a:r>
            <a:endParaRPr/>
          </a:p>
        </p:txBody>
      </p:sp>
      <p:sp>
        <p:nvSpPr>
          <p:cNvPr id="374" name="Google Shape;374;p30"/>
          <p:cNvSpPr txBox="1"/>
          <p:nvPr/>
        </p:nvSpPr>
        <p:spPr>
          <a:xfrm>
            <a:off x="6524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Exception (Waiver) Flow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6524625" y="1885950"/>
            <a:ext cx="4857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Trong trường hợp lỗ hổng chưa có bản vá (Fix version) nhưng cần deploy gấp, bộ phận SecOps sẽ phê duyệt bản ghi .trivyignore có thời hạn.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CƠ CHẾ HARD GATE &amp; FAILING LOGIC</a:t>
            </a:r>
            <a:endParaRPr/>
          </a:p>
        </p:txBody>
      </p:sp>
      <p:sp>
        <p:nvSpPr>
          <p:cNvPr id="377" name="Google Shape;377;p30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571500" y="1152525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 bảo Image không bị thay đổi (Tampered) từ lúc Build đến lúc Run.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857250" y="15049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952500" y="152400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Chỉ Image đã vượt qua tất cả bài test mới được ký số.</a:t>
            </a:r>
            <a:endParaRPr/>
          </a:p>
        </p:txBody>
      </p:sp>
      <p:sp>
        <p:nvSpPr>
          <p:cNvPr id="388" name="Google Shape;388;p31"/>
          <p:cNvSpPr txBox="1"/>
          <p:nvPr/>
        </p:nvSpPr>
        <p:spPr>
          <a:xfrm>
            <a:off x="857250" y="17240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9" name="Google Shape;389;p31"/>
          <p:cNvSpPr txBox="1"/>
          <p:nvPr/>
        </p:nvSpPr>
        <p:spPr>
          <a:xfrm>
            <a:off x="952500" y="1743075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Sử dụng khóa Private được bảo mật trong GitLab CI.</a:t>
            </a:r>
            <a:endParaRPr/>
          </a:p>
        </p:txBody>
      </p:sp>
      <p:sp>
        <p:nvSpPr>
          <p:cNvPr id="390" name="Google Shape;390;p31"/>
          <p:cNvSpPr txBox="1"/>
          <p:nvPr/>
        </p:nvSpPr>
        <p:spPr>
          <a:xfrm>
            <a:off x="857250" y="19431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952500" y="1962150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Xác minh chữ ký tại OpenShift Cluster trước khi triển khai.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SUPPLY CHAIN SECURITY: KÝ SỐ COSIGN</a:t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1" name="Google Shape;40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2"/>
          <p:cNvSpPr txBox="1"/>
          <p:nvPr/>
        </p:nvSpPr>
        <p:spPr>
          <a:xfrm>
            <a:off x="6572250" y="12858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3" name="Google Shape;403;p32"/>
          <p:cNvSpPr txBox="1"/>
          <p:nvPr/>
        </p:nvSpPr>
        <p:spPr>
          <a:xfrm>
            <a:off x="6667500" y="1304925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Single Source of Truth: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Mọi cấu hình hạ tầng đều nằm trên Git.</a:t>
            </a:r>
            <a:endParaRPr/>
          </a:p>
        </p:txBody>
      </p:sp>
      <p:sp>
        <p:nvSpPr>
          <p:cNvPr id="404" name="Google Shape;404;p32"/>
          <p:cNvSpPr txBox="1"/>
          <p:nvPr/>
        </p:nvSpPr>
        <p:spPr>
          <a:xfrm>
            <a:off x="6572250" y="150495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5" name="Google Shape;405;p32"/>
          <p:cNvSpPr txBox="1"/>
          <p:nvPr/>
        </p:nvSpPr>
        <p:spPr>
          <a:xfrm>
            <a:off x="6667500" y="1524000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Drift Detection: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Tự động phát hiện và khôi phục nếu có thay đổi trái phép trên Cluster.</a:t>
            </a:r>
            <a:endParaRPr/>
          </a:p>
        </p:txBody>
      </p:sp>
      <p:sp>
        <p:nvSpPr>
          <p:cNvPr id="406" name="Google Shape;406;p32"/>
          <p:cNvSpPr txBox="1"/>
          <p:nvPr/>
        </p:nvSpPr>
        <p:spPr>
          <a:xfrm>
            <a:off x="6572250" y="19335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7" name="Google Shape;407;p32"/>
          <p:cNvSpPr txBox="1"/>
          <p:nvPr/>
        </p:nvSpPr>
        <p:spPr>
          <a:xfrm>
            <a:off x="6667500" y="1952625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Sync Policy: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Chỉ đồng bộ các Image đã được xác thực qua Chữ ký số.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GITOPS WORKFLOW: ĐỒNG BỘ QUA ARGOCD</a:t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3555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152525"/>
            <a:ext cx="3555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152525"/>
            <a:ext cx="355609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809625" y="1428750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Runner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809625" y="1885950"/>
            <a:ext cx="3079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GitLab Runner chạy trên Docker, tích hợp sẵn binary Trivy &amp; Terrascan.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4556075" y="1428750"/>
            <a:ext cx="3233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Target</a:t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4556075" y="1885950"/>
            <a:ext cx="3079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OpenShift Cluster giả lập cho hệ thống CRM Backend.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8302525" y="1428750"/>
            <a:ext cx="32338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Policies</a:t>
            </a:r>
            <a:endParaRPr/>
          </a:p>
        </p:txBody>
      </p:sp>
      <p:sp>
        <p:nvSpPr>
          <p:cNvPr id="424" name="Google Shape;424;p33"/>
          <p:cNvSpPr txBox="1"/>
          <p:nvPr/>
        </p:nvSpPr>
        <p:spPr>
          <a:xfrm>
            <a:off x="8302525" y="1885950"/>
            <a:ext cx="307984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Tập luật OPA cho Terrascan: Chặn privileged containers &amp; root users.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CẤU HÌNH MÔI TRƯỜNG DEMO (SETUP)</a:t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1" name="Google Shape;4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5050"/>
            <a:ext cx="5334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571500" y="1152525"/>
            <a:ext cx="533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Kịch bản:</a:t>
            </a:r>
            <a:r>
              <a:rPr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0" lang="en-US" u="none" cap="none" strike="noStrike">
                <a:solidFill>
                  <a:srgbClr val="64748B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Developer </a:t>
            </a:r>
            <a:r>
              <a:rPr lang="en-US">
                <a:solidFill>
                  <a:srgbClr val="64748B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khai báo sử dụng thư viện Java cũ (VD: log4j-core:2.14.1 hoặc Spring Boot phiên bản cũ) trong file pom.xml, hoặc sử dụng Base Image openjdk:8 chứa lỗi bảo mật. </a:t>
            </a:r>
            <a:endParaRPr>
              <a:solidFill>
                <a:srgbClr val="64748B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571500" y="1894600"/>
            <a:ext cx="53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Kết quả:</a:t>
            </a:r>
            <a:endParaRPr/>
          </a:p>
        </p:txBody>
      </p:sp>
      <p:pic>
        <p:nvPicPr>
          <p:cNvPr descr="image.png" id="437" name="Google Shape;43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4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DEMO 1: PHÁT HIỆN &amp; CHẶN LỖ HỔNG CVE</a:t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 txBox="1"/>
          <p:nvPr/>
        </p:nvSpPr>
        <p:spPr>
          <a:xfrm>
            <a:off x="571500" y="2198075"/>
            <a:ext cx="478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Trivy phân tích </a:t>
            </a:r>
            <a:r>
              <a:rPr lang="en-US" sz="12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pom.xml</a:t>
            </a: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và</a:t>
            </a:r>
            <a:r>
              <a:rPr lang="en-US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.jar</a:t>
            </a: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phát hiện lỗ hổng CRITICAL (VD: CVE-2021-44228 - Log4Shell).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Kích hoạt Hard Gate (Exit Code 1) -&gt; Job FAILED.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Ngăn chặn rủi ro RCE (Remote Code Execution) trước khi đẩy lên Registry.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8825"/>
            <a:ext cx="5334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 txBox="1"/>
          <p:nvPr/>
        </p:nvSpPr>
        <p:spPr>
          <a:xfrm>
            <a:off x="571500" y="1152525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Kịch bản: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File deployment.yaml cho phép container chạy với quyền privileged: true.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571500" y="1695450"/>
            <a:ext cx="5334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Kết quả:</a:t>
            </a:r>
            <a:endParaRPr/>
          </a:p>
        </p:txBody>
      </p:sp>
      <p:pic>
        <p:nvPicPr>
          <p:cNvPr descr="image.png" id="451" name="Google Shape;45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162050"/>
            <a:ext cx="5314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5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DEMO 2: SAI CẤU HÌNH K8S MANIFEST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43025"/>
            <a:ext cx="52387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343025"/>
            <a:ext cx="52387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571500" y="420052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Time to Remediation (MTTR)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giảm đáng kể nhờ phát hiện sớm và tự động hóa.</a:t>
            </a:r>
            <a:endParaRPr/>
          </a:p>
        </p:txBody>
      </p:sp>
      <p:sp>
        <p:nvSpPr>
          <p:cNvPr id="463" name="Google Shape;463;p36"/>
          <p:cNvSpPr/>
          <p:nvPr/>
        </p:nvSpPr>
        <p:spPr>
          <a:xfrm>
            <a:off x="762000" y="1838325"/>
            <a:ext cx="5238750" cy="1981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762000" y="1057275"/>
            <a:ext cx="523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Trước DevSecOps</a:t>
            </a:r>
            <a:endParaRPr/>
          </a:p>
        </p:txBody>
      </p:sp>
      <p:sp>
        <p:nvSpPr>
          <p:cNvPr id="465" name="Google Shape;465;p36"/>
          <p:cNvSpPr txBox="1"/>
          <p:nvPr/>
        </p:nvSpPr>
        <p:spPr>
          <a:xfrm>
            <a:off x="762000" y="340042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MTTR: 7 Ngày</a:t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6191250" y="3324225"/>
            <a:ext cx="5238750" cy="495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6191250" y="10572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 DevSecOps</a:t>
            </a:r>
            <a:endParaRPr/>
          </a:p>
        </p:txBody>
      </p:sp>
      <p:sp>
        <p:nvSpPr>
          <p:cNvPr id="468" name="Google Shape;468;p36"/>
          <p:cNvSpPr txBox="1"/>
          <p:nvPr/>
        </p:nvSpPr>
        <p:spPr>
          <a:xfrm>
            <a:off x="6191250" y="3390900"/>
            <a:ext cx="523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MTTR: 2 Giờ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HIỆU QUẢ KỸ THUẬT MANG LẠI</a:t>
            </a:r>
            <a:endParaRPr/>
          </a:p>
        </p:txBody>
      </p:sp>
      <p:sp>
        <p:nvSpPr>
          <p:cNvPr id="470" name="Google Shape;470;p36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5" name="Google Shape;4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525"/>
            <a:ext cx="53340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52525"/>
            <a:ext cx="533400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 txBox="1"/>
          <p:nvPr/>
        </p:nvSpPr>
        <p:spPr>
          <a:xfrm>
            <a:off x="809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Kết luận</a:t>
            </a:r>
            <a:endParaRPr/>
          </a:p>
        </p:txBody>
      </p:sp>
      <p:sp>
        <p:nvSpPr>
          <p:cNvPr id="480" name="Google Shape;480;p37"/>
          <p:cNvSpPr txBox="1"/>
          <p:nvPr/>
        </p:nvSpPr>
        <p:spPr>
          <a:xfrm>
            <a:off x="809625" y="1885950"/>
            <a:ext cx="4857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Tích hợp Trivy &amp; Terrascan vào GitOps không chỉ bảo mật hệ thống CRM mà còn xây dựng văn hóa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Security-as-Code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tại VietinBank.</a:t>
            </a:r>
            <a:endParaRPr/>
          </a:p>
        </p:txBody>
      </p:sp>
      <p:sp>
        <p:nvSpPr>
          <p:cNvPr id="481" name="Google Shape;481;p37"/>
          <p:cNvSpPr txBox="1"/>
          <p:nvPr/>
        </p:nvSpPr>
        <p:spPr>
          <a:xfrm>
            <a:off x="6524625" y="1428750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Roadmap</a:t>
            </a:r>
            <a:endParaRPr/>
          </a:p>
        </p:txBody>
      </p:sp>
      <p:sp>
        <p:nvSpPr>
          <p:cNvPr id="482" name="Google Shape;482;p37"/>
          <p:cNvSpPr txBox="1"/>
          <p:nvPr/>
        </p:nvSpPr>
        <p:spPr>
          <a:xfrm>
            <a:off x="6810375" y="18669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3" name="Google Shape;483;p37"/>
          <p:cNvSpPr txBox="1"/>
          <p:nvPr/>
        </p:nvSpPr>
        <p:spPr>
          <a:xfrm>
            <a:off x="6905625" y="188595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Nghiên cứu Runtime Security (Falco).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6810375" y="20859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5" name="Google Shape;485;p37"/>
          <p:cNvSpPr txBox="1"/>
          <p:nvPr/>
        </p:nvSpPr>
        <p:spPr>
          <a:xfrm>
            <a:off x="6905625" y="2105025"/>
            <a:ext cx="4476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Tích hợp AI để dự đoán và tự động vá lỗ hổng (Auto-remediation).</a:t>
            </a:r>
            <a:endParaRPr/>
          </a:p>
        </p:txBody>
      </p:sp>
      <p:sp>
        <p:nvSpPr>
          <p:cNvPr id="486" name="Google Shape;486;p37"/>
          <p:cNvSpPr txBox="1"/>
          <p:nvPr/>
        </p:nvSpPr>
        <p:spPr>
          <a:xfrm>
            <a:off x="6810375" y="251460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7" name="Google Shape;487;p37"/>
          <p:cNvSpPr txBox="1"/>
          <p:nvPr/>
        </p:nvSpPr>
        <p:spPr>
          <a:xfrm>
            <a:off x="6905625" y="253365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Mở rộng mô hình cho toàn bộ 500+ API của VietinBank.</a:t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762000" y="3810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KẾT LUẬN &amp; LỘ TRÌNH KỸ THUẬT</a:t>
            </a:r>
            <a:endParaRPr/>
          </a:p>
        </p:txBody>
      </p:sp>
      <p:sp>
        <p:nvSpPr>
          <p:cNvPr id="489" name="Google Shape;489;p37"/>
          <p:cNvSpPr/>
          <p:nvPr/>
        </p:nvSpPr>
        <p:spPr>
          <a:xfrm>
            <a:off x="571500" y="381000"/>
            <a:ext cx="47625" cy="48577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4" name="Google Shape;4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4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8"/>
          <p:cNvSpPr txBox="1"/>
          <p:nvPr/>
        </p:nvSpPr>
        <p:spPr>
          <a:xfrm>
            <a:off x="295275" y="3810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071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  <p:sp>
        <p:nvSpPr>
          <p:cNvPr id="497" name="Google Shape;497;p38"/>
          <p:cNvSpPr txBox="1"/>
          <p:nvPr/>
        </p:nvSpPr>
        <p:spPr>
          <a:xfrm>
            <a:off x="571500" y="1409700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Trân trọng cảm ơn sự lắng nghe của quý vị!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